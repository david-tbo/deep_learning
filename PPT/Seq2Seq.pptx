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7" r:id="rId2"/>
    <p:sldId id="311" r:id="rId3"/>
    <p:sldId id="312" r:id="rId4"/>
    <p:sldId id="314" r:id="rId5"/>
    <p:sldId id="315" r:id="rId6"/>
    <p:sldId id="313" r:id="rId7"/>
    <p:sldId id="317" r:id="rId8"/>
    <p:sldId id="318" r:id="rId9"/>
    <p:sldId id="319" r:id="rId10"/>
    <p:sldId id="320" r:id="rId11"/>
    <p:sldId id="321" r:id="rId12"/>
    <p:sldId id="322" r:id="rId13"/>
    <p:sldId id="323" r:id="rId14"/>
    <p:sldId id="324" r:id="rId15"/>
    <p:sldId id="326" r:id="rId16"/>
    <p:sldId id="327" r:id="rId17"/>
    <p:sldId id="328" r:id="rId18"/>
    <p:sldId id="329" r:id="rId19"/>
    <p:sldId id="331" r:id="rId20"/>
    <p:sldId id="332" r:id="rId21"/>
    <p:sldId id="333"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p:restoredTop sz="66712"/>
  </p:normalViewPr>
  <p:slideViewPr>
    <p:cSldViewPr snapToGrid="0">
      <p:cViewPr varScale="1">
        <p:scale>
          <a:sx n="82" d="100"/>
          <a:sy n="82" d="100"/>
        </p:scale>
        <p:origin x="2024" y="176"/>
      </p:cViewPr>
      <p:guideLst>
        <p:guide orient="horz" pos="2160"/>
        <p:guide pos="3840"/>
      </p:guideLst>
    </p:cSldViewPr>
  </p:slideViewPr>
  <p:outlineViewPr>
    <p:cViewPr>
      <p:scale>
        <a:sx n="33" d="100"/>
        <a:sy n="33" d="100"/>
      </p:scale>
      <p:origin x="0" y="-3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AA1ACA-B3B5-2C4B-9EDA-C0BA6CE5D44C}" type="datetimeFigureOut">
              <a:rPr lang="en-GB" smtClean="0"/>
              <a:t>16/02/2025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F5B79-958C-7D41-A64D-F75AF3759245}" type="slidenum">
              <a:rPr lang="en-GB" smtClean="0"/>
              <a:t>‹N°›</a:t>
            </a:fld>
            <a:endParaRPr lang="en-GB"/>
          </a:p>
        </p:txBody>
      </p:sp>
    </p:spTree>
    <p:extLst>
      <p:ext uri="{BB962C8B-B14F-4D97-AF65-F5344CB8AC3E}">
        <p14:creationId xmlns:p14="http://schemas.microsoft.com/office/powerpoint/2010/main" val="3709423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noProof="0" dirty="0"/>
              <a:t>Traitement automatique du </a:t>
            </a:r>
            <a:r>
              <a:rPr lang="fr-FR" noProof="0" dirty="0" err="1"/>
              <a:t>language</a:t>
            </a:r>
            <a:r>
              <a:rPr lang="fr-FR" noProof="0" dirty="0"/>
              <a:t> naturel</a:t>
            </a:r>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1</a:t>
            </a:fld>
            <a:endParaRPr lang="en-GB"/>
          </a:p>
        </p:txBody>
      </p:sp>
    </p:spTree>
    <p:extLst>
      <p:ext uri="{BB962C8B-B14F-4D97-AF65-F5344CB8AC3E}">
        <p14:creationId xmlns:p14="http://schemas.microsoft.com/office/powerpoint/2010/main" val="689186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5</a:t>
            </a:fld>
            <a:endParaRPr lang="en-GB"/>
          </a:p>
        </p:txBody>
      </p:sp>
    </p:spTree>
    <p:extLst>
      <p:ext uri="{BB962C8B-B14F-4D97-AF65-F5344CB8AC3E}">
        <p14:creationId xmlns:p14="http://schemas.microsoft.com/office/powerpoint/2010/main" val="3973896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i="0" u="none" strike="noStrike" dirty="0">
                <a:solidFill>
                  <a:srgbClr val="000000"/>
                </a:solidFill>
                <a:effectLst/>
              </a:rPr>
              <a:t>Sans le mécanisme d'attention, un LSTM (ou toute autre architecture RNN classique) doit encoder l'intégralité de l'information de la séquence source dans un seul vecteur de contexte (le </a:t>
            </a:r>
            <a:r>
              <a:rPr lang="fr-FR" b="1" i="0" u="none" strike="noStrike" dirty="0" err="1">
                <a:solidFill>
                  <a:srgbClr val="000000"/>
                </a:solidFill>
                <a:effectLst/>
              </a:rPr>
              <a:t>hidden</a:t>
            </a:r>
            <a:r>
              <a:rPr lang="fr-FR" b="1" i="0" u="none" strike="noStrike" dirty="0">
                <a:solidFill>
                  <a:srgbClr val="000000"/>
                </a:solidFill>
                <a:effectLst/>
              </a:rPr>
              <a:t> state</a:t>
            </a:r>
            <a:r>
              <a:rPr lang="fr-FR" b="0" i="0" u="none" strike="noStrike" dirty="0">
                <a:solidFill>
                  <a:srgbClr val="000000"/>
                </a:solidFill>
                <a:effectLst/>
              </a:rPr>
              <a:t> final du LSTM). </a:t>
            </a:r>
          </a:p>
          <a:p>
            <a:pPr algn="l"/>
            <a:r>
              <a:rPr lang="fr-FR" b="0" i="0" u="none" strike="noStrike" dirty="0">
                <a:solidFill>
                  <a:srgbClr val="000000"/>
                </a:solidFill>
                <a:effectLst/>
              </a:rPr>
              <a:t>C'est ce qu'on appelle le </a:t>
            </a:r>
            <a:r>
              <a:rPr lang="fr-FR" b="1" i="0" u="none" strike="noStrike" dirty="0" err="1">
                <a:solidFill>
                  <a:srgbClr val="000000"/>
                </a:solidFill>
                <a:effectLst/>
              </a:rPr>
              <a:t>bottleneck</a:t>
            </a:r>
            <a:r>
              <a:rPr lang="fr-FR" b="1" i="0" u="none" strike="noStrike" dirty="0">
                <a:solidFill>
                  <a:srgbClr val="000000"/>
                </a:solidFill>
                <a:effectLst/>
              </a:rPr>
              <a:t> d'information</a:t>
            </a:r>
            <a:r>
              <a:rPr lang="fr-FR" b="0" i="0" u="none" strike="noStrike" dirty="0">
                <a:solidFill>
                  <a:srgbClr val="000000"/>
                </a:solidFill>
                <a:effectLst/>
              </a:rPr>
              <a:t>.</a:t>
            </a:r>
          </a:p>
          <a:p>
            <a:pPr algn="l"/>
            <a:endParaRPr lang="fr-FR" b="1" i="0" u="none" strike="noStrike" dirty="0">
              <a:solidFill>
                <a:srgbClr val="000000"/>
              </a:solidFill>
              <a:effectLst/>
            </a:endParaRPr>
          </a:p>
          <a:p>
            <a:pPr algn="l"/>
            <a:r>
              <a:rPr lang="fr-FR" b="1" i="0" u="none" strike="noStrike" dirty="0">
                <a:solidFill>
                  <a:srgbClr val="000000"/>
                </a:solidFill>
                <a:effectLst/>
              </a:rPr>
              <a:t>Pourquoi ce problème se produit ?</a:t>
            </a:r>
          </a:p>
          <a:p>
            <a:pPr algn="l">
              <a:buFont typeface="+mj-lt"/>
              <a:buAutoNum type="arabicPeriod"/>
            </a:pPr>
            <a:endParaRPr lang="fr-FR" b="1" i="0" u="none" strike="noStrike" dirty="0">
              <a:solidFill>
                <a:srgbClr val="000000"/>
              </a:solidFill>
              <a:effectLst/>
            </a:endParaRPr>
          </a:p>
          <a:p>
            <a:pPr algn="l">
              <a:buFont typeface="+mj-lt"/>
              <a:buAutoNum type="arabicPeriod"/>
            </a:pPr>
            <a:r>
              <a:rPr lang="fr-FR" b="1" i="0" u="none" strike="noStrike" dirty="0">
                <a:solidFill>
                  <a:srgbClr val="000000"/>
                </a:solidFill>
                <a:effectLst/>
              </a:rPr>
              <a:t>Perte d'information</a:t>
            </a:r>
            <a:r>
              <a:rPr lang="fr-FR" b="0" i="0" u="none" strike="noStrike" dirty="0">
                <a:solidFill>
                  <a:srgbClr val="000000"/>
                </a:solidFill>
                <a:effectLst/>
              </a:rPr>
              <a:t> : Plus la séquence d'entrée est longue, plus il devient difficile pour le LSTM de condenser toutes les informations pertinentes dans un seul vecteur. Certaines informations importantes peuvent être oubliées ou déformées.</a:t>
            </a:r>
          </a:p>
          <a:p>
            <a:pPr algn="l">
              <a:buFont typeface="+mj-lt"/>
              <a:buAutoNum type="arabicPeriod"/>
            </a:pPr>
            <a:r>
              <a:rPr lang="fr-FR" b="1" i="0" u="none" strike="noStrike" dirty="0">
                <a:solidFill>
                  <a:srgbClr val="000000"/>
                </a:solidFill>
                <a:effectLst/>
              </a:rPr>
              <a:t>Dépendance à long terme</a:t>
            </a:r>
            <a:r>
              <a:rPr lang="fr-FR" b="0" i="0" u="none" strike="noStrike" dirty="0">
                <a:solidFill>
                  <a:srgbClr val="000000"/>
                </a:solidFill>
                <a:effectLst/>
              </a:rPr>
              <a:t> : Même avec des mécanismes comme les portes de mémoire dans le LSTM, l'information provenant des premiers </a:t>
            </a:r>
            <a:r>
              <a:rPr lang="fr-FR" b="0" i="0" u="none" strike="noStrike" dirty="0" err="1">
                <a:solidFill>
                  <a:srgbClr val="000000"/>
                </a:solidFill>
                <a:effectLst/>
              </a:rPr>
              <a:t>tokens</a:t>
            </a:r>
            <a:r>
              <a:rPr lang="fr-FR" b="0" i="0" u="none" strike="noStrike" dirty="0">
                <a:solidFill>
                  <a:srgbClr val="000000"/>
                </a:solidFill>
                <a:effectLst/>
              </a:rPr>
              <a:t> peut être trop affaiblie lorsque le modèle traite les derniers </a:t>
            </a:r>
            <a:r>
              <a:rPr lang="fr-FR" b="0" i="0" u="none" strike="noStrike" dirty="0" err="1">
                <a:solidFill>
                  <a:srgbClr val="000000"/>
                </a:solidFill>
                <a:effectLst/>
              </a:rPr>
              <a:t>tokens</a:t>
            </a:r>
            <a:r>
              <a:rPr lang="fr-FR" b="0" i="0" u="none" strike="noStrike" dirty="0">
                <a:solidFill>
                  <a:srgbClr val="000000"/>
                </a:solidFill>
                <a:effectLst/>
              </a:rPr>
              <a:t>.</a:t>
            </a:r>
          </a:p>
          <a:p>
            <a:pPr algn="l">
              <a:buFont typeface="+mj-lt"/>
              <a:buAutoNum type="arabicPeriod"/>
            </a:pPr>
            <a:r>
              <a:rPr lang="fr-FR" b="1" i="0" u="none" strike="noStrike" dirty="0">
                <a:solidFill>
                  <a:srgbClr val="000000"/>
                </a:solidFill>
                <a:effectLst/>
              </a:rPr>
              <a:t>Difficulté d'apprentissage</a:t>
            </a:r>
            <a:r>
              <a:rPr lang="fr-FR" b="0" i="0" u="none" strike="noStrike" dirty="0">
                <a:solidFill>
                  <a:srgbClr val="000000"/>
                </a:solidFill>
                <a:effectLst/>
              </a:rPr>
              <a:t> : Le modèle doit apprendre à compresser toute la séquence d'entrée dans un seul vecteur, ce qui est une tâche difficile, en particulier pour des textes longs ou complexes.</a:t>
            </a:r>
          </a:p>
          <a:p>
            <a:endParaRPr lang="en-GB" dirty="0"/>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19</a:t>
            </a:fld>
            <a:endParaRPr lang="en-GB"/>
          </a:p>
        </p:txBody>
      </p:sp>
    </p:spTree>
    <p:extLst>
      <p:ext uri="{BB962C8B-B14F-4D97-AF65-F5344CB8AC3E}">
        <p14:creationId xmlns:p14="http://schemas.microsoft.com/office/powerpoint/2010/main" val="378766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1" i="0" u="none" strike="noStrike" dirty="0">
                <a:solidFill>
                  <a:srgbClr val="000000"/>
                </a:solidFill>
                <a:effectLst/>
              </a:rPr>
              <a:t>Comment l'attention résout ce problème de goulet d’information ?</a:t>
            </a:r>
          </a:p>
          <a:p>
            <a:pPr algn="l"/>
            <a:r>
              <a:rPr lang="fr-FR" b="0" i="0" u="none" strike="noStrike" dirty="0">
                <a:solidFill>
                  <a:srgbClr val="000000"/>
                </a:solidFill>
                <a:effectLst/>
              </a:rPr>
              <a:t>Le mécanisme d'attention permet au modèle de </a:t>
            </a:r>
            <a:r>
              <a:rPr lang="fr-FR" b="1" i="0" u="none" strike="noStrike" dirty="0">
                <a:solidFill>
                  <a:srgbClr val="000000"/>
                </a:solidFill>
                <a:effectLst/>
              </a:rPr>
              <a:t>regarder dynamiquement différentes parties de l'entrée à chaque étape de la génération de la sortie</a:t>
            </a:r>
            <a:r>
              <a:rPr lang="fr-FR" b="0" i="0" u="none" strike="noStrike" dirty="0">
                <a:solidFill>
                  <a:srgbClr val="000000"/>
                </a:solidFill>
                <a:effectLst/>
              </a:rPr>
              <a:t>, au lieu de tout stocker dans un seul vecteur. </a:t>
            </a:r>
          </a:p>
          <a:p>
            <a:pPr algn="l"/>
            <a:r>
              <a:rPr lang="fr-FR" b="0" i="0" u="none" strike="noStrike" dirty="0">
                <a:solidFill>
                  <a:srgbClr val="000000"/>
                </a:solidFill>
                <a:effectLst/>
              </a:rPr>
              <a:t>Cela réduit considérablement la perte d'information et améliore la qualité de la traduction ou du résumé.</a:t>
            </a:r>
          </a:p>
          <a:p>
            <a:pPr algn="l"/>
            <a:r>
              <a:rPr lang="fr-FR" b="1" i="0" u="none" strike="noStrike" dirty="0">
                <a:solidFill>
                  <a:srgbClr val="000000"/>
                </a:solidFill>
                <a:effectLst/>
              </a:rPr>
              <a:t>Avec l'attention, au lieu d’un seul vecteur de contexte statique, le modèle a accès à toutes les représentations de l'entrée et peut pondérer leur importance à chaque instant.</a:t>
            </a:r>
            <a:endParaRPr lang="fr-FR" b="0" i="0" u="none" strike="noStrike" dirty="0">
              <a:solidFill>
                <a:srgbClr val="000000"/>
              </a:solidFill>
              <a:effectLst/>
            </a:endParaRPr>
          </a:p>
          <a:p>
            <a:pPr algn="l"/>
            <a:r>
              <a:rPr lang="fr-FR" b="0" i="0" u="none" strike="noStrike" dirty="0">
                <a:solidFill>
                  <a:srgbClr val="000000"/>
                </a:solidFill>
                <a:effectLst/>
              </a:rPr>
              <a:t>C'est cette avancée qui a mené aux modèles comme </a:t>
            </a:r>
            <a:r>
              <a:rPr lang="fr-FR" b="1" i="0" u="none" strike="noStrike" dirty="0">
                <a:solidFill>
                  <a:srgbClr val="000000"/>
                </a:solidFill>
                <a:effectLst/>
              </a:rPr>
              <a:t>Transformers</a:t>
            </a:r>
            <a:r>
              <a:rPr lang="fr-FR" b="0" i="0" u="none" strike="noStrike" dirty="0">
                <a:solidFill>
                  <a:srgbClr val="000000"/>
                </a:solidFill>
                <a:effectLst/>
              </a:rPr>
              <a:t>, où l'attention devient centrale et remplace complètement les RNN/LSTM.</a:t>
            </a:r>
          </a:p>
          <a:p>
            <a:endParaRPr lang="en-GB" dirty="0"/>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20</a:t>
            </a:fld>
            <a:endParaRPr lang="en-GB"/>
          </a:p>
        </p:txBody>
      </p:sp>
    </p:spTree>
    <p:extLst>
      <p:ext uri="{BB962C8B-B14F-4D97-AF65-F5344CB8AC3E}">
        <p14:creationId xmlns:p14="http://schemas.microsoft.com/office/powerpoint/2010/main" val="1576026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000000"/>
                </a:solidFill>
                <a:effectLst/>
                <a:latin typeface="-webkit-standard"/>
              </a:rPr>
              <a:t>L'attention est un mécanisme puissant qui permet de se concentrer sur certaines parties d'une séquence source lors de sa transformation, comme le ferait un humain en traduisant ou en résumant un </a:t>
            </a:r>
            <a:r>
              <a:rPr lang="fr-FR" b="0" i="0" u="none" strike="noStrike">
                <a:solidFill>
                  <a:srgbClr val="000000"/>
                </a:solidFill>
                <a:effectLst/>
                <a:latin typeface="-webkit-standard"/>
              </a:rPr>
              <a:t>texte.</a:t>
            </a:r>
            <a:endParaRPr lang="en-GB"/>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21</a:t>
            </a:fld>
            <a:endParaRPr lang="en-GB"/>
          </a:p>
        </p:txBody>
      </p:sp>
    </p:spTree>
    <p:extLst>
      <p:ext uri="{BB962C8B-B14F-4D97-AF65-F5344CB8AC3E}">
        <p14:creationId xmlns:p14="http://schemas.microsoft.com/office/powerpoint/2010/main" val="299340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638AB-AB44-4F44-785B-96931090D5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0C5BB094-185D-6C1F-E8E2-02C460A2E3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1E48E908-3F7D-BE66-1BAF-48AFA60EB8C5}"/>
              </a:ext>
            </a:extLst>
          </p:cNvPr>
          <p:cNvSpPr>
            <a:spLocks noGrp="1"/>
          </p:cNvSpPr>
          <p:nvPr>
            <p:ph type="dt" sz="half" idx="10"/>
          </p:nvPr>
        </p:nvSpPr>
        <p:spPr/>
        <p:txBody>
          <a:bodyPr/>
          <a:lstStyle/>
          <a:p>
            <a:fld id="{4EEB0C8F-8E33-7D4B-9DCF-7846A2EEA7BC}" type="datetime1">
              <a:rPr lang="fr-FR" smtClean="0"/>
              <a:t>16/02/2025</a:t>
            </a:fld>
            <a:endParaRPr lang="en-GB"/>
          </a:p>
        </p:txBody>
      </p:sp>
      <p:sp>
        <p:nvSpPr>
          <p:cNvPr id="5" name="Espace réservé du pied de page 4">
            <a:extLst>
              <a:ext uri="{FF2B5EF4-FFF2-40B4-BE49-F238E27FC236}">
                <a16:creationId xmlns:a16="http://schemas.microsoft.com/office/drawing/2014/main" id="{B2DB4057-F791-D7BB-5389-3187C8C9C4E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0D80D4BA-190C-14AF-E6BC-1AB74F44D964}"/>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21686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0FE821-2576-9651-58EC-D62A8C7CD07C}"/>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7E75DD06-FC64-CFC1-0A6C-ADC010106D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337CA26-36E2-1A7A-72F3-37DF3F808DBD}"/>
              </a:ext>
            </a:extLst>
          </p:cNvPr>
          <p:cNvSpPr>
            <a:spLocks noGrp="1"/>
          </p:cNvSpPr>
          <p:nvPr>
            <p:ph type="dt" sz="half" idx="10"/>
          </p:nvPr>
        </p:nvSpPr>
        <p:spPr/>
        <p:txBody>
          <a:bodyPr/>
          <a:lstStyle/>
          <a:p>
            <a:fld id="{224A5EB9-46A4-524F-A835-D669998F01A6}" type="datetime1">
              <a:rPr lang="fr-FR" smtClean="0"/>
              <a:t>16/02/2025</a:t>
            </a:fld>
            <a:endParaRPr lang="en-GB"/>
          </a:p>
        </p:txBody>
      </p:sp>
      <p:sp>
        <p:nvSpPr>
          <p:cNvPr id="5" name="Espace réservé du pied de page 4">
            <a:extLst>
              <a:ext uri="{FF2B5EF4-FFF2-40B4-BE49-F238E27FC236}">
                <a16:creationId xmlns:a16="http://schemas.microsoft.com/office/drawing/2014/main" id="{C7D1542E-D2D1-BB47-00D6-D9B1EF66DC51}"/>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BC2E8FE9-F73F-DD65-CDEE-D88E626E7C05}"/>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7086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BC490C-7B6A-CD7C-DA28-04CBFF384A9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200ED621-B471-72E9-02E2-0D472DEA44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A63065-521A-5DBC-71F4-DCF6E9D37E4A}"/>
              </a:ext>
            </a:extLst>
          </p:cNvPr>
          <p:cNvSpPr>
            <a:spLocks noGrp="1"/>
          </p:cNvSpPr>
          <p:nvPr>
            <p:ph type="dt" sz="half" idx="10"/>
          </p:nvPr>
        </p:nvSpPr>
        <p:spPr/>
        <p:txBody>
          <a:bodyPr/>
          <a:lstStyle/>
          <a:p>
            <a:fld id="{D5A256E9-F474-FE40-9628-98DEF26086B4}" type="datetime1">
              <a:rPr lang="fr-FR" smtClean="0"/>
              <a:t>16/02/2025</a:t>
            </a:fld>
            <a:endParaRPr lang="en-GB"/>
          </a:p>
        </p:txBody>
      </p:sp>
      <p:sp>
        <p:nvSpPr>
          <p:cNvPr id="5" name="Espace réservé du pied de page 4">
            <a:extLst>
              <a:ext uri="{FF2B5EF4-FFF2-40B4-BE49-F238E27FC236}">
                <a16:creationId xmlns:a16="http://schemas.microsoft.com/office/drawing/2014/main" id="{E2BED33D-F900-95F1-B4D5-F8803096C37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16D1837B-5DBE-E8E0-5F94-CA65E491E92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31273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40EB0C-2D6C-A35D-3E38-8EF35B11771B}"/>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D89E5493-B0AB-CE62-736C-951FD00FD5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CF308763-2A51-56FC-5374-D7A15ECCA0E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8AAFD73C-7D06-D51F-510A-3529CF77D3B1}"/>
              </a:ext>
            </a:extLst>
          </p:cNvPr>
          <p:cNvSpPr>
            <a:spLocks noGrp="1"/>
          </p:cNvSpPr>
          <p:nvPr>
            <p:ph type="dt" sz="half" idx="10"/>
          </p:nvPr>
        </p:nvSpPr>
        <p:spPr/>
        <p:txBody>
          <a:bodyPr/>
          <a:lstStyle/>
          <a:p>
            <a:fld id="{5A6A66BB-E4F9-CD47-978F-A29BA084C690}" type="datetime1">
              <a:rPr lang="fr-FR" smtClean="0"/>
              <a:t>16/02/2025</a:t>
            </a:fld>
            <a:endParaRPr lang="en-GB"/>
          </a:p>
        </p:txBody>
      </p:sp>
      <p:sp>
        <p:nvSpPr>
          <p:cNvPr id="6" name="Espace réservé du pied de page 5">
            <a:extLst>
              <a:ext uri="{FF2B5EF4-FFF2-40B4-BE49-F238E27FC236}">
                <a16:creationId xmlns:a16="http://schemas.microsoft.com/office/drawing/2014/main" id="{B2CBF3C5-04D3-9218-12FE-9DE02DDCD76C}"/>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D4728E8-0E1D-7809-2E4D-ADCF6F1FFA4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64571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54130B-9370-7883-0717-1BD68A38669A}"/>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6F848E4E-97DD-6C44-9961-5F656105D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3EF8ED9-7E68-987E-4801-4FCC154EA4C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3E617C08-B632-10ED-F514-3542580AE4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8005FD-BB5C-7715-9BBB-4652B44B709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08748F56-F980-5498-B88A-57DB85FF4209}"/>
              </a:ext>
            </a:extLst>
          </p:cNvPr>
          <p:cNvSpPr>
            <a:spLocks noGrp="1"/>
          </p:cNvSpPr>
          <p:nvPr>
            <p:ph type="dt" sz="half" idx="10"/>
          </p:nvPr>
        </p:nvSpPr>
        <p:spPr/>
        <p:txBody>
          <a:bodyPr/>
          <a:lstStyle/>
          <a:p>
            <a:fld id="{E215135E-FA81-C949-BF84-217CF1FED30B}" type="datetime1">
              <a:rPr lang="fr-FR" smtClean="0"/>
              <a:t>16/02/2025</a:t>
            </a:fld>
            <a:endParaRPr lang="en-GB"/>
          </a:p>
        </p:txBody>
      </p:sp>
      <p:sp>
        <p:nvSpPr>
          <p:cNvPr id="8" name="Espace réservé du pied de page 7">
            <a:extLst>
              <a:ext uri="{FF2B5EF4-FFF2-40B4-BE49-F238E27FC236}">
                <a16:creationId xmlns:a16="http://schemas.microsoft.com/office/drawing/2014/main" id="{A54B50B6-47B3-6075-4EC2-36F65EA10531}"/>
              </a:ext>
            </a:extLst>
          </p:cNvPr>
          <p:cNvSpPr>
            <a:spLocks noGrp="1"/>
          </p:cNvSpPr>
          <p:nvPr>
            <p:ph type="ftr" sz="quarter" idx="11"/>
          </p:nvPr>
        </p:nvSpPr>
        <p:spPr/>
        <p:txBody>
          <a:bodyPr/>
          <a:lstStyle/>
          <a:p>
            <a:r>
              <a:rPr lang="en-GB"/>
              <a:t>Introduction to NLP. Author: David Thébault</a:t>
            </a:r>
          </a:p>
        </p:txBody>
      </p:sp>
      <p:sp>
        <p:nvSpPr>
          <p:cNvPr id="9" name="Espace réservé du numéro de diapositive 8">
            <a:extLst>
              <a:ext uri="{FF2B5EF4-FFF2-40B4-BE49-F238E27FC236}">
                <a16:creationId xmlns:a16="http://schemas.microsoft.com/office/drawing/2014/main" id="{825A3815-5467-2E89-3A5F-0BA78FAB352E}"/>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8639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DB8EC-5949-E9DB-81BD-1745DCE71D9B}"/>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F307A441-A698-1837-AC62-4D17978759CD}"/>
              </a:ext>
            </a:extLst>
          </p:cNvPr>
          <p:cNvSpPr>
            <a:spLocks noGrp="1"/>
          </p:cNvSpPr>
          <p:nvPr>
            <p:ph type="dt" sz="half" idx="10"/>
          </p:nvPr>
        </p:nvSpPr>
        <p:spPr/>
        <p:txBody>
          <a:bodyPr/>
          <a:lstStyle/>
          <a:p>
            <a:fld id="{CFA417FA-B0AE-A046-961D-49ACF96A1E38}" type="datetime1">
              <a:rPr lang="fr-FR" smtClean="0"/>
              <a:t>16/02/2025</a:t>
            </a:fld>
            <a:endParaRPr lang="en-GB"/>
          </a:p>
        </p:txBody>
      </p:sp>
      <p:sp>
        <p:nvSpPr>
          <p:cNvPr id="4" name="Espace réservé du pied de page 3">
            <a:extLst>
              <a:ext uri="{FF2B5EF4-FFF2-40B4-BE49-F238E27FC236}">
                <a16:creationId xmlns:a16="http://schemas.microsoft.com/office/drawing/2014/main" id="{10C7AD70-E50C-75FF-4C19-8242D66345BA}"/>
              </a:ext>
            </a:extLst>
          </p:cNvPr>
          <p:cNvSpPr>
            <a:spLocks noGrp="1"/>
          </p:cNvSpPr>
          <p:nvPr>
            <p:ph type="ftr" sz="quarter" idx="11"/>
          </p:nvPr>
        </p:nvSpPr>
        <p:spPr/>
        <p:txBody>
          <a:bodyPr/>
          <a:lstStyle/>
          <a:p>
            <a:r>
              <a:rPr lang="en-GB"/>
              <a:t>Introduction to NLP. Author: David Thébault</a:t>
            </a:r>
          </a:p>
        </p:txBody>
      </p:sp>
      <p:sp>
        <p:nvSpPr>
          <p:cNvPr id="5" name="Espace réservé du numéro de diapositive 4">
            <a:extLst>
              <a:ext uri="{FF2B5EF4-FFF2-40B4-BE49-F238E27FC236}">
                <a16:creationId xmlns:a16="http://schemas.microsoft.com/office/drawing/2014/main" id="{CDA152C5-28E3-1071-CEF8-84E9008454B7}"/>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525627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017A14-40F9-6437-5261-222B51BEB281}"/>
              </a:ext>
            </a:extLst>
          </p:cNvPr>
          <p:cNvSpPr>
            <a:spLocks noGrp="1"/>
          </p:cNvSpPr>
          <p:nvPr>
            <p:ph type="dt" sz="half" idx="10"/>
          </p:nvPr>
        </p:nvSpPr>
        <p:spPr/>
        <p:txBody>
          <a:bodyPr/>
          <a:lstStyle/>
          <a:p>
            <a:fld id="{10E370DE-B107-C14C-8AC4-727633FCA810}" type="datetime1">
              <a:rPr lang="fr-FR" smtClean="0"/>
              <a:t>16/02/2025</a:t>
            </a:fld>
            <a:endParaRPr lang="en-GB"/>
          </a:p>
        </p:txBody>
      </p:sp>
      <p:sp>
        <p:nvSpPr>
          <p:cNvPr id="3" name="Espace réservé du pied de page 2">
            <a:extLst>
              <a:ext uri="{FF2B5EF4-FFF2-40B4-BE49-F238E27FC236}">
                <a16:creationId xmlns:a16="http://schemas.microsoft.com/office/drawing/2014/main" id="{01AAAE1D-5F91-D7B8-0C07-F57F37D24341}"/>
              </a:ext>
            </a:extLst>
          </p:cNvPr>
          <p:cNvSpPr>
            <a:spLocks noGrp="1"/>
          </p:cNvSpPr>
          <p:nvPr>
            <p:ph type="ftr" sz="quarter" idx="11"/>
          </p:nvPr>
        </p:nvSpPr>
        <p:spPr/>
        <p:txBody>
          <a:bodyPr/>
          <a:lstStyle/>
          <a:p>
            <a:r>
              <a:rPr lang="en-GB"/>
              <a:t>Introduction to NLP. Author: David Thébault</a:t>
            </a:r>
          </a:p>
        </p:txBody>
      </p:sp>
      <p:sp>
        <p:nvSpPr>
          <p:cNvPr id="4" name="Espace réservé du numéro de diapositive 3">
            <a:extLst>
              <a:ext uri="{FF2B5EF4-FFF2-40B4-BE49-F238E27FC236}">
                <a16:creationId xmlns:a16="http://schemas.microsoft.com/office/drawing/2014/main" id="{977FDAD7-2841-DE0C-052B-3685807265B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931550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7B945-B2F7-153C-3391-88D7C31A867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FC1A287C-1AD2-E80E-E53C-28DCFA7D6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7EB51E35-4073-D78F-44C5-C2143EB0DA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B7E06BC-CF7C-52F4-A947-C96A2BDBF062}"/>
              </a:ext>
            </a:extLst>
          </p:cNvPr>
          <p:cNvSpPr>
            <a:spLocks noGrp="1"/>
          </p:cNvSpPr>
          <p:nvPr>
            <p:ph type="dt" sz="half" idx="10"/>
          </p:nvPr>
        </p:nvSpPr>
        <p:spPr/>
        <p:txBody>
          <a:bodyPr/>
          <a:lstStyle/>
          <a:p>
            <a:fld id="{A3379A73-56E1-0847-98C6-1343EC2D8C39}" type="datetime1">
              <a:rPr lang="fr-FR" smtClean="0"/>
              <a:t>16/02/2025</a:t>
            </a:fld>
            <a:endParaRPr lang="en-GB"/>
          </a:p>
        </p:txBody>
      </p:sp>
      <p:sp>
        <p:nvSpPr>
          <p:cNvPr id="6" name="Espace réservé du pied de page 5">
            <a:extLst>
              <a:ext uri="{FF2B5EF4-FFF2-40B4-BE49-F238E27FC236}">
                <a16:creationId xmlns:a16="http://schemas.microsoft.com/office/drawing/2014/main" id="{8A7F41F4-A70C-6EAD-4A46-A5C287EC67ED}"/>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076A87E-FA41-78D4-EC00-5D8998430220}"/>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5885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D0BC82-6D03-592A-0C8A-8804C8AD771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99859FD4-01A7-D155-B541-03EAFB59A9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46FF0AA2-CEED-722D-EC4B-68D1642CF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7F03BE-E420-E221-39C5-0519A77F4609}"/>
              </a:ext>
            </a:extLst>
          </p:cNvPr>
          <p:cNvSpPr>
            <a:spLocks noGrp="1"/>
          </p:cNvSpPr>
          <p:nvPr>
            <p:ph type="dt" sz="half" idx="10"/>
          </p:nvPr>
        </p:nvSpPr>
        <p:spPr/>
        <p:txBody>
          <a:bodyPr/>
          <a:lstStyle/>
          <a:p>
            <a:fld id="{11533398-1D35-6544-A2CC-10E1CFDB53BA}" type="datetime1">
              <a:rPr lang="fr-FR" smtClean="0"/>
              <a:t>16/02/2025</a:t>
            </a:fld>
            <a:endParaRPr lang="en-GB"/>
          </a:p>
        </p:txBody>
      </p:sp>
      <p:sp>
        <p:nvSpPr>
          <p:cNvPr id="6" name="Espace réservé du pied de page 5">
            <a:extLst>
              <a:ext uri="{FF2B5EF4-FFF2-40B4-BE49-F238E27FC236}">
                <a16:creationId xmlns:a16="http://schemas.microsoft.com/office/drawing/2014/main" id="{888752CD-3356-E07D-5257-BE3F6539A022}"/>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7E514820-E6C4-F3D4-EE8D-70ABD3B14BFB}"/>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40061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7F897-700C-3101-5C3C-72A9FF91DD62}"/>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C2882897-D3D4-C2D1-D319-9B718B0306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20AF124C-E111-5CC6-61AA-889BF1A47253}"/>
              </a:ext>
            </a:extLst>
          </p:cNvPr>
          <p:cNvSpPr>
            <a:spLocks noGrp="1"/>
          </p:cNvSpPr>
          <p:nvPr>
            <p:ph type="dt" sz="half" idx="10"/>
          </p:nvPr>
        </p:nvSpPr>
        <p:spPr/>
        <p:txBody>
          <a:bodyPr/>
          <a:lstStyle/>
          <a:p>
            <a:fld id="{A9A6B707-1D71-774A-9821-01A895ED4CA0}" type="datetime1">
              <a:rPr lang="fr-FR" smtClean="0"/>
              <a:t>16/02/2025</a:t>
            </a:fld>
            <a:endParaRPr lang="en-GB"/>
          </a:p>
        </p:txBody>
      </p:sp>
      <p:sp>
        <p:nvSpPr>
          <p:cNvPr id="5" name="Espace réservé du pied de page 4">
            <a:extLst>
              <a:ext uri="{FF2B5EF4-FFF2-40B4-BE49-F238E27FC236}">
                <a16:creationId xmlns:a16="http://schemas.microsoft.com/office/drawing/2014/main" id="{6FD92984-1579-FADD-F22D-588D62EB62D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693F842A-D66B-0FA6-5EE0-CE72083FB918}"/>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823431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D283032-C078-B82A-8633-A57C5B4CA375}"/>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9F5D9928-6925-D028-A1F6-4349D4D49A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E66365FF-1093-5263-CEC4-A966C0CA1EBD}"/>
              </a:ext>
            </a:extLst>
          </p:cNvPr>
          <p:cNvSpPr>
            <a:spLocks noGrp="1"/>
          </p:cNvSpPr>
          <p:nvPr>
            <p:ph type="dt" sz="half" idx="10"/>
          </p:nvPr>
        </p:nvSpPr>
        <p:spPr/>
        <p:txBody>
          <a:bodyPr/>
          <a:lstStyle/>
          <a:p>
            <a:fld id="{9EEFA1DB-9F39-7549-A1CF-7DB3AA086340}" type="datetime1">
              <a:rPr lang="fr-FR" smtClean="0"/>
              <a:t>16/02/2025</a:t>
            </a:fld>
            <a:endParaRPr lang="en-GB"/>
          </a:p>
        </p:txBody>
      </p:sp>
      <p:sp>
        <p:nvSpPr>
          <p:cNvPr id="5" name="Espace réservé du pied de page 4">
            <a:extLst>
              <a:ext uri="{FF2B5EF4-FFF2-40B4-BE49-F238E27FC236}">
                <a16:creationId xmlns:a16="http://schemas.microsoft.com/office/drawing/2014/main" id="{2569AAC2-C2B1-D84B-3DA1-7D3688A7E247}"/>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9791DF25-B577-4592-5552-5C6F2E8F06B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985072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E99DA2-E800-51D7-232D-195A1643C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E5CD912A-3146-AFCE-A9CC-E173D878B5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64607F7-0DF0-ADD6-CDE4-5E5480058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F0546-0615-3E45-8C8A-078A7AEBEBD8}" type="datetime1">
              <a:rPr lang="fr-FR" smtClean="0"/>
              <a:t>16/02/2025</a:t>
            </a:fld>
            <a:endParaRPr lang="en-GB"/>
          </a:p>
        </p:txBody>
      </p:sp>
      <p:sp>
        <p:nvSpPr>
          <p:cNvPr id="5" name="Espace réservé du pied de page 4">
            <a:extLst>
              <a:ext uri="{FF2B5EF4-FFF2-40B4-BE49-F238E27FC236}">
                <a16:creationId xmlns:a16="http://schemas.microsoft.com/office/drawing/2014/main" id="{8A06EDC5-D7F4-E73D-0D3C-F995AEDFF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5F18EB3C-E203-29A4-64EE-1B7292D3A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0816F-190A-DA4E-84D3-F6FF722C1D33}" type="slidenum">
              <a:rPr lang="en-GB" smtClean="0"/>
              <a:t>‹N°›</a:t>
            </a:fld>
            <a:endParaRPr lang="en-GB"/>
          </a:p>
        </p:txBody>
      </p:sp>
    </p:spTree>
    <p:extLst>
      <p:ext uri="{BB962C8B-B14F-4D97-AF65-F5344CB8AC3E}">
        <p14:creationId xmlns:p14="http://schemas.microsoft.com/office/powerpoint/2010/main" val="3457280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41.png"/><Relationship Id="rId5" Type="http://schemas.openxmlformats.org/officeDocument/2006/relationships/image" Target="../media/image33.png"/><Relationship Id="rId10"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s>
</file>

<file path=ppt/slides/_rels/slide11.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20.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08.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7.png"/><Relationship Id="rId17" Type="http://schemas.openxmlformats.org/officeDocument/2006/relationships/image" Target="../media/image112.svg"/><Relationship Id="rId2" Type="http://schemas.openxmlformats.org/officeDocument/2006/relationships/notesSlide" Target="../notesSlides/notesSlide4.xml"/><Relationship Id="rId16"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38.svg"/><Relationship Id="rId5" Type="http://schemas.openxmlformats.org/officeDocument/2006/relationships/image" Target="../media/image102.png"/><Relationship Id="rId15" Type="http://schemas.openxmlformats.org/officeDocument/2006/relationships/image" Target="../media/image110.png"/><Relationship Id="rId10" Type="http://schemas.openxmlformats.org/officeDocument/2006/relationships/image" Target="../media/image3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09.png"/></Relationships>
</file>

<file path=ppt/slides/_rels/slide2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08.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7.png"/><Relationship Id="rId17" Type="http://schemas.openxmlformats.org/officeDocument/2006/relationships/image" Target="../media/image112.svg"/><Relationship Id="rId2" Type="http://schemas.openxmlformats.org/officeDocument/2006/relationships/notesSlide" Target="../notesSlides/notesSlide5.xml"/><Relationship Id="rId16"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38.svg"/><Relationship Id="rId5" Type="http://schemas.openxmlformats.org/officeDocument/2006/relationships/image" Target="../media/image102.png"/><Relationship Id="rId15" Type="http://schemas.openxmlformats.org/officeDocument/2006/relationships/image" Target="../media/image110.png"/><Relationship Id="rId10" Type="http://schemas.openxmlformats.org/officeDocument/2006/relationships/image" Target="../media/image3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normAutofit/>
          </a:bodyPr>
          <a:lstStyle/>
          <a:p>
            <a:r>
              <a:rPr lang="en-GB" noProof="0" dirty="0"/>
              <a:t>Sequence to Sequence</a:t>
            </a:r>
            <a:br>
              <a:rPr lang="en-GB" noProof="0" dirty="0"/>
            </a:br>
            <a:r>
              <a:rPr lang="en-GB" noProof="0" dirty="0"/>
              <a:t>(Seq2Seq)</a:t>
            </a:r>
            <a:endParaRPr lang="fr-FR" dirty="0"/>
          </a:p>
        </p:txBody>
      </p:sp>
      <p:sp>
        <p:nvSpPr>
          <p:cNvPr id="4" name="Espace réservé du pied de page 3">
            <a:extLst>
              <a:ext uri="{FF2B5EF4-FFF2-40B4-BE49-F238E27FC236}">
                <a16:creationId xmlns:a16="http://schemas.microsoft.com/office/drawing/2014/main" id="{AB3E12B7-AC44-7C12-7D3C-774605E8B96E}"/>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0A38BB-48F2-B813-4E65-5F53EBDED643}"/>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97308B65-8C31-CC45-6365-C3E4517140E3}"/>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92CD960E-E9FB-2CFE-7D9C-7FFF80A7AB1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Attending to What’s Important</a:t>
            </a:r>
          </a:p>
        </p:txBody>
      </p:sp>
      <p:grpSp>
        <p:nvGrpSpPr>
          <p:cNvPr id="7" name="Groupe 6">
            <a:extLst>
              <a:ext uri="{FF2B5EF4-FFF2-40B4-BE49-F238E27FC236}">
                <a16:creationId xmlns:a16="http://schemas.microsoft.com/office/drawing/2014/main" id="{CC3AF16E-25C1-2825-E407-9F17CCD64401}"/>
              </a:ext>
            </a:extLst>
          </p:cNvPr>
          <p:cNvGrpSpPr/>
          <p:nvPr/>
        </p:nvGrpSpPr>
        <p:grpSpPr>
          <a:xfrm>
            <a:off x="7356037" y="2268272"/>
            <a:ext cx="2363741" cy="1332478"/>
            <a:chOff x="2866872" y="2651290"/>
            <a:chExt cx="5342504" cy="2519157"/>
          </a:xfrm>
        </p:grpSpPr>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B6EB92E2-A8AD-DAB7-57F5-F54E9D8C4D16}"/>
                    </a:ext>
                  </a:extLst>
                </p:cNvPr>
                <p:cNvSpPr txBox="1"/>
                <p:nvPr/>
              </p:nvSpPr>
              <p:spPr>
                <a:xfrm>
                  <a:off x="3657482" y="4821321"/>
                  <a:ext cx="424733" cy="34912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87" name="ZoneTexte 86">
                  <a:extLst>
                    <a:ext uri="{FF2B5EF4-FFF2-40B4-BE49-F238E27FC236}">
                      <a16:creationId xmlns:a16="http://schemas.microsoft.com/office/drawing/2014/main" id="{B6EB92E2-A8AD-DAB7-57F5-F54E9D8C4D16}"/>
                    </a:ext>
                  </a:extLst>
                </p:cNvPr>
                <p:cNvSpPr txBox="1">
                  <a:spLocks noRot="1" noChangeAspect="1" noMove="1" noResize="1" noEditPoints="1" noAdjustHandles="1" noChangeArrowheads="1" noChangeShapeType="1" noTextEdit="1"/>
                </p:cNvSpPr>
                <p:nvPr/>
              </p:nvSpPr>
              <p:spPr>
                <a:xfrm>
                  <a:off x="3657482" y="4821321"/>
                  <a:ext cx="424733" cy="349126"/>
                </a:xfrm>
                <a:prstGeom prst="rect">
                  <a:avLst/>
                </a:prstGeom>
                <a:blipFill>
                  <a:blip r:embed="rId2"/>
                  <a:stretch>
                    <a:fillRect l="-25000" r="-68750" b="-12500"/>
                  </a:stretch>
                </a:blipFill>
              </p:spPr>
              <p:txBody>
                <a:bodyPr/>
                <a:lstStyle/>
                <a:p>
                  <a:r>
                    <a:rPr lang="en-GB">
                      <a:noFill/>
                    </a:rPr>
                    <a:t> </a:t>
                  </a:r>
                </a:p>
              </p:txBody>
            </p:sp>
          </mc:Fallback>
        </mc:AlternateContent>
        <p:sp>
          <p:nvSpPr>
            <p:cNvPr id="88" name="Rectangle : coins arrondis 87">
              <a:extLst>
                <a:ext uri="{FF2B5EF4-FFF2-40B4-BE49-F238E27FC236}">
                  <a16:creationId xmlns:a16="http://schemas.microsoft.com/office/drawing/2014/main" id="{2F4E4A1C-2B7A-6C1A-412B-3AB963E79756}"/>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89" name="Connecteur droit avec flèche 88">
              <a:extLst>
                <a:ext uri="{FF2B5EF4-FFF2-40B4-BE49-F238E27FC236}">
                  <a16:creationId xmlns:a16="http://schemas.microsoft.com/office/drawing/2014/main" id="{D2635A92-938A-1F4A-9084-2F16EB283924}"/>
                </a:ext>
              </a:extLst>
            </p:cNvPr>
            <p:cNvCxnSpPr>
              <a:cxnSpLocks/>
              <a:stCxn id="87" idx="0"/>
              <a:endCxn id="88" idx="2"/>
            </p:cNvCxnSpPr>
            <p:nvPr/>
          </p:nvCxnSpPr>
          <p:spPr>
            <a:xfrm flipH="1" flipV="1">
              <a:off x="3865888" y="4385162"/>
              <a:ext cx="3962" cy="4361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Rectangle : coins arrondis 89">
              <a:extLst>
                <a:ext uri="{FF2B5EF4-FFF2-40B4-BE49-F238E27FC236}">
                  <a16:creationId xmlns:a16="http://schemas.microsoft.com/office/drawing/2014/main" id="{E47AC5F9-EE7B-E4D3-B2A7-6CCD7CB09E49}"/>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91" name="Rectangle : coins arrondis 90">
              <a:extLst>
                <a:ext uri="{FF2B5EF4-FFF2-40B4-BE49-F238E27FC236}">
                  <a16:creationId xmlns:a16="http://schemas.microsoft.com/office/drawing/2014/main" id="{99E75152-7F53-3740-62F8-14E093639FC3}"/>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92" name="Rectangle : coins arrondis 91">
              <a:extLst>
                <a:ext uri="{FF2B5EF4-FFF2-40B4-BE49-F238E27FC236}">
                  <a16:creationId xmlns:a16="http://schemas.microsoft.com/office/drawing/2014/main" id="{E008EBA6-7E08-2C96-91F5-54BDA1D736C0}"/>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93" name="Connecteur droit avec flèche 92">
              <a:extLst>
                <a:ext uri="{FF2B5EF4-FFF2-40B4-BE49-F238E27FC236}">
                  <a16:creationId xmlns:a16="http://schemas.microsoft.com/office/drawing/2014/main" id="{3A9A09F5-B730-B18B-1AA2-062047B7FBF8}"/>
                </a:ext>
              </a:extLst>
            </p:cNvPr>
            <p:cNvCxnSpPr>
              <a:stCxn id="88" idx="3"/>
              <a:endCxn id="90"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93">
              <a:extLst>
                <a:ext uri="{FF2B5EF4-FFF2-40B4-BE49-F238E27FC236}">
                  <a16:creationId xmlns:a16="http://schemas.microsoft.com/office/drawing/2014/main" id="{9DE1E630-2FFA-FDD9-3CCE-B6CAA7185B8D}"/>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Connecteur droit avec flèche 94">
              <a:extLst>
                <a:ext uri="{FF2B5EF4-FFF2-40B4-BE49-F238E27FC236}">
                  <a16:creationId xmlns:a16="http://schemas.microsoft.com/office/drawing/2014/main" id="{0BACE2CD-36CA-55A5-C521-A53357D33A69}"/>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Connecteur droit avec flèche 95">
              <a:extLst>
                <a:ext uri="{FF2B5EF4-FFF2-40B4-BE49-F238E27FC236}">
                  <a16:creationId xmlns:a16="http://schemas.microsoft.com/office/drawing/2014/main" id="{0FC3AEC0-5805-2A39-7DB8-84E13C825615}"/>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7" name="ZoneTexte 96">
                  <a:extLst>
                    <a:ext uri="{FF2B5EF4-FFF2-40B4-BE49-F238E27FC236}">
                      <a16:creationId xmlns:a16="http://schemas.microsoft.com/office/drawing/2014/main" id="{6BB630F8-C0DE-E3E8-8719-08445385DCC4}"/>
                    </a:ext>
                  </a:extLst>
                </p:cNvPr>
                <p:cNvSpPr txBox="1"/>
                <p:nvPr/>
              </p:nvSpPr>
              <p:spPr>
                <a:xfrm>
                  <a:off x="3670546" y="2651290"/>
                  <a:ext cx="724475" cy="349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97" name="ZoneTexte 96">
                  <a:extLst>
                    <a:ext uri="{FF2B5EF4-FFF2-40B4-BE49-F238E27FC236}">
                      <a16:creationId xmlns:a16="http://schemas.microsoft.com/office/drawing/2014/main" id="{6BB630F8-C0DE-E3E8-8719-08445385DCC4}"/>
                    </a:ext>
                  </a:extLst>
                </p:cNvPr>
                <p:cNvSpPr txBox="1">
                  <a:spLocks noRot="1" noChangeAspect="1" noMove="1" noResize="1" noEditPoints="1" noAdjustHandles="1" noChangeArrowheads="1" noChangeShapeType="1" noTextEdit="1"/>
                </p:cNvSpPr>
                <p:nvPr/>
              </p:nvSpPr>
              <p:spPr>
                <a:xfrm>
                  <a:off x="3670546" y="2651290"/>
                  <a:ext cx="724475" cy="349126"/>
                </a:xfrm>
                <a:prstGeom prst="rect">
                  <a:avLst/>
                </a:prstGeom>
                <a:blipFill>
                  <a:blip r:embed="rId3"/>
                  <a:stretch>
                    <a:fillRect l="-15385" t="-13333" r="-384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ZoneTexte 97">
                  <a:extLst>
                    <a:ext uri="{FF2B5EF4-FFF2-40B4-BE49-F238E27FC236}">
                      <a16:creationId xmlns:a16="http://schemas.microsoft.com/office/drawing/2014/main" id="{CDB6ACD3-81ED-8EF9-1C1F-81FD3AA74217}"/>
                    </a:ext>
                  </a:extLst>
                </p:cNvPr>
                <p:cNvSpPr txBox="1"/>
                <p:nvPr/>
              </p:nvSpPr>
              <p:spPr>
                <a:xfrm>
                  <a:off x="4959413" y="2659996"/>
                  <a:ext cx="724475" cy="349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98" name="ZoneTexte 97">
                  <a:extLst>
                    <a:ext uri="{FF2B5EF4-FFF2-40B4-BE49-F238E27FC236}">
                      <a16:creationId xmlns:a16="http://schemas.microsoft.com/office/drawing/2014/main" id="{CDB6ACD3-81ED-8EF9-1C1F-81FD3AA74217}"/>
                    </a:ext>
                  </a:extLst>
                </p:cNvPr>
                <p:cNvSpPr txBox="1">
                  <a:spLocks noRot="1" noChangeAspect="1" noMove="1" noResize="1" noEditPoints="1" noAdjustHandles="1" noChangeArrowheads="1" noChangeShapeType="1" noTextEdit="1"/>
                </p:cNvSpPr>
                <p:nvPr/>
              </p:nvSpPr>
              <p:spPr>
                <a:xfrm>
                  <a:off x="4959413" y="2659996"/>
                  <a:ext cx="724475" cy="349126"/>
                </a:xfrm>
                <a:prstGeom prst="rect">
                  <a:avLst/>
                </a:prstGeom>
                <a:blipFill>
                  <a:blip r:embed="rId4"/>
                  <a:stretch>
                    <a:fillRect l="-15385" t="-20000" r="-3846"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ZoneTexte 98">
                  <a:extLst>
                    <a:ext uri="{FF2B5EF4-FFF2-40B4-BE49-F238E27FC236}">
                      <a16:creationId xmlns:a16="http://schemas.microsoft.com/office/drawing/2014/main" id="{0222DDB7-E815-13D6-1464-9B308B749A98}"/>
                    </a:ext>
                  </a:extLst>
                </p:cNvPr>
                <p:cNvSpPr txBox="1"/>
                <p:nvPr/>
              </p:nvSpPr>
              <p:spPr>
                <a:xfrm>
                  <a:off x="6222155" y="2655640"/>
                  <a:ext cx="724475" cy="349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99" name="ZoneTexte 98">
                  <a:extLst>
                    <a:ext uri="{FF2B5EF4-FFF2-40B4-BE49-F238E27FC236}">
                      <a16:creationId xmlns:a16="http://schemas.microsoft.com/office/drawing/2014/main" id="{0222DDB7-E815-13D6-1464-9B308B749A98}"/>
                    </a:ext>
                  </a:extLst>
                </p:cNvPr>
                <p:cNvSpPr txBox="1">
                  <a:spLocks noRot="1" noChangeAspect="1" noMove="1" noResize="1" noEditPoints="1" noAdjustHandles="1" noChangeArrowheads="1" noChangeShapeType="1" noTextEdit="1"/>
                </p:cNvSpPr>
                <p:nvPr/>
              </p:nvSpPr>
              <p:spPr>
                <a:xfrm>
                  <a:off x="6222155" y="2655640"/>
                  <a:ext cx="724475" cy="349126"/>
                </a:xfrm>
                <a:prstGeom prst="rect">
                  <a:avLst/>
                </a:prstGeom>
                <a:blipFill>
                  <a:blip r:embed="rId5"/>
                  <a:stretch>
                    <a:fillRect l="-15385" t="-12500" r="-3846"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ZoneTexte 99">
                  <a:extLst>
                    <a:ext uri="{FF2B5EF4-FFF2-40B4-BE49-F238E27FC236}">
                      <a16:creationId xmlns:a16="http://schemas.microsoft.com/office/drawing/2014/main" id="{674DCA94-F735-BB18-7A38-A591D8B8657C}"/>
                    </a:ext>
                  </a:extLst>
                </p:cNvPr>
                <p:cNvSpPr txBox="1"/>
                <p:nvPr/>
              </p:nvSpPr>
              <p:spPr>
                <a:xfrm>
                  <a:off x="7484901" y="2664348"/>
                  <a:ext cx="724475" cy="349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=4</m:t>
                            </m:r>
                          </m:sub>
                        </m:sSub>
                      </m:oMath>
                    </m:oMathPara>
                  </a14:m>
                  <a:endParaRPr lang="en-GB" sz="1200" dirty="0"/>
                </a:p>
              </p:txBody>
            </p:sp>
          </mc:Choice>
          <mc:Fallback xmlns="">
            <p:sp>
              <p:nvSpPr>
                <p:cNvPr id="100" name="ZoneTexte 99">
                  <a:extLst>
                    <a:ext uri="{FF2B5EF4-FFF2-40B4-BE49-F238E27FC236}">
                      <a16:creationId xmlns:a16="http://schemas.microsoft.com/office/drawing/2014/main" id="{674DCA94-F735-BB18-7A38-A591D8B8657C}"/>
                    </a:ext>
                  </a:extLst>
                </p:cNvPr>
                <p:cNvSpPr txBox="1">
                  <a:spLocks noRot="1" noChangeAspect="1" noMove="1" noResize="1" noEditPoints="1" noAdjustHandles="1" noChangeArrowheads="1" noChangeShapeType="1" noTextEdit="1"/>
                </p:cNvSpPr>
                <p:nvPr/>
              </p:nvSpPr>
              <p:spPr>
                <a:xfrm>
                  <a:off x="7484901" y="2664348"/>
                  <a:ext cx="724475" cy="349126"/>
                </a:xfrm>
                <a:prstGeom prst="rect">
                  <a:avLst/>
                </a:prstGeom>
                <a:blipFill>
                  <a:blip r:embed="rId6"/>
                  <a:stretch>
                    <a:fillRect l="-15385" t="-13333" r="-3846" b="-26667"/>
                  </a:stretch>
                </a:blipFill>
              </p:spPr>
              <p:txBody>
                <a:bodyPr/>
                <a:lstStyle/>
                <a:p>
                  <a:r>
                    <a:rPr lang="en-GB">
                      <a:noFill/>
                    </a:rPr>
                    <a:t> </a:t>
                  </a:r>
                </a:p>
              </p:txBody>
            </p:sp>
          </mc:Fallback>
        </mc:AlternateContent>
        <p:cxnSp>
          <p:nvCxnSpPr>
            <p:cNvPr id="101" name="Connecteur droit avec flèche 100">
              <a:extLst>
                <a:ext uri="{FF2B5EF4-FFF2-40B4-BE49-F238E27FC236}">
                  <a16:creationId xmlns:a16="http://schemas.microsoft.com/office/drawing/2014/main" id="{EF5A53B0-C62F-3C8F-C9E7-03C333F6C323}"/>
                </a:ext>
              </a:extLst>
            </p:cNvPr>
            <p:cNvCxnSpPr>
              <a:cxnSpLocks/>
            </p:cNvCxnSpPr>
            <p:nvPr/>
          </p:nvCxnSpPr>
          <p:spPr>
            <a:xfrm flipV="1">
              <a:off x="3877704" y="2991446"/>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necteur droit avec flèche 101">
              <a:extLst>
                <a:ext uri="{FF2B5EF4-FFF2-40B4-BE49-F238E27FC236}">
                  <a16:creationId xmlns:a16="http://schemas.microsoft.com/office/drawing/2014/main" id="{E6BEE65D-0C4B-9341-521B-46CF6920577E}"/>
                </a:ext>
              </a:extLst>
            </p:cNvPr>
            <p:cNvCxnSpPr>
              <a:cxnSpLocks/>
            </p:cNvCxnSpPr>
            <p:nvPr/>
          </p:nvCxnSpPr>
          <p:spPr>
            <a:xfrm flipV="1">
              <a:off x="5151768" y="2997542"/>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DAADEEB7-FC2C-3006-2914-761742DD02F7}"/>
                </a:ext>
              </a:extLst>
            </p:cNvPr>
            <p:cNvCxnSpPr>
              <a:cxnSpLocks/>
            </p:cNvCxnSpPr>
            <p:nvPr/>
          </p:nvCxnSpPr>
          <p:spPr>
            <a:xfrm flipV="1">
              <a:off x="6425832" y="300363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necteur droit avec flèche 103">
              <a:extLst>
                <a:ext uri="{FF2B5EF4-FFF2-40B4-BE49-F238E27FC236}">
                  <a16:creationId xmlns:a16="http://schemas.microsoft.com/office/drawing/2014/main" id="{08AAF655-9181-255C-6498-50BAB4CC0E8B}"/>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 name="Groupe 7">
            <a:extLst>
              <a:ext uri="{FF2B5EF4-FFF2-40B4-BE49-F238E27FC236}">
                <a16:creationId xmlns:a16="http://schemas.microsoft.com/office/drawing/2014/main" id="{3C34B4F6-6BEA-0F22-AEF0-EC189FD7DC68}"/>
              </a:ext>
            </a:extLst>
          </p:cNvPr>
          <p:cNvGrpSpPr/>
          <p:nvPr/>
        </p:nvGrpSpPr>
        <p:grpSpPr>
          <a:xfrm>
            <a:off x="4287557" y="2282396"/>
            <a:ext cx="2331127" cy="1295317"/>
            <a:chOff x="2866872" y="2664348"/>
            <a:chExt cx="5354253" cy="2530181"/>
          </a:xfrm>
        </p:grpSpPr>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D534BE8D-2E71-A77C-B201-C670957F2557}"/>
                    </a:ext>
                  </a:extLst>
                </p:cNvPr>
                <p:cNvSpPr txBox="1"/>
                <p:nvPr/>
              </p:nvSpPr>
              <p:spPr>
                <a:xfrm>
                  <a:off x="3657483" y="4815529"/>
                  <a:ext cx="424732" cy="360714"/>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69" name="ZoneTexte 68">
                  <a:extLst>
                    <a:ext uri="{FF2B5EF4-FFF2-40B4-BE49-F238E27FC236}">
                      <a16:creationId xmlns:a16="http://schemas.microsoft.com/office/drawing/2014/main" id="{D534BE8D-2E71-A77C-B201-C670957F2557}"/>
                    </a:ext>
                  </a:extLst>
                </p:cNvPr>
                <p:cNvSpPr txBox="1">
                  <a:spLocks noRot="1" noChangeAspect="1" noMove="1" noResize="1" noEditPoints="1" noAdjustHandles="1" noChangeArrowheads="1" noChangeShapeType="1" noTextEdit="1"/>
                </p:cNvSpPr>
                <p:nvPr/>
              </p:nvSpPr>
              <p:spPr>
                <a:xfrm>
                  <a:off x="3657483" y="4815529"/>
                  <a:ext cx="424732" cy="360714"/>
                </a:xfrm>
                <a:prstGeom prst="rect">
                  <a:avLst/>
                </a:prstGeom>
                <a:blipFill>
                  <a:blip r:embed="rId7"/>
                  <a:stretch>
                    <a:fillRect l="-25000" r="-68750" b="-20000"/>
                  </a:stretch>
                </a:blipFill>
              </p:spPr>
              <p:txBody>
                <a:bodyPr/>
                <a:lstStyle/>
                <a:p>
                  <a:r>
                    <a:rPr lang="en-GB">
                      <a:noFill/>
                    </a:rPr>
                    <a:t> </a:t>
                  </a:r>
                </a:p>
              </p:txBody>
            </p:sp>
          </mc:Fallback>
        </mc:AlternateContent>
        <p:sp>
          <p:nvSpPr>
            <p:cNvPr id="70" name="Rectangle : coins arrondis 69">
              <a:extLst>
                <a:ext uri="{FF2B5EF4-FFF2-40B4-BE49-F238E27FC236}">
                  <a16:creationId xmlns:a16="http://schemas.microsoft.com/office/drawing/2014/main" id="{9A9D490C-7AA7-8C55-AB96-89400464D70C}"/>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71" name="Connecteur droit avec flèche 70">
              <a:extLst>
                <a:ext uri="{FF2B5EF4-FFF2-40B4-BE49-F238E27FC236}">
                  <a16:creationId xmlns:a16="http://schemas.microsoft.com/office/drawing/2014/main" id="{690B4231-009B-3925-F7B5-EFF571A9AFFF}"/>
                </a:ext>
              </a:extLst>
            </p:cNvPr>
            <p:cNvCxnSpPr>
              <a:cxnSpLocks/>
              <a:stCxn id="69" idx="0"/>
              <a:endCxn id="70" idx="2"/>
            </p:cNvCxnSpPr>
            <p:nvPr/>
          </p:nvCxnSpPr>
          <p:spPr>
            <a:xfrm flipH="1" flipV="1">
              <a:off x="3865888" y="4385162"/>
              <a:ext cx="3962" cy="430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693ADC0F-F914-6403-D2B7-05E78E4B4786}"/>
                    </a:ext>
                  </a:extLst>
                </p:cNvPr>
                <p:cNvSpPr txBox="1"/>
                <p:nvPr/>
              </p:nvSpPr>
              <p:spPr>
                <a:xfrm>
                  <a:off x="4931547" y="4821624"/>
                  <a:ext cx="424732" cy="360714"/>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72" name="ZoneTexte 71">
                  <a:extLst>
                    <a:ext uri="{FF2B5EF4-FFF2-40B4-BE49-F238E27FC236}">
                      <a16:creationId xmlns:a16="http://schemas.microsoft.com/office/drawing/2014/main" id="{693ADC0F-F914-6403-D2B7-05E78E4B4786}"/>
                    </a:ext>
                  </a:extLst>
                </p:cNvPr>
                <p:cNvSpPr txBox="1">
                  <a:spLocks noRot="1" noChangeAspect="1" noMove="1" noResize="1" noEditPoints="1" noAdjustHandles="1" noChangeArrowheads="1" noChangeShapeType="1" noTextEdit="1"/>
                </p:cNvSpPr>
                <p:nvPr/>
              </p:nvSpPr>
              <p:spPr>
                <a:xfrm>
                  <a:off x="4931547" y="4821624"/>
                  <a:ext cx="424732" cy="360714"/>
                </a:xfrm>
                <a:prstGeom prst="rect">
                  <a:avLst/>
                </a:prstGeom>
                <a:blipFill>
                  <a:blip r:embed="rId8"/>
                  <a:stretch>
                    <a:fillRect l="-26667" r="-80000" b="-12500"/>
                  </a:stretch>
                </a:blipFill>
              </p:spPr>
              <p:txBody>
                <a:bodyPr/>
                <a:lstStyle/>
                <a:p>
                  <a:r>
                    <a:rPr lang="en-GB">
                      <a:noFill/>
                    </a:rPr>
                    <a:t> </a:t>
                  </a:r>
                </a:p>
              </p:txBody>
            </p:sp>
          </mc:Fallback>
        </mc:AlternateContent>
        <p:sp>
          <p:nvSpPr>
            <p:cNvPr id="73" name="Rectangle : coins arrondis 72">
              <a:extLst>
                <a:ext uri="{FF2B5EF4-FFF2-40B4-BE49-F238E27FC236}">
                  <a16:creationId xmlns:a16="http://schemas.microsoft.com/office/drawing/2014/main" id="{9FCDE265-F9CF-9EB6-6AD6-0A72B0308939}"/>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74" name="Connecteur droit avec flèche 73">
              <a:extLst>
                <a:ext uri="{FF2B5EF4-FFF2-40B4-BE49-F238E27FC236}">
                  <a16:creationId xmlns:a16="http://schemas.microsoft.com/office/drawing/2014/main" id="{ED661301-6B41-B35B-0A42-3E9A9131479A}"/>
                </a:ext>
              </a:extLst>
            </p:cNvPr>
            <p:cNvCxnSpPr>
              <a:cxnSpLocks/>
              <a:stCxn id="72" idx="0"/>
              <a:endCxn id="73" idx="2"/>
            </p:cNvCxnSpPr>
            <p:nvPr/>
          </p:nvCxnSpPr>
          <p:spPr>
            <a:xfrm flipH="1" flipV="1">
              <a:off x="5139952" y="4391257"/>
              <a:ext cx="3962" cy="430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2C1AFC24-595C-B7E9-2973-6825B52340E6}"/>
                    </a:ext>
                  </a:extLst>
                </p:cNvPr>
                <p:cNvSpPr txBox="1"/>
                <p:nvPr/>
              </p:nvSpPr>
              <p:spPr>
                <a:xfrm>
                  <a:off x="6205611" y="4827719"/>
                  <a:ext cx="424732" cy="360714"/>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75" name="ZoneTexte 74">
                  <a:extLst>
                    <a:ext uri="{FF2B5EF4-FFF2-40B4-BE49-F238E27FC236}">
                      <a16:creationId xmlns:a16="http://schemas.microsoft.com/office/drawing/2014/main" id="{2C1AFC24-595C-B7E9-2973-6825B52340E6}"/>
                    </a:ext>
                  </a:extLst>
                </p:cNvPr>
                <p:cNvSpPr txBox="1">
                  <a:spLocks noRot="1" noChangeAspect="1" noMove="1" noResize="1" noEditPoints="1" noAdjustHandles="1" noChangeArrowheads="1" noChangeShapeType="1" noTextEdit="1"/>
                </p:cNvSpPr>
                <p:nvPr/>
              </p:nvSpPr>
              <p:spPr>
                <a:xfrm>
                  <a:off x="6205611" y="4827719"/>
                  <a:ext cx="424732" cy="360714"/>
                </a:xfrm>
                <a:prstGeom prst="rect">
                  <a:avLst/>
                </a:prstGeom>
                <a:blipFill>
                  <a:blip r:embed="rId9"/>
                  <a:stretch>
                    <a:fillRect l="-33333" r="-80000" b="-12500"/>
                  </a:stretch>
                </a:blipFill>
              </p:spPr>
              <p:txBody>
                <a:bodyPr/>
                <a:lstStyle/>
                <a:p>
                  <a:r>
                    <a:rPr lang="en-GB">
                      <a:noFill/>
                    </a:rPr>
                    <a:t> </a:t>
                  </a:r>
                </a:p>
              </p:txBody>
            </p:sp>
          </mc:Fallback>
        </mc:AlternateContent>
        <p:sp>
          <p:nvSpPr>
            <p:cNvPr id="76" name="Rectangle : coins arrondis 75">
              <a:extLst>
                <a:ext uri="{FF2B5EF4-FFF2-40B4-BE49-F238E27FC236}">
                  <a16:creationId xmlns:a16="http://schemas.microsoft.com/office/drawing/2014/main" id="{69B8D0F1-69EB-9711-A477-3FC4541F0A6D}"/>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77" name="Connecteur droit avec flèche 76">
              <a:extLst>
                <a:ext uri="{FF2B5EF4-FFF2-40B4-BE49-F238E27FC236}">
                  <a16:creationId xmlns:a16="http://schemas.microsoft.com/office/drawing/2014/main" id="{416D877F-2B86-D250-3670-707B656136D6}"/>
                </a:ext>
              </a:extLst>
            </p:cNvPr>
            <p:cNvCxnSpPr>
              <a:cxnSpLocks/>
              <a:stCxn id="75" idx="0"/>
              <a:endCxn id="76" idx="2"/>
            </p:cNvCxnSpPr>
            <p:nvPr/>
          </p:nvCxnSpPr>
          <p:spPr>
            <a:xfrm flipH="1" flipV="1">
              <a:off x="6414016" y="4397353"/>
              <a:ext cx="3962" cy="430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8" name="ZoneTexte 77">
                  <a:extLst>
                    <a:ext uri="{FF2B5EF4-FFF2-40B4-BE49-F238E27FC236}">
                      <a16:creationId xmlns:a16="http://schemas.microsoft.com/office/drawing/2014/main" id="{C3128797-4E03-1332-C8FC-74C9BABE4BC8}"/>
                    </a:ext>
                  </a:extLst>
                </p:cNvPr>
                <p:cNvSpPr txBox="1"/>
                <p:nvPr/>
              </p:nvSpPr>
              <p:spPr>
                <a:xfrm>
                  <a:off x="7467484" y="4833816"/>
                  <a:ext cx="424732" cy="36071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=4</m:t>
                            </m:r>
                          </m:sub>
                        </m:sSub>
                      </m:oMath>
                    </m:oMathPara>
                  </a14:m>
                  <a:endParaRPr lang="en-GB" sz="1200" dirty="0"/>
                </a:p>
              </p:txBody>
            </p:sp>
          </mc:Choice>
          <mc:Fallback xmlns="">
            <p:sp>
              <p:nvSpPr>
                <p:cNvPr id="78" name="ZoneTexte 77">
                  <a:extLst>
                    <a:ext uri="{FF2B5EF4-FFF2-40B4-BE49-F238E27FC236}">
                      <a16:creationId xmlns:a16="http://schemas.microsoft.com/office/drawing/2014/main" id="{C3128797-4E03-1332-C8FC-74C9BABE4BC8}"/>
                    </a:ext>
                  </a:extLst>
                </p:cNvPr>
                <p:cNvSpPr txBox="1">
                  <a:spLocks noRot="1" noChangeAspect="1" noMove="1" noResize="1" noEditPoints="1" noAdjustHandles="1" noChangeArrowheads="1" noChangeShapeType="1" noTextEdit="1"/>
                </p:cNvSpPr>
                <p:nvPr/>
              </p:nvSpPr>
              <p:spPr>
                <a:xfrm>
                  <a:off x="7467484" y="4833816"/>
                  <a:ext cx="424732" cy="360713"/>
                </a:xfrm>
                <a:prstGeom prst="rect">
                  <a:avLst/>
                </a:prstGeom>
                <a:blipFill>
                  <a:blip r:embed="rId10"/>
                  <a:stretch>
                    <a:fillRect l="-26667" r="-80000" b="-20000"/>
                  </a:stretch>
                </a:blipFill>
              </p:spPr>
              <p:txBody>
                <a:bodyPr/>
                <a:lstStyle/>
                <a:p>
                  <a:r>
                    <a:rPr lang="en-GB">
                      <a:noFill/>
                    </a:rPr>
                    <a:t> </a:t>
                  </a:r>
                </a:p>
              </p:txBody>
            </p:sp>
          </mc:Fallback>
        </mc:AlternateContent>
        <p:sp>
          <p:nvSpPr>
            <p:cNvPr id="79" name="Rectangle : coins arrondis 78">
              <a:extLst>
                <a:ext uri="{FF2B5EF4-FFF2-40B4-BE49-F238E27FC236}">
                  <a16:creationId xmlns:a16="http://schemas.microsoft.com/office/drawing/2014/main" id="{4E69FE6D-CF05-4BFA-5277-41693F83C67F}"/>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80" name="Connecteur droit avec flèche 79">
              <a:extLst>
                <a:ext uri="{FF2B5EF4-FFF2-40B4-BE49-F238E27FC236}">
                  <a16:creationId xmlns:a16="http://schemas.microsoft.com/office/drawing/2014/main" id="{E88ABF2C-C776-3808-60B0-A8EB68F3215D}"/>
                </a:ext>
              </a:extLst>
            </p:cNvPr>
            <p:cNvCxnSpPr>
              <a:cxnSpLocks/>
              <a:stCxn id="78" idx="0"/>
              <a:endCxn id="79" idx="2"/>
            </p:cNvCxnSpPr>
            <p:nvPr/>
          </p:nvCxnSpPr>
          <p:spPr>
            <a:xfrm flipH="1" flipV="1">
              <a:off x="7675887" y="4403448"/>
              <a:ext cx="3964" cy="430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Connecteur droit avec flèche 80">
              <a:extLst>
                <a:ext uri="{FF2B5EF4-FFF2-40B4-BE49-F238E27FC236}">
                  <a16:creationId xmlns:a16="http://schemas.microsoft.com/office/drawing/2014/main" id="{A82BEB73-6EE9-F8AB-0C76-90D17CA86689}"/>
                </a:ext>
              </a:extLst>
            </p:cNvPr>
            <p:cNvCxnSpPr>
              <a:stCxn id="70" idx="3"/>
              <a:endCxn id="73"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Connecteur droit avec flèche 81">
              <a:extLst>
                <a:ext uri="{FF2B5EF4-FFF2-40B4-BE49-F238E27FC236}">
                  <a16:creationId xmlns:a16="http://schemas.microsoft.com/office/drawing/2014/main" id="{1C8B54C3-5527-C048-B00E-CC2BE1138651}"/>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eur droit avec flèche 82">
              <a:extLst>
                <a:ext uri="{FF2B5EF4-FFF2-40B4-BE49-F238E27FC236}">
                  <a16:creationId xmlns:a16="http://schemas.microsoft.com/office/drawing/2014/main" id="{F785B686-E8D5-D006-5DCA-4DC774C42635}"/>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70433368-FE07-85F5-C3A1-7388C223D503}"/>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5277FB78-1D60-994E-4D7F-4531CF3CBCED}"/>
                    </a:ext>
                  </a:extLst>
                </p:cNvPr>
                <p:cNvSpPr txBox="1"/>
                <p:nvPr/>
              </p:nvSpPr>
              <p:spPr>
                <a:xfrm>
                  <a:off x="7484901" y="2664348"/>
                  <a:ext cx="736224" cy="360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85" name="ZoneTexte 84">
                  <a:extLst>
                    <a:ext uri="{FF2B5EF4-FFF2-40B4-BE49-F238E27FC236}">
                      <a16:creationId xmlns:a16="http://schemas.microsoft.com/office/drawing/2014/main" id="{5277FB78-1D60-994E-4D7F-4531CF3CBCED}"/>
                    </a:ext>
                  </a:extLst>
                </p:cNvPr>
                <p:cNvSpPr txBox="1">
                  <a:spLocks noRot="1" noChangeAspect="1" noMove="1" noResize="1" noEditPoints="1" noAdjustHandles="1" noChangeArrowheads="1" noChangeShapeType="1" noTextEdit="1"/>
                </p:cNvSpPr>
                <p:nvPr/>
              </p:nvSpPr>
              <p:spPr>
                <a:xfrm>
                  <a:off x="7484901" y="2664348"/>
                  <a:ext cx="736224" cy="360714"/>
                </a:xfrm>
                <a:prstGeom prst="rect">
                  <a:avLst/>
                </a:prstGeom>
                <a:blipFill>
                  <a:blip r:embed="rId11"/>
                  <a:stretch>
                    <a:fillRect l="-11111" t="-12500" r="-3704" b="-25000"/>
                  </a:stretch>
                </a:blipFill>
              </p:spPr>
              <p:txBody>
                <a:bodyPr/>
                <a:lstStyle/>
                <a:p>
                  <a:r>
                    <a:rPr lang="en-GB">
                      <a:noFill/>
                    </a:rPr>
                    <a:t> </a:t>
                  </a:r>
                </a:p>
              </p:txBody>
            </p:sp>
          </mc:Fallback>
        </mc:AlternateContent>
        <p:cxnSp>
          <p:nvCxnSpPr>
            <p:cNvPr id="86" name="Connecteur droit avec flèche 85">
              <a:extLst>
                <a:ext uri="{FF2B5EF4-FFF2-40B4-BE49-F238E27FC236}">
                  <a16:creationId xmlns:a16="http://schemas.microsoft.com/office/drawing/2014/main" id="{96E0AA3B-FEF3-4C08-3F53-D8744A8021BA}"/>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9" name="Groupe 8">
            <a:extLst>
              <a:ext uri="{FF2B5EF4-FFF2-40B4-BE49-F238E27FC236}">
                <a16:creationId xmlns:a16="http://schemas.microsoft.com/office/drawing/2014/main" id="{E875FFC6-1B3D-34EB-A9D0-AA5E75FE8222}"/>
              </a:ext>
            </a:extLst>
          </p:cNvPr>
          <p:cNvGrpSpPr/>
          <p:nvPr/>
        </p:nvGrpSpPr>
        <p:grpSpPr>
          <a:xfrm>
            <a:off x="1180277" y="2271540"/>
            <a:ext cx="2262461" cy="1296191"/>
            <a:chOff x="2866872" y="2664348"/>
            <a:chExt cx="5380285" cy="2510361"/>
          </a:xfrm>
        </p:grpSpPr>
        <mc:AlternateContent xmlns:mc="http://schemas.openxmlformats.org/markup-compatibility/2006" xmlns:a14="http://schemas.microsoft.com/office/drawing/2010/main">
          <mc:Choice Requires="a14">
            <p:sp>
              <p:nvSpPr>
                <p:cNvPr id="57" name="ZoneTexte 56">
                  <a:extLst>
                    <a:ext uri="{FF2B5EF4-FFF2-40B4-BE49-F238E27FC236}">
                      <a16:creationId xmlns:a16="http://schemas.microsoft.com/office/drawing/2014/main" id="{A9A73995-E403-D1C9-7C27-032D595DE6B7}"/>
                    </a:ext>
                  </a:extLst>
                </p:cNvPr>
                <p:cNvSpPr txBox="1"/>
                <p:nvPr/>
              </p:nvSpPr>
              <p:spPr>
                <a:xfrm>
                  <a:off x="3657482" y="4817062"/>
                  <a:ext cx="424732" cy="357647"/>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57" name="ZoneTexte 56">
                  <a:extLst>
                    <a:ext uri="{FF2B5EF4-FFF2-40B4-BE49-F238E27FC236}">
                      <a16:creationId xmlns:a16="http://schemas.microsoft.com/office/drawing/2014/main" id="{A9A73995-E403-D1C9-7C27-032D595DE6B7}"/>
                    </a:ext>
                  </a:extLst>
                </p:cNvPr>
                <p:cNvSpPr txBox="1">
                  <a:spLocks noRot="1" noChangeAspect="1" noMove="1" noResize="1" noEditPoints="1" noAdjustHandles="1" noChangeArrowheads="1" noChangeShapeType="1" noTextEdit="1"/>
                </p:cNvSpPr>
                <p:nvPr/>
              </p:nvSpPr>
              <p:spPr>
                <a:xfrm>
                  <a:off x="3657482" y="4817062"/>
                  <a:ext cx="424732" cy="357647"/>
                </a:xfrm>
                <a:prstGeom prst="rect">
                  <a:avLst/>
                </a:prstGeom>
                <a:blipFill>
                  <a:blip r:embed="rId12"/>
                  <a:stretch>
                    <a:fillRect l="-35714" r="-85714" b="-20000"/>
                  </a:stretch>
                </a:blipFill>
              </p:spPr>
              <p:txBody>
                <a:bodyPr/>
                <a:lstStyle/>
                <a:p>
                  <a:r>
                    <a:rPr lang="en-GB">
                      <a:noFill/>
                    </a:rPr>
                    <a:t> </a:t>
                  </a:r>
                </a:p>
              </p:txBody>
            </p:sp>
          </mc:Fallback>
        </mc:AlternateContent>
        <p:sp>
          <p:nvSpPr>
            <p:cNvPr id="58" name="Rectangle : coins arrondis 57">
              <a:extLst>
                <a:ext uri="{FF2B5EF4-FFF2-40B4-BE49-F238E27FC236}">
                  <a16:creationId xmlns:a16="http://schemas.microsoft.com/office/drawing/2014/main" id="{358E935C-C1F5-BE9A-4E6F-FD3FCB79142A}"/>
                </a:ext>
              </a:extLst>
            </p:cNvPr>
            <p:cNvSpPr/>
            <p:nvPr/>
          </p:nvSpPr>
          <p:spPr>
            <a:xfrm>
              <a:off x="3586487" y="362316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59" name="Connecteur droit avec flèche 58">
              <a:extLst>
                <a:ext uri="{FF2B5EF4-FFF2-40B4-BE49-F238E27FC236}">
                  <a16:creationId xmlns:a16="http://schemas.microsoft.com/office/drawing/2014/main" id="{25767719-478F-44AF-FF85-D2484BA20A65}"/>
                </a:ext>
              </a:extLst>
            </p:cNvPr>
            <p:cNvCxnSpPr>
              <a:cxnSpLocks/>
              <a:stCxn id="57" idx="0"/>
              <a:endCxn id="58" idx="2"/>
            </p:cNvCxnSpPr>
            <p:nvPr/>
          </p:nvCxnSpPr>
          <p:spPr>
            <a:xfrm flipH="1" flipV="1">
              <a:off x="3865889" y="4385160"/>
              <a:ext cx="3959" cy="4319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Rectangle : coins arrondis 59">
              <a:extLst>
                <a:ext uri="{FF2B5EF4-FFF2-40B4-BE49-F238E27FC236}">
                  <a16:creationId xmlns:a16="http://schemas.microsoft.com/office/drawing/2014/main" id="{300EFD10-9129-83CF-BBEA-D8CE009FAD6C}"/>
                </a:ext>
              </a:extLst>
            </p:cNvPr>
            <p:cNvSpPr/>
            <p:nvPr/>
          </p:nvSpPr>
          <p:spPr>
            <a:xfrm>
              <a:off x="4860551" y="362925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61" name="Rectangle : coins arrondis 60">
              <a:extLst>
                <a:ext uri="{FF2B5EF4-FFF2-40B4-BE49-F238E27FC236}">
                  <a16:creationId xmlns:a16="http://schemas.microsoft.com/office/drawing/2014/main" id="{E4B8ECD4-34B5-7956-6165-E7805CE30EE2}"/>
                </a:ext>
              </a:extLst>
            </p:cNvPr>
            <p:cNvSpPr/>
            <p:nvPr/>
          </p:nvSpPr>
          <p:spPr>
            <a:xfrm>
              <a:off x="6134615" y="363535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62" name="Rectangle : coins arrondis 61">
              <a:extLst>
                <a:ext uri="{FF2B5EF4-FFF2-40B4-BE49-F238E27FC236}">
                  <a16:creationId xmlns:a16="http://schemas.microsoft.com/office/drawing/2014/main" id="{03DA0EBE-4727-3799-74A9-D3448FB5F18B}"/>
                </a:ext>
              </a:extLst>
            </p:cNvPr>
            <p:cNvSpPr/>
            <p:nvPr/>
          </p:nvSpPr>
          <p:spPr>
            <a:xfrm>
              <a:off x="7396487" y="364144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63" name="Connecteur droit avec flèche 62">
              <a:extLst>
                <a:ext uri="{FF2B5EF4-FFF2-40B4-BE49-F238E27FC236}">
                  <a16:creationId xmlns:a16="http://schemas.microsoft.com/office/drawing/2014/main" id="{CE85624E-54E6-C8C2-6134-957445508E28}"/>
                </a:ext>
              </a:extLst>
            </p:cNvPr>
            <p:cNvCxnSpPr>
              <a:stCxn id="58" idx="3"/>
              <a:endCxn id="60" idx="1"/>
            </p:cNvCxnSpPr>
            <p:nvPr/>
          </p:nvCxnSpPr>
          <p:spPr>
            <a:xfrm>
              <a:off x="4145287" y="400416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D10C65AD-7165-9717-8525-A5BDA8C8DA9E}"/>
                </a:ext>
              </a:extLst>
            </p:cNvPr>
            <p:cNvCxnSpPr/>
            <p:nvPr/>
          </p:nvCxnSpPr>
          <p:spPr>
            <a:xfrm>
              <a:off x="5419351"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Connecteur droit avec flèche 64">
              <a:extLst>
                <a:ext uri="{FF2B5EF4-FFF2-40B4-BE49-F238E27FC236}">
                  <a16:creationId xmlns:a16="http://schemas.microsoft.com/office/drawing/2014/main" id="{3FD2FCD2-6C2A-D736-E167-B9A5A46D3159}"/>
                </a:ext>
              </a:extLst>
            </p:cNvPr>
            <p:cNvCxnSpPr/>
            <p:nvPr/>
          </p:nvCxnSpPr>
          <p:spPr>
            <a:xfrm>
              <a:off x="6689947" y="402244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eur droit avec flèche 65">
              <a:extLst>
                <a:ext uri="{FF2B5EF4-FFF2-40B4-BE49-F238E27FC236}">
                  <a16:creationId xmlns:a16="http://schemas.microsoft.com/office/drawing/2014/main" id="{9D628BCF-1A3B-1E21-5FF8-F7A070E9098F}"/>
                </a:ext>
              </a:extLst>
            </p:cNvPr>
            <p:cNvCxnSpPr/>
            <p:nvPr/>
          </p:nvCxnSpPr>
          <p:spPr>
            <a:xfrm>
              <a:off x="2866872" y="401373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AD536F15-C104-494C-78DD-9CD2FBCD93B0}"/>
                    </a:ext>
                  </a:extLst>
                </p:cNvPr>
                <p:cNvSpPr txBox="1"/>
                <p:nvPr/>
              </p:nvSpPr>
              <p:spPr>
                <a:xfrm>
                  <a:off x="7484901" y="2664348"/>
                  <a:ext cx="762256" cy="357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67" name="ZoneTexte 66">
                  <a:extLst>
                    <a:ext uri="{FF2B5EF4-FFF2-40B4-BE49-F238E27FC236}">
                      <a16:creationId xmlns:a16="http://schemas.microsoft.com/office/drawing/2014/main" id="{AD536F15-C104-494C-78DD-9CD2FBCD93B0}"/>
                    </a:ext>
                  </a:extLst>
                </p:cNvPr>
                <p:cNvSpPr txBox="1">
                  <a:spLocks noRot="1" noChangeAspect="1" noMove="1" noResize="1" noEditPoints="1" noAdjustHandles="1" noChangeArrowheads="1" noChangeShapeType="1" noTextEdit="1"/>
                </p:cNvSpPr>
                <p:nvPr/>
              </p:nvSpPr>
              <p:spPr>
                <a:xfrm>
                  <a:off x="7484901" y="2664348"/>
                  <a:ext cx="762256" cy="357647"/>
                </a:xfrm>
                <a:prstGeom prst="rect">
                  <a:avLst/>
                </a:prstGeom>
                <a:blipFill>
                  <a:blip r:embed="rId13"/>
                  <a:stretch>
                    <a:fillRect l="-11111" t="-20000" r="-3704" b="-26667"/>
                  </a:stretch>
                </a:blipFill>
              </p:spPr>
              <p:txBody>
                <a:bodyPr/>
                <a:lstStyle/>
                <a:p>
                  <a:r>
                    <a:rPr lang="en-GB">
                      <a:noFill/>
                    </a:rPr>
                    <a:t> </a:t>
                  </a:r>
                </a:p>
              </p:txBody>
            </p:sp>
          </mc:Fallback>
        </mc:AlternateContent>
        <p:cxnSp>
          <p:nvCxnSpPr>
            <p:cNvPr id="68" name="Connecteur droit avec flèche 67">
              <a:extLst>
                <a:ext uri="{FF2B5EF4-FFF2-40B4-BE49-F238E27FC236}">
                  <a16:creationId xmlns:a16="http://schemas.microsoft.com/office/drawing/2014/main" id="{26086F63-B5FA-D54C-47F9-3C09EAA17220}"/>
                </a:ext>
              </a:extLst>
            </p:cNvPr>
            <p:cNvCxnSpPr>
              <a:cxnSpLocks/>
            </p:cNvCxnSpPr>
            <p:nvPr/>
          </p:nvCxnSpPr>
          <p:spPr>
            <a:xfrm flipV="1">
              <a:off x="7687704" y="300973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0" name="ZoneTexte 9">
            <a:extLst>
              <a:ext uri="{FF2B5EF4-FFF2-40B4-BE49-F238E27FC236}">
                <a16:creationId xmlns:a16="http://schemas.microsoft.com/office/drawing/2014/main" id="{98CF12C6-C785-EC8A-B446-7C564DE0D5C0}"/>
              </a:ext>
            </a:extLst>
          </p:cNvPr>
          <p:cNvSpPr txBox="1"/>
          <p:nvPr/>
        </p:nvSpPr>
        <p:spPr>
          <a:xfrm>
            <a:off x="1636264" y="3547224"/>
            <a:ext cx="1233448" cy="461665"/>
          </a:xfrm>
          <a:prstGeom prst="rect">
            <a:avLst/>
          </a:prstGeom>
          <a:noFill/>
        </p:spPr>
        <p:txBody>
          <a:bodyPr wrap="square" rtlCol="0">
            <a:spAutoFit/>
          </a:bodyPr>
          <a:lstStyle/>
          <a:p>
            <a:pPr algn="ctr"/>
            <a:r>
              <a:rPr lang="en-GB" sz="1200" dirty="0"/>
              <a:t>one-to-one</a:t>
            </a:r>
          </a:p>
          <a:p>
            <a:pPr algn="ctr"/>
            <a:r>
              <a:rPr lang="en-GB" sz="1200" dirty="0"/>
              <a:t>(plain NN)</a:t>
            </a:r>
          </a:p>
        </p:txBody>
      </p:sp>
      <p:sp>
        <p:nvSpPr>
          <p:cNvPr id="11" name="ZoneTexte 10">
            <a:extLst>
              <a:ext uri="{FF2B5EF4-FFF2-40B4-BE49-F238E27FC236}">
                <a16:creationId xmlns:a16="http://schemas.microsoft.com/office/drawing/2014/main" id="{95353825-3117-6315-E13C-CB8F08796916}"/>
              </a:ext>
            </a:extLst>
          </p:cNvPr>
          <p:cNvSpPr txBox="1"/>
          <p:nvPr/>
        </p:nvSpPr>
        <p:spPr>
          <a:xfrm>
            <a:off x="4863763" y="2123093"/>
            <a:ext cx="1360908" cy="461665"/>
          </a:xfrm>
          <a:prstGeom prst="rect">
            <a:avLst/>
          </a:prstGeom>
          <a:noFill/>
        </p:spPr>
        <p:txBody>
          <a:bodyPr wrap="square" rtlCol="0">
            <a:spAutoFit/>
          </a:bodyPr>
          <a:lstStyle/>
          <a:p>
            <a:pPr algn="ctr"/>
            <a:r>
              <a:rPr lang="en-GB" sz="1200" dirty="0"/>
              <a:t>many-to-one</a:t>
            </a:r>
          </a:p>
          <a:p>
            <a:pPr algn="ctr"/>
            <a:r>
              <a:rPr lang="en-GB" sz="1200" dirty="0"/>
              <a:t>(classification)</a:t>
            </a:r>
          </a:p>
        </p:txBody>
      </p:sp>
      <p:sp>
        <p:nvSpPr>
          <p:cNvPr id="12" name="ZoneTexte 11">
            <a:extLst>
              <a:ext uri="{FF2B5EF4-FFF2-40B4-BE49-F238E27FC236}">
                <a16:creationId xmlns:a16="http://schemas.microsoft.com/office/drawing/2014/main" id="{C840B833-C08F-70CC-6B72-126BAFF2D0C3}"/>
              </a:ext>
            </a:extLst>
          </p:cNvPr>
          <p:cNvSpPr txBox="1"/>
          <p:nvPr/>
        </p:nvSpPr>
        <p:spPr>
          <a:xfrm>
            <a:off x="7998917" y="3425757"/>
            <a:ext cx="2029196" cy="461665"/>
          </a:xfrm>
          <a:prstGeom prst="rect">
            <a:avLst/>
          </a:prstGeom>
          <a:noFill/>
        </p:spPr>
        <p:txBody>
          <a:bodyPr wrap="square" rtlCol="0">
            <a:spAutoFit/>
          </a:bodyPr>
          <a:lstStyle/>
          <a:p>
            <a:pPr algn="ctr"/>
            <a:r>
              <a:rPr lang="en-GB" sz="1200" dirty="0"/>
              <a:t>one-to-many</a:t>
            </a:r>
          </a:p>
          <a:p>
            <a:pPr algn="ctr"/>
            <a:r>
              <a:rPr lang="en-GB" sz="1200" dirty="0"/>
              <a:t>(captioning, decoders)</a:t>
            </a:r>
          </a:p>
        </p:txBody>
      </p:sp>
      <p:grpSp>
        <p:nvGrpSpPr>
          <p:cNvPr id="13" name="Groupe 12">
            <a:extLst>
              <a:ext uri="{FF2B5EF4-FFF2-40B4-BE49-F238E27FC236}">
                <a16:creationId xmlns:a16="http://schemas.microsoft.com/office/drawing/2014/main" id="{259E8AF9-F4CB-1A0A-21CF-425DA8F7EF11}"/>
              </a:ext>
            </a:extLst>
          </p:cNvPr>
          <p:cNvGrpSpPr/>
          <p:nvPr/>
        </p:nvGrpSpPr>
        <p:grpSpPr>
          <a:xfrm>
            <a:off x="1059070" y="4238047"/>
            <a:ext cx="2514882" cy="1139507"/>
            <a:chOff x="2866872" y="4860100"/>
            <a:chExt cx="5292603" cy="2816696"/>
          </a:xfrm>
        </p:grpSpPr>
        <mc:AlternateContent xmlns:mc="http://schemas.openxmlformats.org/markup-compatibility/2006" xmlns:a14="http://schemas.microsoft.com/office/drawing/2010/main">
          <mc:Choice Requires="a14">
            <p:sp>
              <p:nvSpPr>
                <p:cNvPr id="33" name="ZoneTexte 32">
                  <a:extLst>
                    <a:ext uri="{FF2B5EF4-FFF2-40B4-BE49-F238E27FC236}">
                      <a16:creationId xmlns:a16="http://schemas.microsoft.com/office/drawing/2014/main" id="{043A75C9-7324-AC44-2452-350DBA7349A3}"/>
                    </a:ext>
                  </a:extLst>
                </p:cNvPr>
                <p:cNvSpPr txBox="1"/>
                <p:nvPr/>
              </p:nvSpPr>
              <p:spPr>
                <a:xfrm>
                  <a:off x="3657483" y="7208136"/>
                  <a:ext cx="424733" cy="456467"/>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33" name="ZoneTexte 32">
                  <a:extLst>
                    <a:ext uri="{FF2B5EF4-FFF2-40B4-BE49-F238E27FC236}">
                      <a16:creationId xmlns:a16="http://schemas.microsoft.com/office/drawing/2014/main" id="{043A75C9-7324-AC44-2452-350DBA7349A3}"/>
                    </a:ext>
                  </a:extLst>
                </p:cNvPr>
                <p:cNvSpPr txBox="1">
                  <a:spLocks noRot="1" noChangeAspect="1" noMove="1" noResize="1" noEditPoints="1" noAdjustHandles="1" noChangeArrowheads="1" noChangeShapeType="1" noTextEdit="1"/>
                </p:cNvSpPr>
                <p:nvPr/>
              </p:nvSpPr>
              <p:spPr>
                <a:xfrm>
                  <a:off x="3657483" y="7208136"/>
                  <a:ext cx="424733" cy="456467"/>
                </a:xfrm>
                <a:prstGeom prst="rect">
                  <a:avLst/>
                </a:prstGeom>
                <a:blipFill>
                  <a:blip r:embed="rId14"/>
                  <a:stretch>
                    <a:fillRect l="-23529" r="-64706" b="-20000"/>
                  </a:stretch>
                </a:blipFill>
              </p:spPr>
              <p:txBody>
                <a:bodyPr/>
                <a:lstStyle/>
                <a:p>
                  <a:r>
                    <a:rPr lang="en-GB">
                      <a:noFill/>
                    </a:rPr>
                    <a:t> </a:t>
                  </a:r>
                </a:p>
              </p:txBody>
            </p:sp>
          </mc:Fallback>
        </mc:AlternateContent>
        <p:sp>
          <p:nvSpPr>
            <p:cNvPr id="34" name="Rectangle : coins arrondis 33">
              <a:extLst>
                <a:ext uri="{FF2B5EF4-FFF2-40B4-BE49-F238E27FC236}">
                  <a16:creationId xmlns:a16="http://schemas.microsoft.com/office/drawing/2014/main" id="{665B7A69-CF23-1226-2E9C-3EF6582F3A0E}"/>
                </a:ext>
              </a:extLst>
            </p:cNvPr>
            <p:cNvSpPr/>
            <p:nvPr/>
          </p:nvSpPr>
          <p:spPr>
            <a:xfrm>
              <a:off x="3586487" y="5831971"/>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35" name="Connecteur droit avec flèche 34">
              <a:extLst>
                <a:ext uri="{FF2B5EF4-FFF2-40B4-BE49-F238E27FC236}">
                  <a16:creationId xmlns:a16="http://schemas.microsoft.com/office/drawing/2014/main" id="{62875298-9EF4-F756-1CF7-D0B5ADEBE1A5}"/>
                </a:ext>
              </a:extLst>
            </p:cNvPr>
            <p:cNvCxnSpPr>
              <a:cxnSpLocks/>
              <a:stCxn id="33" idx="0"/>
              <a:endCxn id="34" idx="2"/>
            </p:cNvCxnSpPr>
            <p:nvPr/>
          </p:nvCxnSpPr>
          <p:spPr>
            <a:xfrm flipH="1" flipV="1">
              <a:off x="3865889" y="6593972"/>
              <a:ext cx="3961" cy="614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74C1BA52-FBC0-EB90-763B-2D3C91543CDA}"/>
                    </a:ext>
                  </a:extLst>
                </p:cNvPr>
                <p:cNvSpPr txBox="1"/>
                <p:nvPr/>
              </p:nvSpPr>
              <p:spPr>
                <a:xfrm>
                  <a:off x="4931547" y="7214231"/>
                  <a:ext cx="424733" cy="456467"/>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36" name="ZoneTexte 35">
                  <a:extLst>
                    <a:ext uri="{FF2B5EF4-FFF2-40B4-BE49-F238E27FC236}">
                      <a16:creationId xmlns:a16="http://schemas.microsoft.com/office/drawing/2014/main" id="{74C1BA52-FBC0-EB90-763B-2D3C91543CDA}"/>
                    </a:ext>
                  </a:extLst>
                </p:cNvPr>
                <p:cNvSpPr txBox="1">
                  <a:spLocks noRot="1" noChangeAspect="1" noMove="1" noResize="1" noEditPoints="1" noAdjustHandles="1" noChangeArrowheads="1" noChangeShapeType="1" noTextEdit="1"/>
                </p:cNvSpPr>
                <p:nvPr/>
              </p:nvSpPr>
              <p:spPr>
                <a:xfrm>
                  <a:off x="4931547" y="7214231"/>
                  <a:ext cx="424733" cy="456467"/>
                </a:xfrm>
                <a:prstGeom prst="rect">
                  <a:avLst/>
                </a:prstGeom>
                <a:blipFill>
                  <a:blip r:embed="rId15"/>
                  <a:stretch>
                    <a:fillRect l="-23529" r="-58824" b="-12500"/>
                  </a:stretch>
                </a:blipFill>
              </p:spPr>
              <p:txBody>
                <a:bodyPr/>
                <a:lstStyle/>
                <a:p>
                  <a:r>
                    <a:rPr lang="en-GB">
                      <a:noFill/>
                    </a:rPr>
                    <a:t> </a:t>
                  </a:r>
                </a:p>
              </p:txBody>
            </p:sp>
          </mc:Fallback>
        </mc:AlternateContent>
        <p:sp>
          <p:nvSpPr>
            <p:cNvPr id="37" name="Rectangle : coins arrondis 36">
              <a:extLst>
                <a:ext uri="{FF2B5EF4-FFF2-40B4-BE49-F238E27FC236}">
                  <a16:creationId xmlns:a16="http://schemas.microsoft.com/office/drawing/2014/main" id="{09A85855-433F-6C9E-442B-1E24945FC38B}"/>
                </a:ext>
              </a:extLst>
            </p:cNvPr>
            <p:cNvSpPr/>
            <p:nvPr/>
          </p:nvSpPr>
          <p:spPr>
            <a:xfrm>
              <a:off x="4860551" y="5838067"/>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38" name="Connecteur droit avec flèche 37">
              <a:extLst>
                <a:ext uri="{FF2B5EF4-FFF2-40B4-BE49-F238E27FC236}">
                  <a16:creationId xmlns:a16="http://schemas.microsoft.com/office/drawing/2014/main" id="{9B07692B-978B-BC8F-9FE3-9135EFEF7DA4}"/>
                </a:ext>
              </a:extLst>
            </p:cNvPr>
            <p:cNvCxnSpPr>
              <a:cxnSpLocks/>
              <a:stCxn id="36" idx="0"/>
              <a:endCxn id="37" idx="2"/>
            </p:cNvCxnSpPr>
            <p:nvPr/>
          </p:nvCxnSpPr>
          <p:spPr>
            <a:xfrm flipH="1" flipV="1">
              <a:off x="5139953" y="6600067"/>
              <a:ext cx="3961" cy="614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E9723F92-D630-267E-1EBC-8D4D1D0D6AD1}"/>
                    </a:ext>
                  </a:extLst>
                </p:cNvPr>
                <p:cNvSpPr txBox="1"/>
                <p:nvPr/>
              </p:nvSpPr>
              <p:spPr>
                <a:xfrm>
                  <a:off x="6205611" y="7220329"/>
                  <a:ext cx="424733" cy="456467"/>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39" name="ZoneTexte 38">
                  <a:extLst>
                    <a:ext uri="{FF2B5EF4-FFF2-40B4-BE49-F238E27FC236}">
                      <a16:creationId xmlns:a16="http://schemas.microsoft.com/office/drawing/2014/main" id="{E9723F92-D630-267E-1EBC-8D4D1D0D6AD1}"/>
                    </a:ext>
                  </a:extLst>
                </p:cNvPr>
                <p:cNvSpPr txBox="1">
                  <a:spLocks noRot="1" noChangeAspect="1" noMove="1" noResize="1" noEditPoints="1" noAdjustHandles="1" noChangeArrowheads="1" noChangeShapeType="1" noTextEdit="1"/>
                </p:cNvSpPr>
                <p:nvPr/>
              </p:nvSpPr>
              <p:spPr>
                <a:xfrm>
                  <a:off x="6205611" y="7220329"/>
                  <a:ext cx="424733" cy="456467"/>
                </a:xfrm>
                <a:prstGeom prst="rect">
                  <a:avLst/>
                </a:prstGeom>
                <a:blipFill>
                  <a:blip r:embed="rId16"/>
                  <a:stretch>
                    <a:fillRect l="-23529" r="-58824" b="-12500"/>
                  </a:stretch>
                </a:blipFill>
              </p:spPr>
              <p:txBody>
                <a:bodyPr/>
                <a:lstStyle/>
                <a:p>
                  <a:r>
                    <a:rPr lang="en-GB">
                      <a:noFill/>
                    </a:rPr>
                    <a:t> </a:t>
                  </a:r>
                </a:p>
              </p:txBody>
            </p:sp>
          </mc:Fallback>
        </mc:AlternateContent>
        <p:sp>
          <p:nvSpPr>
            <p:cNvPr id="40" name="Rectangle : coins arrondis 39">
              <a:extLst>
                <a:ext uri="{FF2B5EF4-FFF2-40B4-BE49-F238E27FC236}">
                  <a16:creationId xmlns:a16="http://schemas.microsoft.com/office/drawing/2014/main" id="{5521C3EC-52CA-57EC-C6DE-2D0B10A6A1A8}"/>
                </a:ext>
              </a:extLst>
            </p:cNvPr>
            <p:cNvSpPr/>
            <p:nvPr/>
          </p:nvSpPr>
          <p:spPr>
            <a:xfrm>
              <a:off x="6134615" y="5844163"/>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41" name="Connecteur droit avec flèche 40">
              <a:extLst>
                <a:ext uri="{FF2B5EF4-FFF2-40B4-BE49-F238E27FC236}">
                  <a16:creationId xmlns:a16="http://schemas.microsoft.com/office/drawing/2014/main" id="{8A828CE9-06F8-8DAE-6069-8634F13ED5CB}"/>
                </a:ext>
              </a:extLst>
            </p:cNvPr>
            <p:cNvCxnSpPr>
              <a:cxnSpLocks/>
              <a:stCxn id="39" idx="0"/>
              <a:endCxn id="40" idx="2"/>
            </p:cNvCxnSpPr>
            <p:nvPr/>
          </p:nvCxnSpPr>
          <p:spPr>
            <a:xfrm flipH="1" flipV="1">
              <a:off x="6414017" y="6606164"/>
              <a:ext cx="3961" cy="614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D1D8D9D3-C824-21B8-AE9C-7D1662E6B2D6}"/>
                    </a:ext>
                  </a:extLst>
                </p:cNvPr>
                <p:cNvSpPr txBox="1"/>
                <p:nvPr/>
              </p:nvSpPr>
              <p:spPr>
                <a:xfrm>
                  <a:off x="7467484" y="7194337"/>
                  <a:ext cx="424733" cy="456468"/>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=4</m:t>
                            </m:r>
                          </m:sub>
                        </m:sSub>
                      </m:oMath>
                    </m:oMathPara>
                  </a14:m>
                  <a:endParaRPr lang="en-GB" sz="1200" dirty="0"/>
                </a:p>
              </p:txBody>
            </p:sp>
          </mc:Choice>
          <mc:Fallback xmlns="">
            <p:sp>
              <p:nvSpPr>
                <p:cNvPr id="42" name="ZoneTexte 41">
                  <a:extLst>
                    <a:ext uri="{FF2B5EF4-FFF2-40B4-BE49-F238E27FC236}">
                      <a16:creationId xmlns:a16="http://schemas.microsoft.com/office/drawing/2014/main" id="{D1D8D9D3-C824-21B8-AE9C-7D1662E6B2D6}"/>
                    </a:ext>
                  </a:extLst>
                </p:cNvPr>
                <p:cNvSpPr txBox="1">
                  <a:spLocks noRot="1" noChangeAspect="1" noMove="1" noResize="1" noEditPoints="1" noAdjustHandles="1" noChangeArrowheads="1" noChangeShapeType="1" noTextEdit="1"/>
                </p:cNvSpPr>
                <p:nvPr/>
              </p:nvSpPr>
              <p:spPr>
                <a:xfrm>
                  <a:off x="7467484" y="7194337"/>
                  <a:ext cx="424733" cy="456468"/>
                </a:xfrm>
                <a:prstGeom prst="rect">
                  <a:avLst/>
                </a:prstGeom>
                <a:blipFill>
                  <a:blip r:embed="rId17"/>
                  <a:stretch>
                    <a:fillRect l="-23529" r="-58824" b="-13333"/>
                  </a:stretch>
                </a:blipFill>
              </p:spPr>
              <p:txBody>
                <a:bodyPr/>
                <a:lstStyle/>
                <a:p>
                  <a:r>
                    <a:rPr lang="en-GB">
                      <a:noFill/>
                    </a:rPr>
                    <a:t> </a:t>
                  </a:r>
                </a:p>
              </p:txBody>
            </p:sp>
          </mc:Fallback>
        </mc:AlternateContent>
        <p:sp>
          <p:nvSpPr>
            <p:cNvPr id="43" name="Rectangle : coins arrondis 42">
              <a:extLst>
                <a:ext uri="{FF2B5EF4-FFF2-40B4-BE49-F238E27FC236}">
                  <a16:creationId xmlns:a16="http://schemas.microsoft.com/office/drawing/2014/main" id="{5C283111-F0D6-5A36-DF84-8A995E3D18C1}"/>
                </a:ext>
              </a:extLst>
            </p:cNvPr>
            <p:cNvSpPr/>
            <p:nvPr/>
          </p:nvSpPr>
          <p:spPr>
            <a:xfrm>
              <a:off x="7396487" y="5850259"/>
              <a:ext cx="558800" cy="7620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44" name="Connecteur droit avec flèche 43">
              <a:extLst>
                <a:ext uri="{FF2B5EF4-FFF2-40B4-BE49-F238E27FC236}">
                  <a16:creationId xmlns:a16="http://schemas.microsoft.com/office/drawing/2014/main" id="{FC2B3C04-821F-77DA-91FC-E88DF20A53B8}"/>
                </a:ext>
              </a:extLst>
            </p:cNvPr>
            <p:cNvCxnSpPr>
              <a:cxnSpLocks/>
              <a:stCxn id="42" idx="0"/>
              <a:endCxn id="43" idx="2"/>
            </p:cNvCxnSpPr>
            <p:nvPr/>
          </p:nvCxnSpPr>
          <p:spPr>
            <a:xfrm flipH="1" flipV="1">
              <a:off x="7675888" y="6612260"/>
              <a:ext cx="3963" cy="5820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EBCC2CC0-DC14-BE70-B21A-4E2BAA0087A8}"/>
                </a:ext>
              </a:extLst>
            </p:cNvPr>
            <p:cNvCxnSpPr>
              <a:stCxn id="34" idx="3"/>
              <a:endCxn id="37" idx="1"/>
            </p:cNvCxnSpPr>
            <p:nvPr/>
          </p:nvCxnSpPr>
          <p:spPr>
            <a:xfrm>
              <a:off x="4145287" y="6212971"/>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6233A4F5-F6E8-F5F6-9933-5A3879F2DDDB}"/>
                </a:ext>
              </a:extLst>
            </p:cNvPr>
            <p:cNvCxnSpPr/>
            <p:nvPr/>
          </p:nvCxnSpPr>
          <p:spPr>
            <a:xfrm>
              <a:off x="5419351" y="623125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999034F3-522C-8B90-E6A3-0CF0B4140ACC}"/>
                </a:ext>
              </a:extLst>
            </p:cNvPr>
            <p:cNvCxnSpPr/>
            <p:nvPr/>
          </p:nvCxnSpPr>
          <p:spPr>
            <a:xfrm>
              <a:off x="6689947" y="6231259"/>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5EB7FB5A-6BBE-85C0-C19F-9680FDCAC234}"/>
                </a:ext>
              </a:extLst>
            </p:cNvPr>
            <p:cNvCxnSpPr/>
            <p:nvPr/>
          </p:nvCxnSpPr>
          <p:spPr>
            <a:xfrm>
              <a:off x="2866872" y="6222547"/>
              <a:ext cx="715264" cy="60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E095E637-1F94-304F-1C29-AD69CF99F2CB}"/>
                    </a:ext>
                  </a:extLst>
                </p:cNvPr>
                <p:cNvSpPr txBox="1"/>
                <p:nvPr/>
              </p:nvSpPr>
              <p:spPr>
                <a:xfrm>
                  <a:off x="3670546" y="4860100"/>
                  <a:ext cx="674574" cy="4564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49" name="ZoneTexte 48">
                  <a:extLst>
                    <a:ext uri="{FF2B5EF4-FFF2-40B4-BE49-F238E27FC236}">
                      <a16:creationId xmlns:a16="http://schemas.microsoft.com/office/drawing/2014/main" id="{E095E637-1F94-304F-1C29-AD69CF99F2CB}"/>
                    </a:ext>
                  </a:extLst>
                </p:cNvPr>
                <p:cNvSpPr txBox="1">
                  <a:spLocks noRot="1" noChangeAspect="1" noMove="1" noResize="1" noEditPoints="1" noAdjustHandles="1" noChangeArrowheads="1" noChangeShapeType="1" noTextEdit="1"/>
                </p:cNvSpPr>
                <p:nvPr/>
              </p:nvSpPr>
              <p:spPr>
                <a:xfrm>
                  <a:off x="3670546" y="4860100"/>
                  <a:ext cx="674574" cy="456468"/>
                </a:xfrm>
                <a:prstGeom prst="rect">
                  <a:avLst/>
                </a:prstGeom>
                <a:blipFill>
                  <a:blip r:embed="rId18"/>
                  <a:stretch>
                    <a:fillRect l="-15385" t="-12500" r="-7692"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3FE58CC6-B870-D489-0C20-860FC5EBA52A}"/>
                    </a:ext>
                  </a:extLst>
                </p:cNvPr>
                <p:cNvSpPr txBox="1"/>
                <p:nvPr/>
              </p:nvSpPr>
              <p:spPr>
                <a:xfrm>
                  <a:off x="4959413" y="4868806"/>
                  <a:ext cx="674574" cy="4564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50" name="ZoneTexte 49">
                  <a:extLst>
                    <a:ext uri="{FF2B5EF4-FFF2-40B4-BE49-F238E27FC236}">
                      <a16:creationId xmlns:a16="http://schemas.microsoft.com/office/drawing/2014/main" id="{3FE58CC6-B870-D489-0C20-860FC5EBA52A}"/>
                    </a:ext>
                  </a:extLst>
                </p:cNvPr>
                <p:cNvSpPr txBox="1">
                  <a:spLocks noRot="1" noChangeAspect="1" noMove="1" noResize="1" noEditPoints="1" noAdjustHandles="1" noChangeArrowheads="1" noChangeShapeType="1" noTextEdit="1"/>
                </p:cNvSpPr>
                <p:nvPr/>
              </p:nvSpPr>
              <p:spPr>
                <a:xfrm>
                  <a:off x="4959413" y="4868806"/>
                  <a:ext cx="674574" cy="456468"/>
                </a:xfrm>
                <a:prstGeom prst="rect">
                  <a:avLst/>
                </a:prstGeom>
                <a:blipFill>
                  <a:blip r:embed="rId19"/>
                  <a:stretch>
                    <a:fillRect l="-11538" t="-20000" r="-7692"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CC984946-D005-A2C6-6C24-186EA12CF6C9}"/>
                    </a:ext>
                  </a:extLst>
                </p:cNvPr>
                <p:cNvSpPr txBox="1"/>
                <p:nvPr/>
              </p:nvSpPr>
              <p:spPr>
                <a:xfrm>
                  <a:off x="6222155" y="4864450"/>
                  <a:ext cx="674574" cy="4564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51" name="ZoneTexte 50">
                  <a:extLst>
                    <a:ext uri="{FF2B5EF4-FFF2-40B4-BE49-F238E27FC236}">
                      <a16:creationId xmlns:a16="http://schemas.microsoft.com/office/drawing/2014/main" id="{CC984946-D005-A2C6-6C24-186EA12CF6C9}"/>
                    </a:ext>
                  </a:extLst>
                </p:cNvPr>
                <p:cNvSpPr txBox="1">
                  <a:spLocks noRot="1" noChangeAspect="1" noMove="1" noResize="1" noEditPoints="1" noAdjustHandles="1" noChangeArrowheads="1" noChangeShapeType="1" noTextEdit="1"/>
                </p:cNvSpPr>
                <p:nvPr/>
              </p:nvSpPr>
              <p:spPr>
                <a:xfrm>
                  <a:off x="6222155" y="4864450"/>
                  <a:ext cx="674574" cy="456468"/>
                </a:xfrm>
                <a:prstGeom prst="rect">
                  <a:avLst/>
                </a:prstGeom>
                <a:blipFill>
                  <a:blip r:embed="rId20"/>
                  <a:stretch>
                    <a:fillRect l="-11111" t="-20000" r="-3704"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DC634DA7-515A-E423-2AE7-C813A70FE5F8}"/>
                    </a:ext>
                  </a:extLst>
                </p:cNvPr>
                <p:cNvSpPr txBox="1"/>
                <p:nvPr/>
              </p:nvSpPr>
              <p:spPr>
                <a:xfrm>
                  <a:off x="7484901" y="4873159"/>
                  <a:ext cx="674574" cy="4564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=4</m:t>
                            </m:r>
                          </m:sub>
                        </m:sSub>
                      </m:oMath>
                    </m:oMathPara>
                  </a14:m>
                  <a:endParaRPr lang="en-GB" sz="1200" dirty="0"/>
                </a:p>
              </p:txBody>
            </p:sp>
          </mc:Choice>
          <mc:Fallback xmlns="">
            <p:sp>
              <p:nvSpPr>
                <p:cNvPr id="52" name="ZoneTexte 51">
                  <a:extLst>
                    <a:ext uri="{FF2B5EF4-FFF2-40B4-BE49-F238E27FC236}">
                      <a16:creationId xmlns:a16="http://schemas.microsoft.com/office/drawing/2014/main" id="{DC634DA7-515A-E423-2AE7-C813A70FE5F8}"/>
                    </a:ext>
                  </a:extLst>
                </p:cNvPr>
                <p:cNvSpPr txBox="1">
                  <a:spLocks noRot="1" noChangeAspect="1" noMove="1" noResize="1" noEditPoints="1" noAdjustHandles="1" noChangeArrowheads="1" noChangeShapeType="1" noTextEdit="1"/>
                </p:cNvSpPr>
                <p:nvPr/>
              </p:nvSpPr>
              <p:spPr>
                <a:xfrm>
                  <a:off x="7484901" y="4873159"/>
                  <a:ext cx="674574" cy="456468"/>
                </a:xfrm>
                <a:prstGeom prst="rect">
                  <a:avLst/>
                </a:prstGeom>
                <a:blipFill>
                  <a:blip r:embed="rId21"/>
                  <a:stretch>
                    <a:fillRect l="-15385" t="-20000" r="-3846" b="-26667"/>
                  </a:stretch>
                </a:blipFill>
              </p:spPr>
              <p:txBody>
                <a:bodyPr/>
                <a:lstStyle/>
                <a:p>
                  <a:r>
                    <a:rPr lang="en-GB">
                      <a:noFill/>
                    </a:rPr>
                    <a:t> </a:t>
                  </a:r>
                </a:p>
              </p:txBody>
            </p:sp>
          </mc:Fallback>
        </mc:AlternateContent>
        <p:cxnSp>
          <p:nvCxnSpPr>
            <p:cNvPr id="53" name="Connecteur droit avec flèche 52">
              <a:extLst>
                <a:ext uri="{FF2B5EF4-FFF2-40B4-BE49-F238E27FC236}">
                  <a16:creationId xmlns:a16="http://schemas.microsoft.com/office/drawing/2014/main" id="{E898186E-582F-4BAE-0F61-3FBF579FD938}"/>
                </a:ext>
              </a:extLst>
            </p:cNvPr>
            <p:cNvCxnSpPr>
              <a:cxnSpLocks/>
            </p:cNvCxnSpPr>
            <p:nvPr/>
          </p:nvCxnSpPr>
          <p:spPr>
            <a:xfrm flipV="1">
              <a:off x="3877704" y="5200256"/>
              <a:ext cx="2887"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necteur droit avec flèche 53">
              <a:extLst>
                <a:ext uri="{FF2B5EF4-FFF2-40B4-BE49-F238E27FC236}">
                  <a16:creationId xmlns:a16="http://schemas.microsoft.com/office/drawing/2014/main" id="{87449834-C87B-79FE-33BB-B7E4BD8BF420}"/>
                </a:ext>
              </a:extLst>
            </p:cNvPr>
            <p:cNvCxnSpPr>
              <a:cxnSpLocks/>
            </p:cNvCxnSpPr>
            <p:nvPr/>
          </p:nvCxnSpPr>
          <p:spPr>
            <a:xfrm flipV="1">
              <a:off x="5151768" y="5206352"/>
              <a:ext cx="11221"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5E2C571D-A5C6-944E-58D1-9C32A16ED983}"/>
                </a:ext>
              </a:extLst>
            </p:cNvPr>
            <p:cNvCxnSpPr>
              <a:cxnSpLocks/>
            </p:cNvCxnSpPr>
            <p:nvPr/>
          </p:nvCxnSpPr>
          <p:spPr>
            <a:xfrm flipV="1">
              <a:off x="6425832" y="5212448"/>
              <a:ext cx="6534"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B6C659FE-AA13-6DDD-76CA-1528A0C90511}"/>
                </a:ext>
              </a:extLst>
            </p:cNvPr>
            <p:cNvCxnSpPr>
              <a:cxnSpLocks/>
            </p:cNvCxnSpPr>
            <p:nvPr/>
          </p:nvCxnSpPr>
          <p:spPr>
            <a:xfrm flipV="1">
              <a:off x="7687704" y="5218544"/>
              <a:ext cx="6533" cy="602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059C5C82-FDA9-3253-7E6F-309F3A6EFB9A}"/>
              </a:ext>
            </a:extLst>
          </p:cNvPr>
          <p:cNvSpPr txBox="1"/>
          <p:nvPr/>
        </p:nvSpPr>
        <p:spPr>
          <a:xfrm>
            <a:off x="838199" y="5542922"/>
            <a:ext cx="3190805" cy="461665"/>
          </a:xfrm>
          <a:prstGeom prst="rect">
            <a:avLst/>
          </a:prstGeom>
          <a:noFill/>
        </p:spPr>
        <p:txBody>
          <a:bodyPr wrap="square" rtlCol="0">
            <a:spAutoFit/>
          </a:bodyPr>
          <a:lstStyle/>
          <a:p>
            <a:pPr algn="ctr"/>
            <a:r>
              <a:rPr lang="en-GB" sz="1200" dirty="0"/>
              <a:t>many-to-many</a:t>
            </a:r>
          </a:p>
          <a:p>
            <a:pPr algn="ctr"/>
            <a:r>
              <a:rPr lang="en-GB" sz="1200" dirty="0"/>
              <a:t>(sequence labelling, language models</a:t>
            </a:r>
          </a:p>
        </p:txBody>
      </p:sp>
      <p:sp>
        <p:nvSpPr>
          <p:cNvPr id="110" name="Rectangle : coins arrondis 109">
            <a:extLst>
              <a:ext uri="{FF2B5EF4-FFF2-40B4-BE49-F238E27FC236}">
                <a16:creationId xmlns:a16="http://schemas.microsoft.com/office/drawing/2014/main" id="{8D876BE7-8D7F-C5D1-FE46-FED8CE5A1401}"/>
              </a:ext>
            </a:extLst>
          </p:cNvPr>
          <p:cNvSpPr/>
          <p:nvPr/>
        </p:nvSpPr>
        <p:spPr>
          <a:xfrm>
            <a:off x="4635062" y="4162097"/>
            <a:ext cx="5393051" cy="1975944"/>
          </a:xfrm>
          <a:prstGeom prst="roundRect">
            <a:avLst/>
          </a:prstGeom>
          <a:solidFill>
            <a:srgbClr val="FFFF00">
              <a:alpha val="26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n w="6350">
                <a:solidFill>
                  <a:schemeClr val="tx1"/>
                </a:solidFill>
              </a:ln>
            </a:endParaRPr>
          </a:p>
        </p:txBody>
      </p:sp>
      <p:grpSp>
        <p:nvGrpSpPr>
          <p:cNvPr id="109" name="Groupe 108">
            <a:extLst>
              <a:ext uri="{FF2B5EF4-FFF2-40B4-BE49-F238E27FC236}">
                <a16:creationId xmlns:a16="http://schemas.microsoft.com/office/drawing/2014/main" id="{DD282E37-0154-0197-1900-E08D91BABA84}"/>
              </a:ext>
            </a:extLst>
          </p:cNvPr>
          <p:cNvGrpSpPr/>
          <p:nvPr/>
        </p:nvGrpSpPr>
        <p:grpSpPr>
          <a:xfrm>
            <a:off x="4761186" y="4249740"/>
            <a:ext cx="5087118" cy="1702125"/>
            <a:chOff x="4761186" y="4249740"/>
            <a:chExt cx="5087118" cy="1702125"/>
          </a:xfrm>
          <a:noFill/>
        </p:grpSpPr>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22579B03-41A1-CE4F-3317-09137692B7BF}"/>
                    </a:ext>
                  </a:extLst>
                </p:cNvPr>
                <p:cNvSpPr txBox="1"/>
                <p:nvPr/>
              </p:nvSpPr>
              <p:spPr>
                <a:xfrm>
                  <a:off x="5841431" y="5197889"/>
                  <a:ext cx="201820" cy="184666"/>
                </a:xfrm>
                <a:prstGeom prst="rect">
                  <a:avLst/>
                </a:prstGeom>
                <a:grp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17" name="ZoneTexte 16">
                  <a:extLst>
                    <a:ext uri="{FF2B5EF4-FFF2-40B4-BE49-F238E27FC236}">
                      <a16:creationId xmlns:a16="http://schemas.microsoft.com/office/drawing/2014/main" id="{22579B03-41A1-CE4F-3317-09137692B7BF}"/>
                    </a:ext>
                  </a:extLst>
                </p:cNvPr>
                <p:cNvSpPr txBox="1">
                  <a:spLocks noRot="1" noChangeAspect="1" noMove="1" noResize="1" noEditPoints="1" noAdjustHandles="1" noChangeArrowheads="1" noChangeShapeType="1" noTextEdit="1"/>
                </p:cNvSpPr>
                <p:nvPr/>
              </p:nvSpPr>
              <p:spPr>
                <a:xfrm>
                  <a:off x="5841431" y="5197889"/>
                  <a:ext cx="201820" cy="184666"/>
                </a:xfrm>
                <a:prstGeom prst="rect">
                  <a:avLst/>
                </a:prstGeom>
                <a:blipFill>
                  <a:blip r:embed="rId14"/>
                  <a:stretch>
                    <a:fillRect l="-23529" r="-64706" b="-20000"/>
                  </a:stretch>
                </a:blipFill>
              </p:spPr>
              <p:txBody>
                <a:bodyPr/>
                <a:lstStyle/>
                <a:p>
                  <a:r>
                    <a:rPr lang="en-GB">
                      <a:noFill/>
                    </a:rPr>
                    <a:t> </a:t>
                  </a:r>
                </a:p>
              </p:txBody>
            </p:sp>
          </mc:Fallback>
        </mc:AlternateContent>
        <p:sp>
          <p:nvSpPr>
            <p:cNvPr id="18" name="Rectangle : coins arrondis 17">
              <a:extLst>
                <a:ext uri="{FF2B5EF4-FFF2-40B4-BE49-F238E27FC236}">
                  <a16:creationId xmlns:a16="http://schemas.microsoft.com/office/drawing/2014/main" id="{AEFCC1FE-44AE-24A3-0B31-1D9A1AF90B7A}"/>
                </a:ext>
              </a:extLst>
            </p:cNvPr>
            <p:cNvSpPr/>
            <p:nvPr/>
          </p:nvSpPr>
          <p:spPr>
            <a:xfrm>
              <a:off x="5807696" y="4641155"/>
              <a:ext cx="265525" cy="308271"/>
            </a:xfrm>
            <a:prstGeom prst="roundRect">
              <a:avLst/>
            </a:prstGeom>
            <a:gr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9" name="Connecteur droit avec flèche 18">
              <a:extLst>
                <a:ext uri="{FF2B5EF4-FFF2-40B4-BE49-F238E27FC236}">
                  <a16:creationId xmlns:a16="http://schemas.microsoft.com/office/drawing/2014/main" id="{7F01EA4B-19A6-6C73-E3B7-A0DAF6918DD7}"/>
                </a:ext>
              </a:extLst>
            </p:cNvPr>
            <p:cNvCxnSpPr>
              <a:cxnSpLocks/>
              <a:stCxn id="17" idx="0"/>
              <a:endCxn id="18" idx="2"/>
            </p:cNvCxnSpPr>
            <p:nvPr/>
          </p:nvCxnSpPr>
          <p:spPr>
            <a:xfrm flipH="1" flipV="1">
              <a:off x="5940459" y="4949426"/>
              <a:ext cx="1882" cy="248463"/>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84B6BDE1-5C71-1923-F3BB-4F1967DFFCA6}"/>
                    </a:ext>
                  </a:extLst>
                </p:cNvPr>
                <p:cNvSpPr txBox="1"/>
                <p:nvPr/>
              </p:nvSpPr>
              <p:spPr>
                <a:xfrm>
                  <a:off x="6446827" y="5200355"/>
                  <a:ext cx="201820" cy="184666"/>
                </a:xfrm>
                <a:prstGeom prst="rect">
                  <a:avLst/>
                </a:prstGeom>
                <a:grp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20" name="ZoneTexte 19">
                  <a:extLst>
                    <a:ext uri="{FF2B5EF4-FFF2-40B4-BE49-F238E27FC236}">
                      <a16:creationId xmlns:a16="http://schemas.microsoft.com/office/drawing/2014/main" id="{84B6BDE1-5C71-1923-F3BB-4F1967DFFCA6}"/>
                    </a:ext>
                  </a:extLst>
                </p:cNvPr>
                <p:cNvSpPr txBox="1">
                  <a:spLocks noRot="1" noChangeAspect="1" noMove="1" noResize="1" noEditPoints="1" noAdjustHandles="1" noChangeArrowheads="1" noChangeShapeType="1" noTextEdit="1"/>
                </p:cNvSpPr>
                <p:nvPr/>
              </p:nvSpPr>
              <p:spPr>
                <a:xfrm>
                  <a:off x="6446827" y="5200355"/>
                  <a:ext cx="201820" cy="184666"/>
                </a:xfrm>
                <a:prstGeom prst="rect">
                  <a:avLst/>
                </a:prstGeom>
                <a:blipFill>
                  <a:blip r:embed="rId22"/>
                  <a:stretch>
                    <a:fillRect l="-23529" r="-58824" b="-20000"/>
                  </a:stretch>
                </a:blipFill>
              </p:spPr>
              <p:txBody>
                <a:bodyPr/>
                <a:lstStyle/>
                <a:p>
                  <a:r>
                    <a:rPr lang="en-GB">
                      <a:noFill/>
                    </a:rPr>
                    <a:t> </a:t>
                  </a:r>
                </a:p>
              </p:txBody>
            </p:sp>
          </mc:Fallback>
        </mc:AlternateContent>
        <p:sp>
          <p:nvSpPr>
            <p:cNvPr id="21" name="Rectangle : coins arrondis 20">
              <a:extLst>
                <a:ext uri="{FF2B5EF4-FFF2-40B4-BE49-F238E27FC236}">
                  <a16:creationId xmlns:a16="http://schemas.microsoft.com/office/drawing/2014/main" id="{AF66DA5B-FEB1-E4DF-992B-46797E00EC03}"/>
                </a:ext>
              </a:extLst>
            </p:cNvPr>
            <p:cNvSpPr/>
            <p:nvPr/>
          </p:nvSpPr>
          <p:spPr>
            <a:xfrm>
              <a:off x="6413092" y="4643621"/>
              <a:ext cx="265525" cy="308271"/>
            </a:xfrm>
            <a:prstGeom prst="roundRect">
              <a:avLst/>
            </a:prstGeom>
            <a:gr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2" name="Connecteur droit avec flèche 21">
              <a:extLst>
                <a:ext uri="{FF2B5EF4-FFF2-40B4-BE49-F238E27FC236}">
                  <a16:creationId xmlns:a16="http://schemas.microsoft.com/office/drawing/2014/main" id="{F97E3DE0-0B75-312C-43B0-CE83D5FDB9BD}"/>
                </a:ext>
              </a:extLst>
            </p:cNvPr>
            <p:cNvCxnSpPr>
              <a:cxnSpLocks/>
              <a:stCxn id="20" idx="0"/>
              <a:endCxn id="21" idx="2"/>
            </p:cNvCxnSpPr>
            <p:nvPr/>
          </p:nvCxnSpPr>
          <p:spPr>
            <a:xfrm flipH="1" flipV="1">
              <a:off x="6545855" y="4951892"/>
              <a:ext cx="1882" cy="248463"/>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sp>
          <p:nvSpPr>
            <p:cNvPr id="23" name="Rectangle : coins arrondis 22">
              <a:extLst>
                <a:ext uri="{FF2B5EF4-FFF2-40B4-BE49-F238E27FC236}">
                  <a16:creationId xmlns:a16="http://schemas.microsoft.com/office/drawing/2014/main" id="{415492EB-FB08-A701-82E2-AB1B7EBE01D9}"/>
                </a:ext>
              </a:extLst>
            </p:cNvPr>
            <p:cNvSpPr/>
            <p:nvPr/>
          </p:nvSpPr>
          <p:spPr>
            <a:xfrm>
              <a:off x="7018488" y="4646087"/>
              <a:ext cx="265525" cy="308271"/>
            </a:xfrm>
            <a:prstGeom prst="roundRect">
              <a:avLst/>
            </a:prstGeom>
            <a:gr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24" name="Rectangle : coins arrondis 23">
              <a:extLst>
                <a:ext uri="{FF2B5EF4-FFF2-40B4-BE49-F238E27FC236}">
                  <a16:creationId xmlns:a16="http://schemas.microsoft.com/office/drawing/2014/main" id="{FB4BB164-0725-BEE6-06A5-9695FA14B34C}"/>
                </a:ext>
              </a:extLst>
            </p:cNvPr>
            <p:cNvSpPr/>
            <p:nvPr/>
          </p:nvSpPr>
          <p:spPr>
            <a:xfrm>
              <a:off x="7618091" y="4648553"/>
              <a:ext cx="265525" cy="308271"/>
            </a:xfrm>
            <a:prstGeom prst="roundRect">
              <a:avLst/>
            </a:prstGeom>
            <a:gr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5" name="Connecteur droit avec flèche 24">
              <a:extLst>
                <a:ext uri="{FF2B5EF4-FFF2-40B4-BE49-F238E27FC236}">
                  <a16:creationId xmlns:a16="http://schemas.microsoft.com/office/drawing/2014/main" id="{F0166A0C-B15F-3927-251B-C3645328CFC2}"/>
                </a:ext>
              </a:extLst>
            </p:cNvPr>
            <p:cNvCxnSpPr>
              <a:stCxn id="18" idx="3"/>
              <a:endCxn id="21" idx="1"/>
            </p:cNvCxnSpPr>
            <p:nvPr/>
          </p:nvCxnSpPr>
          <p:spPr>
            <a:xfrm>
              <a:off x="6073220" y="4795290"/>
              <a:ext cx="339871" cy="2466"/>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cxnSp>
          <p:nvCxnSpPr>
            <p:cNvPr id="26" name="Connecteur droit avec flèche 25">
              <a:extLst>
                <a:ext uri="{FF2B5EF4-FFF2-40B4-BE49-F238E27FC236}">
                  <a16:creationId xmlns:a16="http://schemas.microsoft.com/office/drawing/2014/main" id="{9B8CE6CA-DC17-5B5E-296F-5296DEED5FFE}"/>
                </a:ext>
              </a:extLst>
            </p:cNvPr>
            <p:cNvCxnSpPr/>
            <p:nvPr/>
          </p:nvCxnSpPr>
          <p:spPr>
            <a:xfrm>
              <a:off x="6678616" y="4802689"/>
              <a:ext cx="339871" cy="2466"/>
            </a:xfrm>
            <a:prstGeom prst="straightConnector1">
              <a:avLst/>
            </a:prstGeom>
            <a:grp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4461141F-2595-34E9-C9F8-23FBA632B012}"/>
                </a:ext>
              </a:extLst>
            </p:cNvPr>
            <p:cNvCxnSpPr/>
            <p:nvPr/>
          </p:nvCxnSpPr>
          <p:spPr>
            <a:xfrm>
              <a:off x="7282364" y="4802689"/>
              <a:ext cx="339871" cy="2466"/>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E067CBD9-1657-23B1-AADC-26298B407997}"/>
                </a:ext>
              </a:extLst>
            </p:cNvPr>
            <p:cNvCxnSpPr/>
            <p:nvPr/>
          </p:nvCxnSpPr>
          <p:spPr>
            <a:xfrm>
              <a:off x="5465757" y="4799164"/>
              <a:ext cx="339871" cy="2466"/>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E9A4957F-D551-3C25-E113-838F086C852D}"/>
                    </a:ext>
                  </a:extLst>
                </p:cNvPr>
                <p:cNvSpPr txBox="1"/>
                <p:nvPr/>
              </p:nvSpPr>
              <p:spPr>
                <a:xfrm>
                  <a:off x="7060085" y="4249740"/>
                  <a:ext cx="320536" cy="184666"/>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29" name="ZoneTexte 28">
                  <a:extLst>
                    <a:ext uri="{FF2B5EF4-FFF2-40B4-BE49-F238E27FC236}">
                      <a16:creationId xmlns:a16="http://schemas.microsoft.com/office/drawing/2014/main" id="{E9A4957F-D551-3C25-E113-838F086C852D}"/>
                    </a:ext>
                  </a:extLst>
                </p:cNvPr>
                <p:cNvSpPr txBox="1">
                  <a:spLocks noRot="1" noChangeAspect="1" noMove="1" noResize="1" noEditPoints="1" noAdjustHandles="1" noChangeArrowheads="1" noChangeShapeType="1" noTextEdit="1"/>
                </p:cNvSpPr>
                <p:nvPr/>
              </p:nvSpPr>
              <p:spPr>
                <a:xfrm>
                  <a:off x="7060085" y="4249740"/>
                  <a:ext cx="320536" cy="184666"/>
                </a:xfrm>
                <a:prstGeom prst="rect">
                  <a:avLst/>
                </a:prstGeom>
                <a:blipFill>
                  <a:blip r:embed="rId23"/>
                  <a:stretch>
                    <a:fillRect l="-11111" t="-13333" r="-3704"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CC16ED75-8F7F-7167-5E47-AEF338374D38}"/>
                    </a:ext>
                  </a:extLst>
                </p:cNvPr>
                <p:cNvSpPr txBox="1"/>
                <p:nvPr/>
              </p:nvSpPr>
              <p:spPr>
                <a:xfrm>
                  <a:off x="7660101" y="4253262"/>
                  <a:ext cx="320537" cy="184666"/>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30" name="ZoneTexte 29">
                  <a:extLst>
                    <a:ext uri="{FF2B5EF4-FFF2-40B4-BE49-F238E27FC236}">
                      <a16:creationId xmlns:a16="http://schemas.microsoft.com/office/drawing/2014/main" id="{CC16ED75-8F7F-7167-5E47-AEF338374D38}"/>
                    </a:ext>
                  </a:extLst>
                </p:cNvPr>
                <p:cNvSpPr txBox="1">
                  <a:spLocks noRot="1" noChangeAspect="1" noMove="1" noResize="1" noEditPoints="1" noAdjustHandles="1" noChangeArrowheads="1" noChangeShapeType="1" noTextEdit="1"/>
                </p:cNvSpPr>
                <p:nvPr/>
              </p:nvSpPr>
              <p:spPr>
                <a:xfrm>
                  <a:off x="7660101" y="4253262"/>
                  <a:ext cx="320537" cy="184666"/>
                </a:xfrm>
                <a:prstGeom prst="rect">
                  <a:avLst/>
                </a:prstGeom>
                <a:blipFill>
                  <a:blip r:embed="rId24"/>
                  <a:stretch>
                    <a:fillRect l="-15385" t="-20000" r="-3846" b="-26667"/>
                  </a:stretch>
                </a:blipFill>
              </p:spPr>
              <p:txBody>
                <a:bodyPr/>
                <a:lstStyle/>
                <a:p>
                  <a:r>
                    <a:rPr lang="en-GB">
                      <a:noFill/>
                    </a:rPr>
                    <a:t> </a:t>
                  </a:r>
                </a:p>
              </p:txBody>
            </p:sp>
          </mc:Fallback>
        </mc:AlternateContent>
        <p:cxnSp>
          <p:nvCxnSpPr>
            <p:cNvPr id="31" name="Connecteur droit avec flèche 30">
              <a:extLst>
                <a:ext uri="{FF2B5EF4-FFF2-40B4-BE49-F238E27FC236}">
                  <a16:creationId xmlns:a16="http://schemas.microsoft.com/office/drawing/2014/main" id="{61713D3D-FB54-EA28-C525-5D7FF4D0CFAF}"/>
                </a:ext>
              </a:extLst>
            </p:cNvPr>
            <p:cNvCxnSpPr>
              <a:cxnSpLocks/>
            </p:cNvCxnSpPr>
            <p:nvPr/>
          </p:nvCxnSpPr>
          <p:spPr>
            <a:xfrm flipV="1">
              <a:off x="7156865" y="4390524"/>
              <a:ext cx="3105" cy="243733"/>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D8153A57-3B64-F842-06F7-F9C45CDDAF97}"/>
                </a:ext>
              </a:extLst>
            </p:cNvPr>
            <p:cNvCxnSpPr>
              <a:cxnSpLocks/>
            </p:cNvCxnSpPr>
            <p:nvPr/>
          </p:nvCxnSpPr>
          <p:spPr>
            <a:xfrm flipV="1">
              <a:off x="7756468" y="4392990"/>
              <a:ext cx="3104" cy="243733"/>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11B5C67A-6E4F-5303-0522-671D97E48845}"/>
                </a:ext>
              </a:extLst>
            </p:cNvPr>
            <p:cNvSpPr txBox="1"/>
            <p:nvPr/>
          </p:nvSpPr>
          <p:spPr>
            <a:xfrm>
              <a:off x="4761186" y="5490200"/>
              <a:ext cx="5087118" cy="461665"/>
            </a:xfrm>
            <a:prstGeom prst="rect">
              <a:avLst/>
            </a:prstGeom>
            <a:grpFill/>
          </p:spPr>
          <p:txBody>
            <a:bodyPr wrap="square" rtlCol="0">
              <a:spAutoFit/>
            </a:bodyPr>
            <a:lstStyle/>
            <a:p>
              <a:pPr algn="ctr"/>
              <a:r>
                <a:rPr lang="en-GB" sz="1200" dirty="0"/>
                <a:t>many-to-many (variable)</a:t>
              </a:r>
            </a:p>
            <a:p>
              <a:pPr algn="ctr"/>
              <a:r>
                <a:rPr lang="en-GB" sz="1200" dirty="0"/>
                <a:t>(sequence-to-sequence for </a:t>
              </a:r>
              <a:r>
                <a:rPr lang="en-GB" sz="1200" b="1" dirty="0"/>
                <a:t>translation</a:t>
              </a:r>
              <a:r>
                <a:rPr lang="en-GB" sz="1200" dirty="0"/>
                <a:t>, </a:t>
              </a:r>
              <a:r>
                <a:rPr lang="en-GB" sz="1200" b="1" dirty="0"/>
                <a:t>summarization</a:t>
              </a:r>
              <a:r>
                <a:rPr lang="en-GB" sz="1200" dirty="0"/>
                <a:t>, </a:t>
              </a:r>
              <a:r>
                <a:rPr lang="en-GB" sz="1200" b="1" dirty="0"/>
                <a:t>Q&amp;A</a:t>
              </a:r>
              <a:r>
                <a:rPr lang="en-GB" sz="1200" dirty="0"/>
                <a:t>, etc)</a:t>
              </a:r>
            </a:p>
          </p:txBody>
        </p:sp>
        <p:sp>
          <p:nvSpPr>
            <p:cNvPr id="105" name="Rectangle : coins arrondis 104">
              <a:extLst>
                <a:ext uri="{FF2B5EF4-FFF2-40B4-BE49-F238E27FC236}">
                  <a16:creationId xmlns:a16="http://schemas.microsoft.com/office/drawing/2014/main" id="{52C9CFBD-730F-284C-0A9A-55875830C9B3}"/>
                </a:ext>
              </a:extLst>
            </p:cNvPr>
            <p:cNvSpPr/>
            <p:nvPr/>
          </p:nvSpPr>
          <p:spPr>
            <a:xfrm>
              <a:off x="8222432" y="4653812"/>
              <a:ext cx="265525" cy="308271"/>
            </a:xfrm>
            <a:prstGeom prst="roundRect">
              <a:avLst/>
            </a:prstGeom>
            <a:gr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06" name="Connecteur droit avec flèche 105">
              <a:extLst>
                <a:ext uri="{FF2B5EF4-FFF2-40B4-BE49-F238E27FC236}">
                  <a16:creationId xmlns:a16="http://schemas.microsoft.com/office/drawing/2014/main" id="{7D617E44-261B-F156-06F8-913EB355C8A2}"/>
                </a:ext>
              </a:extLst>
            </p:cNvPr>
            <p:cNvCxnSpPr/>
            <p:nvPr/>
          </p:nvCxnSpPr>
          <p:spPr>
            <a:xfrm>
              <a:off x="7886705" y="4807948"/>
              <a:ext cx="339871" cy="2466"/>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7" name="ZoneTexte 106">
                  <a:extLst>
                    <a:ext uri="{FF2B5EF4-FFF2-40B4-BE49-F238E27FC236}">
                      <a16:creationId xmlns:a16="http://schemas.microsoft.com/office/drawing/2014/main" id="{AC19958A-9DA7-9126-D1B2-98D70C198264}"/>
                    </a:ext>
                  </a:extLst>
                </p:cNvPr>
                <p:cNvSpPr txBox="1"/>
                <p:nvPr/>
              </p:nvSpPr>
              <p:spPr>
                <a:xfrm>
                  <a:off x="8264442" y="4258521"/>
                  <a:ext cx="320537" cy="184666"/>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107" name="ZoneTexte 106">
                  <a:extLst>
                    <a:ext uri="{FF2B5EF4-FFF2-40B4-BE49-F238E27FC236}">
                      <a16:creationId xmlns:a16="http://schemas.microsoft.com/office/drawing/2014/main" id="{AC19958A-9DA7-9126-D1B2-98D70C198264}"/>
                    </a:ext>
                  </a:extLst>
                </p:cNvPr>
                <p:cNvSpPr txBox="1">
                  <a:spLocks noRot="1" noChangeAspect="1" noMove="1" noResize="1" noEditPoints="1" noAdjustHandles="1" noChangeArrowheads="1" noChangeShapeType="1" noTextEdit="1"/>
                </p:cNvSpPr>
                <p:nvPr/>
              </p:nvSpPr>
              <p:spPr>
                <a:xfrm>
                  <a:off x="8264442" y="4258521"/>
                  <a:ext cx="320537" cy="184666"/>
                </a:xfrm>
                <a:prstGeom prst="rect">
                  <a:avLst/>
                </a:prstGeom>
                <a:blipFill>
                  <a:blip r:embed="rId25"/>
                  <a:stretch>
                    <a:fillRect l="-11538" t="-13333" r="-7692" b="-33333"/>
                  </a:stretch>
                </a:blipFill>
              </p:spPr>
              <p:txBody>
                <a:bodyPr/>
                <a:lstStyle/>
                <a:p>
                  <a:r>
                    <a:rPr lang="en-GB">
                      <a:noFill/>
                    </a:rPr>
                    <a:t> </a:t>
                  </a:r>
                </a:p>
              </p:txBody>
            </p:sp>
          </mc:Fallback>
        </mc:AlternateContent>
        <p:cxnSp>
          <p:nvCxnSpPr>
            <p:cNvPr id="108" name="Connecteur droit avec flèche 107">
              <a:extLst>
                <a:ext uri="{FF2B5EF4-FFF2-40B4-BE49-F238E27FC236}">
                  <a16:creationId xmlns:a16="http://schemas.microsoft.com/office/drawing/2014/main" id="{8E2162C7-DC5C-108A-EE83-B44309500512}"/>
                </a:ext>
              </a:extLst>
            </p:cNvPr>
            <p:cNvCxnSpPr>
              <a:cxnSpLocks/>
            </p:cNvCxnSpPr>
            <p:nvPr/>
          </p:nvCxnSpPr>
          <p:spPr>
            <a:xfrm flipV="1">
              <a:off x="8360809" y="4398249"/>
              <a:ext cx="3104" cy="243733"/>
            </a:xfrm>
            <a:prstGeom prst="straightConnector1">
              <a:avLst/>
            </a:prstGeom>
            <a:grpFill/>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74705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9C57-D29D-678E-42D9-906AE32863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3FC8D3-AF1B-430D-5C8C-134B9991A1A2}"/>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DD6D3043-14B2-ACA6-D1D6-85A8B8FCFEC5}"/>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4F1FB8CC-C793-411F-6C3C-ED990C5FAF8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noProof="0" dirty="0">
                <a:effectLst/>
                <a:latin typeface="ui-sans-serif"/>
              </a:rPr>
              <a:t>Seq2Seq Consists of Two Sub models</a:t>
            </a:r>
          </a:p>
        </p:txBody>
      </p:sp>
      <p:sp>
        <p:nvSpPr>
          <p:cNvPr id="3" name="Rectangle : coins arrondis 2">
            <a:extLst>
              <a:ext uri="{FF2B5EF4-FFF2-40B4-BE49-F238E27FC236}">
                <a16:creationId xmlns:a16="http://schemas.microsoft.com/office/drawing/2014/main" id="{3E5511B5-AE69-F6E2-5BEE-6FE58748889B}"/>
              </a:ext>
            </a:extLst>
          </p:cNvPr>
          <p:cNvSpPr/>
          <p:nvPr/>
        </p:nvSpPr>
        <p:spPr>
          <a:xfrm>
            <a:off x="2271496" y="2840241"/>
            <a:ext cx="7248394" cy="3297799"/>
          </a:xfrm>
          <a:prstGeom prst="roundRect">
            <a:avLst/>
          </a:prstGeom>
          <a:solidFill>
            <a:srgbClr val="FFFF00">
              <a:alpha val="26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n w="6350">
                <a:solidFill>
                  <a:schemeClr val="tx1"/>
                </a:solidFill>
              </a:ln>
            </a:endParaRP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0E284FE8-521B-D758-8806-E45A84054A57}"/>
                  </a:ext>
                </a:extLst>
              </p:cNvPr>
              <p:cNvSpPr txBox="1"/>
              <p:nvPr/>
            </p:nvSpPr>
            <p:spPr>
              <a:xfrm>
                <a:off x="3947849" y="4430308"/>
                <a:ext cx="271251" cy="30820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7" name="ZoneTexte 6">
                <a:extLst>
                  <a:ext uri="{FF2B5EF4-FFF2-40B4-BE49-F238E27FC236}">
                    <a16:creationId xmlns:a16="http://schemas.microsoft.com/office/drawing/2014/main" id="{0E284FE8-521B-D758-8806-E45A84054A57}"/>
                  </a:ext>
                </a:extLst>
              </p:cNvPr>
              <p:cNvSpPr txBox="1">
                <a:spLocks noRot="1" noChangeAspect="1" noMove="1" noResize="1" noEditPoints="1" noAdjustHandles="1" noChangeArrowheads="1" noChangeShapeType="1" noTextEdit="1"/>
              </p:cNvSpPr>
              <p:nvPr/>
            </p:nvSpPr>
            <p:spPr>
              <a:xfrm>
                <a:off x="3947849" y="4430308"/>
                <a:ext cx="271251" cy="308203"/>
              </a:xfrm>
              <a:prstGeom prst="rect">
                <a:avLst/>
              </a:prstGeom>
              <a:blipFill>
                <a:blip r:embed="rId2"/>
                <a:stretch>
                  <a:fillRect l="-22727" r="-18182"/>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A963712A-1578-4370-9B44-B6217A8591EF}"/>
              </a:ext>
            </a:extLst>
          </p:cNvPr>
          <p:cNvSpPr/>
          <p:nvPr/>
        </p:nvSpPr>
        <p:spPr>
          <a:xfrm>
            <a:off x="3902509" y="376432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9" name="Connecteur droit avec flèche 8">
            <a:extLst>
              <a:ext uri="{FF2B5EF4-FFF2-40B4-BE49-F238E27FC236}">
                <a16:creationId xmlns:a16="http://schemas.microsoft.com/office/drawing/2014/main" id="{B6D4134C-DE1E-9F94-5E89-BFA2AF3D89B7}"/>
              </a:ext>
            </a:extLst>
          </p:cNvPr>
          <p:cNvCxnSpPr>
            <a:cxnSpLocks/>
            <a:stCxn id="7" idx="0"/>
            <a:endCxn id="8" idx="2"/>
          </p:cNvCxnSpPr>
          <p:nvPr/>
        </p:nvCxnSpPr>
        <p:spPr>
          <a:xfrm flipH="1" flipV="1">
            <a:off x="4080945" y="4278820"/>
            <a:ext cx="2530" cy="1514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0A05828-01D3-9975-ADC4-B8072095B0AC}"/>
                  </a:ext>
                </a:extLst>
              </p:cNvPr>
              <p:cNvSpPr txBox="1"/>
              <p:nvPr/>
            </p:nvSpPr>
            <p:spPr>
              <a:xfrm>
                <a:off x="4761517" y="4434424"/>
                <a:ext cx="271251" cy="30820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10" name="ZoneTexte 9">
                <a:extLst>
                  <a:ext uri="{FF2B5EF4-FFF2-40B4-BE49-F238E27FC236}">
                    <a16:creationId xmlns:a16="http://schemas.microsoft.com/office/drawing/2014/main" id="{00A05828-01D3-9975-ADC4-B8072095B0AC}"/>
                  </a:ext>
                </a:extLst>
              </p:cNvPr>
              <p:cNvSpPr txBox="1">
                <a:spLocks noRot="1" noChangeAspect="1" noMove="1" noResize="1" noEditPoints="1" noAdjustHandles="1" noChangeArrowheads="1" noChangeShapeType="1" noTextEdit="1"/>
              </p:cNvSpPr>
              <p:nvPr/>
            </p:nvSpPr>
            <p:spPr>
              <a:xfrm>
                <a:off x="4761517" y="4434424"/>
                <a:ext cx="271251" cy="308203"/>
              </a:xfrm>
              <a:prstGeom prst="rect">
                <a:avLst/>
              </a:prstGeom>
              <a:blipFill>
                <a:blip r:embed="rId3"/>
                <a:stretch>
                  <a:fillRect l="-17391" r="-17391"/>
                </a:stretch>
              </a:blipFill>
            </p:spPr>
            <p:txBody>
              <a:bodyPr/>
              <a:lstStyle/>
              <a:p>
                <a:r>
                  <a:rPr lang="en-GB">
                    <a:noFill/>
                  </a:rPr>
                  <a:t> </a:t>
                </a:r>
              </a:p>
            </p:txBody>
          </p:sp>
        </mc:Fallback>
      </mc:AlternateContent>
      <p:sp>
        <p:nvSpPr>
          <p:cNvPr id="11" name="Rectangle : coins arrondis 10">
            <a:extLst>
              <a:ext uri="{FF2B5EF4-FFF2-40B4-BE49-F238E27FC236}">
                <a16:creationId xmlns:a16="http://schemas.microsoft.com/office/drawing/2014/main" id="{1E1B32C9-8B73-B178-598F-8D1585A54E97}"/>
              </a:ext>
            </a:extLst>
          </p:cNvPr>
          <p:cNvSpPr/>
          <p:nvPr/>
        </p:nvSpPr>
        <p:spPr>
          <a:xfrm>
            <a:off x="4716176" y="376843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2" name="Connecteur droit avec flèche 11">
            <a:extLst>
              <a:ext uri="{FF2B5EF4-FFF2-40B4-BE49-F238E27FC236}">
                <a16:creationId xmlns:a16="http://schemas.microsoft.com/office/drawing/2014/main" id="{09D96D6A-02E6-6056-68B9-138A2256F53A}"/>
              </a:ext>
            </a:extLst>
          </p:cNvPr>
          <p:cNvCxnSpPr>
            <a:cxnSpLocks/>
            <a:stCxn id="10" idx="0"/>
            <a:endCxn id="11" idx="2"/>
          </p:cNvCxnSpPr>
          <p:nvPr/>
        </p:nvCxnSpPr>
        <p:spPr>
          <a:xfrm flipH="1" flipV="1">
            <a:off x="4894612" y="4282935"/>
            <a:ext cx="2531" cy="15148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13" name="Rectangle : coins arrondis 12">
            <a:extLst>
              <a:ext uri="{FF2B5EF4-FFF2-40B4-BE49-F238E27FC236}">
                <a16:creationId xmlns:a16="http://schemas.microsoft.com/office/drawing/2014/main" id="{A884FF2F-74D5-36B5-1278-65AFE285D4A6}"/>
              </a:ext>
            </a:extLst>
          </p:cNvPr>
          <p:cNvSpPr/>
          <p:nvPr/>
        </p:nvSpPr>
        <p:spPr>
          <a:xfrm>
            <a:off x="5529843" y="3772555"/>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4" name="Rectangle : coins arrondis 13">
            <a:extLst>
              <a:ext uri="{FF2B5EF4-FFF2-40B4-BE49-F238E27FC236}">
                <a16:creationId xmlns:a16="http://schemas.microsoft.com/office/drawing/2014/main" id="{98E4DB47-31AB-E0D8-B368-232391BBD4C4}"/>
              </a:ext>
            </a:extLst>
          </p:cNvPr>
          <p:cNvSpPr/>
          <p:nvPr/>
        </p:nvSpPr>
        <p:spPr>
          <a:xfrm>
            <a:off x="6335725" y="3776671"/>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5" name="Connecteur droit avec flèche 14">
            <a:extLst>
              <a:ext uri="{FF2B5EF4-FFF2-40B4-BE49-F238E27FC236}">
                <a16:creationId xmlns:a16="http://schemas.microsoft.com/office/drawing/2014/main" id="{947B8651-1951-189F-0EB9-C731AC1BA022}"/>
              </a:ext>
            </a:extLst>
          </p:cNvPr>
          <p:cNvCxnSpPr>
            <a:stCxn id="8" idx="3"/>
            <a:endCxn id="11" idx="1"/>
          </p:cNvCxnSpPr>
          <p:nvPr/>
        </p:nvCxnSpPr>
        <p:spPr>
          <a:xfrm>
            <a:off x="4259380" y="402157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ADF2C1BA-4318-7C1D-8C04-D0CB98645EFD}"/>
              </a:ext>
            </a:extLst>
          </p:cNvPr>
          <p:cNvCxnSpPr/>
          <p:nvPr/>
        </p:nvCxnSpPr>
        <p:spPr>
          <a:xfrm>
            <a:off x="5073047" y="4033920"/>
            <a:ext cx="456795" cy="4116"/>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9B91E60B-6054-189E-4251-DF35A78BB48F}"/>
              </a:ext>
            </a:extLst>
          </p:cNvPr>
          <p:cNvCxnSpPr/>
          <p:nvPr/>
        </p:nvCxnSpPr>
        <p:spPr>
          <a:xfrm>
            <a:off x="5884499" y="4033920"/>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BB0932B7-901A-0156-6E83-8B547F99F731}"/>
                  </a:ext>
                </a:extLst>
              </p:cNvPr>
              <p:cNvSpPr txBox="1"/>
              <p:nvPr/>
            </p:nvSpPr>
            <p:spPr>
              <a:xfrm>
                <a:off x="5496851" y="3187262"/>
                <a:ext cx="430808"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19" name="ZoneTexte 18">
                <a:extLst>
                  <a:ext uri="{FF2B5EF4-FFF2-40B4-BE49-F238E27FC236}">
                    <a16:creationId xmlns:a16="http://schemas.microsoft.com/office/drawing/2014/main" id="{BB0932B7-901A-0156-6E83-8B547F99F731}"/>
                  </a:ext>
                </a:extLst>
              </p:cNvPr>
              <p:cNvSpPr txBox="1">
                <a:spLocks noRot="1" noChangeAspect="1" noMove="1" noResize="1" noEditPoints="1" noAdjustHandles="1" noChangeArrowheads="1" noChangeShapeType="1" noTextEdit="1"/>
              </p:cNvSpPr>
              <p:nvPr/>
            </p:nvSpPr>
            <p:spPr>
              <a:xfrm>
                <a:off x="5496851" y="3187262"/>
                <a:ext cx="430808" cy="308203"/>
              </a:xfrm>
              <a:prstGeom prst="rect">
                <a:avLst/>
              </a:prstGeom>
              <a:blipFill>
                <a:blip r:embed="rId4"/>
                <a:stretch>
                  <a:fillRect t="-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151D629F-CB17-B2B6-5CD7-4EEE0A485C57}"/>
                  </a:ext>
                </a:extLst>
              </p:cNvPr>
              <p:cNvSpPr txBox="1"/>
              <p:nvPr/>
            </p:nvSpPr>
            <p:spPr>
              <a:xfrm>
                <a:off x="6303287" y="3218540"/>
                <a:ext cx="430810"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20" name="ZoneTexte 19">
                <a:extLst>
                  <a:ext uri="{FF2B5EF4-FFF2-40B4-BE49-F238E27FC236}">
                    <a16:creationId xmlns:a16="http://schemas.microsoft.com/office/drawing/2014/main" id="{151D629F-CB17-B2B6-5CD7-4EEE0A485C57}"/>
                  </a:ext>
                </a:extLst>
              </p:cNvPr>
              <p:cNvSpPr txBox="1">
                <a:spLocks noRot="1" noChangeAspect="1" noMove="1" noResize="1" noEditPoints="1" noAdjustHandles="1" noChangeArrowheads="1" noChangeShapeType="1" noTextEdit="1"/>
              </p:cNvSpPr>
              <p:nvPr/>
            </p:nvSpPr>
            <p:spPr>
              <a:xfrm>
                <a:off x="6303287" y="3218540"/>
                <a:ext cx="430810" cy="308203"/>
              </a:xfrm>
              <a:prstGeom prst="rect">
                <a:avLst/>
              </a:prstGeom>
              <a:blipFill>
                <a:blip r:embed="rId5"/>
                <a:stretch>
                  <a:fillRect t="-8000"/>
                </a:stretch>
              </a:blipFill>
            </p:spPr>
            <p:txBody>
              <a:bodyPr/>
              <a:lstStyle/>
              <a:p>
                <a:r>
                  <a:rPr lang="en-GB">
                    <a:noFill/>
                  </a:rPr>
                  <a:t> </a:t>
                </a:r>
              </a:p>
            </p:txBody>
          </p:sp>
        </mc:Fallback>
      </mc:AlternateContent>
      <p:cxnSp>
        <p:nvCxnSpPr>
          <p:cNvPr id="21" name="Connecteur droit avec flèche 20">
            <a:extLst>
              <a:ext uri="{FF2B5EF4-FFF2-40B4-BE49-F238E27FC236}">
                <a16:creationId xmlns:a16="http://schemas.microsoft.com/office/drawing/2014/main" id="{3C43B1D6-FFDA-AAEB-A31A-CFA26A655313}"/>
              </a:ext>
            </a:extLst>
          </p:cNvPr>
          <p:cNvCxnSpPr>
            <a:cxnSpLocks/>
            <a:stCxn id="13" idx="0"/>
            <a:endCxn id="19" idx="2"/>
          </p:cNvCxnSpPr>
          <p:nvPr/>
        </p:nvCxnSpPr>
        <p:spPr>
          <a:xfrm flipV="1">
            <a:off x="5708279" y="3495465"/>
            <a:ext cx="3976" cy="27709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C6BE0106-A696-C0AB-168D-F575367CCBF5}"/>
              </a:ext>
            </a:extLst>
          </p:cNvPr>
          <p:cNvCxnSpPr>
            <a:cxnSpLocks/>
            <a:stCxn id="14" idx="0"/>
            <a:endCxn id="20" idx="2"/>
          </p:cNvCxnSpPr>
          <p:nvPr/>
        </p:nvCxnSpPr>
        <p:spPr>
          <a:xfrm flipV="1">
            <a:off x="6514161" y="3526743"/>
            <a:ext cx="4531" cy="24992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D7B150BB-E07A-91F0-373E-5A47A0B92B10}"/>
              </a:ext>
            </a:extLst>
          </p:cNvPr>
          <p:cNvSpPr txBox="1"/>
          <p:nvPr/>
        </p:nvSpPr>
        <p:spPr>
          <a:xfrm>
            <a:off x="2672110" y="5334820"/>
            <a:ext cx="6306207" cy="461665"/>
          </a:xfrm>
          <a:prstGeom prst="rect">
            <a:avLst/>
          </a:prstGeom>
          <a:noFill/>
        </p:spPr>
        <p:txBody>
          <a:bodyPr wrap="square" rtlCol="0">
            <a:spAutoFit/>
          </a:bodyPr>
          <a:lstStyle/>
          <a:p>
            <a:pPr algn="ctr"/>
            <a:r>
              <a:rPr lang="en-GB" sz="1200" dirty="0"/>
              <a:t>many-to-many (variable)</a:t>
            </a:r>
          </a:p>
          <a:p>
            <a:pPr algn="ctr"/>
            <a:r>
              <a:rPr lang="en-GB" sz="1200" dirty="0"/>
              <a:t>(sequence-to-sequence for </a:t>
            </a:r>
            <a:r>
              <a:rPr lang="en-GB" sz="1200" b="1" dirty="0"/>
              <a:t>translation</a:t>
            </a:r>
            <a:r>
              <a:rPr lang="en-GB" sz="1200" dirty="0"/>
              <a:t>, </a:t>
            </a:r>
            <a:r>
              <a:rPr lang="en-GB" sz="1200" b="1" dirty="0"/>
              <a:t>summarization</a:t>
            </a:r>
            <a:r>
              <a:rPr lang="en-GB" sz="1200" dirty="0"/>
              <a:t>, </a:t>
            </a:r>
            <a:r>
              <a:rPr lang="en-GB" sz="1200" b="1" dirty="0"/>
              <a:t>Q&amp;A</a:t>
            </a:r>
            <a:r>
              <a:rPr lang="en-GB" sz="1200" dirty="0"/>
              <a:t>, etc)</a:t>
            </a:r>
          </a:p>
        </p:txBody>
      </p:sp>
      <p:sp>
        <p:nvSpPr>
          <p:cNvPr id="24" name="Rectangle : coins arrondis 23">
            <a:extLst>
              <a:ext uri="{FF2B5EF4-FFF2-40B4-BE49-F238E27FC236}">
                <a16:creationId xmlns:a16="http://schemas.microsoft.com/office/drawing/2014/main" id="{D6BCDC77-6ACD-E55D-E6D6-C1685A347EC9}"/>
              </a:ext>
            </a:extLst>
          </p:cNvPr>
          <p:cNvSpPr/>
          <p:nvPr/>
        </p:nvSpPr>
        <p:spPr>
          <a:xfrm>
            <a:off x="7147974" y="378544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5" name="Connecteur droit avec flèche 24">
            <a:extLst>
              <a:ext uri="{FF2B5EF4-FFF2-40B4-BE49-F238E27FC236}">
                <a16:creationId xmlns:a16="http://schemas.microsoft.com/office/drawing/2014/main" id="{32F0681A-49A1-0D41-BB65-6C2A73EEC702}"/>
              </a:ext>
            </a:extLst>
          </p:cNvPr>
          <p:cNvCxnSpPr/>
          <p:nvPr/>
        </p:nvCxnSpPr>
        <p:spPr>
          <a:xfrm>
            <a:off x="6696748" y="4042697"/>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3798B6CE-0733-DAD1-958C-19E6FD30BDC3}"/>
                  </a:ext>
                </a:extLst>
              </p:cNvPr>
              <p:cNvSpPr txBox="1"/>
              <p:nvPr/>
            </p:nvSpPr>
            <p:spPr>
              <a:xfrm>
                <a:off x="7115536" y="3240017"/>
                <a:ext cx="430810"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26" name="ZoneTexte 25">
                <a:extLst>
                  <a:ext uri="{FF2B5EF4-FFF2-40B4-BE49-F238E27FC236}">
                    <a16:creationId xmlns:a16="http://schemas.microsoft.com/office/drawing/2014/main" id="{3798B6CE-0733-DAD1-958C-19E6FD30BDC3}"/>
                  </a:ext>
                </a:extLst>
              </p:cNvPr>
              <p:cNvSpPr txBox="1">
                <a:spLocks noRot="1" noChangeAspect="1" noMove="1" noResize="1" noEditPoints="1" noAdjustHandles="1" noChangeArrowheads="1" noChangeShapeType="1" noTextEdit="1"/>
              </p:cNvSpPr>
              <p:nvPr/>
            </p:nvSpPr>
            <p:spPr>
              <a:xfrm>
                <a:off x="7115536" y="3240017"/>
                <a:ext cx="430810" cy="308203"/>
              </a:xfrm>
              <a:prstGeom prst="rect">
                <a:avLst/>
              </a:prstGeom>
              <a:blipFill>
                <a:blip r:embed="rId6"/>
                <a:stretch>
                  <a:fillRect t="-7692"/>
                </a:stretch>
              </a:blipFill>
            </p:spPr>
            <p:txBody>
              <a:bodyPr/>
              <a:lstStyle/>
              <a:p>
                <a:r>
                  <a:rPr lang="en-GB">
                    <a:noFill/>
                  </a:rPr>
                  <a:t> </a:t>
                </a:r>
              </a:p>
            </p:txBody>
          </p:sp>
        </mc:Fallback>
      </mc:AlternateContent>
      <p:cxnSp>
        <p:nvCxnSpPr>
          <p:cNvPr id="27" name="Connecteur droit avec flèche 26">
            <a:extLst>
              <a:ext uri="{FF2B5EF4-FFF2-40B4-BE49-F238E27FC236}">
                <a16:creationId xmlns:a16="http://schemas.microsoft.com/office/drawing/2014/main" id="{1413399A-F30B-B034-65B5-04B94061C161}"/>
              </a:ext>
            </a:extLst>
          </p:cNvPr>
          <p:cNvCxnSpPr>
            <a:cxnSpLocks/>
            <a:stCxn id="24" idx="0"/>
            <a:endCxn id="26" idx="2"/>
          </p:cNvCxnSpPr>
          <p:nvPr/>
        </p:nvCxnSpPr>
        <p:spPr>
          <a:xfrm flipV="1">
            <a:off x="7326410" y="3548220"/>
            <a:ext cx="4531" cy="23722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8" name="Rectangle : coins arrondis 27">
            <a:extLst>
              <a:ext uri="{FF2B5EF4-FFF2-40B4-BE49-F238E27FC236}">
                <a16:creationId xmlns:a16="http://schemas.microsoft.com/office/drawing/2014/main" id="{7E075B28-9BD3-4AE2-AA21-E504ED2ECCA3}"/>
              </a:ext>
            </a:extLst>
          </p:cNvPr>
          <p:cNvSpPr/>
          <p:nvPr/>
        </p:nvSpPr>
        <p:spPr>
          <a:xfrm>
            <a:off x="3226676" y="3626069"/>
            <a:ext cx="2112579" cy="1375632"/>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ZoneTexte 28">
            <a:extLst>
              <a:ext uri="{FF2B5EF4-FFF2-40B4-BE49-F238E27FC236}">
                <a16:creationId xmlns:a16="http://schemas.microsoft.com/office/drawing/2014/main" id="{6F360168-2118-FAB5-4DC0-F2B2997658AD}"/>
              </a:ext>
            </a:extLst>
          </p:cNvPr>
          <p:cNvSpPr txBox="1"/>
          <p:nvPr/>
        </p:nvSpPr>
        <p:spPr>
          <a:xfrm>
            <a:off x="3517700" y="4722893"/>
            <a:ext cx="1608521" cy="246221"/>
          </a:xfrm>
          <a:prstGeom prst="rect">
            <a:avLst/>
          </a:prstGeom>
          <a:noFill/>
          <a:ln w="12700">
            <a:noFill/>
          </a:ln>
        </p:spPr>
        <p:txBody>
          <a:bodyPr wrap="square" rtlCol="0">
            <a:spAutoFit/>
          </a:bodyPr>
          <a:lstStyle/>
          <a:p>
            <a:pPr algn="ctr"/>
            <a:r>
              <a:rPr lang="en-GB" sz="1000" dirty="0"/>
              <a:t>Source / Input Sequence</a:t>
            </a:r>
          </a:p>
        </p:txBody>
      </p:sp>
      <p:sp>
        <p:nvSpPr>
          <p:cNvPr id="30" name="ZoneTexte 29">
            <a:extLst>
              <a:ext uri="{FF2B5EF4-FFF2-40B4-BE49-F238E27FC236}">
                <a16:creationId xmlns:a16="http://schemas.microsoft.com/office/drawing/2014/main" id="{4B1106E4-CA59-BE94-7F72-81B4074369BA}"/>
              </a:ext>
            </a:extLst>
          </p:cNvPr>
          <p:cNvSpPr txBox="1"/>
          <p:nvPr/>
        </p:nvSpPr>
        <p:spPr>
          <a:xfrm>
            <a:off x="3517700" y="5004886"/>
            <a:ext cx="1608521" cy="369332"/>
          </a:xfrm>
          <a:prstGeom prst="rect">
            <a:avLst/>
          </a:prstGeom>
          <a:noFill/>
          <a:ln w="12700">
            <a:noFill/>
          </a:ln>
        </p:spPr>
        <p:txBody>
          <a:bodyPr wrap="square" rtlCol="0">
            <a:spAutoFit/>
          </a:bodyPr>
          <a:lstStyle/>
          <a:p>
            <a:pPr algn="ctr"/>
            <a:r>
              <a:rPr lang="en-GB" b="1" dirty="0">
                <a:solidFill>
                  <a:schemeClr val="accent1"/>
                </a:solidFill>
              </a:rPr>
              <a:t>Encoder</a:t>
            </a:r>
          </a:p>
        </p:txBody>
      </p:sp>
      <p:sp>
        <p:nvSpPr>
          <p:cNvPr id="39" name="ZoneTexte 38">
            <a:extLst>
              <a:ext uri="{FF2B5EF4-FFF2-40B4-BE49-F238E27FC236}">
                <a16:creationId xmlns:a16="http://schemas.microsoft.com/office/drawing/2014/main" id="{96F4BA95-F5FE-4AC2-87E2-271EA812D694}"/>
              </a:ext>
            </a:extLst>
          </p:cNvPr>
          <p:cNvSpPr txBox="1"/>
          <p:nvPr/>
        </p:nvSpPr>
        <p:spPr>
          <a:xfrm>
            <a:off x="5770909" y="2959953"/>
            <a:ext cx="1608521" cy="246221"/>
          </a:xfrm>
          <a:prstGeom prst="rect">
            <a:avLst/>
          </a:prstGeom>
          <a:noFill/>
          <a:ln w="12700">
            <a:noFill/>
          </a:ln>
        </p:spPr>
        <p:txBody>
          <a:bodyPr wrap="square" rtlCol="0">
            <a:spAutoFit/>
          </a:bodyPr>
          <a:lstStyle/>
          <a:p>
            <a:pPr algn="ctr"/>
            <a:r>
              <a:rPr lang="en-GB" sz="1000" dirty="0"/>
              <a:t>Target / Output Sequence</a:t>
            </a:r>
          </a:p>
        </p:txBody>
      </p:sp>
      <p:sp>
        <p:nvSpPr>
          <p:cNvPr id="40" name="Rectangle : coins arrondis 39">
            <a:extLst>
              <a:ext uri="{FF2B5EF4-FFF2-40B4-BE49-F238E27FC236}">
                <a16:creationId xmlns:a16="http://schemas.microsoft.com/office/drawing/2014/main" id="{084AB4FE-4177-8FBD-A921-453BDE6C7CDE}"/>
              </a:ext>
            </a:extLst>
          </p:cNvPr>
          <p:cNvSpPr/>
          <p:nvPr/>
        </p:nvSpPr>
        <p:spPr>
          <a:xfrm>
            <a:off x="5392267" y="2879322"/>
            <a:ext cx="2557933" cy="1614486"/>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ZoneTexte 40">
            <a:extLst>
              <a:ext uri="{FF2B5EF4-FFF2-40B4-BE49-F238E27FC236}">
                <a16:creationId xmlns:a16="http://schemas.microsoft.com/office/drawing/2014/main" id="{BE6A2E8E-C54E-CC2C-E463-D2E8AD3CFB31}"/>
              </a:ext>
            </a:extLst>
          </p:cNvPr>
          <p:cNvSpPr txBox="1"/>
          <p:nvPr/>
        </p:nvSpPr>
        <p:spPr>
          <a:xfrm>
            <a:off x="5732226" y="4512702"/>
            <a:ext cx="1608521" cy="369332"/>
          </a:xfrm>
          <a:prstGeom prst="rect">
            <a:avLst/>
          </a:prstGeom>
          <a:noFill/>
          <a:ln w="12700">
            <a:noFill/>
          </a:ln>
        </p:spPr>
        <p:txBody>
          <a:bodyPr wrap="square" rtlCol="0">
            <a:spAutoFit/>
          </a:bodyPr>
          <a:lstStyle/>
          <a:p>
            <a:pPr algn="ctr"/>
            <a:r>
              <a:rPr lang="en-GB" b="1" dirty="0">
                <a:solidFill>
                  <a:schemeClr val="accent1"/>
                </a:solidFill>
              </a:rPr>
              <a:t>Decoder</a:t>
            </a:r>
          </a:p>
        </p:txBody>
      </p:sp>
      <p:cxnSp>
        <p:nvCxnSpPr>
          <p:cNvPr id="43" name="Connecteur droit 42">
            <a:extLst>
              <a:ext uri="{FF2B5EF4-FFF2-40B4-BE49-F238E27FC236}">
                <a16:creationId xmlns:a16="http://schemas.microsoft.com/office/drawing/2014/main" id="{01FCD66C-21E4-B77B-9DC1-60F429731998}"/>
              </a:ext>
            </a:extLst>
          </p:cNvPr>
          <p:cNvCxnSpPr>
            <a:cxnSpLocks/>
            <a:endCxn id="8" idx="1"/>
          </p:cNvCxnSpPr>
          <p:nvPr/>
        </p:nvCxnSpPr>
        <p:spPr>
          <a:xfrm>
            <a:off x="3445714" y="4021571"/>
            <a:ext cx="456795"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6" name="Connecteur droit 45">
            <a:extLst>
              <a:ext uri="{FF2B5EF4-FFF2-40B4-BE49-F238E27FC236}">
                <a16:creationId xmlns:a16="http://schemas.microsoft.com/office/drawing/2014/main" id="{0E959B10-77F0-B854-BE2A-C0FBFACCF6C5}"/>
              </a:ext>
            </a:extLst>
          </p:cNvPr>
          <p:cNvCxnSpPr>
            <a:cxnSpLocks/>
            <a:stCxn id="24" idx="3"/>
          </p:cNvCxnSpPr>
          <p:nvPr/>
        </p:nvCxnSpPr>
        <p:spPr>
          <a:xfrm flipV="1">
            <a:off x="7504846" y="4038036"/>
            <a:ext cx="360000" cy="466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282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855E0-0322-ADE1-6D4B-89F90CD250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151367-A46D-D567-7D4C-36075403116F}"/>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FB4D204F-645C-8A66-6627-6699AAC0F21F}"/>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2042D7A3-0C57-E7BA-6687-26DEBC595DD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noProof="0" dirty="0">
                <a:effectLst/>
                <a:latin typeface="ui-sans-serif"/>
              </a:rPr>
              <a:t>Seq2Seq Consists of Two Sub models</a:t>
            </a:r>
          </a:p>
        </p:txBody>
      </p:sp>
      <p:sp>
        <p:nvSpPr>
          <p:cNvPr id="3" name="Rectangle : coins arrondis 2">
            <a:extLst>
              <a:ext uri="{FF2B5EF4-FFF2-40B4-BE49-F238E27FC236}">
                <a16:creationId xmlns:a16="http://schemas.microsoft.com/office/drawing/2014/main" id="{349756E5-0428-3790-C855-7921B5A9B023}"/>
              </a:ext>
            </a:extLst>
          </p:cNvPr>
          <p:cNvSpPr/>
          <p:nvPr/>
        </p:nvSpPr>
        <p:spPr>
          <a:xfrm>
            <a:off x="2271496" y="2840241"/>
            <a:ext cx="7248394" cy="3297799"/>
          </a:xfrm>
          <a:prstGeom prst="roundRect">
            <a:avLst/>
          </a:prstGeom>
          <a:solidFill>
            <a:srgbClr val="FFFF00">
              <a:alpha val="26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n w="6350">
                <a:solidFill>
                  <a:schemeClr val="tx1"/>
                </a:solidFill>
              </a:ln>
            </a:endParaRP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66D9A393-1685-C70F-B0C3-291D5571E8F7}"/>
                  </a:ext>
                </a:extLst>
              </p:cNvPr>
              <p:cNvSpPr txBox="1"/>
              <p:nvPr/>
            </p:nvSpPr>
            <p:spPr>
              <a:xfrm>
                <a:off x="3947849" y="4430308"/>
                <a:ext cx="271251" cy="30820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7" name="ZoneTexte 6">
                <a:extLst>
                  <a:ext uri="{FF2B5EF4-FFF2-40B4-BE49-F238E27FC236}">
                    <a16:creationId xmlns:a16="http://schemas.microsoft.com/office/drawing/2014/main" id="{66D9A393-1685-C70F-B0C3-291D5571E8F7}"/>
                  </a:ext>
                </a:extLst>
              </p:cNvPr>
              <p:cNvSpPr txBox="1">
                <a:spLocks noRot="1" noChangeAspect="1" noMove="1" noResize="1" noEditPoints="1" noAdjustHandles="1" noChangeArrowheads="1" noChangeShapeType="1" noTextEdit="1"/>
              </p:cNvSpPr>
              <p:nvPr/>
            </p:nvSpPr>
            <p:spPr>
              <a:xfrm>
                <a:off x="3947849" y="4430308"/>
                <a:ext cx="271251" cy="308203"/>
              </a:xfrm>
              <a:prstGeom prst="rect">
                <a:avLst/>
              </a:prstGeom>
              <a:blipFill>
                <a:blip r:embed="rId2"/>
                <a:stretch>
                  <a:fillRect l="-22727" r="-18182"/>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C2ED8138-3EA9-9200-73BD-1CC05A8B4369}"/>
              </a:ext>
            </a:extLst>
          </p:cNvPr>
          <p:cNvSpPr/>
          <p:nvPr/>
        </p:nvSpPr>
        <p:spPr>
          <a:xfrm>
            <a:off x="3902509" y="376432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9" name="Connecteur droit avec flèche 8">
            <a:extLst>
              <a:ext uri="{FF2B5EF4-FFF2-40B4-BE49-F238E27FC236}">
                <a16:creationId xmlns:a16="http://schemas.microsoft.com/office/drawing/2014/main" id="{F9C62D53-B021-58B5-500F-F5690C8E0DE0}"/>
              </a:ext>
            </a:extLst>
          </p:cNvPr>
          <p:cNvCxnSpPr>
            <a:cxnSpLocks/>
            <a:stCxn id="7" idx="0"/>
            <a:endCxn id="8" idx="2"/>
          </p:cNvCxnSpPr>
          <p:nvPr/>
        </p:nvCxnSpPr>
        <p:spPr>
          <a:xfrm flipH="1" flipV="1">
            <a:off x="4080945" y="4278820"/>
            <a:ext cx="2530" cy="1514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960AD9F7-6B05-8DAD-F9A3-2E34B56B6E5C}"/>
                  </a:ext>
                </a:extLst>
              </p:cNvPr>
              <p:cNvSpPr txBox="1"/>
              <p:nvPr/>
            </p:nvSpPr>
            <p:spPr>
              <a:xfrm>
                <a:off x="4761517" y="4434424"/>
                <a:ext cx="271251" cy="30820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𝑋</m:t>
                          </m:r>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10" name="ZoneTexte 9">
                <a:extLst>
                  <a:ext uri="{FF2B5EF4-FFF2-40B4-BE49-F238E27FC236}">
                    <a16:creationId xmlns:a16="http://schemas.microsoft.com/office/drawing/2014/main" id="{960AD9F7-6B05-8DAD-F9A3-2E34B56B6E5C}"/>
                  </a:ext>
                </a:extLst>
              </p:cNvPr>
              <p:cNvSpPr txBox="1">
                <a:spLocks noRot="1" noChangeAspect="1" noMove="1" noResize="1" noEditPoints="1" noAdjustHandles="1" noChangeArrowheads="1" noChangeShapeType="1" noTextEdit="1"/>
              </p:cNvSpPr>
              <p:nvPr/>
            </p:nvSpPr>
            <p:spPr>
              <a:xfrm>
                <a:off x="4761517" y="4434424"/>
                <a:ext cx="271251" cy="308203"/>
              </a:xfrm>
              <a:prstGeom prst="rect">
                <a:avLst/>
              </a:prstGeom>
              <a:blipFill>
                <a:blip r:embed="rId3"/>
                <a:stretch>
                  <a:fillRect l="-17391" r="-17391"/>
                </a:stretch>
              </a:blipFill>
            </p:spPr>
            <p:txBody>
              <a:bodyPr/>
              <a:lstStyle/>
              <a:p>
                <a:r>
                  <a:rPr lang="en-GB">
                    <a:noFill/>
                  </a:rPr>
                  <a:t> </a:t>
                </a:r>
              </a:p>
            </p:txBody>
          </p:sp>
        </mc:Fallback>
      </mc:AlternateContent>
      <p:sp>
        <p:nvSpPr>
          <p:cNvPr id="11" name="Rectangle : coins arrondis 10">
            <a:extLst>
              <a:ext uri="{FF2B5EF4-FFF2-40B4-BE49-F238E27FC236}">
                <a16:creationId xmlns:a16="http://schemas.microsoft.com/office/drawing/2014/main" id="{1FD1926B-0D36-76A4-C869-49FE1FF78BF2}"/>
              </a:ext>
            </a:extLst>
          </p:cNvPr>
          <p:cNvSpPr/>
          <p:nvPr/>
        </p:nvSpPr>
        <p:spPr>
          <a:xfrm>
            <a:off x="4716176" y="376843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2" name="Connecteur droit avec flèche 11">
            <a:extLst>
              <a:ext uri="{FF2B5EF4-FFF2-40B4-BE49-F238E27FC236}">
                <a16:creationId xmlns:a16="http://schemas.microsoft.com/office/drawing/2014/main" id="{BD266E34-3D6E-D9F0-523D-4FEBA5780835}"/>
              </a:ext>
            </a:extLst>
          </p:cNvPr>
          <p:cNvCxnSpPr>
            <a:cxnSpLocks/>
            <a:stCxn id="10" idx="0"/>
            <a:endCxn id="11" idx="2"/>
          </p:cNvCxnSpPr>
          <p:nvPr/>
        </p:nvCxnSpPr>
        <p:spPr>
          <a:xfrm flipH="1" flipV="1">
            <a:off x="4894612" y="4282935"/>
            <a:ext cx="2531" cy="15148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13" name="Rectangle : coins arrondis 12">
            <a:extLst>
              <a:ext uri="{FF2B5EF4-FFF2-40B4-BE49-F238E27FC236}">
                <a16:creationId xmlns:a16="http://schemas.microsoft.com/office/drawing/2014/main" id="{D0B05885-CADA-4382-8BDE-EEC0430BF295}"/>
              </a:ext>
            </a:extLst>
          </p:cNvPr>
          <p:cNvSpPr/>
          <p:nvPr/>
        </p:nvSpPr>
        <p:spPr>
          <a:xfrm>
            <a:off x="5529843" y="3772555"/>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4" name="Rectangle : coins arrondis 13">
            <a:extLst>
              <a:ext uri="{FF2B5EF4-FFF2-40B4-BE49-F238E27FC236}">
                <a16:creationId xmlns:a16="http://schemas.microsoft.com/office/drawing/2014/main" id="{324A4D00-4048-A394-3576-6F1EAC37D83D}"/>
              </a:ext>
            </a:extLst>
          </p:cNvPr>
          <p:cNvSpPr/>
          <p:nvPr/>
        </p:nvSpPr>
        <p:spPr>
          <a:xfrm>
            <a:off x="6335725" y="3776671"/>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5" name="Connecteur droit avec flèche 14">
            <a:extLst>
              <a:ext uri="{FF2B5EF4-FFF2-40B4-BE49-F238E27FC236}">
                <a16:creationId xmlns:a16="http://schemas.microsoft.com/office/drawing/2014/main" id="{2F5DA29A-3155-FDB6-6612-B7209A601037}"/>
              </a:ext>
            </a:extLst>
          </p:cNvPr>
          <p:cNvCxnSpPr>
            <a:stCxn id="8" idx="3"/>
            <a:endCxn id="11" idx="1"/>
          </p:cNvCxnSpPr>
          <p:nvPr/>
        </p:nvCxnSpPr>
        <p:spPr>
          <a:xfrm>
            <a:off x="4259380" y="402157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EF3DA64E-0466-F791-74CF-176212B54A21}"/>
              </a:ext>
            </a:extLst>
          </p:cNvPr>
          <p:cNvCxnSpPr/>
          <p:nvPr/>
        </p:nvCxnSpPr>
        <p:spPr>
          <a:xfrm>
            <a:off x="5073047" y="4033920"/>
            <a:ext cx="456795" cy="4116"/>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BACD42F5-3B25-C082-F093-478CC307DB5F}"/>
              </a:ext>
            </a:extLst>
          </p:cNvPr>
          <p:cNvCxnSpPr/>
          <p:nvPr/>
        </p:nvCxnSpPr>
        <p:spPr>
          <a:xfrm>
            <a:off x="5884499" y="4033920"/>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499FB061-C4EA-058D-92FB-EEB939D8FB26}"/>
                  </a:ext>
                </a:extLst>
              </p:cNvPr>
              <p:cNvSpPr txBox="1"/>
              <p:nvPr/>
            </p:nvSpPr>
            <p:spPr>
              <a:xfrm>
                <a:off x="5496851" y="3187262"/>
                <a:ext cx="430808"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=1</m:t>
                          </m:r>
                        </m:sub>
                      </m:sSub>
                    </m:oMath>
                  </m:oMathPara>
                </a14:m>
                <a:endParaRPr lang="en-GB" sz="1200" dirty="0"/>
              </a:p>
            </p:txBody>
          </p:sp>
        </mc:Choice>
        <mc:Fallback xmlns="">
          <p:sp>
            <p:nvSpPr>
              <p:cNvPr id="19" name="ZoneTexte 18">
                <a:extLst>
                  <a:ext uri="{FF2B5EF4-FFF2-40B4-BE49-F238E27FC236}">
                    <a16:creationId xmlns:a16="http://schemas.microsoft.com/office/drawing/2014/main" id="{499FB061-C4EA-058D-92FB-EEB939D8FB26}"/>
                  </a:ext>
                </a:extLst>
              </p:cNvPr>
              <p:cNvSpPr txBox="1">
                <a:spLocks noRot="1" noChangeAspect="1" noMove="1" noResize="1" noEditPoints="1" noAdjustHandles="1" noChangeArrowheads="1" noChangeShapeType="1" noTextEdit="1"/>
              </p:cNvSpPr>
              <p:nvPr/>
            </p:nvSpPr>
            <p:spPr>
              <a:xfrm>
                <a:off x="5496851" y="3187262"/>
                <a:ext cx="430808" cy="308203"/>
              </a:xfrm>
              <a:prstGeom prst="rect">
                <a:avLst/>
              </a:prstGeom>
              <a:blipFill>
                <a:blip r:embed="rId4"/>
                <a:stretch>
                  <a:fillRect t="-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28EA4FDB-CA74-A3EB-CADE-920D72D9167E}"/>
                  </a:ext>
                </a:extLst>
              </p:cNvPr>
              <p:cNvSpPr txBox="1"/>
              <p:nvPr/>
            </p:nvSpPr>
            <p:spPr>
              <a:xfrm>
                <a:off x="6303287" y="3218540"/>
                <a:ext cx="430810"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=2</m:t>
                          </m:r>
                        </m:sub>
                      </m:sSub>
                    </m:oMath>
                  </m:oMathPara>
                </a14:m>
                <a:endParaRPr lang="en-GB" sz="1200" dirty="0"/>
              </a:p>
            </p:txBody>
          </p:sp>
        </mc:Choice>
        <mc:Fallback xmlns="">
          <p:sp>
            <p:nvSpPr>
              <p:cNvPr id="20" name="ZoneTexte 19">
                <a:extLst>
                  <a:ext uri="{FF2B5EF4-FFF2-40B4-BE49-F238E27FC236}">
                    <a16:creationId xmlns:a16="http://schemas.microsoft.com/office/drawing/2014/main" id="{28EA4FDB-CA74-A3EB-CADE-920D72D9167E}"/>
                  </a:ext>
                </a:extLst>
              </p:cNvPr>
              <p:cNvSpPr txBox="1">
                <a:spLocks noRot="1" noChangeAspect="1" noMove="1" noResize="1" noEditPoints="1" noAdjustHandles="1" noChangeArrowheads="1" noChangeShapeType="1" noTextEdit="1"/>
              </p:cNvSpPr>
              <p:nvPr/>
            </p:nvSpPr>
            <p:spPr>
              <a:xfrm>
                <a:off x="6303287" y="3218540"/>
                <a:ext cx="430810" cy="308203"/>
              </a:xfrm>
              <a:prstGeom prst="rect">
                <a:avLst/>
              </a:prstGeom>
              <a:blipFill>
                <a:blip r:embed="rId5"/>
                <a:stretch>
                  <a:fillRect t="-8000"/>
                </a:stretch>
              </a:blipFill>
            </p:spPr>
            <p:txBody>
              <a:bodyPr/>
              <a:lstStyle/>
              <a:p>
                <a:r>
                  <a:rPr lang="en-GB">
                    <a:noFill/>
                  </a:rPr>
                  <a:t> </a:t>
                </a:r>
              </a:p>
            </p:txBody>
          </p:sp>
        </mc:Fallback>
      </mc:AlternateContent>
      <p:cxnSp>
        <p:nvCxnSpPr>
          <p:cNvPr id="21" name="Connecteur droit avec flèche 20">
            <a:extLst>
              <a:ext uri="{FF2B5EF4-FFF2-40B4-BE49-F238E27FC236}">
                <a16:creationId xmlns:a16="http://schemas.microsoft.com/office/drawing/2014/main" id="{7B28C2BA-C682-6C2A-5615-4B8EB1B5B1A3}"/>
              </a:ext>
            </a:extLst>
          </p:cNvPr>
          <p:cNvCxnSpPr>
            <a:cxnSpLocks/>
            <a:stCxn id="13" idx="0"/>
            <a:endCxn id="19" idx="2"/>
          </p:cNvCxnSpPr>
          <p:nvPr/>
        </p:nvCxnSpPr>
        <p:spPr>
          <a:xfrm flipV="1">
            <a:off x="5708279" y="3495465"/>
            <a:ext cx="3976" cy="27709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66026B37-175E-7C3C-6FC9-B4A14867D1F9}"/>
              </a:ext>
            </a:extLst>
          </p:cNvPr>
          <p:cNvCxnSpPr>
            <a:cxnSpLocks/>
            <a:stCxn id="14" idx="0"/>
            <a:endCxn id="20" idx="2"/>
          </p:cNvCxnSpPr>
          <p:nvPr/>
        </p:nvCxnSpPr>
        <p:spPr>
          <a:xfrm flipV="1">
            <a:off x="6514161" y="3526743"/>
            <a:ext cx="4531" cy="24992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4" name="Rectangle : coins arrondis 23">
            <a:extLst>
              <a:ext uri="{FF2B5EF4-FFF2-40B4-BE49-F238E27FC236}">
                <a16:creationId xmlns:a16="http://schemas.microsoft.com/office/drawing/2014/main" id="{8101F152-1DA1-81C9-D258-4483BE383207}"/>
              </a:ext>
            </a:extLst>
          </p:cNvPr>
          <p:cNvSpPr/>
          <p:nvPr/>
        </p:nvSpPr>
        <p:spPr>
          <a:xfrm>
            <a:off x="7147974" y="378544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5" name="Connecteur droit avec flèche 24">
            <a:extLst>
              <a:ext uri="{FF2B5EF4-FFF2-40B4-BE49-F238E27FC236}">
                <a16:creationId xmlns:a16="http://schemas.microsoft.com/office/drawing/2014/main" id="{8C2DCD01-A443-4AD9-47CD-BDE35B5346E7}"/>
              </a:ext>
            </a:extLst>
          </p:cNvPr>
          <p:cNvCxnSpPr/>
          <p:nvPr/>
        </p:nvCxnSpPr>
        <p:spPr>
          <a:xfrm>
            <a:off x="6696748" y="4042697"/>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96E849DA-0B8B-0E9F-5EB3-86C38D7EA826}"/>
                  </a:ext>
                </a:extLst>
              </p:cNvPr>
              <p:cNvSpPr txBox="1"/>
              <p:nvPr/>
            </p:nvSpPr>
            <p:spPr>
              <a:xfrm>
                <a:off x="7115536" y="3240017"/>
                <a:ext cx="430810" cy="3082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acc>
                            <m:accPr>
                              <m:chr m:val="̂"/>
                              <m:ctrlPr>
                                <a:rPr lang="fr-FR" sz="1200" b="0" i="1" smtClean="0">
                                  <a:latin typeface="Cambria Math" panose="02040503050406030204" pitchFamily="18" charset="0"/>
                                </a:rPr>
                              </m:ctrlPr>
                            </m:accPr>
                            <m:e>
                              <m:r>
                                <a:rPr lang="fr-FR" sz="1200" b="0" i="1" smtClean="0">
                                  <a:latin typeface="Cambria Math" panose="02040503050406030204" pitchFamily="18" charset="0"/>
                                </a:rPr>
                                <m:t>𝑦</m:t>
                              </m:r>
                            </m:e>
                          </m:acc>
                        </m:e>
                        <m:sub>
                          <m:r>
                            <a:rPr lang="fr-FR" sz="1200" b="0" i="1" smtClean="0">
                              <a:latin typeface="Cambria Math" panose="02040503050406030204" pitchFamily="18" charset="0"/>
                            </a:rPr>
                            <m:t>𝑡</m:t>
                          </m:r>
                          <m:r>
                            <a:rPr lang="fr-FR" sz="1200" b="0" i="1" smtClean="0">
                              <a:latin typeface="Cambria Math" panose="02040503050406030204" pitchFamily="18" charset="0"/>
                            </a:rPr>
                            <m:t>=3</m:t>
                          </m:r>
                        </m:sub>
                      </m:sSub>
                    </m:oMath>
                  </m:oMathPara>
                </a14:m>
                <a:endParaRPr lang="en-GB" sz="1200" dirty="0"/>
              </a:p>
            </p:txBody>
          </p:sp>
        </mc:Choice>
        <mc:Fallback xmlns="">
          <p:sp>
            <p:nvSpPr>
              <p:cNvPr id="26" name="ZoneTexte 25">
                <a:extLst>
                  <a:ext uri="{FF2B5EF4-FFF2-40B4-BE49-F238E27FC236}">
                    <a16:creationId xmlns:a16="http://schemas.microsoft.com/office/drawing/2014/main" id="{96E849DA-0B8B-0E9F-5EB3-86C38D7EA826}"/>
                  </a:ext>
                </a:extLst>
              </p:cNvPr>
              <p:cNvSpPr txBox="1">
                <a:spLocks noRot="1" noChangeAspect="1" noMove="1" noResize="1" noEditPoints="1" noAdjustHandles="1" noChangeArrowheads="1" noChangeShapeType="1" noTextEdit="1"/>
              </p:cNvSpPr>
              <p:nvPr/>
            </p:nvSpPr>
            <p:spPr>
              <a:xfrm>
                <a:off x="7115536" y="3240017"/>
                <a:ext cx="430810" cy="308203"/>
              </a:xfrm>
              <a:prstGeom prst="rect">
                <a:avLst/>
              </a:prstGeom>
              <a:blipFill>
                <a:blip r:embed="rId6"/>
                <a:stretch>
                  <a:fillRect t="-7692"/>
                </a:stretch>
              </a:blipFill>
            </p:spPr>
            <p:txBody>
              <a:bodyPr/>
              <a:lstStyle/>
              <a:p>
                <a:r>
                  <a:rPr lang="en-GB">
                    <a:noFill/>
                  </a:rPr>
                  <a:t> </a:t>
                </a:r>
              </a:p>
            </p:txBody>
          </p:sp>
        </mc:Fallback>
      </mc:AlternateContent>
      <p:cxnSp>
        <p:nvCxnSpPr>
          <p:cNvPr id="27" name="Connecteur droit avec flèche 26">
            <a:extLst>
              <a:ext uri="{FF2B5EF4-FFF2-40B4-BE49-F238E27FC236}">
                <a16:creationId xmlns:a16="http://schemas.microsoft.com/office/drawing/2014/main" id="{89155A9A-B504-0E35-F3F6-6CDC24F259B0}"/>
              </a:ext>
            </a:extLst>
          </p:cNvPr>
          <p:cNvCxnSpPr>
            <a:cxnSpLocks/>
            <a:stCxn id="24" idx="0"/>
            <a:endCxn id="26" idx="2"/>
          </p:cNvCxnSpPr>
          <p:nvPr/>
        </p:nvCxnSpPr>
        <p:spPr>
          <a:xfrm flipV="1">
            <a:off x="7326410" y="3548220"/>
            <a:ext cx="4531" cy="23722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8" name="Rectangle : coins arrondis 27">
            <a:extLst>
              <a:ext uri="{FF2B5EF4-FFF2-40B4-BE49-F238E27FC236}">
                <a16:creationId xmlns:a16="http://schemas.microsoft.com/office/drawing/2014/main" id="{65EF3E5E-1E7B-E31C-64EE-BE4BF707B6C9}"/>
              </a:ext>
            </a:extLst>
          </p:cNvPr>
          <p:cNvSpPr/>
          <p:nvPr/>
        </p:nvSpPr>
        <p:spPr>
          <a:xfrm>
            <a:off x="3226676" y="3626069"/>
            <a:ext cx="2112579" cy="1375632"/>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ZoneTexte 28">
            <a:extLst>
              <a:ext uri="{FF2B5EF4-FFF2-40B4-BE49-F238E27FC236}">
                <a16:creationId xmlns:a16="http://schemas.microsoft.com/office/drawing/2014/main" id="{4992C7F3-A55A-8556-CB76-55BA56F32D01}"/>
              </a:ext>
            </a:extLst>
          </p:cNvPr>
          <p:cNvSpPr txBox="1"/>
          <p:nvPr/>
        </p:nvSpPr>
        <p:spPr>
          <a:xfrm>
            <a:off x="3517700" y="4722893"/>
            <a:ext cx="1608521" cy="246221"/>
          </a:xfrm>
          <a:prstGeom prst="rect">
            <a:avLst/>
          </a:prstGeom>
          <a:noFill/>
          <a:ln w="12700">
            <a:noFill/>
          </a:ln>
        </p:spPr>
        <p:txBody>
          <a:bodyPr wrap="square" rtlCol="0">
            <a:spAutoFit/>
          </a:bodyPr>
          <a:lstStyle/>
          <a:p>
            <a:pPr algn="ctr"/>
            <a:r>
              <a:rPr lang="en-GB" sz="1000" dirty="0"/>
              <a:t>Source / Input Sequence</a:t>
            </a:r>
          </a:p>
        </p:txBody>
      </p:sp>
      <p:sp>
        <p:nvSpPr>
          <p:cNvPr id="30" name="ZoneTexte 29">
            <a:extLst>
              <a:ext uri="{FF2B5EF4-FFF2-40B4-BE49-F238E27FC236}">
                <a16:creationId xmlns:a16="http://schemas.microsoft.com/office/drawing/2014/main" id="{4A36F995-2D76-24A8-4BBB-057E5EB4D83D}"/>
              </a:ext>
            </a:extLst>
          </p:cNvPr>
          <p:cNvSpPr txBox="1"/>
          <p:nvPr/>
        </p:nvSpPr>
        <p:spPr>
          <a:xfrm>
            <a:off x="3517700" y="5004886"/>
            <a:ext cx="1608521" cy="369332"/>
          </a:xfrm>
          <a:prstGeom prst="rect">
            <a:avLst/>
          </a:prstGeom>
          <a:noFill/>
          <a:ln w="12700">
            <a:noFill/>
          </a:ln>
        </p:spPr>
        <p:txBody>
          <a:bodyPr wrap="square" rtlCol="0">
            <a:spAutoFit/>
          </a:bodyPr>
          <a:lstStyle/>
          <a:p>
            <a:pPr algn="ctr"/>
            <a:r>
              <a:rPr lang="en-GB" b="1" dirty="0">
                <a:solidFill>
                  <a:schemeClr val="accent1"/>
                </a:solidFill>
              </a:rPr>
              <a:t>Encoder</a:t>
            </a:r>
          </a:p>
        </p:txBody>
      </p:sp>
      <p:sp>
        <p:nvSpPr>
          <p:cNvPr id="39" name="ZoneTexte 38">
            <a:extLst>
              <a:ext uri="{FF2B5EF4-FFF2-40B4-BE49-F238E27FC236}">
                <a16:creationId xmlns:a16="http://schemas.microsoft.com/office/drawing/2014/main" id="{B7C0B43B-E8E4-66EB-ECA9-C5ECCB5C171C}"/>
              </a:ext>
            </a:extLst>
          </p:cNvPr>
          <p:cNvSpPr txBox="1"/>
          <p:nvPr/>
        </p:nvSpPr>
        <p:spPr>
          <a:xfrm>
            <a:off x="5770909" y="2959953"/>
            <a:ext cx="1608521" cy="246221"/>
          </a:xfrm>
          <a:prstGeom prst="rect">
            <a:avLst/>
          </a:prstGeom>
          <a:noFill/>
          <a:ln w="12700">
            <a:noFill/>
          </a:ln>
        </p:spPr>
        <p:txBody>
          <a:bodyPr wrap="square" rtlCol="0">
            <a:spAutoFit/>
          </a:bodyPr>
          <a:lstStyle/>
          <a:p>
            <a:pPr algn="ctr"/>
            <a:r>
              <a:rPr lang="en-GB" sz="1000" dirty="0"/>
              <a:t>Target / Output Sequence</a:t>
            </a:r>
          </a:p>
        </p:txBody>
      </p:sp>
      <p:sp>
        <p:nvSpPr>
          <p:cNvPr id="40" name="Rectangle : coins arrondis 39">
            <a:extLst>
              <a:ext uri="{FF2B5EF4-FFF2-40B4-BE49-F238E27FC236}">
                <a16:creationId xmlns:a16="http://schemas.microsoft.com/office/drawing/2014/main" id="{81CB0D26-8615-E955-4E8F-B6C6926606F6}"/>
              </a:ext>
            </a:extLst>
          </p:cNvPr>
          <p:cNvSpPr/>
          <p:nvPr/>
        </p:nvSpPr>
        <p:spPr>
          <a:xfrm>
            <a:off x="5392267" y="2879322"/>
            <a:ext cx="2557933" cy="1614486"/>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ZoneTexte 40">
            <a:extLst>
              <a:ext uri="{FF2B5EF4-FFF2-40B4-BE49-F238E27FC236}">
                <a16:creationId xmlns:a16="http://schemas.microsoft.com/office/drawing/2014/main" id="{54309F18-38AA-8F8D-CCE1-82E7F9CFC197}"/>
              </a:ext>
            </a:extLst>
          </p:cNvPr>
          <p:cNvSpPr txBox="1"/>
          <p:nvPr/>
        </p:nvSpPr>
        <p:spPr>
          <a:xfrm>
            <a:off x="5732226" y="4512702"/>
            <a:ext cx="1608521" cy="369332"/>
          </a:xfrm>
          <a:prstGeom prst="rect">
            <a:avLst/>
          </a:prstGeom>
          <a:noFill/>
          <a:ln w="12700">
            <a:noFill/>
          </a:ln>
        </p:spPr>
        <p:txBody>
          <a:bodyPr wrap="square" rtlCol="0">
            <a:spAutoFit/>
          </a:bodyPr>
          <a:lstStyle/>
          <a:p>
            <a:pPr algn="ctr"/>
            <a:r>
              <a:rPr lang="en-GB" b="1" dirty="0">
                <a:solidFill>
                  <a:schemeClr val="accent1"/>
                </a:solidFill>
              </a:rPr>
              <a:t>Decoder</a:t>
            </a:r>
          </a:p>
        </p:txBody>
      </p:sp>
      <p:cxnSp>
        <p:nvCxnSpPr>
          <p:cNvPr id="43" name="Connecteur droit 42">
            <a:extLst>
              <a:ext uri="{FF2B5EF4-FFF2-40B4-BE49-F238E27FC236}">
                <a16:creationId xmlns:a16="http://schemas.microsoft.com/office/drawing/2014/main" id="{92E03134-D96D-0B8A-BE20-945699E86334}"/>
              </a:ext>
            </a:extLst>
          </p:cNvPr>
          <p:cNvCxnSpPr>
            <a:cxnSpLocks/>
            <a:endCxn id="8" idx="1"/>
          </p:cNvCxnSpPr>
          <p:nvPr/>
        </p:nvCxnSpPr>
        <p:spPr>
          <a:xfrm>
            <a:off x="3445714" y="4021571"/>
            <a:ext cx="456795"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6" name="Connecteur droit 45">
            <a:extLst>
              <a:ext uri="{FF2B5EF4-FFF2-40B4-BE49-F238E27FC236}">
                <a16:creationId xmlns:a16="http://schemas.microsoft.com/office/drawing/2014/main" id="{1E9D28B5-6405-7DFD-15E3-EB954CAC1A75}"/>
              </a:ext>
            </a:extLst>
          </p:cNvPr>
          <p:cNvCxnSpPr>
            <a:cxnSpLocks/>
            <a:stCxn id="24" idx="3"/>
          </p:cNvCxnSpPr>
          <p:nvPr/>
        </p:nvCxnSpPr>
        <p:spPr>
          <a:xfrm flipV="1">
            <a:off x="7504846" y="4038036"/>
            <a:ext cx="360000" cy="466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C30F34E0-32F7-E046-C9F1-2538FBC3A940}"/>
              </a:ext>
            </a:extLst>
          </p:cNvPr>
          <p:cNvCxnSpPr/>
          <p:nvPr/>
        </p:nvCxnSpPr>
        <p:spPr>
          <a:xfrm flipH="1" flipV="1">
            <a:off x="5339255" y="4969114"/>
            <a:ext cx="392971" cy="485755"/>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D6698073-1F8A-AED8-4E96-F7A09E8CBA0E}"/>
              </a:ext>
            </a:extLst>
          </p:cNvPr>
          <p:cNvCxnSpPr>
            <a:cxnSpLocks/>
          </p:cNvCxnSpPr>
          <p:nvPr/>
        </p:nvCxnSpPr>
        <p:spPr>
          <a:xfrm flipV="1">
            <a:off x="5895693" y="4621141"/>
            <a:ext cx="0" cy="83372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55C098C7-AAFE-77BF-7403-FEDD8F1ECE16}"/>
              </a:ext>
            </a:extLst>
          </p:cNvPr>
          <p:cNvSpPr txBox="1"/>
          <p:nvPr/>
        </p:nvSpPr>
        <p:spPr>
          <a:xfrm>
            <a:off x="5680835" y="5500248"/>
            <a:ext cx="3273972" cy="276999"/>
          </a:xfrm>
          <a:prstGeom prst="rect">
            <a:avLst/>
          </a:prstGeom>
          <a:noFill/>
        </p:spPr>
        <p:txBody>
          <a:bodyPr wrap="square" rtlCol="0">
            <a:spAutoFit/>
          </a:bodyPr>
          <a:lstStyle/>
          <a:p>
            <a:r>
              <a:rPr lang="en-GB" sz="1200" dirty="0">
                <a:solidFill>
                  <a:schemeClr val="bg1">
                    <a:lumMod val="50000"/>
                  </a:schemeClr>
                </a:solidFill>
              </a:rPr>
              <a:t>Can be LSTMs, Stacked GRUs, Transformers…</a:t>
            </a:r>
          </a:p>
        </p:txBody>
      </p:sp>
    </p:spTree>
    <p:extLst>
      <p:ext uri="{BB962C8B-B14F-4D97-AF65-F5344CB8AC3E}">
        <p14:creationId xmlns:p14="http://schemas.microsoft.com/office/powerpoint/2010/main" val="387203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A9319-F98C-4667-3AE1-FEA14371C60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3E24CC2-F4ED-830C-F21A-D80B064E6C08}"/>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7B8D46D5-56DA-62E2-AA8D-054F83A0FCFB}"/>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ABD23841-4A6B-AB28-9A21-851B204B89B3}"/>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noProof="0" dirty="0">
                <a:effectLst/>
                <a:latin typeface="ui-sans-serif"/>
              </a:rPr>
              <a:t>Neural Machine Translation (NMT)</a:t>
            </a:r>
          </a:p>
          <a:p>
            <a:r>
              <a:rPr lang="en-GB" dirty="0">
                <a:latin typeface="ui-sans-serif"/>
              </a:rPr>
              <a:t>English =&gt; Hungarian</a:t>
            </a:r>
            <a:endParaRPr lang="en-GB" i="0" u="none" strike="noStrike" noProof="0" dirty="0">
              <a:effectLst/>
              <a:latin typeface="ui-sans-serif"/>
            </a:endParaRP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20837976-CDC2-0F57-DDFB-EEAEDBA2BE46}"/>
                  </a:ext>
                </a:extLst>
              </p:cNvPr>
              <p:cNvSpPr txBox="1"/>
              <p:nvPr/>
            </p:nvSpPr>
            <p:spPr>
              <a:xfrm>
                <a:off x="3947849" y="4492076"/>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𝑖𝑠</m:t>
                      </m:r>
                    </m:oMath>
                  </m:oMathPara>
                </a14:m>
                <a:endParaRPr lang="en-GB" sz="1200" dirty="0"/>
              </a:p>
            </p:txBody>
          </p:sp>
        </mc:Choice>
        <mc:Fallback xmlns="">
          <p:sp>
            <p:nvSpPr>
              <p:cNvPr id="7" name="ZoneTexte 6">
                <a:extLst>
                  <a:ext uri="{FF2B5EF4-FFF2-40B4-BE49-F238E27FC236}">
                    <a16:creationId xmlns:a16="http://schemas.microsoft.com/office/drawing/2014/main" id="{20837976-CDC2-0F57-DDFB-EEAEDBA2BE46}"/>
                  </a:ext>
                </a:extLst>
              </p:cNvPr>
              <p:cNvSpPr txBox="1">
                <a:spLocks noRot="1" noChangeAspect="1" noMove="1" noResize="1" noEditPoints="1" noAdjustHandles="1" noChangeArrowheads="1" noChangeShapeType="1" noTextEdit="1"/>
              </p:cNvSpPr>
              <p:nvPr/>
            </p:nvSpPr>
            <p:spPr>
              <a:xfrm>
                <a:off x="3947849" y="4492076"/>
                <a:ext cx="271251" cy="184666"/>
              </a:xfrm>
              <a:prstGeom prst="rect">
                <a:avLst/>
              </a:prstGeom>
              <a:blipFill>
                <a:blip r:embed="rId3"/>
                <a:stretch>
                  <a:fillRect b="-6250"/>
                </a:stretch>
              </a:blipFill>
            </p:spPr>
            <p:txBody>
              <a:bodyPr/>
              <a:lstStyle/>
              <a:p>
                <a:r>
                  <a:rPr lang="en-GB">
                    <a:noFill/>
                  </a:rPr>
                  <a:t> </a:t>
                </a:r>
              </a:p>
            </p:txBody>
          </p:sp>
        </mc:Fallback>
      </mc:AlternateContent>
      <p:sp>
        <p:nvSpPr>
          <p:cNvPr id="8" name="Rectangle : coins arrondis 7">
            <a:extLst>
              <a:ext uri="{FF2B5EF4-FFF2-40B4-BE49-F238E27FC236}">
                <a16:creationId xmlns:a16="http://schemas.microsoft.com/office/drawing/2014/main" id="{6EFE60BE-FCEB-55D0-3842-CD59CE08CF77}"/>
              </a:ext>
            </a:extLst>
          </p:cNvPr>
          <p:cNvSpPr/>
          <p:nvPr/>
        </p:nvSpPr>
        <p:spPr>
          <a:xfrm>
            <a:off x="3902509" y="376432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9" name="Connecteur droit avec flèche 8">
            <a:extLst>
              <a:ext uri="{FF2B5EF4-FFF2-40B4-BE49-F238E27FC236}">
                <a16:creationId xmlns:a16="http://schemas.microsoft.com/office/drawing/2014/main" id="{CDD30E86-9741-4752-6089-5C994B55E283}"/>
              </a:ext>
            </a:extLst>
          </p:cNvPr>
          <p:cNvCxnSpPr>
            <a:cxnSpLocks/>
            <a:stCxn id="7" idx="0"/>
            <a:endCxn id="8" idx="2"/>
          </p:cNvCxnSpPr>
          <p:nvPr/>
        </p:nvCxnSpPr>
        <p:spPr>
          <a:xfrm flipH="1" flipV="1">
            <a:off x="4080945" y="4278820"/>
            <a:ext cx="2530" cy="21325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26B9B18B-C834-D266-54F9-EEB760EF3951}"/>
                  </a:ext>
                </a:extLst>
              </p:cNvPr>
              <p:cNvSpPr txBox="1"/>
              <p:nvPr/>
            </p:nvSpPr>
            <p:spPr>
              <a:xfrm>
                <a:off x="4761517" y="4496192"/>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𝑑𝑒𝑎𝑑</m:t>
                      </m:r>
                    </m:oMath>
                  </m:oMathPara>
                </a14:m>
                <a:endParaRPr lang="en-GB" sz="1200" dirty="0"/>
              </a:p>
            </p:txBody>
          </p:sp>
        </mc:Choice>
        <mc:Fallback xmlns="">
          <p:sp>
            <p:nvSpPr>
              <p:cNvPr id="10" name="ZoneTexte 9">
                <a:extLst>
                  <a:ext uri="{FF2B5EF4-FFF2-40B4-BE49-F238E27FC236}">
                    <a16:creationId xmlns:a16="http://schemas.microsoft.com/office/drawing/2014/main" id="{26B9B18B-C834-D266-54F9-EEB760EF3951}"/>
                  </a:ext>
                </a:extLst>
              </p:cNvPr>
              <p:cNvSpPr txBox="1">
                <a:spLocks noRot="1" noChangeAspect="1" noMove="1" noResize="1" noEditPoints="1" noAdjustHandles="1" noChangeArrowheads="1" noChangeShapeType="1" noTextEdit="1"/>
              </p:cNvSpPr>
              <p:nvPr/>
            </p:nvSpPr>
            <p:spPr>
              <a:xfrm>
                <a:off x="4761517" y="4496192"/>
                <a:ext cx="271251" cy="184666"/>
              </a:xfrm>
              <a:prstGeom prst="rect">
                <a:avLst/>
              </a:prstGeom>
              <a:blipFill>
                <a:blip r:embed="rId4"/>
                <a:stretch>
                  <a:fillRect l="-17391" r="-39130" b="-6667"/>
                </a:stretch>
              </a:blipFill>
            </p:spPr>
            <p:txBody>
              <a:bodyPr/>
              <a:lstStyle/>
              <a:p>
                <a:r>
                  <a:rPr lang="en-GB">
                    <a:noFill/>
                  </a:rPr>
                  <a:t> </a:t>
                </a:r>
              </a:p>
            </p:txBody>
          </p:sp>
        </mc:Fallback>
      </mc:AlternateContent>
      <p:sp>
        <p:nvSpPr>
          <p:cNvPr id="11" name="Rectangle : coins arrondis 10">
            <a:extLst>
              <a:ext uri="{FF2B5EF4-FFF2-40B4-BE49-F238E27FC236}">
                <a16:creationId xmlns:a16="http://schemas.microsoft.com/office/drawing/2014/main" id="{42BB9512-1C83-A297-D099-5519B8D3B29F}"/>
              </a:ext>
            </a:extLst>
          </p:cNvPr>
          <p:cNvSpPr/>
          <p:nvPr/>
        </p:nvSpPr>
        <p:spPr>
          <a:xfrm>
            <a:off x="4716176" y="376843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2" name="Connecteur droit avec flèche 11">
            <a:extLst>
              <a:ext uri="{FF2B5EF4-FFF2-40B4-BE49-F238E27FC236}">
                <a16:creationId xmlns:a16="http://schemas.microsoft.com/office/drawing/2014/main" id="{6ECA0B91-3251-6515-F304-80712E0FA9CD}"/>
              </a:ext>
            </a:extLst>
          </p:cNvPr>
          <p:cNvCxnSpPr>
            <a:cxnSpLocks/>
            <a:stCxn id="10" idx="0"/>
            <a:endCxn id="11" idx="2"/>
          </p:cNvCxnSpPr>
          <p:nvPr/>
        </p:nvCxnSpPr>
        <p:spPr>
          <a:xfrm flipH="1" flipV="1">
            <a:off x="4894612" y="4282935"/>
            <a:ext cx="2531" cy="213257"/>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13" name="Rectangle : coins arrondis 12">
            <a:extLst>
              <a:ext uri="{FF2B5EF4-FFF2-40B4-BE49-F238E27FC236}">
                <a16:creationId xmlns:a16="http://schemas.microsoft.com/office/drawing/2014/main" id="{2E7FD605-6D10-302C-3AD8-A52A5B48FF93}"/>
              </a:ext>
            </a:extLst>
          </p:cNvPr>
          <p:cNvSpPr/>
          <p:nvPr/>
        </p:nvSpPr>
        <p:spPr>
          <a:xfrm>
            <a:off x="5529843" y="3772555"/>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4" name="Rectangle : coins arrondis 13">
            <a:extLst>
              <a:ext uri="{FF2B5EF4-FFF2-40B4-BE49-F238E27FC236}">
                <a16:creationId xmlns:a16="http://schemas.microsoft.com/office/drawing/2014/main" id="{EC48D73D-4A74-CC6D-4CCC-94E935025690}"/>
              </a:ext>
            </a:extLst>
          </p:cNvPr>
          <p:cNvSpPr/>
          <p:nvPr/>
        </p:nvSpPr>
        <p:spPr>
          <a:xfrm>
            <a:off x="6335725" y="3776671"/>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5" name="Connecteur droit avec flèche 14">
            <a:extLst>
              <a:ext uri="{FF2B5EF4-FFF2-40B4-BE49-F238E27FC236}">
                <a16:creationId xmlns:a16="http://schemas.microsoft.com/office/drawing/2014/main" id="{54770F01-5889-CC73-A2CF-857840AACFBA}"/>
              </a:ext>
            </a:extLst>
          </p:cNvPr>
          <p:cNvCxnSpPr>
            <a:stCxn id="8" idx="3"/>
            <a:endCxn id="11" idx="1"/>
          </p:cNvCxnSpPr>
          <p:nvPr/>
        </p:nvCxnSpPr>
        <p:spPr>
          <a:xfrm>
            <a:off x="4259380" y="402157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A425C780-3F5E-6A54-004F-36CA5FFB2606}"/>
              </a:ext>
            </a:extLst>
          </p:cNvPr>
          <p:cNvCxnSpPr/>
          <p:nvPr/>
        </p:nvCxnSpPr>
        <p:spPr>
          <a:xfrm>
            <a:off x="5073047" y="4033920"/>
            <a:ext cx="456795" cy="4116"/>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D5AF8B9F-3B45-8F54-00E9-3F12D3278898}"/>
              </a:ext>
            </a:extLst>
          </p:cNvPr>
          <p:cNvCxnSpPr/>
          <p:nvPr/>
        </p:nvCxnSpPr>
        <p:spPr>
          <a:xfrm>
            <a:off x="5884499" y="4033920"/>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A7B85E63-F214-5F87-6BF8-E70231614B9A}"/>
                  </a:ext>
                </a:extLst>
              </p:cNvPr>
              <p:cNvSpPr txBox="1"/>
              <p:nvPr/>
            </p:nvSpPr>
            <p:spPr>
              <a:xfrm>
                <a:off x="5433791" y="3260832"/>
                <a:ext cx="560666" cy="153888"/>
              </a:xfrm>
              <a:prstGeom prst="rect">
                <a:avLst/>
              </a:prstGeom>
              <a:noFill/>
            </p:spPr>
            <p:txBody>
              <a:bodyPr wrap="none" lIns="0" tIns="0" rIns="0" bIns="0" rtlCol="0">
                <a:spAutoFit/>
              </a:bodyPr>
              <a:lstStyle/>
              <a:p>
                <a14:m>
                  <m:oMath xmlns:m="http://schemas.openxmlformats.org/officeDocument/2006/math">
                    <m:r>
                      <a:rPr lang="fr-FR" sz="1000" b="0" i="1" smtClean="0">
                        <a:latin typeface="Cambria Math" panose="02040503050406030204" pitchFamily="18" charset="0"/>
                      </a:rPr>
                      <m:t>𝑙𝑒𝑚𝑒𝑢𝑟</m:t>
                    </m:r>
                  </m:oMath>
                </a14:m>
                <a:r>
                  <a:rPr lang="en-GB" sz="1000" b="0" dirty="0"/>
                  <a:t>ült</a:t>
                </a:r>
                <a:endParaRPr lang="fr-FR" sz="1000" b="0" dirty="0"/>
              </a:p>
            </p:txBody>
          </p:sp>
        </mc:Choice>
        <mc:Fallback xmlns="">
          <p:sp>
            <p:nvSpPr>
              <p:cNvPr id="19" name="ZoneTexte 18">
                <a:extLst>
                  <a:ext uri="{FF2B5EF4-FFF2-40B4-BE49-F238E27FC236}">
                    <a16:creationId xmlns:a16="http://schemas.microsoft.com/office/drawing/2014/main" id="{A7B85E63-F214-5F87-6BF8-E70231614B9A}"/>
                  </a:ext>
                </a:extLst>
              </p:cNvPr>
              <p:cNvSpPr txBox="1">
                <a:spLocks noRot="1" noChangeAspect="1" noMove="1" noResize="1" noEditPoints="1" noAdjustHandles="1" noChangeArrowheads="1" noChangeShapeType="1" noTextEdit="1"/>
              </p:cNvSpPr>
              <p:nvPr/>
            </p:nvSpPr>
            <p:spPr>
              <a:xfrm>
                <a:off x="5433791" y="3260832"/>
                <a:ext cx="560666" cy="153888"/>
              </a:xfrm>
              <a:prstGeom prst="rect">
                <a:avLst/>
              </a:prstGeom>
              <a:blipFill>
                <a:blip r:embed="rId5"/>
                <a:stretch>
                  <a:fillRect l="-6667" t="-23077" r="-13333" b="-538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DD8DAC53-B48C-8F57-924B-7BC1A0274B12}"/>
                  </a:ext>
                </a:extLst>
              </p:cNvPr>
              <p:cNvSpPr txBox="1"/>
              <p:nvPr/>
            </p:nvSpPr>
            <p:spPr>
              <a:xfrm>
                <a:off x="6429407" y="3271090"/>
                <a:ext cx="170624"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𝑎𝑧</m:t>
                      </m:r>
                    </m:oMath>
                  </m:oMathPara>
                </a14:m>
                <a:endParaRPr lang="en-GB" sz="1050" dirty="0"/>
              </a:p>
            </p:txBody>
          </p:sp>
        </mc:Choice>
        <mc:Fallback xmlns="">
          <p:sp>
            <p:nvSpPr>
              <p:cNvPr id="20" name="ZoneTexte 19">
                <a:extLst>
                  <a:ext uri="{FF2B5EF4-FFF2-40B4-BE49-F238E27FC236}">
                    <a16:creationId xmlns:a16="http://schemas.microsoft.com/office/drawing/2014/main" id="{DD8DAC53-B48C-8F57-924B-7BC1A0274B12}"/>
                  </a:ext>
                </a:extLst>
              </p:cNvPr>
              <p:cNvSpPr txBox="1">
                <a:spLocks noRot="1" noChangeAspect="1" noMove="1" noResize="1" noEditPoints="1" noAdjustHandles="1" noChangeArrowheads="1" noChangeShapeType="1" noTextEdit="1"/>
              </p:cNvSpPr>
              <p:nvPr/>
            </p:nvSpPr>
            <p:spPr>
              <a:xfrm>
                <a:off x="6429407" y="3271090"/>
                <a:ext cx="170624" cy="161583"/>
              </a:xfrm>
              <a:prstGeom prst="rect">
                <a:avLst/>
              </a:prstGeom>
              <a:blipFill>
                <a:blip r:embed="rId6"/>
                <a:stretch>
                  <a:fillRect l="-14286" r="-14286"/>
                </a:stretch>
              </a:blipFill>
            </p:spPr>
            <p:txBody>
              <a:bodyPr/>
              <a:lstStyle/>
              <a:p>
                <a:r>
                  <a:rPr lang="en-GB">
                    <a:noFill/>
                  </a:rPr>
                  <a:t> </a:t>
                </a:r>
              </a:p>
            </p:txBody>
          </p:sp>
        </mc:Fallback>
      </mc:AlternateContent>
      <p:cxnSp>
        <p:nvCxnSpPr>
          <p:cNvPr id="21" name="Connecteur droit avec flèche 20">
            <a:extLst>
              <a:ext uri="{FF2B5EF4-FFF2-40B4-BE49-F238E27FC236}">
                <a16:creationId xmlns:a16="http://schemas.microsoft.com/office/drawing/2014/main" id="{0A5C4C77-552E-58E8-D223-481F55670581}"/>
              </a:ext>
            </a:extLst>
          </p:cNvPr>
          <p:cNvCxnSpPr>
            <a:cxnSpLocks/>
            <a:stCxn id="13" idx="0"/>
            <a:endCxn id="19" idx="2"/>
          </p:cNvCxnSpPr>
          <p:nvPr/>
        </p:nvCxnSpPr>
        <p:spPr>
          <a:xfrm flipV="1">
            <a:off x="5708279" y="3414720"/>
            <a:ext cx="5845" cy="35783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15C718A1-3061-7AF0-FBE2-280B9CE975D2}"/>
              </a:ext>
            </a:extLst>
          </p:cNvPr>
          <p:cNvCxnSpPr>
            <a:cxnSpLocks/>
            <a:stCxn id="14" idx="0"/>
            <a:endCxn id="20" idx="2"/>
          </p:cNvCxnSpPr>
          <p:nvPr/>
        </p:nvCxnSpPr>
        <p:spPr>
          <a:xfrm flipV="1">
            <a:off x="6514161" y="3432673"/>
            <a:ext cx="558" cy="34399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4" name="Rectangle : coins arrondis 23">
            <a:extLst>
              <a:ext uri="{FF2B5EF4-FFF2-40B4-BE49-F238E27FC236}">
                <a16:creationId xmlns:a16="http://schemas.microsoft.com/office/drawing/2014/main" id="{9F7AD5AB-0F7F-F689-54E7-BE915B18FC71}"/>
              </a:ext>
            </a:extLst>
          </p:cNvPr>
          <p:cNvSpPr/>
          <p:nvPr/>
        </p:nvSpPr>
        <p:spPr>
          <a:xfrm>
            <a:off x="7147974" y="378544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5" name="Connecteur droit avec flèche 24">
            <a:extLst>
              <a:ext uri="{FF2B5EF4-FFF2-40B4-BE49-F238E27FC236}">
                <a16:creationId xmlns:a16="http://schemas.microsoft.com/office/drawing/2014/main" id="{9A196110-55CB-317D-3E75-F3B00A3BBF67}"/>
              </a:ext>
            </a:extLst>
          </p:cNvPr>
          <p:cNvCxnSpPr/>
          <p:nvPr/>
        </p:nvCxnSpPr>
        <p:spPr>
          <a:xfrm>
            <a:off x="6696748" y="4042697"/>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A79014A6-79C2-4CC0-8BA2-3F80DA4B7422}"/>
                  </a:ext>
                </a:extLst>
              </p:cNvPr>
              <p:cNvSpPr txBox="1"/>
              <p:nvPr/>
            </p:nvSpPr>
            <p:spPr>
              <a:xfrm>
                <a:off x="6915838" y="3282057"/>
                <a:ext cx="817275"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𝑎𝑘𝑘𝑢𝑚𝑢𝑙</m:t>
                      </m:r>
                      <m:r>
                        <a:rPr lang="fr-FR" sz="1050" b="0" i="1" smtClean="0">
                          <a:latin typeface="Cambria Math" panose="02040503050406030204" pitchFamily="18" charset="0"/>
                        </a:rPr>
                        <m:t>à</m:t>
                      </m:r>
                      <m:r>
                        <a:rPr lang="fr-FR" sz="1050" b="0" i="1" smtClean="0">
                          <a:latin typeface="Cambria Math" panose="02040503050406030204" pitchFamily="18" charset="0"/>
                        </a:rPr>
                        <m:t>𝑡𝑜𝑟</m:t>
                      </m:r>
                    </m:oMath>
                  </m:oMathPara>
                </a14:m>
                <a:endParaRPr lang="en-GB" sz="1050" dirty="0"/>
              </a:p>
            </p:txBody>
          </p:sp>
        </mc:Choice>
        <mc:Fallback xmlns="">
          <p:sp>
            <p:nvSpPr>
              <p:cNvPr id="26" name="ZoneTexte 25">
                <a:extLst>
                  <a:ext uri="{FF2B5EF4-FFF2-40B4-BE49-F238E27FC236}">
                    <a16:creationId xmlns:a16="http://schemas.microsoft.com/office/drawing/2014/main" id="{A79014A6-79C2-4CC0-8BA2-3F80DA4B7422}"/>
                  </a:ext>
                </a:extLst>
              </p:cNvPr>
              <p:cNvSpPr txBox="1">
                <a:spLocks noRot="1" noChangeAspect="1" noMove="1" noResize="1" noEditPoints="1" noAdjustHandles="1" noChangeArrowheads="1" noChangeShapeType="1" noTextEdit="1"/>
              </p:cNvSpPr>
              <p:nvPr/>
            </p:nvSpPr>
            <p:spPr>
              <a:xfrm>
                <a:off x="6915838" y="3282057"/>
                <a:ext cx="817275" cy="161583"/>
              </a:xfrm>
              <a:prstGeom prst="rect">
                <a:avLst/>
              </a:prstGeom>
              <a:blipFill>
                <a:blip r:embed="rId7"/>
                <a:stretch>
                  <a:fillRect l="-4545" r="-3030" b="-7143"/>
                </a:stretch>
              </a:blipFill>
            </p:spPr>
            <p:txBody>
              <a:bodyPr/>
              <a:lstStyle/>
              <a:p>
                <a:r>
                  <a:rPr lang="en-GB">
                    <a:noFill/>
                  </a:rPr>
                  <a:t> </a:t>
                </a:r>
              </a:p>
            </p:txBody>
          </p:sp>
        </mc:Fallback>
      </mc:AlternateContent>
      <p:cxnSp>
        <p:nvCxnSpPr>
          <p:cNvPr id="27" name="Connecteur droit avec flèche 26">
            <a:extLst>
              <a:ext uri="{FF2B5EF4-FFF2-40B4-BE49-F238E27FC236}">
                <a16:creationId xmlns:a16="http://schemas.microsoft.com/office/drawing/2014/main" id="{02A539CE-AA36-6FF7-6E8A-4A1A19954271}"/>
              </a:ext>
            </a:extLst>
          </p:cNvPr>
          <p:cNvCxnSpPr>
            <a:cxnSpLocks/>
            <a:stCxn id="24" idx="0"/>
            <a:endCxn id="26" idx="2"/>
          </p:cNvCxnSpPr>
          <p:nvPr/>
        </p:nvCxnSpPr>
        <p:spPr>
          <a:xfrm flipH="1" flipV="1">
            <a:off x="7324476" y="3443640"/>
            <a:ext cx="1934" cy="34180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30" name="ZoneTexte 29">
            <a:extLst>
              <a:ext uri="{FF2B5EF4-FFF2-40B4-BE49-F238E27FC236}">
                <a16:creationId xmlns:a16="http://schemas.microsoft.com/office/drawing/2014/main" id="{4E90E315-27D5-A38C-9928-65ECD539250F}"/>
              </a:ext>
            </a:extLst>
          </p:cNvPr>
          <p:cNvSpPr txBox="1"/>
          <p:nvPr/>
        </p:nvSpPr>
        <p:spPr>
          <a:xfrm>
            <a:off x="2839554" y="5195950"/>
            <a:ext cx="1608521" cy="369332"/>
          </a:xfrm>
          <a:prstGeom prst="rect">
            <a:avLst/>
          </a:prstGeom>
          <a:noFill/>
          <a:ln w="12700">
            <a:noFill/>
          </a:ln>
        </p:spPr>
        <p:txBody>
          <a:bodyPr wrap="square" rtlCol="0">
            <a:spAutoFit/>
          </a:bodyPr>
          <a:lstStyle/>
          <a:p>
            <a:pPr algn="ctr"/>
            <a:r>
              <a:rPr lang="en-GB" b="1" dirty="0">
                <a:solidFill>
                  <a:schemeClr val="accent1"/>
                </a:solidFill>
              </a:rPr>
              <a:t>Encoder</a:t>
            </a:r>
          </a:p>
        </p:txBody>
      </p:sp>
      <p:sp>
        <p:nvSpPr>
          <p:cNvPr id="39" name="ZoneTexte 38">
            <a:extLst>
              <a:ext uri="{FF2B5EF4-FFF2-40B4-BE49-F238E27FC236}">
                <a16:creationId xmlns:a16="http://schemas.microsoft.com/office/drawing/2014/main" id="{00296E48-E264-8AB4-B0F8-9C7FF581A63A}"/>
              </a:ext>
            </a:extLst>
          </p:cNvPr>
          <p:cNvSpPr txBox="1"/>
          <p:nvPr/>
        </p:nvSpPr>
        <p:spPr>
          <a:xfrm>
            <a:off x="5770909" y="2959953"/>
            <a:ext cx="1608521" cy="246221"/>
          </a:xfrm>
          <a:prstGeom prst="rect">
            <a:avLst/>
          </a:prstGeom>
          <a:noFill/>
          <a:ln w="12700">
            <a:noFill/>
          </a:ln>
        </p:spPr>
        <p:txBody>
          <a:bodyPr wrap="square" rtlCol="0">
            <a:spAutoFit/>
          </a:bodyPr>
          <a:lstStyle/>
          <a:p>
            <a:pPr algn="ctr"/>
            <a:r>
              <a:rPr lang="en-GB" sz="1000" dirty="0"/>
              <a:t>Target / Output Sequence</a:t>
            </a:r>
          </a:p>
        </p:txBody>
      </p:sp>
      <p:sp>
        <p:nvSpPr>
          <p:cNvPr id="41" name="ZoneTexte 40">
            <a:extLst>
              <a:ext uri="{FF2B5EF4-FFF2-40B4-BE49-F238E27FC236}">
                <a16:creationId xmlns:a16="http://schemas.microsoft.com/office/drawing/2014/main" id="{011F8847-C331-E472-9BBF-26068DC053B3}"/>
              </a:ext>
            </a:extLst>
          </p:cNvPr>
          <p:cNvSpPr txBox="1"/>
          <p:nvPr/>
        </p:nvSpPr>
        <p:spPr>
          <a:xfrm>
            <a:off x="6124592" y="2503143"/>
            <a:ext cx="1608521" cy="369332"/>
          </a:xfrm>
          <a:prstGeom prst="rect">
            <a:avLst/>
          </a:prstGeom>
          <a:noFill/>
          <a:ln w="12700">
            <a:noFill/>
          </a:ln>
        </p:spPr>
        <p:txBody>
          <a:bodyPr wrap="square" rtlCol="0">
            <a:spAutoFit/>
          </a:bodyPr>
          <a:lstStyle/>
          <a:p>
            <a:pPr algn="ctr"/>
            <a:r>
              <a:rPr lang="en-GB" b="1" dirty="0">
                <a:solidFill>
                  <a:schemeClr val="accent1"/>
                </a:solidFill>
              </a:rPr>
              <a:t>Decoder</a:t>
            </a:r>
          </a:p>
        </p:txBody>
      </p:sp>
      <p:sp>
        <p:nvSpPr>
          <p:cNvPr id="6" name="Rectangle : coins arrondis 5">
            <a:extLst>
              <a:ext uri="{FF2B5EF4-FFF2-40B4-BE49-F238E27FC236}">
                <a16:creationId xmlns:a16="http://schemas.microsoft.com/office/drawing/2014/main" id="{B56C3664-EFE2-8B4D-45FE-87168AE09C2B}"/>
              </a:ext>
            </a:extLst>
          </p:cNvPr>
          <p:cNvSpPr/>
          <p:nvPr/>
        </p:nvSpPr>
        <p:spPr>
          <a:xfrm>
            <a:off x="2268155" y="375907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3" name="Connecteur droit avec flèche 22">
            <a:extLst>
              <a:ext uri="{FF2B5EF4-FFF2-40B4-BE49-F238E27FC236}">
                <a16:creationId xmlns:a16="http://schemas.microsoft.com/office/drawing/2014/main" id="{101D2202-5A83-5672-863E-5EC523F6EF16}"/>
              </a:ext>
            </a:extLst>
          </p:cNvPr>
          <p:cNvCxnSpPr>
            <a:cxnSpLocks/>
            <a:endCxn id="6" idx="2"/>
          </p:cNvCxnSpPr>
          <p:nvPr/>
        </p:nvCxnSpPr>
        <p:spPr>
          <a:xfrm flipH="1" flipV="1">
            <a:off x="2446591" y="4273570"/>
            <a:ext cx="2530" cy="1514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32" name="Rectangle : coins arrondis 31">
            <a:extLst>
              <a:ext uri="{FF2B5EF4-FFF2-40B4-BE49-F238E27FC236}">
                <a16:creationId xmlns:a16="http://schemas.microsoft.com/office/drawing/2014/main" id="{8A9723B1-B7C1-02E0-E83E-2E2A99AD2A89}"/>
              </a:ext>
            </a:extLst>
          </p:cNvPr>
          <p:cNvSpPr/>
          <p:nvPr/>
        </p:nvSpPr>
        <p:spPr>
          <a:xfrm>
            <a:off x="3081822" y="376318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33" name="Connecteur droit avec flèche 32">
            <a:extLst>
              <a:ext uri="{FF2B5EF4-FFF2-40B4-BE49-F238E27FC236}">
                <a16:creationId xmlns:a16="http://schemas.microsoft.com/office/drawing/2014/main" id="{0252257B-FB41-88AA-587E-47E28B4CF502}"/>
              </a:ext>
            </a:extLst>
          </p:cNvPr>
          <p:cNvCxnSpPr>
            <a:cxnSpLocks/>
            <a:endCxn id="32" idx="2"/>
          </p:cNvCxnSpPr>
          <p:nvPr/>
        </p:nvCxnSpPr>
        <p:spPr>
          <a:xfrm flipH="1" flipV="1">
            <a:off x="3260258" y="4277685"/>
            <a:ext cx="2531" cy="15148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34" name="Connecteur droit avec flèche 33">
            <a:extLst>
              <a:ext uri="{FF2B5EF4-FFF2-40B4-BE49-F238E27FC236}">
                <a16:creationId xmlns:a16="http://schemas.microsoft.com/office/drawing/2014/main" id="{5040EB69-29F2-81A8-3D10-012828373C1E}"/>
              </a:ext>
            </a:extLst>
          </p:cNvPr>
          <p:cNvCxnSpPr>
            <a:stCxn id="6" idx="3"/>
            <a:endCxn id="32" idx="1"/>
          </p:cNvCxnSpPr>
          <p:nvPr/>
        </p:nvCxnSpPr>
        <p:spPr>
          <a:xfrm>
            <a:off x="2625026" y="401632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36" name="Connecteur droit avec flèche 35">
            <a:extLst>
              <a:ext uri="{FF2B5EF4-FFF2-40B4-BE49-F238E27FC236}">
                <a16:creationId xmlns:a16="http://schemas.microsoft.com/office/drawing/2014/main" id="{2177FCEE-C208-9A59-7CC0-7A0929CAB723}"/>
              </a:ext>
            </a:extLst>
          </p:cNvPr>
          <p:cNvCxnSpPr>
            <a:cxnSpLocks/>
            <a:endCxn id="8" idx="1"/>
          </p:cNvCxnSpPr>
          <p:nvPr/>
        </p:nvCxnSpPr>
        <p:spPr>
          <a:xfrm flipV="1">
            <a:off x="3438693" y="4021572"/>
            <a:ext cx="463816" cy="7098"/>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A9CF503B-78B4-2DA9-7E62-546A302F29C3}"/>
                  </a:ext>
                </a:extLst>
              </p:cNvPr>
              <p:cNvSpPr txBox="1"/>
              <p:nvPr/>
            </p:nvSpPr>
            <p:spPr>
              <a:xfrm>
                <a:off x="2310965" y="4502472"/>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𝑇h𝑒</m:t>
                      </m:r>
                    </m:oMath>
                  </m:oMathPara>
                </a14:m>
                <a:endParaRPr lang="en-GB" sz="1200" dirty="0"/>
              </a:p>
            </p:txBody>
          </p:sp>
        </mc:Choice>
        <mc:Fallback xmlns="">
          <p:sp>
            <p:nvSpPr>
              <p:cNvPr id="38" name="ZoneTexte 37">
                <a:extLst>
                  <a:ext uri="{FF2B5EF4-FFF2-40B4-BE49-F238E27FC236}">
                    <a16:creationId xmlns:a16="http://schemas.microsoft.com/office/drawing/2014/main" id="{A9CF503B-78B4-2DA9-7E62-546A302F29C3}"/>
                  </a:ext>
                </a:extLst>
              </p:cNvPr>
              <p:cNvSpPr txBox="1">
                <a:spLocks noRot="1" noChangeAspect="1" noMove="1" noResize="1" noEditPoints="1" noAdjustHandles="1" noChangeArrowheads="1" noChangeShapeType="1" noTextEdit="1"/>
              </p:cNvSpPr>
              <p:nvPr/>
            </p:nvSpPr>
            <p:spPr>
              <a:xfrm>
                <a:off x="2310965" y="4502472"/>
                <a:ext cx="271251" cy="184666"/>
              </a:xfrm>
              <a:prstGeom prst="rect">
                <a:avLst/>
              </a:prstGeom>
              <a:blipFill>
                <a:blip r:embed="rId8"/>
                <a:stretch>
                  <a:fillRect l="-13043" r="-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6B03F91C-A1B8-8121-37E2-50B7BBAC9961}"/>
                  </a:ext>
                </a:extLst>
              </p:cNvPr>
              <p:cNvSpPr txBox="1"/>
              <p:nvPr/>
            </p:nvSpPr>
            <p:spPr>
              <a:xfrm>
                <a:off x="3110866" y="4507646"/>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𝑏𝑎𝑡𝑡𝑒𝑟𝑦</m:t>
                      </m:r>
                    </m:oMath>
                  </m:oMathPara>
                </a14:m>
                <a:endParaRPr lang="en-GB" sz="1200" dirty="0"/>
              </a:p>
            </p:txBody>
          </p:sp>
        </mc:Choice>
        <mc:Fallback xmlns="">
          <p:sp>
            <p:nvSpPr>
              <p:cNvPr id="42" name="ZoneTexte 41">
                <a:extLst>
                  <a:ext uri="{FF2B5EF4-FFF2-40B4-BE49-F238E27FC236}">
                    <a16:creationId xmlns:a16="http://schemas.microsoft.com/office/drawing/2014/main" id="{6B03F91C-A1B8-8121-37E2-50B7BBAC9961}"/>
                  </a:ext>
                </a:extLst>
              </p:cNvPr>
              <p:cNvSpPr txBox="1">
                <a:spLocks noRot="1" noChangeAspect="1" noMove="1" noResize="1" noEditPoints="1" noAdjustHandles="1" noChangeArrowheads="1" noChangeShapeType="1" noTextEdit="1"/>
              </p:cNvSpPr>
              <p:nvPr/>
            </p:nvSpPr>
            <p:spPr>
              <a:xfrm>
                <a:off x="3110866" y="4507646"/>
                <a:ext cx="271251" cy="184666"/>
              </a:xfrm>
              <a:prstGeom prst="rect">
                <a:avLst/>
              </a:prstGeom>
              <a:blipFill>
                <a:blip r:embed="rId9"/>
                <a:stretch>
                  <a:fillRect l="-21739" r="-108696" b="-31250"/>
                </a:stretch>
              </a:blipFill>
            </p:spPr>
            <p:txBody>
              <a:bodyPr/>
              <a:lstStyle/>
              <a:p>
                <a:r>
                  <a:rPr lang="en-GB">
                    <a:noFill/>
                  </a:rPr>
                  <a:t> </a:t>
                </a:r>
              </a:p>
            </p:txBody>
          </p:sp>
        </mc:Fallback>
      </mc:AlternateContent>
      <p:sp>
        <p:nvSpPr>
          <p:cNvPr id="44" name="ZoneTexte 43">
            <a:extLst>
              <a:ext uri="{FF2B5EF4-FFF2-40B4-BE49-F238E27FC236}">
                <a16:creationId xmlns:a16="http://schemas.microsoft.com/office/drawing/2014/main" id="{FAB945E4-B76B-D36C-C4B0-C06EAC7C6B26}"/>
              </a:ext>
            </a:extLst>
          </p:cNvPr>
          <p:cNvSpPr txBox="1"/>
          <p:nvPr/>
        </p:nvSpPr>
        <p:spPr>
          <a:xfrm>
            <a:off x="1991888" y="4723348"/>
            <a:ext cx="909403" cy="215444"/>
          </a:xfrm>
          <a:prstGeom prst="rect">
            <a:avLst/>
          </a:prstGeom>
          <a:noFill/>
        </p:spPr>
        <p:txBody>
          <a:bodyPr wrap="square" rtlCol="0">
            <a:spAutoFit/>
          </a:bodyPr>
          <a:lstStyle/>
          <a:p>
            <a:r>
              <a:rPr lang="en-GB" sz="800" dirty="0"/>
              <a:t>[0.00154, 0.58..]</a:t>
            </a:r>
          </a:p>
        </p:txBody>
      </p:sp>
      <p:sp>
        <p:nvSpPr>
          <p:cNvPr id="45" name="ZoneTexte 44">
            <a:extLst>
              <a:ext uri="{FF2B5EF4-FFF2-40B4-BE49-F238E27FC236}">
                <a16:creationId xmlns:a16="http://schemas.microsoft.com/office/drawing/2014/main" id="{41E16F1B-E0F3-0B3E-A5EC-158BFC71F0D4}"/>
              </a:ext>
            </a:extLst>
          </p:cNvPr>
          <p:cNvSpPr txBox="1"/>
          <p:nvPr/>
        </p:nvSpPr>
        <p:spPr>
          <a:xfrm>
            <a:off x="2809477" y="4729527"/>
            <a:ext cx="987823" cy="215444"/>
          </a:xfrm>
          <a:prstGeom prst="rect">
            <a:avLst/>
          </a:prstGeom>
          <a:noFill/>
        </p:spPr>
        <p:txBody>
          <a:bodyPr wrap="square" rtlCol="0">
            <a:spAutoFit/>
          </a:bodyPr>
          <a:lstStyle/>
          <a:p>
            <a:pPr algn="ctr"/>
            <a:r>
              <a:rPr lang="en-GB" sz="800" dirty="0"/>
              <a:t>[0.0445, 0.078..]</a:t>
            </a:r>
          </a:p>
        </p:txBody>
      </p:sp>
      <p:sp>
        <p:nvSpPr>
          <p:cNvPr id="47" name="ZoneTexte 46">
            <a:extLst>
              <a:ext uri="{FF2B5EF4-FFF2-40B4-BE49-F238E27FC236}">
                <a16:creationId xmlns:a16="http://schemas.microsoft.com/office/drawing/2014/main" id="{D51317E9-1C0C-AC92-4228-3943F5B09E38}"/>
              </a:ext>
            </a:extLst>
          </p:cNvPr>
          <p:cNvSpPr txBox="1"/>
          <p:nvPr/>
        </p:nvSpPr>
        <p:spPr>
          <a:xfrm>
            <a:off x="3613449" y="4741229"/>
            <a:ext cx="976042" cy="215444"/>
          </a:xfrm>
          <a:prstGeom prst="rect">
            <a:avLst/>
          </a:prstGeom>
          <a:noFill/>
        </p:spPr>
        <p:txBody>
          <a:bodyPr wrap="square" rtlCol="0">
            <a:spAutoFit/>
          </a:bodyPr>
          <a:lstStyle/>
          <a:p>
            <a:pPr algn="ctr"/>
            <a:r>
              <a:rPr lang="en-GB" sz="800" dirty="0"/>
              <a:t>[0.0021, 0.008..]</a:t>
            </a:r>
          </a:p>
        </p:txBody>
      </p:sp>
      <p:sp>
        <p:nvSpPr>
          <p:cNvPr id="48" name="ZoneTexte 47">
            <a:extLst>
              <a:ext uri="{FF2B5EF4-FFF2-40B4-BE49-F238E27FC236}">
                <a16:creationId xmlns:a16="http://schemas.microsoft.com/office/drawing/2014/main" id="{C40F7442-CE5D-52EE-7145-458982C33404}"/>
              </a:ext>
            </a:extLst>
          </p:cNvPr>
          <p:cNvSpPr txBox="1"/>
          <p:nvPr/>
        </p:nvSpPr>
        <p:spPr>
          <a:xfrm>
            <a:off x="4496758" y="4731197"/>
            <a:ext cx="896066" cy="223350"/>
          </a:xfrm>
          <a:prstGeom prst="rect">
            <a:avLst/>
          </a:prstGeom>
          <a:noFill/>
        </p:spPr>
        <p:txBody>
          <a:bodyPr wrap="square" rtlCol="0">
            <a:spAutoFit/>
          </a:bodyPr>
          <a:lstStyle/>
          <a:p>
            <a:pPr algn="ctr"/>
            <a:r>
              <a:rPr lang="en-GB" sz="800" dirty="0"/>
              <a:t>[0.1821, 0.082..]</a:t>
            </a:r>
          </a:p>
        </p:txBody>
      </p:sp>
      <p:sp>
        <p:nvSpPr>
          <p:cNvPr id="49" name="ZoneTexte 48">
            <a:extLst>
              <a:ext uri="{FF2B5EF4-FFF2-40B4-BE49-F238E27FC236}">
                <a16:creationId xmlns:a16="http://schemas.microsoft.com/office/drawing/2014/main" id="{80C3D334-3122-23AA-A487-25C197EEDD85}"/>
              </a:ext>
            </a:extLst>
          </p:cNvPr>
          <p:cNvSpPr txBox="1"/>
          <p:nvPr/>
        </p:nvSpPr>
        <p:spPr>
          <a:xfrm>
            <a:off x="2534497" y="5044784"/>
            <a:ext cx="2157904" cy="276999"/>
          </a:xfrm>
          <a:prstGeom prst="rect">
            <a:avLst/>
          </a:prstGeom>
          <a:noFill/>
        </p:spPr>
        <p:txBody>
          <a:bodyPr wrap="square" rtlCol="0">
            <a:spAutoFit/>
          </a:bodyPr>
          <a:lstStyle/>
          <a:p>
            <a:pPr algn="ctr"/>
            <a:r>
              <a:rPr lang="en-GB" sz="1200" dirty="0">
                <a:solidFill>
                  <a:schemeClr val="bg1">
                    <a:lumMod val="50000"/>
                  </a:schemeClr>
                </a:solidFill>
              </a:rPr>
              <a:t>Some type of RNN</a:t>
            </a:r>
          </a:p>
        </p:txBody>
      </p:sp>
      <p:cxnSp>
        <p:nvCxnSpPr>
          <p:cNvPr id="50" name="Connecteur droit avec flèche 49">
            <a:extLst>
              <a:ext uri="{FF2B5EF4-FFF2-40B4-BE49-F238E27FC236}">
                <a16:creationId xmlns:a16="http://schemas.microsoft.com/office/drawing/2014/main" id="{B50F572F-DEAF-5837-3E8E-95D6264CD231}"/>
              </a:ext>
            </a:extLst>
          </p:cNvPr>
          <p:cNvCxnSpPr>
            <a:cxnSpLocks/>
            <a:stCxn id="6" idx="0"/>
          </p:cNvCxnSpPr>
          <p:nvPr/>
        </p:nvCxnSpPr>
        <p:spPr>
          <a:xfrm flipV="1">
            <a:off x="2446591" y="3495465"/>
            <a:ext cx="0" cy="26360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592DC72D-7008-4523-8744-1C2E1F690F30}"/>
              </a:ext>
            </a:extLst>
          </p:cNvPr>
          <p:cNvCxnSpPr>
            <a:cxnSpLocks/>
            <a:stCxn id="32" idx="0"/>
          </p:cNvCxnSpPr>
          <p:nvPr/>
        </p:nvCxnSpPr>
        <p:spPr>
          <a:xfrm flipV="1">
            <a:off x="3260258" y="3495465"/>
            <a:ext cx="0" cy="26772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73A1F0EC-FC26-0A21-3664-2C66BFBD5B83}"/>
              </a:ext>
            </a:extLst>
          </p:cNvPr>
          <p:cNvCxnSpPr>
            <a:cxnSpLocks/>
            <a:stCxn id="8" idx="0"/>
          </p:cNvCxnSpPr>
          <p:nvPr/>
        </p:nvCxnSpPr>
        <p:spPr>
          <a:xfrm flipV="1">
            <a:off x="4080945" y="3472735"/>
            <a:ext cx="3976" cy="29158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F1C7C64E-AA29-F21E-D85B-D28B2B427215}"/>
              </a:ext>
            </a:extLst>
          </p:cNvPr>
          <p:cNvCxnSpPr>
            <a:cxnSpLocks/>
            <a:stCxn id="11" idx="0"/>
          </p:cNvCxnSpPr>
          <p:nvPr/>
        </p:nvCxnSpPr>
        <p:spPr>
          <a:xfrm flipV="1">
            <a:off x="4894612" y="3495465"/>
            <a:ext cx="4489" cy="27297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pic>
        <p:nvPicPr>
          <p:cNvPr id="63" name="Graphique 62" descr="Ordures contour">
            <a:extLst>
              <a:ext uri="{FF2B5EF4-FFF2-40B4-BE49-F238E27FC236}">
                <a16:creationId xmlns:a16="http://schemas.microsoft.com/office/drawing/2014/main" id="{BBE28165-5941-614A-C728-8847508791C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99156" y="3033724"/>
            <a:ext cx="514496" cy="514496"/>
          </a:xfrm>
          <a:prstGeom prst="rect">
            <a:avLst/>
          </a:prstGeom>
        </p:spPr>
      </p:pic>
      <p:pic>
        <p:nvPicPr>
          <p:cNvPr id="65" name="Graphique 64" descr="Ordures contour">
            <a:extLst>
              <a:ext uri="{FF2B5EF4-FFF2-40B4-BE49-F238E27FC236}">
                <a16:creationId xmlns:a16="http://schemas.microsoft.com/office/drawing/2014/main" id="{E541182D-0085-77F8-08D3-9736276A764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22751" y="3033724"/>
            <a:ext cx="463760" cy="514496"/>
          </a:xfrm>
          <a:prstGeom prst="rect">
            <a:avLst/>
          </a:prstGeom>
        </p:spPr>
      </p:pic>
      <p:pic>
        <p:nvPicPr>
          <p:cNvPr id="66" name="Graphique 65" descr="Ordures contour">
            <a:extLst>
              <a:ext uri="{FF2B5EF4-FFF2-40B4-BE49-F238E27FC236}">
                <a16:creationId xmlns:a16="http://schemas.microsoft.com/office/drawing/2014/main" id="{7AD18B01-2F1B-A1EF-B133-29CE50214BB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51300" y="3012704"/>
            <a:ext cx="463760" cy="514496"/>
          </a:xfrm>
          <a:prstGeom prst="rect">
            <a:avLst/>
          </a:prstGeom>
        </p:spPr>
      </p:pic>
      <p:pic>
        <p:nvPicPr>
          <p:cNvPr id="67" name="Graphique 66" descr="Ordures contour">
            <a:extLst>
              <a:ext uri="{FF2B5EF4-FFF2-40B4-BE49-F238E27FC236}">
                <a16:creationId xmlns:a16="http://schemas.microsoft.com/office/drawing/2014/main" id="{6835CE4A-803B-BB8B-1CF8-BEA34880983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79012" y="3033724"/>
            <a:ext cx="463760" cy="514496"/>
          </a:xfrm>
          <a:prstGeom prst="rect">
            <a:avLst/>
          </a:prstGeom>
        </p:spPr>
      </p:pic>
      <p:cxnSp>
        <p:nvCxnSpPr>
          <p:cNvPr id="71" name="Connecteur droit avec flèche 70">
            <a:extLst>
              <a:ext uri="{FF2B5EF4-FFF2-40B4-BE49-F238E27FC236}">
                <a16:creationId xmlns:a16="http://schemas.microsoft.com/office/drawing/2014/main" id="{21A395A8-598A-BF80-3311-C36A56C42D41}"/>
              </a:ext>
            </a:extLst>
          </p:cNvPr>
          <p:cNvCxnSpPr>
            <a:cxnSpLocks/>
          </p:cNvCxnSpPr>
          <p:nvPr/>
        </p:nvCxnSpPr>
        <p:spPr>
          <a:xfrm flipH="1" flipV="1">
            <a:off x="5266231" y="4118327"/>
            <a:ext cx="27798" cy="1442321"/>
          </a:xfrm>
          <a:prstGeom prst="straightConnector1">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73" name="ZoneTexte 72">
            <a:extLst>
              <a:ext uri="{FF2B5EF4-FFF2-40B4-BE49-F238E27FC236}">
                <a16:creationId xmlns:a16="http://schemas.microsoft.com/office/drawing/2014/main" id="{089D2BC4-5135-9893-3FEA-550797CE15D5}"/>
              </a:ext>
            </a:extLst>
          </p:cNvPr>
          <p:cNvSpPr txBox="1"/>
          <p:nvPr/>
        </p:nvSpPr>
        <p:spPr>
          <a:xfrm>
            <a:off x="3438694" y="5560648"/>
            <a:ext cx="3815770" cy="400110"/>
          </a:xfrm>
          <a:prstGeom prst="rect">
            <a:avLst/>
          </a:prstGeom>
          <a:noFill/>
          <a:ln>
            <a:solidFill>
              <a:schemeClr val="tx1"/>
            </a:solidFill>
          </a:ln>
        </p:spPr>
        <p:txBody>
          <a:bodyPr wrap="square" rtlCol="0">
            <a:spAutoFit/>
          </a:bodyPr>
          <a:lstStyle/>
          <a:p>
            <a:r>
              <a:rPr lang="en-GB" sz="1000" dirty="0"/>
              <a:t>Final hidden state from the encoder RNN can be viewed as a “thought” vector or an embedding of the source sentence.</a:t>
            </a:r>
          </a:p>
        </p:txBody>
      </p:sp>
      <p:cxnSp>
        <p:nvCxnSpPr>
          <p:cNvPr id="76" name="Connecteur droit avec flèche 75">
            <a:extLst>
              <a:ext uri="{FF2B5EF4-FFF2-40B4-BE49-F238E27FC236}">
                <a16:creationId xmlns:a16="http://schemas.microsoft.com/office/drawing/2014/main" id="{BA7FF374-3268-1236-7306-E07433625002}"/>
              </a:ext>
            </a:extLst>
          </p:cNvPr>
          <p:cNvCxnSpPr>
            <a:cxnSpLocks/>
          </p:cNvCxnSpPr>
          <p:nvPr/>
        </p:nvCxnSpPr>
        <p:spPr>
          <a:xfrm flipH="1" flipV="1">
            <a:off x="5701785" y="4319409"/>
            <a:ext cx="2530" cy="1514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77" name="ZoneTexte 76">
            <a:extLst>
              <a:ext uri="{FF2B5EF4-FFF2-40B4-BE49-F238E27FC236}">
                <a16:creationId xmlns:a16="http://schemas.microsoft.com/office/drawing/2014/main" id="{CE669C0F-3750-149A-ADC8-EB600754B7C0}"/>
              </a:ext>
            </a:extLst>
          </p:cNvPr>
          <p:cNvSpPr txBox="1"/>
          <p:nvPr/>
        </p:nvSpPr>
        <p:spPr>
          <a:xfrm>
            <a:off x="5472100" y="4497903"/>
            <a:ext cx="524197" cy="184666"/>
          </a:xfrm>
          <a:prstGeom prst="rect">
            <a:avLst/>
          </a:prstGeom>
          <a:noFill/>
        </p:spPr>
        <p:txBody>
          <a:bodyPr wrap="square" lIns="0" tIns="0" rIns="0" bIns="0" rtlCol="0" anchor="ctr">
            <a:spAutoFit/>
          </a:bodyPr>
          <a:lstStyle/>
          <a:p>
            <a:r>
              <a:rPr lang="en-GB" sz="1200" dirty="0"/>
              <a:t>&lt;start&gt;</a:t>
            </a:r>
          </a:p>
        </p:txBody>
      </p:sp>
      <p:sp>
        <p:nvSpPr>
          <p:cNvPr id="78" name="ZoneTexte 77">
            <a:extLst>
              <a:ext uri="{FF2B5EF4-FFF2-40B4-BE49-F238E27FC236}">
                <a16:creationId xmlns:a16="http://schemas.microsoft.com/office/drawing/2014/main" id="{87DF4974-AB85-1097-7CE2-280E5DDC3F95}"/>
              </a:ext>
            </a:extLst>
          </p:cNvPr>
          <p:cNvSpPr txBox="1"/>
          <p:nvPr/>
        </p:nvSpPr>
        <p:spPr>
          <a:xfrm>
            <a:off x="5319868" y="4717036"/>
            <a:ext cx="909403" cy="215444"/>
          </a:xfrm>
          <a:prstGeom prst="rect">
            <a:avLst/>
          </a:prstGeom>
          <a:noFill/>
        </p:spPr>
        <p:txBody>
          <a:bodyPr wrap="square" rtlCol="0">
            <a:spAutoFit/>
          </a:bodyPr>
          <a:lstStyle/>
          <a:p>
            <a:r>
              <a:rPr lang="en-GB" sz="800" dirty="0"/>
              <a:t>[0.0704, 0.18..]</a:t>
            </a:r>
          </a:p>
        </p:txBody>
      </p:sp>
      <mc:AlternateContent xmlns:mc="http://schemas.openxmlformats.org/markup-compatibility/2006" xmlns:a14="http://schemas.microsoft.com/office/drawing/2010/main">
        <mc:Choice Requires="a14">
          <p:sp>
            <p:nvSpPr>
              <p:cNvPr id="79" name="ZoneTexte 78">
                <a:extLst>
                  <a:ext uri="{FF2B5EF4-FFF2-40B4-BE49-F238E27FC236}">
                    <a16:creationId xmlns:a16="http://schemas.microsoft.com/office/drawing/2014/main" id="{589752BA-8F2E-10B8-A494-B728CD3706D5}"/>
                  </a:ext>
                </a:extLst>
              </p:cNvPr>
              <p:cNvSpPr txBox="1"/>
              <p:nvPr/>
            </p:nvSpPr>
            <p:spPr>
              <a:xfrm>
                <a:off x="6217904" y="4493994"/>
                <a:ext cx="560666" cy="153888"/>
              </a:xfrm>
              <a:prstGeom prst="rect">
                <a:avLst/>
              </a:prstGeom>
              <a:noFill/>
            </p:spPr>
            <p:txBody>
              <a:bodyPr wrap="none" lIns="0" tIns="0" rIns="0" bIns="0" rtlCol="0">
                <a:spAutoFit/>
              </a:bodyPr>
              <a:lstStyle/>
              <a:p>
                <a14:m>
                  <m:oMath xmlns:m="http://schemas.openxmlformats.org/officeDocument/2006/math">
                    <m:r>
                      <a:rPr lang="fr-FR" sz="1000" b="0" i="1" smtClean="0">
                        <a:latin typeface="Cambria Math" panose="02040503050406030204" pitchFamily="18" charset="0"/>
                      </a:rPr>
                      <m:t>𝑙𝑒𝑚𝑒𝑢𝑟</m:t>
                    </m:r>
                  </m:oMath>
                </a14:m>
                <a:r>
                  <a:rPr lang="en-GB" sz="1000" b="0" dirty="0"/>
                  <a:t>ült</a:t>
                </a:r>
                <a:endParaRPr lang="fr-FR" sz="1000" b="0" dirty="0"/>
              </a:p>
            </p:txBody>
          </p:sp>
        </mc:Choice>
        <mc:Fallback xmlns="">
          <p:sp>
            <p:nvSpPr>
              <p:cNvPr id="79" name="ZoneTexte 78">
                <a:extLst>
                  <a:ext uri="{FF2B5EF4-FFF2-40B4-BE49-F238E27FC236}">
                    <a16:creationId xmlns:a16="http://schemas.microsoft.com/office/drawing/2014/main" id="{589752BA-8F2E-10B8-A494-B728CD3706D5}"/>
                  </a:ext>
                </a:extLst>
              </p:cNvPr>
              <p:cNvSpPr txBox="1">
                <a:spLocks noRot="1" noChangeAspect="1" noMove="1" noResize="1" noEditPoints="1" noAdjustHandles="1" noChangeArrowheads="1" noChangeShapeType="1" noTextEdit="1"/>
              </p:cNvSpPr>
              <p:nvPr/>
            </p:nvSpPr>
            <p:spPr>
              <a:xfrm>
                <a:off x="6217904" y="4493994"/>
                <a:ext cx="560666" cy="153888"/>
              </a:xfrm>
              <a:prstGeom prst="rect">
                <a:avLst/>
              </a:prstGeom>
              <a:blipFill>
                <a:blip r:embed="rId12"/>
                <a:stretch>
                  <a:fillRect l="-8889" t="-23077" r="-13333" b="-46154"/>
                </a:stretch>
              </a:blipFill>
            </p:spPr>
            <p:txBody>
              <a:bodyPr/>
              <a:lstStyle/>
              <a:p>
                <a:r>
                  <a:rPr lang="en-GB">
                    <a:noFill/>
                  </a:rPr>
                  <a:t> </a:t>
                </a:r>
              </a:p>
            </p:txBody>
          </p:sp>
        </mc:Fallback>
      </mc:AlternateContent>
      <p:sp>
        <p:nvSpPr>
          <p:cNvPr id="80" name="ZoneTexte 79">
            <a:extLst>
              <a:ext uri="{FF2B5EF4-FFF2-40B4-BE49-F238E27FC236}">
                <a16:creationId xmlns:a16="http://schemas.microsoft.com/office/drawing/2014/main" id="{BA01D814-139E-A0F0-A5CA-3F6F8167BFAB}"/>
              </a:ext>
            </a:extLst>
          </p:cNvPr>
          <p:cNvSpPr txBox="1"/>
          <p:nvPr/>
        </p:nvSpPr>
        <p:spPr>
          <a:xfrm>
            <a:off x="3797300" y="2465552"/>
            <a:ext cx="1904152" cy="246221"/>
          </a:xfrm>
          <a:prstGeom prst="rect">
            <a:avLst/>
          </a:prstGeom>
          <a:noFill/>
          <a:ln>
            <a:solidFill>
              <a:schemeClr val="tx1"/>
            </a:solidFill>
          </a:ln>
        </p:spPr>
        <p:txBody>
          <a:bodyPr wrap="square" rtlCol="0">
            <a:spAutoFit/>
          </a:bodyPr>
          <a:lstStyle/>
          <a:p>
            <a:r>
              <a:rPr lang="en-GB" sz="1000" dirty="0"/>
              <a:t>Take the most probable word.</a:t>
            </a:r>
          </a:p>
        </p:txBody>
      </p:sp>
      <p:cxnSp>
        <p:nvCxnSpPr>
          <p:cNvPr id="81" name="Connecteur droit avec flèche 80">
            <a:extLst>
              <a:ext uri="{FF2B5EF4-FFF2-40B4-BE49-F238E27FC236}">
                <a16:creationId xmlns:a16="http://schemas.microsoft.com/office/drawing/2014/main" id="{CCE0DDEE-C902-168C-C6EB-736AEFBEB47D}"/>
              </a:ext>
            </a:extLst>
          </p:cNvPr>
          <p:cNvCxnSpPr>
            <a:cxnSpLocks/>
            <a:stCxn id="80" idx="2"/>
          </p:cNvCxnSpPr>
          <p:nvPr/>
        </p:nvCxnSpPr>
        <p:spPr>
          <a:xfrm>
            <a:off x="4749376" y="2711773"/>
            <a:ext cx="780466" cy="5061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ZoneTexte 83">
            <a:extLst>
              <a:ext uri="{FF2B5EF4-FFF2-40B4-BE49-F238E27FC236}">
                <a16:creationId xmlns:a16="http://schemas.microsoft.com/office/drawing/2014/main" id="{08FD8077-7FB0-ED87-8C84-47FA521CFB00}"/>
              </a:ext>
            </a:extLst>
          </p:cNvPr>
          <p:cNvSpPr txBox="1"/>
          <p:nvPr/>
        </p:nvSpPr>
        <p:spPr>
          <a:xfrm>
            <a:off x="6076512" y="4729527"/>
            <a:ext cx="909403" cy="215444"/>
          </a:xfrm>
          <a:prstGeom prst="rect">
            <a:avLst/>
          </a:prstGeom>
          <a:noFill/>
        </p:spPr>
        <p:txBody>
          <a:bodyPr wrap="square" rtlCol="0">
            <a:spAutoFit/>
          </a:bodyPr>
          <a:lstStyle/>
          <a:p>
            <a:r>
              <a:rPr lang="en-GB" sz="800" dirty="0"/>
              <a:t>[0.0636, 0.55..]</a:t>
            </a:r>
          </a:p>
        </p:txBody>
      </p:sp>
      <p:cxnSp>
        <p:nvCxnSpPr>
          <p:cNvPr id="86" name="Connecteur en arc 85">
            <a:extLst>
              <a:ext uri="{FF2B5EF4-FFF2-40B4-BE49-F238E27FC236}">
                <a16:creationId xmlns:a16="http://schemas.microsoft.com/office/drawing/2014/main" id="{422DC3B0-76CB-FC11-F8F2-0E601D023393}"/>
              </a:ext>
            </a:extLst>
          </p:cNvPr>
          <p:cNvCxnSpPr>
            <a:stCxn id="19" idx="3"/>
            <a:endCxn id="79" idx="1"/>
          </p:cNvCxnSpPr>
          <p:nvPr/>
        </p:nvCxnSpPr>
        <p:spPr>
          <a:xfrm>
            <a:off x="5994457" y="3337776"/>
            <a:ext cx="223447" cy="1233162"/>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496C7C75-D5A5-9B50-5246-E3B8A60ED6D7}"/>
                  </a:ext>
                </a:extLst>
              </p:cNvPr>
              <p:cNvSpPr txBox="1"/>
              <p:nvPr/>
            </p:nvSpPr>
            <p:spPr>
              <a:xfrm>
                <a:off x="7254464" y="4481407"/>
                <a:ext cx="124966" cy="1615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𝑎𝑧</m:t>
                      </m:r>
                    </m:oMath>
                  </m:oMathPara>
                </a14:m>
                <a:endParaRPr lang="en-GB" sz="1050" dirty="0"/>
              </a:p>
            </p:txBody>
          </p:sp>
        </mc:Choice>
        <mc:Fallback xmlns="">
          <p:sp>
            <p:nvSpPr>
              <p:cNvPr id="87" name="ZoneTexte 86">
                <a:extLst>
                  <a:ext uri="{FF2B5EF4-FFF2-40B4-BE49-F238E27FC236}">
                    <a16:creationId xmlns:a16="http://schemas.microsoft.com/office/drawing/2014/main" id="{496C7C75-D5A5-9B50-5246-E3B8A60ED6D7}"/>
                  </a:ext>
                </a:extLst>
              </p:cNvPr>
              <p:cNvSpPr txBox="1">
                <a:spLocks noRot="1" noChangeAspect="1" noMove="1" noResize="1" noEditPoints="1" noAdjustHandles="1" noChangeArrowheads="1" noChangeShapeType="1" noTextEdit="1"/>
              </p:cNvSpPr>
              <p:nvPr/>
            </p:nvSpPr>
            <p:spPr>
              <a:xfrm>
                <a:off x="7254464" y="4481407"/>
                <a:ext cx="124966" cy="161583"/>
              </a:xfrm>
              <a:prstGeom prst="rect">
                <a:avLst/>
              </a:prstGeom>
              <a:blipFill>
                <a:blip r:embed="rId13"/>
                <a:stretch>
                  <a:fillRect l="-27273" r="-36364"/>
                </a:stretch>
              </a:blipFill>
            </p:spPr>
            <p:txBody>
              <a:bodyPr/>
              <a:lstStyle/>
              <a:p>
                <a:r>
                  <a:rPr lang="en-GB">
                    <a:noFill/>
                  </a:rPr>
                  <a:t> </a:t>
                </a:r>
              </a:p>
            </p:txBody>
          </p:sp>
        </mc:Fallback>
      </mc:AlternateContent>
      <p:cxnSp>
        <p:nvCxnSpPr>
          <p:cNvPr id="88" name="Connecteur droit avec flèche 87">
            <a:extLst>
              <a:ext uri="{FF2B5EF4-FFF2-40B4-BE49-F238E27FC236}">
                <a16:creationId xmlns:a16="http://schemas.microsoft.com/office/drawing/2014/main" id="{5DB386B5-85BD-7B88-A399-11DA1CB16CB5}"/>
              </a:ext>
            </a:extLst>
          </p:cNvPr>
          <p:cNvCxnSpPr>
            <a:cxnSpLocks/>
          </p:cNvCxnSpPr>
          <p:nvPr/>
        </p:nvCxnSpPr>
        <p:spPr>
          <a:xfrm flipH="1" flipV="1">
            <a:off x="6526846" y="4335177"/>
            <a:ext cx="2530" cy="1514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89" name="Connecteur droit avec flèche 88">
            <a:extLst>
              <a:ext uri="{FF2B5EF4-FFF2-40B4-BE49-F238E27FC236}">
                <a16:creationId xmlns:a16="http://schemas.microsoft.com/office/drawing/2014/main" id="{07AC8A76-E154-6A12-0D04-F606E3944178}"/>
              </a:ext>
            </a:extLst>
          </p:cNvPr>
          <p:cNvCxnSpPr>
            <a:cxnSpLocks/>
            <a:endCxn id="24" idx="2"/>
          </p:cNvCxnSpPr>
          <p:nvPr/>
        </p:nvCxnSpPr>
        <p:spPr>
          <a:xfrm flipH="1" flipV="1">
            <a:off x="7326410" y="4299944"/>
            <a:ext cx="7005" cy="18146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91" name="Connecteur en arc 90">
            <a:extLst>
              <a:ext uri="{FF2B5EF4-FFF2-40B4-BE49-F238E27FC236}">
                <a16:creationId xmlns:a16="http://schemas.microsoft.com/office/drawing/2014/main" id="{206C91DC-4092-076D-62BC-8F6A83696FC8}"/>
              </a:ext>
            </a:extLst>
          </p:cNvPr>
          <p:cNvCxnSpPr>
            <a:cxnSpLocks/>
            <a:stCxn id="20" idx="3"/>
            <a:endCxn id="87" idx="1"/>
          </p:cNvCxnSpPr>
          <p:nvPr/>
        </p:nvCxnSpPr>
        <p:spPr>
          <a:xfrm>
            <a:off x="6600031" y="3351882"/>
            <a:ext cx="654433" cy="1210317"/>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4" name="Rectangle : coins arrondis 93">
            <a:extLst>
              <a:ext uri="{FF2B5EF4-FFF2-40B4-BE49-F238E27FC236}">
                <a16:creationId xmlns:a16="http://schemas.microsoft.com/office/drawing/2014/main" id="{0D56FD0B-D1BA-DB69-E4FB-E09BA4CACFBA}"/>
              </a:ext>
            </a:extLst>
          </p:cNvPr>
          <p:cNvSpPr/>
          <p:nvPr/>
        </p:nvSpPr>
        <p:spPr>
          <a:xfrm>
            <a:off x="8057121" y="379070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95" name="Connecteur droit avec flèche 94">
            <a:extLst>
              <a:ext uri="{FF2B5EF4-FFF2-40B4-BE49-F238E27FC236}">
                <a16:creationId xmlns:a16="http://schemas.microsoft.com/office/drawing/2014/main" id="{59729F25-C8A9-2DF3-4165-A24ED1AD9426}"/>
              </a:ext>
            </a:extLst>
          </p:cNvPr>
          <p:cNvCxnSpPr>
            <a:cxnSpLocks/>
            <a:stCxn id="24" idx="3"/>
            <a:endCxn id="94" idx="1"/>
          </p:cNvCxnSpPr>
          <p:nvPr/>
        </p:nvCxnSpPr>
        <p:spPr>
          <a:xfrm>
            <a:off x="7504846" y="4042696"/>
            <a:ext cx="552275" cy="526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6" name="ZoneTexte 95">
                <a:extLst>
                  <a:ext uri="{FF2B5EF4-FFF2-40B4-BE49-F238E27FC236}">
                    <a16:creationId xmlns:a16="http://schemas.microsoft.com/office/drawing/2014/main" id="{5A4076B4-2230-95B1-F1E7-00A217687722}"/>
                  </a:ext>
                </a:extLst>
              </p:cNvPr>
              <p:cNvSpPr txBox="1"/>
              <p:nvPr/>
            </p:nvSpPr>
            <p:spPr>
              <a:xfrm>
                <a:off x="8040885" y="3287317"/>
                <a:ext cx="391133"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1050" dirty="0"/>
                        <m:t>&lt;</m:t>
                      </m:r>
                      <m:r>
                        <m:rPr>
                          <m:nor/>
                        </m:rPr>
                        <a:rPr lang="fr-FR" sz="1050" b="0" i="0" dirty="0" smtClean="0"/>
                        <m:t>end</m:t>
                      </m:r>
                      <m:r>
                        <m:rPr>
                          <m:nor/>
                        </m:rPr>
                        <a:rPr lang="en-GB" sz="1050" dirty="0"/>
                        <m:t>&gt;</m:t>
                      </m:r>
                    </m:oMath>
                  </m:oMathPara>
                </a14:m>
                <a:endParaRPr lang="en-GB" sz="1050" dirty="0"/>
              </a:p>
            </p:txBody>
          </p:sp>
        </mc:Choice>
        <mc:Fallback xmlns="">
          <p:sp>
            <p:nvSpPr>
              <p:cNvPr id="96" name="ZoneTexte 95">
                <a:extLst>
                  <a:ext uri="{FF2B5EF4-FFF2-40B4-BE49-F238E27FC236}">
                    <a16:creationId xmlns:a16="http://schemas.microsoft.com/office/drawing/2014/main" id="{5A4076B4-2230-95B1-F1E7-00A217687722}"/>
                  </a:ext>
                </a:extLst>
              </p:cNvPr>
              <p:cNvSpPr txBox="1">
                <a:spLocks noRot="1" noChangeAspect="1" noMove="1" noResize="1" noEditPoints="1" noAdjustHandles="1" noChangeArrowheads="1" noChangeShapeType="1" noTextEdit="1"/>
              </p:cNvSpPr>
              <p:nvPr/>
            </p:nvSpPr>
            <p:spPr>
              <a:xfrm>
                <a:off x="8040885" y="3287317"/>
                <a:ext cx="391133" cy="161583"/>
              </a:xfrm>
              <a:prstGeom prst="rect">
                <a:avLst/>
              </a:prstGeom>
              <a:blipFill>
                <a:blip r:embed="rId14"/>
                <a:stretch>
                  <a:fillRect l="-6452" r="-6452" b="-7143"/>
                </a:stretch>
              </a:blipFill>
            </p:spPr>
            <p:txBody>
              <a:bodyPr/>
              <a:lstStyle/>
              <a:p>
                <a:r>
                  <a:rPr lang="en-GB">
                    <a:noFill/>
                  </a:rPr>
                  <a:t> </a:t>
                </a:r>
              </a:p>
            </p:txBody>
          </p:sp>
        </mc:Fallback>
      </mc:AlternateContent>
      <p:cxnSp>
        <p:nvCxnSpPr>
          <p:cNvPr id="97" name="Connecteur droit avec flèche 96">
            <a:extLst>
              <a:ext uri="{FF2B5EF4-FFF2-40B4-BE49-F238E27FC236}">
                <a16:creationId xmlns:a16="http://schemas.microsoft.com/office/drawing/2014/main" id="{9B8B29E2-6F16-3CAB-F048-8EB47123E13D}"/>
              </a:ext>
            </a:extLst>
          </p:cNvPr>
          <p:cNvCxnSpPr>
            <a:cxnSpLocks/>
            <a:stCxn id="94" idx="0"/>
            <a:endCxn id="96" idx="2"/>
          </p:cNvCxnSpPr>
          <p:nvPr/>
        </p:nvCxnSpPr>
        <p:spPr>
          <a:xfrm flipV="1">
            <a:off x="8235557" y="3448900"/>
            <a:ext cx="895" cy="34180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8" name="ZoneTexte 97">
                <a:extLst>
                  <a:ext uri="{FF2B5EF4-FFF2-40B4-BE49-F238E27FC236}">
                    <a16:creationId xmlns:a16="http://schemas.microsoft.com/office/drawing/2014/main" id="{FFC52A8E-C20E-3872-02CC-A862CB24EF65}"/>
                  </a:ext>
                </a:extLst>
              </p:cNvPr>
              <p:cNvSpPr txBox="1"/>
              <p:nvPr/>
            </p:nvSpPr>
            <p:spPr>
              <a:xfrm>
                <a:off x="8100110" y="4486667"/>
                <a:ext cx="825370" cy="1615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050" i="1">
                          <a:latin typeface="Cambria Math" panose="02040503050406030204" pitchFamily="18" charset="0"/>
                        </a:rPr>
                        <m:t>𝑎𝑘𝑘𝑢𝑚𝑢𝑙</m:t>
                      </m:r>
                      <m:r>
                        <a:rPr lang="fr-FR" sz="1050" i="1">
                          <a:latin typeface="Cambria Math" panose="02040503050406030204" pitchFamily="18" charset="0"/>
                        </a:rPr>
                        <m:t>à</m:t>
                      </m:r>
                      <m:r>
                        <a:rPr lang="fr-FR" sz="1050" i="1">
                          <a:latin typeface="Cambria Math" panose="02040503050406030204" pitchFamily="18" charset="0"/>
                        </a:rPr>
                        <m:t>𝑡𝑜𝑟</m:t>
                      </m:r>
                    </m:oMath>
                  </m:oMathPara>
                </a14:m>
                <a:endParaRPr lang="en-GB" sz="1050" dirty="0"/>
              </a:p>
            </p:txBody>
          </p:sp>
        </mc:Choice>
        <mc:Fallback xmlns="">
          <p:sp>
            <p:nvSpPr>
              <p:cNvPr id="98" name="ZoneTexte 97">
                <a:extLst>
                  <a:ext uri="{FF2B5EF4-FFF2-40B4-BE49-F238E27FC236}">
                    <a16:creationId xmlns:a16="http://schemas.microsoft.com/office/drawing/2014/main" id="{FFC52A8E-C20E-3872-02CC-A862CB24EF65}"/>
                  </a:ext>
                </a:extLst>
              </p:cNvPr>
              <p:cNvSpPr txBox="1">
                <a:spLocks noRot="1" noChangeAspect="1" noMove="1" noResize="1" noEditPoints="1" noAdjustHandles="1" noChangeArrowheads="1" noChangeShapeType="1" noTextEdit="1"/>
              </p:cNvSpPr>
              <p:nvPr/>
            </p:nvSpPr>
            <p:spPr>
              <a:xfrm>
                <a:off x="8100110" y="4486667"/>
                <a:ext cx="825370" cy="161583"/>
              </a:xfrm>
              <a:prstGeom prst="rect">
                <a:avLst/>
              </a:prstGeom>
              <a:blipFill>
                <a:blip r:embed="rId15"/>
                <a:stretch>
                  <a:fillRect l="-3030" r="-3030" b="-7143"/>
                </a:stretch>
              </a:blipFill>
            </p:spPr>
            <p:txBody>
              <a:bodyPr/>
              <a:lstStyle/>
              <a:p>
                <a:r>
                  <a:rPr lang="en-GB">
                    <a:noFill/>
                  </a:rPr>
                  <a:t> </a:t>
                </a:r>
              </a:p>
            </p:txBody>
          </p:sp>
        </mc:Fallback>
      </mc:AlternateContent>
      <p:cxnSp>
        <p:nvCxnSpPr>
          <p:cNvPr id="99" name="Connecteur droit avec flèche 98">
            <a:extLst>
              <a:ext uri="{FF2B5EF4-FFF2-40B4-BE49-F238E27FC236}">
                <a16:creationId xmlns:a16="http://schemas.microsoft.com/office/drawing/2014/main" id="{D521C2F0-BDC6-DFD7-0256-A902CEC4876A}"/>
              </a:ext>
            </a:extLst>
          </p:cNvPr>
          <p:cNvCxnSpPr>
            <a:cxnSpLocks/>
            <a:endCxn id="94" idx="2"/>
          </p:cNvCxnSpPr>
          <p:nvPr/>
        </p:nvCxnSpPr>
        <p:spPr>
          <a:xfrm flipH="1" flipV="1">
            <a:off x="8235557" y="4305204"/>
            <a:ext cx="7005" cy="18146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02" name="Connecteur en arc 101">
            <a:extLst>
              <a:ext uri="{FF2B5EF4-FFF2-40B4-BE49-F238E27FC236}">
                <a16:creationId xmlns:a16="http://schemas.microsoft.com/office/drawing/2014/main" id="{E5CF906B-7F66-C6E4-8415-4E334D157101}"/>
              </a:ext>
            </a:extLst>
          </p:cNvPr>
          <p:cNvCxnSpPr>
            <a:cxnSpLocks/>
            <a:stCxn id="26" idx="3"/>
            <a:endCxn id="98" idx="1"/>
          </p:cNvCxnSpPr>
          <p:nvPr/>
        </p:nvCxnSpPr>
        <p:spPr>
          <a:xfrm>
            <a:off x="7733113" y="3362849"/>
            <a:ext cx="366997" cy="1204610"/>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ZoneTexte 108">
            <a:extLst>
              <a:ext uri="{FF2B5EF4-FFF2-40B4-BE49-F238E27FC236}">
                <a16:creationId xmlns:a16="http://schemas.microsoft.com/office/drawing/2014/main" id="{E57D86D7-45A7-7836-EB67-D3F5A7D1AD85}"/>
              </a:ext>
            </a:extLst>
          </p:cNvPr>
          <p:cNvSpPr txBox="1"/>
          <p:nvPr/>
        </p:nvSpPr>
        <p:spPr>
          <a:xfrm>
            <a:off x="6985915" y="4720503"/>
            <a:ext cx="909403" cy="215444"/>
          </a:xfrm>
          <a:prstGeom prst="rect">
            <a:avLst/>
          </a:prstGeom>
          <a:noFill/>
        </p:spPr>
        <p:txBody>
          <a:bodyPr wrap="square" rtlCol="0">
            <a:spAutoFit/>
          </a:bodyPr>
          <a:lstStyle/>
          <a:p>
            <a:r>
              <a:rPr lang="en-GB" sz="800" dirty="0"/>
              <a:t>[0.0114, 0.06..]</a:t>
            </a:r>
          </a:p>
        </p:txBody>
      </p:sp>
      <p:sp>
        <p:nvSpPr>
          <p:cNvPr id="110" name="ZoneTexte 109">
            <a:extLst>
              <a:ext uri="{FF2B5EF4-FFF2-40B4-BE49-F238E27FC236}">
                <a16:creationId xmlns:a16="http://schemas.microsoft.com/office/drawing/2014/main" id="{9691A4DF-F3C5-1C93-8AC1-590987EFAD5C}"/>
              </a:ext>
            </a:extLst>
          </p:cNvPr>
          <p:cNvSpPr txBox="1"/>
          <p:nvPr/>
        </p:nvSpPr>
        <p:spPr>
          <a:xfrm>
            <a:off x="7916611" y="4705883"/>
            <a:ext cx="909403" cy="215444"/>
          </a:xfrm>
          <a:prstGeom prst="rect">
            <a:avLst/>
          </a:prstGeom>
          <a:noFill/>
        </p:spPr>
        <p:txBody>
          <a:bodyPr wrap="square" rtlCol="0">
            <a:spAutoFit/>
          </a:bodyPr>
          <a:lstStyle/>
          <a:p>
            <a:r>
              <a:rPr lang="en-GB" sz="800" dirty="0"/>
              <a:t>[0.0012, 0.035..]</a:t>
            </a:r>
          </a:p>
        </p:txBody>
      </p:sp>
      <p:sp>
        <p:nvSpPr>
          <p:cNvPr id="112" name="Accolade ouvrante 111">
            <a:extLst>
              <a:ext uri="{FF2B5EF4-FFF2-40B4-BE49-F238E27FC236}">
                <a16:creationId xmlns:a16="http://schemas.microsoft.com/office/drawing/2014/main" id="{9B7B6C70-7198-ACD2-9FE0-C4AA5945A504}"/>
              </a:ext>
            </a:extLst>
          </p:cNvPr>
          <p:cNvSpPr/>
          <p:nvPr/>
        </p:nvSpPr>
        <p:spPr>
          <a:xfrm rot="16200000">
            <a:off x="3550355" y="3315917"/>
            <a:ext cx="236498" cy="3310747"/>
          </a:xfrm>
          <a:prstGeom prst="leftBrac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113" name="ZoneTexte 112">
            <a:extLst>
              <a:ext uri="{FF2B5EF4-FFF2-40B4-BE49-F238E27FC236}">
                <a16:creationId xmlns:a16="http://schemas.microsoft.com/office/drawing/2014/main" id="{1428B1FA-88D2-2D46-9712-242AC9C20B1D}"/>
              </a:ext>
            </a:extLst>
          </p:cNvPr>
          <p:cNvSpPr txBox="1"/>
          <p:nvPr/>
        </p:nvSpPr>
        <p:spPr>
          <a:xfrm>
            <a:off x="5633296" y="5032084"/>
            <a:ext cx="3142403" cy="461665"/>
          </a:xfrm>
          <a:prstGeom prst="rect">
            <a:avLst/>
          </a:prstGeom>
          <a:noFill/>
        </p:spPr>
        <p:txBody>
          <a:bodyPr wrap="square" rtlCol="0">
            <a:spAutoFit/>
          </a:bodyPr>
          <a:lstStyle/>
          <a:p>
            <a:pPr algn="ctr"/>
            <a:r>
              <a:rPr lang="en-GB" sz="1200" b="1" u="sng" dirty="0">
                <a:solidFill>
                  <a:schemeClr val="bg1">
                    <a:lumMod val="50000"/>
                  </a:schemeClr>
                </a:solidFill>
              </a:rPr>
              <a:t>Conditional</a:t>
            </a:r>
            <a:r>
              <a:rPr lang="en-GB" sz="1200" dirty="0">
                <a:solidFill>
                  <a:schemeClr val="bg1">
                    <a:lumMod val="50000"/>
                  </a:schemeClr>
                </a:solidFill>
              </a:rPr>
              <a:t> Language Model</a:t>
            </a:r>
          </a:p>
          <a:p>
            <a:pPr algn="ctr"/>
            <a:r>
              <a:rPr lang="en-GB" sz="1200" dirty="0">
                <a:solidFill>
                  <a:schemeClr val="bg1">
                    <a:lumMod val="50000"/>
                  </a:schemeClr>
                </a:solidFill>
              </a:rPr>
              <a:t>(output is conditioned on encoding)</a:t>
            </a:r>
          </a:p>
        </p:txBody>
      </p:sp>
      <p:sp>
        <p:nvSpPr>
          <p:cNvPr id="114" name="Accolade ouvrante 113">
            <a:extLst>
              <a:ext uri="{FF2B5EF4-FFF2-40B4-BE49-F238E27FC236}">
                <a16:creationId xmlns:a16="http://schemas.microsoft.com/office/drawing/2014/main" id="{7A41DBC8-5079-CE1F-B27E-471BB2239617}"/>
              </a:ext>
            </a:extLst>
          </p:cNvPr>
          <p:cNvSpPr/>
          <p:nvPr/>
        </p:nvSpPr>
        <p:spPr>
          <a:xfrm rot="16200000">
            <a:off x="6966655" y="3303217"/>
            <a:ext cx="236498" cy="3310747"/>
          </a:xfrm>
          <a:prstGeom prst="leftBrac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115" name="ZoneTexte 114">
            <a:extLst>
              <a:ext uri="{FF2B5EF4-FFF2-40B4-BE49-F238E27FC236}">
                <a16:creationId xmlns:a16="http://schemas.microsoft.com/office/drawing/2014/main" id="{2394DECA-DF84-AA4D-9509-6FF90535639E}"/>
              </a:ext>
            </a:extLst>
          </p:cNvPr>
          <p:cNvSpPr txBox="1"/>
          <p:nvPr/>
        </p:nvSpPr>
        <p:spPr>
          <a:xfrm>
            <a:off x="9138931" y="2900390"/>
            <a:ext cx="2659369" cy="2031325"/>
          </a:xfrm>
          <a:prstGeom prst="rect">
            <a:avLst/>
          </a:prstGeom>
          <a:noFill/>
          <a:ln>
            <a:solidFill>
              <a:schemeClr val="tx1"/>
            </a:solidFill>
          </a:ln>
        </p:spPr>
        <p:txBody>
          <a:bodyPr wrap="square" rtlCol="0">
            <a:spAutoFit/>
          </a:bodyPr>
          <a:lstStyle/>
          <a:p>
            <a:r>
              <a:rPr lang="en-GB" dirty="0"/>
              <a:t>The change here compared to RNN seen before is that at the first step the decoder is fed with the encoding of the source sentence rather than with the 0 vector.</a:t>
            </a:r>
          </a:p>
        </p:txBody>
      </p:sp>
    </p:spTree>
    <p:extLst>
      <p:ext uri="{BB962C8B-B14F-4D97-AF65-F5344CB8AC3E}">
        <p14:creationId xmlns:p14="http://schemas.microsoft.com/office/powerpoint/2010/main" val="3260267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FBB89-EED1-0E7B-CD7B-2F91703DCB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84884B-FF8A-21D8-6605-1C970DEFE94F}"/>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7DCFF641-666B-AA45-9E46-67D0A9324C71}"/>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6C7A16D6-55C9-CE74-4048-4DAE0B09479B}"/>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Neural Machine Translation (NMT)</a:t>
            </a:r>
          </a:p>
        </p:txBody>
      </p:sp>
      <p:sp>
        <p:nvSpPr>
          <p:cNvPr id="3" name="ZoneTexte 2">
            <a:extLst>
              <a:ext uri="{FF2B5EF4-FFF2-40B4-BE49-F238E27FC236}">
                <a16:creationId xmlns:a16="http://schemas.microsoft.com/office/drawing/2014/main" id="{476CF35C-1E83-E0BB-C489-602FB8B83FD0}"/>
              </a:ext>
            </a:extLst>
          </p:cNvPr>
          <p:cNvSpPr txBox="1"/>
          <p:nvPr/>
        </p:nvSpPr>
        <p:spPr>
          <a:xfrm>
            <a:off x="977899" y="2123092"/>
            <a:ext cx="10515599" cy="988407"/>
          </a:xfrm>
          <a:prstGeom prst="rect">
            <a:avLst/>
          </a:prstGeom>
          <a:noFill/>
        </p:spPr>
        <p:txBody>
          <a:bodyPr wrap="square" rtlCol="0">
            <a:noAutofit/>
          </a:bodyPr>
          <a:lstStyle/>
          <a:p>
            <a:r>
              <a:rPr lang="en-GB" dirty="0"/>
              <a:t>The decoder is trained to produce the correct target sentence given in encoding.</a:t>
            </a:r>
          </a:p>
          <a:p>
            <a:r>
              <a:rPr lang="en-GB" dirty="0"/>
              <a:t>The encoder is trained to produce a better encoding to help the decoder.</a:t>
            </a:r>
          </a:p>
          <a:p>
            <a:r>
              <a:rPr lang="en-GB" dirty="0"/>
              <a:t>And the word embeddings are trained as well if they’re set up to do so.</a:t>
            </a:r>
          </a:p>
        </p:txBody>
      </p:sp>
      <p:grpSp>
        <p:nvGrpSpPr>
          <p:cNvPr id="75" name="Groupe 74">
            <a:extLst>
              <a:ext uri="{FF2B5EF4-FFF2-40B4-BE49-F238E27FC236}">
                <a16:creationId xmlns:a16="http://schemas.microsoft.com/office/drawing/2014/main" id="{845E3872-ED1E-1B09-7FFA-3A0D702B7A59}"/>
              </a:ext>
            </a:extLst>
          </p:cNvPr>
          <p:cNvGrpSpPr/>
          <p:nvPr/>
        </p:nvGrpSpPr>
        <p:grpSpPr>
          <a:xfrm>
            <a:off x="1991888" y="3489182"/>
            <a:ext cx="6933592" cy="2060951"/>
            <a:chOff x="1991888" y="3260832"/>
            <a:chExt cx="6933592" cy="2060951"/>
          </a:xfrm>
        </p:grpSpPr>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10CEFA6-BAE4-84F1-F32F-A5C05E81B8D8}"/>
                    </a:ext>
                  </a:extLst>
                </p:cNvPr>
                <p:cNvSpPr txBox="1"/>
                <p:nvPr/>
              </p:nvSpPr>
              <p:spPr>
                <a:xfrm>
                  <a:off x="3947849" y="4492076"/>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𝑖𝑠</m:t>
                        </m:r>
                      </m:oMath>
                    </m:oMathPara>
                  </a14:m>
                  <a:endParaRPr lang="en-GB" sz="1200" dirty="0"/>
                </a:p>
              </p:txBody>
            </p:sp>
          </mc:Choice>
          <mc:Fallback xmlns="">
            <p:sp>
              <p:nvSpPr>
                <p:cNvPr id="6" name="ZoneTexte 5">
                  <a:extLst>
                    <a:ext uri="{FF2B5EF4-FFF2-40B4-BE49-F238E27FC236}">
                      <a16:creationId xmlns:a16="http://schemas.microsoft.com/office/drawing/2014/main" id="{610CEFA6-BAE4-84F1-F32F-A5C05E81B8D8}"/>
                    </a:ext>
                  </a:extLst>
                </p:cNvPr>
                <p:cNvSpPr txBox="1">
                  <a:spLocks noRot="1" noChangeAspect="1" noMove="1" noResize="1" noEditPoints="1" noAdjustHandles="1" noChangeArrowheads="1" noChangeShapeType="1" noTextEdit="1"/>
                </p:cNvSpPr>
                <p:nvPr/>
              </p:nvSpPr>
              <p:spPr>
                <a:xfrm>
                  <a:off x="3947849" y="4492076"/>
                  <a:ext cx="271251" cy="184666"/>
                </a:xfrm>
                <a:prstGeom prst="rect">
                  <a:avLst/>
                </a:prstGeom>
                <a:blipFill>
                  <a:blip r:embed="rId2"/>
                  <a:stretch>
                    <a:fillRect/>
                  </a:stretch>
                </a:blipFill>
              </p:spPr>
              <p:txBody>
                <a:bodyPr/>
                <a:lstStyle/>
                <a:p>
                  <a:r>
                    <a:rPr lang="en-GB">
                      <a:noFill/>
                    </a:rPr>
                    <a:t> </a:t>
                  </a:r>
                </a:p>
              </p:txBody>
            </p:sp>
          </mc:Fallback>
        </mc:AlternateContent>
        <p:sp>
          <p:nvSpPr>
            <p:cNvPr id="7" name="Rectangle : coins arrondis 6">
              <a:extLst>
                <a:ext uri="{FF2B5EF4-FFF2-40B4-BE49-F238E27FC236}">
                  <a16:creationId xmlns:a16="http://schemas.microsoft.com/office/drawing/2014/main" id="{03B87D1C-14BF-3382-FFC9-866FD0EC34BB}"/>
                </a:ext>
              </a:extLst>
            </p:cNvPr>
            <p:cNvSpPr/>
            <p:nvPr/>
          </p:nvSpPr>
          <p:spPr>
            <a:xfrm>
              <a:off x="3902509" y="376432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8" name="Connecteur droit avec flèche 7">
              <a:extLst>
                <a:ext uri="{FF2B5EF4-FFF2-40B4-BE49-F238E27FC236}">
                  <a16:creationId xmlns:a16="http://schemas.microsoft.com/office/drawing/2014/main" id="{583550A4-AA5D-606E-3351-B74AD546DD91}"/>
                </a:ext>
              </a:extLst>
            </p:cNvPr>
            <p:cNvCxnSpPr>
              <a:cxnSpLocks/>
              <a:stCxn id="6" idx="0"/>
              <a:endCxn id="7" idx="2"/>
            </p:cNvCxnSpPr>
            <p:nvPr/>
          </p:nvCxnSpPr>
          <p:spPr>
            <a:xfrm flipH="1" flipV="1">
              <a:off x="4080945" y="4278820"/>
              <a:ext cx="2530"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65D5662B-58A2-F9CF-211E-E8C8888D9A61}"/>
                    </a:ext>
                  </a:extLst>
                </p:cNvPr>
                <p:cNvSpPr txBox="1"/>
                <p:nvPr/>
              </p:nvSpPr>
              <p:spPr>
                <a:xfrm>
                  <a:off x="4761517" y="4496192"/>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𝑑𝑒𝑎𝑑</m:t>
                        </m:r>
                      </m:oMath>
                    </m:oMathPara>
                  </a14:m>
                  <a:endParaRPr lang="en-GB" sz="1200" dirty="0"/>
                </a:p>
              </p:txBody>
            </p:sp>
          </mc:Choice>
          <mc:Fallback xmlns="">
            <p:sp>
              <p:nvSpPr>
                <p:cNvPr id="9" name="ZoneTexte 8">
                  <a:extLst>
                    <a:ext uri="{FF2B5EF4-FFF2-40B4-BE49-F238E27FC236}">
                      <a16:creationId xmlns:a16="http://schemas.microsoft.com/office/drawing/2014/main" id="{65D5662B-58A2-F9CF-211E-E8C8888D9A61}"/>
                    </a:ext>
                  </a:extLst>
                </p:cNvPr>
                <p:cNvSpPr txBox="1">
                  <a:spLocks noRot="1" noChangeAspect="1" noMove="1" noResize="1" noEditPoints="1" noAdjustHandles="1" noChangeArrowheads="1" noChangeShapeType="1" noTextEdit="1"/>
                </p:cNvSpPr>
                <p:nvPr/>
              </p:nvSpPr>
              <p:spPr>
                <a:xfrm>
                  <a:off x="4761517" y="4496192"/>
                  <a:ext cx="271251" cy="184666"/>
                </a:xfrm>
                <a:prstGeom prst="rect">
                  <a:avLst/>
                </a:prstGeom>
                <a:blipFill>
                  <a:blip r:embed="rId3"/>
                  <a:stretch>
                    <a:fillRect l="-17391" r="-39130" b="-6667"/>
                  </a:stretch>
                </a:blipFill>
              </p:spPr>
              <p:txBody>
                <a:bodyPr/>
                <a:lstStyle/>
                <a:p>
                  <a:r>
                    <a:rPr lang="en-GB">
                      <a:noFill/>
                    </a:rPr>
                    <a:t> </a:t>
                  </a:r>
                </a:p>
              </p:txBody>
            </p:sp>
          </mc:Fallback>
        </mc:AlternateContent>
        <p:sp>
          <p:nvSpPr>
            <p:cNvPr id="10" name="Rectangle : coins arrondis 9">
              <a:extLst>
                <a:ext uri="{FF2B5EF4-FFF2-40B4-BE49-F238E27FC236}">
                  <a16:creationId xmlns:a16="http://schemas.microsoft.com/office/drawing/2014/main" id="{E902407B-F828-FA1E-3738-2D80EC398EC0}"/>
                </a:ext>
              </a:extLst>
            </p:cNvPr>
            <p:cNvSpPr/>
            <p:nvPr/>
          </p:nvSpPr>
          <p:spPr>
            <a:xfrm>
              <a:off x="4716176" y="376843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1" name="Connecteur droit avec flèche 10">
              <a:extLst>
                <a:ext uri="{FF2B5EF4-FFF2-40B4-BE49-F238E27FC236}">
                  <a16:creationId xmlns:a16="http://schemas.microsoft.com/office/drawing/2014/main" id="{40B4761C-5A59-1CC1-C951-7018A1D1E74A}"/>
                </a:ext>
              </a:extLst>
            </p:cNvPr>
            <p:cNvCxnSpPr>
              <a:cxnSpLocks/>
              <a:stCxn id="9" idx="0"/>
              <a:endCxn id="10" idx="2"/>
            </p:cNvCxnSpPr>
            <p:nvPr/>
          </p:nvCxnSpPr>
          <p:spPr>
            <a:xfrm flipH="1" flipV="1">
              <a:off x="4894612" y="4282935"/>
              <a:ext cx="2531" cy="213257"/>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2262B1D0-D14A-6637-8908-C8CD11EAD9F8}"/>
                </a:ext>
              </a:extLst>
            </p:cNvPr>
            <p:cNvSpPr/>
            <p:nvPr/>
          </p:nvSpPr>
          <p:spPr>
            <a:xfrm>
              <a:off x="5529843" y="3772555"/>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3" name="Rectangle : coins arrondis 12">
              <a:extLst>
                <a:ext uri="{FF2B5EF4-FFF2-40B4-BE49-F238E27FC236}">
                  <a16:creationId xmlns:a16="http://schemas.microsoft.com/office/drawing/2014/main" id="{A994204A-BBC2-11B2-603A-544D99DF1891}"/>
                </a:ext>
              </a:extLst>
            </p:cNvPr>
            <p:cNvSpPr/>
            <p:nvPr/>
          </p:nvSpPr>
          <p:spPr>
            <a:xfrm>
              <a:off x="6335725" y="3776671"/>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14" name="Connecteur droit avec flèche 13">
              <a:extLst>
                <a:ext uri="{FF2B5EF4-FFF2-40B4-BE49-F238E27FC236}">
                  <a16:creationId xmlns:a16="http://schemas.microsoft.com/office/drawing/2014/main" id="{258DC485-A08E-836D-ED8C-26B00AF8DF42}"/>
                </a:ext>
              </a:extLst>
            </p:cNvPr>
            <p:cNvCxnSpPr>
              <a:stCxn id="7" idx="3"/>
              <a:endCxn id="10" idx="1"/>
            </p:cNvCxnSpPr>
            <p:nvPr/>
          </p:nvCxnSpPr>
          <p:spPr>
            <a:xfrm>
              <a:off x="4259380" y="402157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057E78EE-729B-0A94-EDF2-1679FF5274B1}"/>
                </a:ext>
              </a:extLst>
            </p:cNvPr>
            <p:cNvCxnSpPr/>
            <p:nvPr/>
          </p:nvCxnSpPr>
          <p:spPr>
            <a:xfrm>
              <a:off x="5073047" y="4033920"/>
              <a:ext cx="456795" cy="4116"/>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FCE73735-DA36-3D8F-21AB-FBA62B03E2C5}"/>
                </a:ext>
              </a:extLst>
            </p:cNvPr>
            <p:cNvCxnSpPr/>
            <p:nvPr/>
          </p:nvCxnSpPr>
          <p:spPr>
            <a:xfrm>
              <a:off x="5884499" y="4033920"/>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A0780CFA-AFA6-034F-3E1D-100AB54992D8}"/>
                    </a:ext>
                  </a:extLst>
                </p:cNvPr>
                <p:cNvSpPr txBox="1"/>
                <p:nvPr/>
              </p:nvSpPr>
              <p:spPr>
                <a:xfrm>
                  <a:off x="5433791" y="3260832"/>
                  <a:ext cx="560666" cy="153888"/>
                </a:xfrm>
                <a:prstGeom prst="rect">
                  <a:avLst/>
                </a:prstGeom>
                <a:noFill/>
              </p:spPr>
              <p:txBody>
                <a:bodyPr wrap="none" lIns="0" tIns="0" rIns="0" bIns="0" rtlCol="0">
                  <a:spAutoFit/>
                </a:bodyPr>
                <a:lstStyle/>
                <a:p>
                  <a14:m>
                    <m:oMath xmlns:m="http://schemas.openxmlformats.org/officeDocument/2006/math">
                      <m:r>
                        <a:rPr lang="fr-FR" sz="1000" b="0" i="1" smtClean="0">
                          <a:latin typeface="Cambria Math" panose="02040503050406030204" pitchFamily="18" charset="0"/>
                        </a:rPr>
                        <m:t>𝑙𝑒𝑚𝑒𝑢𝑟</m:t>
                      </m:r>
                    </m:oMath>
                  </a14:m>
                  <a:r>
                    <a:rPr lang="en-GB" sz="1000" b="0" dirty="0"/>
                    <a:t>ült</a:t>
                  </a:r>
                  <a:endParaRPr lang="fr-FR" sz="1000" b="0" dirty="0"/>
                </a:p>
              </p:txBody>
            </p:sp>
          </mc:Choice>
          <mc:Fallback xmlns="">
            <p:sp>
              <p:nvSpPr>
                <p:cNvPr id="17" name="ZoneTexte 16">
                  <a:extLst>
                    <a:ext uri="{FF2B5EF4-FFF2-40B4-BE49-F238E27FC236}">
                      <a16:creationId xmlns:a16="http://schemas.microsoft.com/office/drawing/2014/main" id="{A0780CFA-AFA6-034F-3E1D-100AB54992D8}"/>
                    </a:ext>
                  </a:extLst>
                </p:cNvPr>
                <p:cNvSpPr txBox="1">
                  <a:spLocks noRot="1" noChangeAspect="1" noMove="1" noResize="1" noEditPoints="1" noAdjustHandles="1" noChangeArrowheads="1" noChangeShapeType="1" noTextEdit="1"/>
                </p:cNvSpPr>
                <p:nvPr/>
              </p:nvSpPr>
              <p:spPr>
                <a:xfrm>
                  <a:off x="5433791" y="3260832"/>
                  <a:ext cx="560666" cy="153888"/>
                </a:xfrm>
                <a:prstGeom prst="rect">
                  <a:avLst/>
                </a:prstGeom>
                <a:blipFill>
                  <a:blip r:embed="rId4"/>
                  <a:stretch>
                    <a:fillRect l="-6667" t="-21429" r="-13333" b="-3571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AB0D7499-52E9-AC03-E020-6FB0D0AA63FD}"/>
                    </a:ext>
                  </a:extLst>
                </p:cNvPr>
                <p:cNvSpPr txBox="1"/>
                <p:nvPr/>
              </p:nvSpPr>
              <p:spPr>
                <a:xfrm>
                  <a:off x="6429407" y="3271090"/>
                  <a:ext cx="170624"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𝑎𝑧</m:t>
                        </m:r>
                      </m:oMath>
                    </m:oMathPara>
                  </a14:m>
                  <a:endParaRPr lang="en-GB" sz="1050" dirty="0"/>
                </a:p>
              </p:txBody>
            </p:sp>
          </mc:Choice>
          <mc:Fallback xmlns="">
            <p:sp>
              <p:nvSpPr>
                <p:cNvPr id="18" name="ZoneTexte 17">
                  <a:extLst>
                    <a:ext uri="{FF2B5EF4-FFF2-40B4-BE49-F238E27FC236}">
                      <a16:creationId xmlns:a16="http://schemas.microsoft.com/office/drawing/2014/main" id="{AB0D7499-52E9-AC03-E020-6FB0D0AA63FD}"/>
                    </a:ext>
                  </a:extLst>
                </p:cNvPr>
                <p:cNvSpPr txBox="1">
                  <a:spLocks noRot="1" noChangeAspect="1" noMove="1" noResize="1" noEditPoints="1" noAdjustHandles="1" noChangeArrowheads="1" noChangeShapeType="1" noTextEdit="1"/>
                </p:cNvSpPr>
                <p:nvPr/>
              </p:nvSpPr>
              <p:spPr>
                <a:xfrm>
                  <a:off x="6429407" y="3271090"/>
                  <a:ext cx="170624" cy="161583"/>
                </a:xfrm>
                <a:prstGeom prst="rect">
                  <a:avLst/>
                </a:prstGeom>
                <a:blipFill>
                  <a:blip r:embed="rId5"/>
                  <a:stretch>
                    <a:fillRect l="-14286" r="-14286"/>
                  </a:stretch>
                </a:blipFill>
              </p:spPr>
              <p:txBody>
                <a:bodyPr/>
                <a:lstStyle/>
                <a:p>
                  <a:r>
                    <a:rPr lang="en-GB">
                      <a:noFill/>
                    </a:rPr>
                    <a:t> </a:t>
                  </a:r>
                </a:p>
              </p:txBody>
            </p:sp>
          </mc:Fallback>
        </mc:AlternateContent>
        <p:cxnSp>
          <p:nvCxnSpPr>
            <p:cNvPr id="19" name="Connecteur droit avec flèche 18">
              <a:extLst>
                <a:ext uri="{FF2B5EF4-FFF2-40B4-BE49-F238E27FC236}">
                  <a16:creationId xmlns:a16="http://schemas.microsoft.com/office/drawing/2014/main" id="{EEB2002D-7D08-0D46-FF6E-E0C1673DCF31}"/>
                </a:ext>
              </a:extLst>
            </p:cNvPr>
            <p:cNvCxnSpPr>
              <a:cxnSpLocks/>
              <a:stCxn id="12" idx="0"/>
              <a:endCxn id="17" idx="2"/>
            </p:cNvCxnSpPr>
            <p:nvPr/>
          </p:nvCxnSpPr>
          <p:spPr>
            <a:xfrm flipV="1">
              <a:off x="5708279" y="3414720"/>
              <a:ext cx="5845" cy="35783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96757492-FEC4-825B-2D63-15D4044A45E7}"/>
                </a:ext>
              </a:extLst>
            </p:cNvPr>
            <p:cNvCxnSpPr>
              <a:cxnSpLocks/>
              <a:stCxn id="13" idx="0"/>
              <a:endCxn id="18" idx="2"/>
            </p:cNvCxnSpPr>
            <p:nvPr/>
          </p:nvCxnSpPr>
          <p:spPr>
            <a:xfrm flipV="1">
              <a:off x="6514161" y="3432673"/>
              <a:ext cx="558" cy="34399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1" name="Rectangle : coins arrondis 20">
              <a:extLst>
                <a:ext uri="{FF2B5EF4-FFF2-40B4-BE49-F238E27FC236}">
                  <a16:creationId xmlns:a16="http://schemas.microsoft.com/office/drawing/2014/main" id="{F6048B11-8472-5264-35D2-3B770AEEC1AD}"/>
                </a:ext>
              </a:extLst>
            </p:cNvPr>
            <p:cNvSpPr/>
            <p:nvPr/>
          </p:nvSpPr>
          <p:spPr>
            <a:xfrm>
              <a:off x="7147974" y="378544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2" name="Connecteur droit avec flèche 21">
              <a:extLst>
                <a:ext uri="{FF2B5EF4-FFF2-40B4-BE49-F238E27FC236}">
                  <a16:creationId xmlns:a16="http://schemas.microsoft.com/office/drawing/2014/main" id="{5D5A22A2-1C9B-D7D5-0629-0059330B7803}"/>
                </a:ext>
              </a:extLst>
            </p:cNvPr>
            <p:cNvCxnSpPr/>
            <p:nvPr/>
          </p:nvCxnSpPr>
          <p:spPr>
            <a:xfrm>
              <a:off x="6696748" y="4042697"/>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51C18D93-88C0-A7F8-C53F-5CB0183D0520}"/>
                    </a:ext>
                  </a:extLst>
                </p:cNvPr>
                <p:cNvSpPr txBox="1"/>
                <p:nvPr/>
              </p:nvSpPr>
              <p:spPr>
                <a:xfrm>
                  <a:off x="6915838" y="3282057"/>
                  <a:ext cx="817275"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𝑎𝑘𝑘𝑢𝑚𝑢𝑙</m:t>
                        </m:r>
                        <m:r>
                          <a:rPr lang="fr-FR" sz="1050" b="0" i="1" smtClean="0">
                            <a:latin typeface="Cambria Math" panose="02040503050406030204" pitchFamily="18" charset="0"/>
                          </a:rPr>
                          <m:t>à</m:t>
                        </m:r>
                        <m:r>
                          <a:rPr lang="fr-FR" sz="1050" b="0" i="1" smtClean="0">
                            <a:latin typeface="Cambria Math" panose="02040503050406030204" pitchFamily="18" charset="0"/>
                          </a:rPr>
                          <m:t>𝑡𝑜𝑟</m:t>
                        </m:r>
                      </m:oMath>
                    </m:oMathPara>
                  </a14:m>
                  <a:endParaRPr lang="en-GB" sz="1050" dirty="0"/>
                </a:p>
              </p:txBody>
            </p:sp>
          </mc:Choice>
          <mc:Fallback xmlns="">
            <p:sp>
              <p:nvSpPr>
                <p:cNvPr id="23" name="ZoneTexte 22">
                  <a:extLst>
                    <a:ext uri="{FF2B5EF4-FFF2-40B4-BE49-F238E27FC236}">
                      <a16:creationId xmlns:a16="http://schemas.microsoft.com/office/drawing/2014/main" id="{51C18D93-88C0-A7F8-C53F-5CB0183D0520}"/>
                    </a:ext>
                  </a:extLst>
                </p:cNvPr>
                <p:cNvSpPr txBox="1">
                  <a:spLocks noRot="1" noChangeAspect="1" noMove="1" noResize="1" noEditPoints="1" noAdjustHandles="1" noChangeArrowheads="1" noChangeShapeType="1" noTextEdit="1"/>
                </p:cNvSpPr>
                <p:nvPr/>
              </p:nvSpPr>
              <p:spPr>
                <a:xfrm>
                  <a:off x="6915838" y="3282057"/>
                  <a:ext cx="817275" cy="161583"/>
                </a:xfrm>
                <a:prstGeom prst="rect">
                  <a:avLst/>
                </a:prstGeom>
                <a:blipFill>
                  <a:blip r:embed="rId6"/>
                  <a:stretch>
                    <a:fillRect l="-4545" r="-3030" b="-7692"/>
                  </a:stretch>
                </a:blipFill>
              </p:spPr>
              <p:txBody>
                <a:bodyPr/>
                <a:lstStyle/>
                <a:p>
                  <a:r>
                    <a:rPr lang="en-GB">
                      <a:noFill/>
                    </a:rPr>
                    <a:t> </a:t>
                  </a:r>
                </a:p>
              </p:txBody>
            </p:sp>
          </mc:Fallback>
        </mc:AlternateContent>
        <p:cxnSp>
          <p:nvCxnSpPr>
            <p:cNvPr id="24" name="Connecteur droit avec flèche 23">
              <a:extLst>
                <a:ext uri="{FF2B5EF4-FFF2-40B4-BE49-F238E27FC236}">
                  <a16:creationId xmlns:a16="http://schemas.microsoft.com/office/drawing/2014/main" id="{DBC26163-66F8-C312-3FA0-D4B24D6B424D}"/>
                </a:ext>
              </a:extLst>
            </p:cNvPr>
            <p:cNvCxnSpPr>
              <a:cxnSpLocks/>
              <a:stCxn id="21" idx="0"/>
              <a:endCxn id="23" idx="2"/>
            </p:cNvCxnSpPr>
            <p:nvPr/>
          </p:nvCxnSpPr>
          <p:spPr>
            <a:xfrm flipH="1" flipV="1">
              <a:off x="7324476" y="3443640"/>
              <a:ext cx="1934" cy="34180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8" name="Rectangle : coins arrondis 27">
              <a:extLst>
                <a:ext uri="{FF2B5EF4-FFF2-40B4-BE49-F238E27FC236}">
                  <a16:creationId xmlns:a16="http://schemas.microsoft.com/office/drawing/2014/main" id="{984D10C7-8014-90BE-7705-76963917CD98}"/>
                </a:ext>
              </a:extLst>
            </p:cNvPr>
            <p:cNvSpPr/>
            <p:nvPr/>
          </p:nvSpPr>
          <p:spPr>
            <a:xfrm>
              <a:off x="2268155" y="375907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29" name="Connecteur droit avec flèche 28">
              <a:extLst>
                <a:ext uri="{FF2B5EF4-FFF2-40B4-BE49-F238E27FC236}">
                  <a16:creationId xmlns:a16="http://schemas.microsoft.com/office/drawing/2014/main" id="{A9644A2D-DFC0-5AA4-8E5B-F070984D10AF}"/>
                </a:ext>
              </a:extLst>
            </p:cNvPr>
            <p:cNvCxnSpPr>
              <a:cxnSpLocks/>
              <a:endCxn id="28" idx="2"/>
            </p:cNvCxnSpPr>
            <p:nvPr/>
          </p:nvCxnSpPr>
          <p:spPr>
            <a:xfrm flipH="1" flipV="1">
              <a:off x="2446591" y="4273570"/>
              <a:ext cx="2530"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30" name="Rectangle : coins arrondis 29">
              <a:extLst>
                <a:ext uri="{FF2B5EF4-FFF2-40B4-BE49-F238E27FC236}">
                  <a16:creationId xmlns:a16="http://schemas.microsoft.com/office/drawing/2014/main" id="{9EEA6559-9F5C-C75C-73A7-7700277F8C77}"/>
                </a:ext>
              </a:extLst>
            </p:cNvPr>
            <p:cNvSpPr/>
            <p:nvPr/>
          </p:nvSpPr>
          <p:spPr>
            <a:xfrm>
              <a:off x="3081822" y="376318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31" name="Connecteur droit avec flèche 30">
              <a:extLst>
                <a:ext uri="{FF2B5EF4-FFF2-40B4-BE49-F238E27FC236}">
                  <a16:creationId xmlns:a16="http://schemas.microsoft.com/office/drawing/2014/main" id="{700039F4-E0B2-DC2F-B54F-DB16E3A3F63A}"/>
                </a:ext>
              </a:extLst>
            </p:cNvPr>
            <p:cNvCxnSpPr>
              <a:cxnSpLocks/>
              <a:endCxn id="30" idx="2"/>
            </p:cNvCxnSpPr>
            <p:nvPr/>
          </p:nvCxnSpPr>
          <p:spPr>
            <a:xfrm flipH="1" flipV="1">
              <a:off x="3260258" y="4277684"/>
              <a:ext cx="2531"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CA252BBA-3AF8-9223-9FA9-3DE73BFAF93D}"/>
                </a:ext>
              </a:extLst>
            </p:cNvPr>
            <p:cNvCxnSpPr>
              <a:stCxn id="28" idx="3"/>
              <a:endCxn id="30" idx="1"/>
            </p:cNvCxnSpPr>
            <p:nvPr/>
          </p:nvCxnSpPr>
          <p:spPr>
            <a:xfrm>
              <a:off x="2625026" y="401632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56E56338-CD7E-95BE-CFE2-D79364FA6028}"/>
                </a:ext>
              </a:extLst>
            </p:cNvPr>
            <p:cNvCxnSpPr>
              <a:cxnSpLocks/>
              <a:endCxn id="7" idx="1"/>
            </p:cNvCxnSpPr>
            <p:nvPr/>
          </p:nvCxnSpPr>
          <p:spPr>
            <a:xfrm flipV="1">
              <a:off x="3438693" y="4021572"/>
              <a:ext cx="463816" cy="7098"/>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295F1E44-54D6-4920-858B-4DAF913F2DBE}"/>
                    </a:ext>
                  </a:extLst>
                </p:cNvPr>
                <p:cNvSpPr txBox="1"/>
                <p:nvPr/>
              </p:nvSpPr>
              <p:spPr>
                <a:xfrm>
                  <a:off x="2310965" y="4502472"/>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𝑇h𝑒</m:t>
                        </m:r>
                      </m:oMath>
                    </m:oMathPara>
                  </a14:m>
                  <a:endParaRPr lang="en-GB" sz="1200" dirty="0"/>
                </a:p>
              </p:txBody>
            </p:sp>
          </mc:Choice>
          <mc:Fallback xmlns="">
            <p:sp>
              <p:nvSpPr>
                <p:cNvPr id="34" name="ZoneTexte 33">
                  <a:extLst>
                    <a:ext uri="{FF2B5EF4-FFF2-40B4-BE49-F238E27FC236}">
                      <a16:creationId xmlns:a16="http://schemas.microsoft.com/office/drawing/2014/main" id="{295F1E44-54D6-4920-858B-4DAF913F2DBE}"/>
                    </a:ext>
                  </a:extLst>
                </p:cNvPr>
                <p:cNvSpPr txBox="1">
                  <a:spLocks noRot="1" noChangeAspect="1" noMove="1" noResize="1" noEditPoints="1" noAdjustHandles="1" noChangeArrowheads="1" noChangeShapeType="1" noTextEdit="1"/>
                </p:cNvSpPr>
                <p:nvPr/>
              </p:nvSpPr>
              <p:spPr>
                <a:xfrm>
                  <a:off x="2310965" y="4502472"/>
                  <a:ext cx="271251" cy="184666"/>
                </a:xfrm>
                <a:prstGeom prst="rect">
                  <a:avLst/>
                </a:prstGeom>
                <a:blipFill>
                  <a:blip r:embed="rId7"/>
                  <a:stretch>
                    <a:fillRect l="-13043" r="-13043"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CA33D49F-C016-765A-1EB6-FAC22253A71C}"/>
                    </a:ext>
                  </a:extLst>
                </p:cNvPr>
                <p:cNvSpPr txBox="1"/>
                <p:nvPr/>
              </p:nvSpPr>
              <p:spPr>
                <a:xfrm>
                  <a:off x="3110866" y="4507646"/>
                  <a:ext cx="271251" cy="184666"/>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𝑏𝑎𝑡𝑡𝑒𝑟𝑦</m:t>
                        </m:r>
                      </m:oMath>
                    </m:oMathPara>
                  </a14:m>
                  <a:endParaRPr lang="en-GB" sz="1200" dirty="0"/>
                </a:p>
              </p:txBody>
            </p:sp>
          </mc:Choice>
          <mc:Fallback xmlns="">
            <p:sp>
              <p:nvSpPr>
                <p:cNvPr id="35" name="ZoneTexte 34">
                  <a:extLst>
                    <a:ext uri="{FF2B5EF4-FFF2-40B4-BE49-F238E27FC236}">
                      <a16:creationId xmlns:a16="http://schemas.microsoft.com/office/drawing/2014/main" id="{CA33D49F-C016-765A-1EB6-FAC22253A71C}"/>
                    </a:ext>
                  </a:extLst>
                </p:cNvPr>
                <p:cNvSpPr txBox="1">
                  <a:spLocks noRot="1" noChangeAspect="1" noMove="1" noResize="1" noEditPoints="1" noAdjustHandles="1" noChangeArrowheads="1" noChangeShapeType="1" noTextEdit="1"/>
                </p:cNvSpPr>
                <p:nvPr/>
              </p:nvSpPr>
              <p:spPr>
                <a:xfrm>
                  <a:off x="3110866" y="4507646"/>
                  <a:ext cx="271251" cy="184666"/>
                </a:xfrm>
                <a:prstGeom prst="rect">
                  <a:avLst/>
                </a:prstGeom>
                <a:blipFill>
                  <a:blip r:embed="rId8"/>
                  <a:stretch>
                    <a:fillRect l="-21739" r="-108696" b="-31250"/>
                  </a:stretch>
                </a:blipFill>
              </p:spPr>
              <p:txBody>
                <a:bodyPr/>
                <a:lstStyle/>
                <a:p>
                  <a:r>
                    <a:rPr lang="en-GB">
                      <a:noFill/>
                    </a:rPr>
                    <a:t> </a:t>
                  </a:r>
                </a:p>
              </p:txBody>
            </p:sp>
          </mc:Fallback>
        </mc:AlternateContent>
        <p:sp>
          <p:nvSpPr>
            <p:cNvPr id="36" name="ZoneTexte 35">
              <a:extLst>
                <a:ext uri="{FF2B5EF4-FFF2-40B4-BE49-F238E27FC236}">
                  <a16:creationId xmlns:a16="http://schemas.microsoft.com/office/drawing/2014/main" id="{119E7CBA-DD63-65E0-79EC-C4966DFBB84E}"/>
                </a:ext>
              </a:extLst>
            </p:cNvPr>
            <p:cNvSpPr txBox="1"/>
            <p:nvPr/>
          </p:nvSpPr>
          <p:spPr>
            <a:xfrm>
              <a:off x="1991888" y="4723348"/>
              <a:ext cx="909403" cy="215444"/>
            </a:xfrm>
            <a:prstGeom prst="rect">
              <a:avLst/>
            </a:prstGeom>
            <a:noFill/>
          </p:spPr>
          <p:txBody>
            <a:bodyPr wrap="square" rtlCol="0">
              <a:spAutoFit/>
            </a:bodyPr>
            <a:lstStyle/>
            <a:p>
              <a:r>
                <a:rPr lang="en-GB" sz="800" dirty="0"/>
                <a:t>[0.00154, 0.58..]</a:t>
              </a:r>
            </a:p>
          </p:txBody>
        </p:sp>
        <p:sp>
          <p:nvSpPr>
            <p:cNvPr id="37" name="ZoneTexte 36">
              <a:extLst>
                <a:ext uri="{FF2B5EF4-FFF2-40B4-BE49-F238E27FC236}">
                  <a16:creationId xmlns:a16="http://schemas.microsoft.com/office/drawing/2014/main" id="{925B716C-F3BA-FA07-620D-0F0D656F8C62}"/>
                </a:ext>
              </a:extLst>
            </p:cNvPr>
            <p:cNvSpPr txBox="1"/>
            <p:nvPr/>
          </p:nvSpPr>
          <p:spPr>
            <a:xfrm>
              <a:off x="2809477" y="4729527"/>
              <a:ext cx="987823" cy="215444"/>
            </a:xfrm>
            <a:prstGeom prst="rect">
              <a:avLst/>
            </a:prstGeom>
            <a:noFill/>
          </p:spPr>
          <p:txBody>
            <a:bodyPr wrap="square" rtlCol="0">
              <a:spAutoFit/>
            </a:bodyPr>
            <a:lstStyle/>
            <a:p>
              <a:pPr algn="ctr"/>
              <a:r>
                <a:rPr lang="en-GB" sz="800" dirty="0"/>
                <a:t>[0.0445, 0.078..]</a:t>
              </a:r>
            </a:p>
          </p:txBody>
        </p:sp>
        <p:sp>
          <p:nvSpPr>
            <p:cNvPr id="38" name="ZoneTexte 37">
              <a:extLst>
                <a:ext uri="{FF2B5EF4-FFF2-40B4-BE49-F238E27FC236}">
                  <a16:creationId xmlns:a16="http://schemas.microsoft.com/office/drawing/2014/main" id="{A284E407-2344-6A99-22C8-CB59C5314B84}"/>
                </a:ext>
              </a:extLst>
            </p:cNvPr>
            <p:cNvSpPr txBox="1"/>
            <p:nvPr/>
          </p:nvSpPr>
          <p:spPr>
            <a:xfrm>
              <a:off x="3613449" y="4741229"/>
              <a:ext cx="976042" cy="215444"/>
            </a:xfrm>
            <a:prstGeom prst="rect">
              <a:avLst/>
            </a:prstGeom>
            <a:noFill/>
          </p:spPr>
          <p:txBody>
            <a:bodyPr wrap="square" rtlCol="0">
              <a:spAutoFit/>
            </a:bodyPr>
            <a:lstStyle/>
            <a:p>
              <a:pPr algn="ctr"/>
              <a:r>
                <a:rPr lang="en-GB" sz="800" dirty="0"/>
                <a:t>[0.0021, 0.008..]</a:t>
              </a:r>
            </a:p>
          </p:txBody>
        </p:sp>
        <p:sp>
          <p:nvSpPr>
            <p:cNvPr id="39" name="ZoneTexte 38">
              <a:extLst>
                <a:ext uri="{FF2B5EF4-FFF2-40B4-BE49-F238E27FC236}">
                  <a16:creationId xmlns:a16="http://schemas.microsoft.com/office/drawing/2014/main" id="{F581838D-0E1B-F22E-03D3-E3EBC3DCF158}"/>
                </a:ext>
              </a:extLst>
            </p:cNvPr>
            <p:cNvSpPr txBox="1"/>
            <p:nvPr/>
          </p:nvSpPr>
          <p:spPr>
            <a:xfrm>
              <a:off x="4496758" y="4731197"/>
              <a:ext cx="896066" cy="223350"/>
            </a:xfrm>
            <a:prstGeom prst="rect">
              <a:avLst/>
            </a:prstGeom>
            <a:noFill/>
          </p:spPr>
          <p:txBody>
            <a:bodyPr wrap="square" rtlCol="0">
              <a:spAutoFit/>
            </a:bodyPr>
            <a:lstStyle/>
            <a:p>
              <a:pPr algn="ctr"/>
              <a:r>
                <a:rPr lang="en-GB" sz="800" dirty="0"/>
                <a:t>[0.1821, 0.082..]</a:t>
              </a:r>
            </a:p>
          </p:txBody>
        </p:sp>
        <p:sp>
          <p:nvSpPr>
            <p:cNvPr id="40" name="ZoneTexte 39">
              <a:extLst>
                <a:ext uri="{FF2B5EF4-FFF2-40B4-BE49-F238E27FC236}">
                  <a16:creationId xmlns:a16="http://schemas.microsoft.com/office/drawing/2014/main" id="{61FD522D-5B6F-40EC-D310-66BB6AC20934}"/>
                </a:ext>
              </a:extLst>
            </p:cNvPr>
            <p:cNvSpPr txBox="1"/>
            <p:nvPr/>
          </p:nvSpPr>
          <p:spPr>
            <a:xfrm>
              <a:off x="2534497" y="5044784"/>
              <a:ext cx="2157904" cy="276999"/>
            </a:xfrm>
            <a:prstGeom prst="rect">
              <a:avLst/>
            </a:prstGeom>
            <a:noFill/>
          </p:spPr>
          <p:txBody>
            <a:bodyPr wrap="square" rtlCol="0">
              <a:spAutoFit/>
            </a:bodyPr>
            <a:lstStyle/>
            <a:p>
              <a:pPr algn="ctr"/>
              <a:r>
                <a:rPr lang="en-GB" sz="1200" dirty="0">
                  <a:solidFill>
                    <a:schemeClr val="bg1">
                      <a:lumMod val="50000"/>
                    </a:schemeClr>
                  </a:solidFill>
                </a:rPr>
                <a:t>Some type of RNN</a:t>
              </a:r>
            </a:p>
          </p:txBody>
        </p:sp>
        <p:cxnSp>
          <p:nvCxnSpPr>
            <p:cNvPr id="51" name="Connecteur droit avec flèche 50">
              <a:extLst>
                <a:ext uri="{FF2B5EF4-FFF2-40B4-BE49-F238E27FC236}">
                  <a16:creationId xmlns:a16="http://schemas.microsoft.com/office/drawing/2014/main" id="{EBDE5F8C-B9B2-2A82-ADCB-67B8FD3E55A7}"/>
                </a:ext>
              </a:extLst>
            </p:cNvPr>
            <p:cNvCxnSpPr>
              <a:cxnSpLocks/>
            </p:cNvCxnSpPr>
            <p:nvPr/>
          </p:nvCxnSpPr>
          <p:spPr>
            <a:xfrm flipH="1" flipV="1">
              <a:off x="5701785" y="4306709"/>
              <a:ext cx="2530"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52" name="ZoneTexte 51">
              <a:extLst>
                <a:ext uri="{FF2B5EF4-FFF2-40B4-BE49-F238E27FC236}">
                  <a16:creationId xmlns:a16="http://schemas.microsoft.com/office/drawing/2014/main" id="{B22C1419-B6FD-5ADC-27F3-12191E2FE496}"/>
                </a:ext>
              </a:extLst>
            </p:cNvPr>
            <p:cNvSpPr txBox="1"/>
            <p:nvPr/>
          </p:nvSpPr>
          <p:spPr>
            <a:xfrm>
              <a:off x="5472100" y="4497903"/>
              <a:ext cx="524197" cy="184666"/>
            </a:xfrm>
            <a:prstGeom prst="rect">
              <a:avLst/>
            </a:prstGeom>
            <a:noFill/>
          </p:spPr>
          <p:txBody>
            <a:bodyPr wrap="square" lIns="0" tIns="0" rIns="0" bIns="0" rtlCol="0" anchor="ctr">
              <a:spAutoFit/>
            </a:bodyPr>
            <a:lstStyle/>
            <a:p>
              <a:r>
                <a:rPr lang="en-GB" sz="1200" dirty="0"/>
                <a:t>&lt;start&gt;</a:t>
              </a:r>
            </a:p>
          </p:txBody>
        </p:sp>
        <p:sp>
          <p:nvSpPr>
            <p:cNvPr id="53" name="ZoneTexte 52">
              <a:extLst>
                <a:ext uri="{FF2B5EF4-FFF2-40B4-BE49-F238E27FC236}">
                  <a16:creationId xmlns:a16="http://schemas.microsoft.com/office/drawing/2014/main" id="{3A271481-76D4-0156-CC2E-2EB6204B2995}"/>
                </a:ext>
              </a:extLst>
            </p:cNvPr>
            <p:cNvSpPr txBox="1"/>
            <p:nvPr/>
          </p:nvSpPr>
          <p:spPr>
            <a:xfrm>
              <a:off x="5319868" y="4717036"/>
              <a:ext cx="909403" cy="215444"/>
            </a:xfrm>
            <a:prstGeom prst="rect">
              <a:avLst/>
            </a:prstGeom>
            <a:noFill/>
          </p:spPr>
          <p:txBody>
            <a:bodyPr wrap="square" rtlCol="0">
              <a:spAutoFit/>
            </a:bodyPr>
            <a:lstStyle/>
            <a:p>
              <a:r>
                <a:rPr lang="en-GB" sz="800" dirty="0"/>
                <a:t>[0.0704, 0.18..]</a:t>
              </a:r>
            </a:p>
          </p:txBody>
        </p:sp>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191B9462-B358-7729-4CAC-ED9E82562E0F}"/>
                    </a:ext>
                  </a:extLst>
                </p:cNvPr>
                <p:cNvSpPr txBox="1"/>
                <p:nvPr/>
              </p:nvSpPr>
              <p:spPr>
                <a:xfrm>
                  <a:off x="6217904" y="4493994"/>
                  <a:ext cx="560666" cy="153888"/>
                </a:xfrm>
                <a:prstGeom prst="rect">
                  <a:avLst/>
                </a:prstGeom>
                <a:noFill/>
              </p:spPr>
              <p:txBody>
                <a:bodyPr wrap="none" lIns="0" tIns="0" rIns="0" bIns="0" rtlCol="0">
                  <a:spAutoFit/>
                </a:bodyPr>
                <a:lstStyle/>
                <a:p>
                  <a14:m>
                    <m:oMath xmlns:m="http://schemas.openxmlformats.org/officeDocument/2006/math">
                      <m:r>
                        <a:rPr lang="fr-FR" sz="1000" b="0" i="1" smtClean="0">
                          <a:latin typeface="Cambria Math" panose="02040503050406030204" pitchFamily="18" charset="0"/>
                        </a:rPr>
                        <m:t>𝑙𝑒𝑚𝑒𝑢𝑟</m:t>
                      </m:r>
                    </m:oMath>
                  </a14:m>
                  <a:r>
                    <a:rPr lang="en-GB" sz="1000" b="0" dirty="0"/>
                    <a:t>ült</a:t>
                  </a:r>
                  <a:endParaRPr lang="fr-FR" sz="1000" b="0" dirty="0"/>
                </a:p>
              </p:txBody>
            </p:sp>
          </mc:Choice>
          <mc:Fallback xmlns="">
            <p:sp>
              <p:nvSpPr>
                <p:cNvPr id="54" name="ZoneTexte 53">
                  <a:extLst>
                    <a:ext uri="{FF2B5EF4-FFF2-40B4-BE49-F238E27FC236}">
                      <a16:creationId xmlns:a16="http://schemas.microsoft.com/office/drawing/2014/main" id="{191B9462-B358-7729-4CAC-ED9E82562E0F}"/>
                    </a:ext>
                  </a:extLst>
                </p:cNvPr>
                <p:cNvSpPr txBox="1">
                  <a:spLocks noRot="1" noChangeAspect="1" noMove="1" noResize="1" noEditPoints="1" noAdjustHandles="1" noChangeArrowheads="1" noChangeShapeType="1" noTextEdit="1"/>
                </p:cNvSpPr>
                <p:nvPr/>
              </p:nvSpPr>
              <p:spPr>
                <a:xfrm>
                  <a:off x="6217904" y="4493994"/>
                  <a:ext cx="560666" cy="153888"/>
                </a:xfrm>
                <a:prstGeom prst="rect">
                  <a:avLst/>
                </a:prstGeom>
                <a:blipFill>
                  <a:blip r:embed="rId9"/>
                  <a:stretch>
                    <a:fillRect l="-8889" t="-33333" r="-13333" b="-58333"/>
                  </a:stretch>
                </a:blipFill>
              </p:spPr>
              <p:txBody>
                <a:bodyPr/>
                <a:lstStyle/>
                <a:p>
                  <a:r>
                    <a:rPr lang="en-GB">
                      <a:noFill/>
                    </a:rPr>
                    <a:t> </a:t>
                  </a:r>
                </a:p>
              </p:txBody>
            </p:sp>
          </mc:Fallback>
        </mc:AlternateContent>
        <p:sp>
          <p:nvSpPr>
            <p:cNvPr id="57" name="ZoneTexte 56">
              <a:extLst>
                <a:ext uri="{FF2B5EF4-FFF2-40B4-BE49-F238E27FC236}">
                  <a16:creationId xmlns:a16="http://schemas.microsoft.com/office/drawing/2014/main" id="{7776105D-BD9D-B2C6-7360-DB0B17DE6604}"/>
                </a:ext>
              </a:extLst>
            </p:cNvPr>
            <p:cNvSpPr txBox="1"/>
            <p:nvPr/>
          </p:nvSpPr>
          <p:spPr>
            <a:xfrm>
              <a:off x="6076512" y="4729527"/>
              <a:ext cx="909403" cy="215444"/>
            </a:xfrm>
            <a:prstGeom prst="rect">
              <a:avLst/>
            </a:prstGeom>
            <a:noFill/>
          </p:spPr>
          <p:txBody>
            <a:bodyPr wrap="square" rtlCol="0">
              <a:spAutoFit/>
            </a:bodyPr>
            <a:lstStyle/>
            <a:p>
              <a:r>
                <a:rPr lang="en-GB" sz="800" dirty="0"/>
                <a:t>[0.0636, 0.55..]</a:t>
              </a:r>
            </a:p>
          </p:txBody>
        </p:sp>
        <p:cxnSp>
          <p:nvCxnSpPr>
            <p:cNvPr id="58" name="Connecteur en arc 57">
              <a:extLst>
                <a:ext uri="{FF2B5EF4-FFF2-40B4-BE49-F238E27FC236}">
                  <a16:creationId xmlns:a16="http://schemas.microsoft.com/office/drawing/2014/main" id="{7E43E7CD-FDC9-2776-AC15-B73DBE6BB3E6}"/>
                </a:ext>
              </a:extLst>
            </p:cNvPr>
            <p:cNvCxnSpPr>
              <a:stCxn id="17" idx="3"/>
              <a:endCxn id="54" idx="1"/>
            </p:cNvCxnSpPr>
            <p:nvPr/>
          </p:nvCxnSpPr>
          <p:spPr>
            <a:xfrm>
              <a:off x="5994457" y="3337776"/>
              <a:ext cx="223447" cy="1233162"/>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9" name="ZoneTexte 58">
                  <a:extLst>
                    <a:ext uri="{FF2B5EF4-FFF2-40B4-BE49-F238E27FC236}">
                      <a16:creationId xmlns:a16="http://schemas.microsoft.com/office/drawing/2014/main" id="{9C8E4396-A5E3-AB6C-CF9B-071553AB0B5C}"/>
                    </a:ext>
                  </a:extLst>
                </p:cNvPr>
                <p:cNvSpPr txBox="1"/>
                <p:nvPr/>
              </p:nvSpPr>
              <p:spPr>
                <a:xfrm>
                  <a:off x="7254464" y="4481407"/>
                  <a:ext cx="124966" cy="1615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050" b="0" i="1" smtClean="0">
                            <a:latin typeface="Cambria Math" panose="02040503050406030204" pitchFamily="18" charset="0"/>
                          </a:rPr>
                          <m:t>𝑎𝑧</m:t>
                        </m:r>
                      </m:oMath>
                    </m:oMathPara>
                  </a14:m>
                  <a:endParaRPr lang="en-GB" sz="1050" dirty="0"/>
                </a:p>
              </p:txBody>
            </p:sp>
          </mc:Choice>
          <mc:Fallback xmlns="">
            <p:sp>
              <p:nvSpPr>
                <p:cNvPr id="59" name="ZoneTexte 58">
                  <a:extLst>
                    <a:ext uri="{FF2B5EF4-FFF2-40B4-BE49-F238E27FC236}">
                      <a16:creationId xmlns:a16="http://schemas.microsoft.com/office/drawing/2014/main" id="{9C8E4396-A5E3-AB6C-CF9B-071553AB0B5C}"/>
                    </a:ext>
                  </a:extLst>
                </p:cNvPr>
                <p:cNvSpPr txBox="1">
                  <a:spLocks noRot="1" noChangeAspect="1" noMove="1" noResize="1" noEditPoints="1" noAdjustHandles="1" noChangeArrowheads="1" noChangeShapeType="1" noTextEdit="1"/>
                </p:cNvSpPr>
                <p:nvPr/>
              </p:nvSpPr>
              <p:spPr>
                <a:xfrm>
                  <a:off x="7254464" y="4481407"/>
                  <a:ext cx="124966" cy="161583"/>
                </a:xfrm>
                <a:prstGeom prst="rect">
                  <a:avLst/>
                </a:prstGeom>
                <a:blipFill>
                  <a:blip r:embed="rId10"/>
                  <a:stretch>
                    <a:fillRect l="-27273" r="-36364"/>
                  </a:stretch>
                </a:blipFill>
              </p:spPr>
              <p:txBody>
                <a:bodyPr/>
                <a:lstStyle/>
                <a:p>
                  <a:r>
                    <a:rPr lang="en-GB">
                      <a:noFill/>
                    </a:rPr>
                    <a:t> </a:t>
                  </a:r>
                </a:p>
              </p:txBody>
            </p:sp>
          </mc:Fallback>
        </mc:AlternateContent>
        <p:cxnSp>
          <p:nvCxnSpPr>
            <p:cNvPr id="60" name="Connecteur droit avec flèche 59">
              <a:extLst>
                <a:ext uri="{FF2B5EF4-FFF2-40B4-BE49-F238E27FC236}">
                  <a16:creationId xmlns:a16="http://schemas.microsoft.com/office/drawing/2014/main" id="{2AFFEEC1-4D33-67F7-CF7D-5C4325DFE3F3}"/>
                </a:ext>
              </a:extLst>
            </p:cNvPr>
            <p:cNvCxnSpPr>
              <a:cxnSpLocks/>
            </p:cNvCxnSpPr>
            <p:nvPr/>
          </p:nvCxnSpPr>
          <p:spPr>
            <a:xfrm flipH="1" flipV="1">
              <a:off x="6526846" y="4309777"/>
              <a:ext cx="2530"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1" name="Connecteur droit avec flèche 60">
              <a:extLst>
                <a:ext uri="{FF2B5EF4-FFF2-40B4-BE49-F238E27FC236}">
                  <a16:creationId xmlns:a16="http://schemas.microsoft.com/office/drawing/2014/main" id="{6B306537-58D6-0169-B3A6-62F07696951B}"/>
                </a:ext>
              </a:extLst>
            </p:cNvPr>
            <p:cNvCxnSpPr>
              <a:cxnSpLocks/>
              <a:endCxn id="21" idx="2"/>
            </p:cNvCxnSpPr>
            <p:nvPr/>
          </p:nvCxnSpPr>
          <p:spPr>
            <a:xfrm flipH="1" flipV="1">
              <a:off x="7326410" y="4299944"/>
              <a:ext cx="7005"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2" name="Connecteur en arc 61">
              <a:extLst>
                <a:ext uri="{FF2B5EF4-FFF2-40B4-BE49-F238E27FC236}">
                  <a16:creationId xmlns:a16="http://schemas.microsoft.com/office/drawing/2014/main" id="{8BE830FC-554B-3E3A-F856-BD887936F769}"/>
                </a:ext>
              </a:extLst>
            </p:cNvPr>
            <p:cNvCxnSpPr>
              <a:cxnSpLocks/>
              <a:stCxn id="18" idx="3"/>
              <a:endCxn id="59" idx="1"/>
            </p:cNvCxnSpPr>
            <p:nvPr/>
          </p:nvCxnSpPr>
          <p:spPr>
            <a:xfrm>
              <a:off x="6600031" y="3351882"/>
              <a:ext cx="654433" cy="1210317"/>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3" name="Rectangle : coins arrondis 62">
              <a:extLst>
                <a:ext uri="{FF2B5EF4-FFF2-40B4-BE49-F238E27FC236}">
                  <a16:creationId xmlns:a16="http://schemas.microsoft.com/office/drawing/2014/main" id="{C7A957FC-0562-6095-BEEB-87ACF0253F7C}"/>
                </a:ext>
              </a:extLst>
            </p:cNvPr>
            <p:cNvSpPr/>
            <p:nvPr/>
          </p:nvSpPr>
          <p:spPr>
            <a:xfrm>
              <a:off x="8057121" y="379070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cxnSp>
          <p:nvCxnSpPr>
            <p:cNvPr id="64" name="Connecteur droit avec flèche 63">
              <a:extLst>
                <a:ext uri="{FF2B5EF4-FFF2-40B4-BE49-F238E27FC236}">
                  <a16:creationId xmlns:a16="http://schemas.microsoft.com/office/drawing/2014/main" id="{175AC777-B2AA-C1D4-96A5-16E6336D806D}"/>
                </a:ext>
              </a:extLst>
            </p:cNvPr>
            <p:cNvCxnSpPr>
              <a:cxnSpLocks/>
              <a:stCxn id="21" idx="3"/>
              <a:endCxn id="63" idx="1"/>
            </p:cNvCxnSpPr>
            <p:nvPr/>
          </p:nvCxnSpPr>
          <p:spPr>
            <a:xfrm>
              <a:off x="7504846" y="4042696"/>
              <a:ext cx="552275" cy="526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ZoneTexte 64">
                  <a:extLst>
                    <a:ext uri="{FF2B5EF4-FFF2-40B4-BE49-F238E27FC236}">
                      <a16:creationId xmlns:a16="http://schemas.microsoft.com/office/drawing/2014/main" id="{ADEA8CBD-DF31-56D1-E189-002F445389EF}"/>
                    </a:ext>
                  </a:extLst>
                </p:cNvPr>
                <p:cNvSpPr txBox="1"/>
                <p:nvPr/>
              </p:nvSpPr>
              <p:spPr>
                <a:xfrm>
                  <a:off x="8040885" y="3287317"/>
                  <a:ext cx="391133"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1050" dirty="0"/>
                          <m:t>&lt;</m:t>
                        </m:r>
                        <m:r>
                          <m:rPr>
                            <m:nor/>
                          </m:rPr>
                          <a:rPr lang="fr-FR" sz="1050" b="0" i="0" dirty="0" smtClean="0"/>
                          <m:t>end</m:t>
                        </m:r>
                        <m:r>
                          <m:rPr>
                            <m:nor/>
                          </m:rPr>
                          <a:rPr lang="en-GB" sz="1050" dirty="0"/>
                          <m:t>&gt;</m:t>
                        </m:r>
                      </m:oMath>
                    </m:oMathPara>
                  </a14:m>
                  <a:endParaRPr lang="en-GB" sz="1050" dirty="0"/>
                </a:p>
              </p:txBody>
            </p:sp>
          </mc:Choice>
          <mc:Fallback xmlns="">
            <p:sp>
              <p:nvSpPr>
                <p:cNvPr id="65" name="ZoneTexte 64">
                  <a:extLst>
                    <a:ext uri="{FF2B5EF4-FFF2-40B4-BE49-F238E27FC236}">
                      <a16:creationId xmlns:a16="http://schemas.microsoft.com/office/drawing/2014/main" id="{ADEA8CBD-DF31-56D1-E189-002F445389EF}"/>
                    </a:ext>
                  </a:extLst>
                </p:cNvPr>
                <p:cNvSpPr txBox="1">
                  <a:spLocks noRot="1" noChangeAspect="1" noMove="1" noResize="1" noEditPoints="1" noAdjustHandles="1" noChangeArrowheads="1" noChangeShapeType="1" noTextEdit="1"/>
                </p:cNvSpPr>
                <p:nvPr/>
              </p:nvSpPr>
              <p:spPr>
                <a:xfrm>
                  <a:off x="8040885" y="3287317"/>
                  <a:ext cx="391133" cy="161583"/>
                </a:xfrm>
                <a:prstGeom prst="rect">
                  <a:avLst/>
                </a:prstGeom>
                <a:blipFill>
                  <a:blip r:embed="rId11"/>
                  <a:stretch>
                    <a:fillRect l="-6452" r="-6452" b="-7143"/>
                  </a:stretch>
                </a:blipFill>
              </p:spPr>
              <p:txBody>
                <a:bodyPr/>
                <a:lstStyle/>
                <a:p>
                  <a:r>
                    <a:rPr lang="en-GB">
                      <a:noFill/>
                    </a:rPr>
                    <a:t> </a:t>
                  </a:r>
                </a:p>
              </p:txBody>
            </p:sp>
          </mc:Fallback>
        </mc:AlternateContent>
        <p:cxnSp>
          <p:nvCxnSpPr>
            <p:cNvPr id="66" name="Connecteur droit avec flèche 65">
              <a:extLst>
                <a:ext uri="{FF2B5EF4-FFF2-40B4-BE49-F238E27FC236}">
                  <a16:creationId xmlns:a16="http://schemas.microsoft.com/office/drawing/2014/main" id="{2D8BD8AA-B80C-5795-4CE4-65DE226C9E67}"/>
                </a:ext>
              </a:extLst>
            </p:cNvPr>
            <p:cNvCxnSpPr>
              <a:cxnSpLocks/>
              <a:stCxn id="63" idx="0"/>
              <a:endCxn id="65" idx="2"/>
            </p:cNvCxnSpPr>
            <p:nvPr/>
          </p:nvCxnSpPr>
          <p:spPr>
            <a:xfrm flipV="1">
              <a:off x="8235557" y="3448900"/>
              <a:ext cx="895" cy="34180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4310E31E-4565-9AF8-7240-FE0F00BB9545}"/>
                    </a:ext>
                  </a:extLst>
                </p:cNvPr>
                <p:cNvSpPr txBox="1"/>
                <p:nvPr/>
              </p:nvSpPr>
              <p:spPr>
                <a:xfrm>
                  <a:off x="8100110" y="4486667"/>
                  <a:ext cx="825370" cy="1615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1050" i="1">
                            <a:latin typeface="Cambria Math" panose="02040503050406030204" pitchFamily="18" charset="0"/>
                          </a:rPr>
                          <m:t>𝑎𝑘𝑘𝑢𝑚𝑢𝑙</m:t>
                        </m:r>
                        <m:r>
                          <a:rPr lang="fr-FR" sz="1050" i="1">
                            <a:latin typeface="Cambria Math" panose="02040503050406030204" pitchFamily="18" charset="0"/>
                          </a:rPr>
                          <m:t>à</m:t>
                        </m:r>
                        <m:r>
                          <a:rPr lang="fr-FR" sz="1050" i="1">
                            <a:latin typeface="Cambria Math" panose="02040503050406030204" pitchFamily="18" charset="0"/>
                          </a:rPr>
                          <m:t>𝑡𝑜𝑟</m:t>
                        </m:r>
                      </m:oMath>
                    </m:oMathPara>
                  </a14:m>
                  <a:endParaRPr lang="en-GB" sz="1050" dirty="0"/>
                </a:p>
              </p:txBody>
            </p:sp>
          </mc:Choice>
          <mc:Fallback xmlns="">
            <p:sp>
              <p:nvSpPr>
                <p:cNvPr id="67" name="ZoneTexte 66">
                  <a:extLst>
                    <a:ext uri="{FF2B5EF4-FFF2-40B4-BE49-F238E27FC236}">
                      <a16:creationId xmlns:a16="http://schemas.microsoft.com/office/drawing/2014/main" id="{4310E31E-4565-9AF8-7240-FE0F00BB9545}"/>
                    </a:ext>
                  </a:extLst>
                </p:cNvPr>
                <p:cNvSpPr txBox="1">
                  <a:spLocks noRot="1" noChangeAspect="1" noMove="1" noResize="1" noEditPoints="1" noAdjustHandles="1" noChangeArrowheads="1" noChangeShapeType="1" noTextEdit="1"/>
                </p:cNvSpPr>
                <p:nvPr/>
              </p:nvSpPr>
              <p:spPr>
                <a:xfrm>
                  <a:off x="8100110" y="4486667"/>
                  <a:ext cx="825370" cy="161583"/>
                </a:xfrm>
                <a:prstGeom prst="rect">
                  <a:avLst/>
                </a:prstGeom>
                <a:blipFill>
                  <a:blip r:embed="rId12"/>
                  <a:stretch>
                    <a:fillRect l="-3030" r="-3030" b="-7692"/>
                  </a:stretch>
                </a:blipFill>
              </p:spPr>
              <p:txBody>
                <a:bodyPr/>
                <a:lstStyle/>
                <a:p>
                  <a:r>
                    <a:rPr lang="en-GB">
                      <a:noFill/>
                    </a:rPr>
                    <a:t> </a:t>
                  </a:r>
                </a:p>
              </p:txBody>
            </p:sp>
          </mc:Fallback>
        </mc:AlternateContent>
        <p:cxnSp>
          <p:nvCxnSpPr>
            <p:cNvPr id="68" name="Connecteur droit avec flèche 67">
              <a:extLst>
                <a:ext uri="{FF2B5EF4-FFF2-40B4-BE49-F238E27FC236}">
                  <a16:creationId xmlns:a16="http://schemas.microsoft.com/office/drawing/2014/main" id="{811EAEBB-DDB3-4224-CC80-D04E143286EE}"/>
                </a:ext>
              </a:extLst>
            </p:cNvPr>
            <p:cNvCxnSpPr>
              <a:cxnSpLocks/>
              <a:endCxn id="63" idx="2"/>
            </p:cNvCxnSpPr>
            <p:nvPr/>
          </p:nvCxnSpPr>
          <p:spPr>
            <a:xfrm flipH="1" flipV="1">
              <a:off x="8235557" y="4305204"/>
              <a:ext cx="7005" cy="216000"/>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9" name="Connecteur en arc 68">
              <a:extLst>
                <a:ext uri="{FF2B5EF4-FFF2-40B4-BE49-F238E27FC236}">
                  <a16:creationId xmlns:a16="http://schemas.microsoft.com/office/drawing/2014/main" id="{4B55B923-8B5C-8DEE-516D-6353DE689D1F}"/>
                </a:ext>
              </a:extLst>
            </p:cNvPr>
            <p:cNvCxnSpPr>
              <a:cxnSpLocks/>
              <a:stCxn id="23" idx="3"/>
              <a:endCxn id="67" idx="1"/>
            </p:cNvCxnSpPr>
            <p:nvPr/>
          </p:nvCxnSpPr>
          <p:spPr>
            <a:xfrm>
              <a:off x="7733113" y="3362849"/>
              <a:ext cx="366997" cy="1204610"/>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0" name="ZoneTexte 69">
              <a:extLst>
                <a:ext uri="{FF2B5EF4-FFF2-40B4-BE49-F238E27FC236}">
                  <a16:creationId xmlns:a16="http://schemas.microsoft.com/office/drawing/2014/main" id="{91326526-CFB6-7BC3-5A6A-9B91B84B50E4}"/>
                </a:ext>
              </a:extLst>
            </p:cNvPr>
            <p:cNvSpPr txBox="1"/>
            <p:nvPr/>
          </p:nvSpPr>
          <p:spPr>
            <a:xfrm>
              <a:off x="6985915" y="4720503"/>
              <a:ext cx="909403" cy="215444"/>
            </a:xfrm>
            <a:prstGeom prst="rect">
              <a:avLst/>
            </a:prstGeom>
            <a:noFill/>
          </p:spPr>
          <p:txBody>
            <a:bodyPr wrap="square" rtlCol="0">
              <a:spAutoFit/>
            </a:bodyPr>
            <a:lstStyle/>
            <a:p>
              <a:r>
                <a:rPr lang="en-GB" sz="800" dirty="0"/>
                <a:t>[0.0114, 0.06..]</a:t>
              </a:r>
            </a:p>
          </p:txBody>
        </p:sp>
        <p:sp>
          <p:nvSpPr>
            <p:cNvPr id="71" name="ZoneTexte 70">
              <a:extLst>
                <a:ext uri="{FF2B5EF4-FFF2-40B4-BE49-F238E27FC236}">
                  <a16:creationId xmlns:a16="http://schemas.microsoft.com/office/drawing/2014/main" id="{ED9E01FF-0508-0920-ED8B-298620EC8BC7}"/>
                </a:ext>
              </a:extLst>
            </p:cNvPr>
            <p:cNvSpPr txBox="1"/>
            <p:nvPr/>
          </p:nvSpPr>
          <p:spPr>
            <a:xfrm>
              <a:off x="7916611" y="4705883"/>
              <a:ext cx="909403" cy="215444"/>
            </a:xfrm>
            <a:prstGeom prst="rect">
              <a:avLst/>
            </a:prstGeom>
            <a:noFill/>
          </p:spPr>
          <p:txBody>
            <a:bodyPr wrap="square" rtlCol="0">
              <a:spAutoFit/>
            </a:bodyPr>
            <a:lstStyle/>
            <a:p>
              <a:r>
                <a:rPr lang="en-GB" sz="800" dirty="0"/>
                <a:t>[0.0012, 0.035..]</a:t>
              </a:r>
            </a:p>
          </p:txBody>
        </p:sp>
        <p:sp>
          <p:nvSpPr>
            <p:cNvPr id="72" name="Accolade ouvrante 71">
              <a:extLst>
                <a:ext uri="{FF2B5EF4-FFF2-40B4-BE49-F238E27FC236}">
                  <a16:creationId xmlns:a16="http://schemas.microsoft.com/office/drawing/2014/main" id="{A65BB489-BE53-2C97-F879-5AA7CFC7622B}"/>
                </a:ext>
              </a:extLst>
            </p:cNvPr>
            <p:cNvSpPr/>
            <p:nvPr/>
          </p:nvSpPr>
          <p:spPr>
            <a:xfrm rot="16200000">
              <a:off x="3550355" y="3315917"/>
              <a:ext cx="236498" cy="3310747"/>
            </a:xfrm>
            <a:prstGeom prst="leftBrac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74" name="Accolade ouvrante 73">
              <a:extLst>
                <a:ext uri="{FF2B5EF4-FFF2-40B4-BE49-F238E27FC236}">
                  <a16:creationId xmlns:a16="http://schemas.microsoft.com/office/drawing/2014/main" id="{35CEDA22-381F-B06B-D631-8EB35D249A95}"/>
                </a:ext>
              </a:extLst>
            </p:cNvPr>
            <p:cNvSpPr/>
            <p:nvPr/>
          </p:nvSpPr>
          <p:spPr>
            <a:xfrm rot="16200000">
              <a:off x="6966655" y="3303217"/>
              <a:ext cx="236498" cy="3310747"/>
            </a:xfrm>
            <a:prstGeom prst="leftBrac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grpSp>
      <p:cxnSp>
        <p:nvCxnSpPr>
          <p:cNvPr id="76" name="Connecteur droit avec flèche 75">
            <a:extLst>
              <a:ext uri="{FF2B5EF4-FFF2-40B4-BE49-F238E27FC236}">
                <a16:creationId xmlns:a16="http://schemas.microsoft.com/office/drawing/2014/main" id="{101AA373-28F5-DAD3-7B89-87956E5CCFEA}"/>
              </a:ext>
            </a:extLst>
          </p:cNvPr>
          <p:cNvCxnSpPr>
            <a:cxnSpLocks/>
          </p:cNvCxnSpPr>
          <p:nvPr/>
        </p:nvCxnSpPr>
        <p:spPr>
          <a:xfrm flipH="1">
            <a:off x="2625026" y="4366137"/>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onnecteur droit avec flèche 77">
            <a:extLst>
              <a:ext uri="{FF2B5EF4-FFF2-40B4-BE49-F238E27FC236}">
                <a16:creationId xmlns:a16="http://schemas.microsoft.com/office/drawing/2014/main" id="{348BCD93-4D68-0554-7B98-5A794DD54725}"/>
              </a:ext>
            </a:extLst>
          </p:cNvPr>
          <p:cNvCxnSpPr>
            <a:cxnSpLocks/>
          </p:cNvCxnSpPr>
          <p:nvPr/>
        </p:nvCxnSpPr>
        <p:spPr>
          <a:xfrm flipH="1">
            <a:off x="3449985" y="4367498"/>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620F435B-ED2F-3550-D6F2-31C444048154}"/>
              </a:ext>
            </a:extLst>
          </p:cNvPr>
          <p:cNvCxnSpPr>
            <a:cxnSpLocks/>
          </p:cNvCxnSpPr>
          <p:nvPr/>
        </p:nvCxnSpPr>
        <p:spPr>
          <a:xfrm flipH="1">
            <a:off x="4264518" y="4340820"/>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0" name="Connecteur droit avec flèche 79">
            <a:extLst>
              <a:ext uri="{FF2B5EF4-FFF2-40B4-BE49-F238E27FC236}">
                <a16:creationId xmlns:a16="http://schemas.microsoft.com/office/drawing/2014/main" id="{1A543BE1-1F05-5684-4DA7-053B3AEE061B}"/>
              </a:ext>
            </a:extLst>
          </p:cNvPr>
          <p:cNvCxnSpPr>
            <a:cxnSpLocks/>
          </p:cNvCxnSpPr>
          <p:nvPr/>
        </p:nvCxnSpPr>
        <p:spPr>
          <a:xfrm flipH="1">
            <a:off x="5062516" y="4350744"/>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onnecteur droit avec flèche 80">
            <a:extLst>
              <a:ext uri="{FF2B5EF4-FFF2-40B4-BE49-F238E27FC236}">
                <a16:creationId xmlns:a16="http://schemas.microsoft.com/office/drawing/2014/main" id="{A411BDAA-8CC6-D429-412C-B560F7AB07A2}"/>
              </a:ext>
            </a:extLst>
          </p:cNvPr>
          <p:cNvCxnSpPr>
            <a:cxnSpLocks/>
          </p:cNvCxnSpPr>
          <p:nvPr/>
        </p:nvCxnSpPr>
        <p:spPr>
          <a:xfrm flipH="1">
            <a:off x="5888420" y="4356067"/>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2" name="Connecteur droit avec flèche 81">
            <a:extLst>
              <a:ext uri="{FF2B5EF4-FFF2-40B4-BE49-F238E27FC236}">
                <a16:creationId xmlns:a16="http://schemas.microsoft.com/office/drawing/2014/main" id="{77EFAD92-8CAE-0ADC-26AE-B2156A8C2699}"/>
              </a:ext>
            </a:extLst>
          </p:cNvPr>
          <p:cNvCxnSpPr>
            <a:cxnSpLocks/>
          </p:cNvCxnSpPr>
          <p:nvPr/>
        </p:nvCxnSpPr>
        <p:spPr>
          <a:xfrm flipH="1">
            <a:off x="6711659" y="4361910"/>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3" name="Connecteur droit avec flèche 82">
            <a:extLst>
              <a:ext uri="{FF2B5EF4-FFF2-40B4-BE49-F238E27FC236}">
                <a16:creationId xmlns:a16="http://schemas.microsoft.com/office/drawing/2014/main" id="{89D2AA4D-7326-7C7A-0C25-D384059FA7F4}"/>
              </a:ext>
            </a:extLst>
          </p:cNvPr>
          <p:cNvCxnSpPr>
            <a:cxnSpLocks/>
          </p:cNvCxnSpPr>
          <p:nvPr/>
        </p:nvCxnSpPr>
        <p:spPr>
          <a:xfrm flipH="1">
            <a:off x="7517113" y="4366236"/>
            <a:ext cx="432000" cy="2656"/>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4CBE4F93-3BE1-F8A4-40F2-85EAAFC2E759}"/>
              </a:ext>
            </a:extLst>
          </p:cNvPr>
          <p:cNvCxnSpPr>
            <a:cxnSpLocks/>
          </p:cNvCxnSpPr>
          <p:nvPr/>
        </p:nvCxnSpPr>
        <p:spPr>
          <a:xfrm flipH="1">
            <a:off x="7406603" y="3682024"/>
            <a:ext cx="9604" cy="296539"/>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6" name="Connecteur droit avec flèche 85">
            <a:extLst>
              <a:ext uri="{FF2B5EF4-FFF2-40B4-BE49-F238E27FC236}">
                <a16:creationId xmlns:a16="http://schemas.microsoft.com/office/drawing/2014/main" id="{B9FCB770-CF59-5B02-6D6C-B8D7D3FFE9DF}"/>
              </a:ext>
            </a:extLst>
          </p:cNvPr>
          <p:cNvCxnSpPr>
            <a:cxnSpLocks/>
          </p:cNvCxnSpPr>
          <p:nvPr/>
        </p:nvCxnSpPr>
        <p:spPr>
          <a:xfrm flipH="1">
            <a:off x="8316110" y="3685928"/>
            <a:ext cx="9604" cy="296539"/>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7" name="Connecteur droit avec flèche 86">
            <a:extLst>
              <a:ext uri="{FF2B5EF4-FFF2-40B4-BE49-F238E27FC236}">
                <a16:creationId xmlns:a16="http://schemas.microsoft.com/office/drawing/2014/main" id="{E1E44DDA-0808-0A80-5BA2-1B4515644400}"/>
              </a:ext>
            </a:extLst>
          </p:cNvPr>
          <p:cNvCxnSpPr>
            <a:cxnSpLocks/>
          </p:cNvCxnSpPr>
          <p:nvPr/>
        </p:nvCxnSpPr>
        <p:spPr>
          <a:xfrm flipH="1">
            <a:off x="6584773" y="3690885"/>
            <a:ext cx="9604" cy="296539"/>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onnecteur droit avec flèche 87">
            <a:extLst>
              <a:ext uri="{FF2B5EF4-FFF2-40B4-BE49-F238E27FC236}">
                <a16:creationId xmlns:a16="http://schemas.microsoft.com/office/drawing/2014/main" id="{1C9B68D8-6EF2-58C9-55C4-354B922301B4}"/>
              </a:ext>
            </a:extLst>
          </p:cNvPr>
          <p:cNvCxnSpPr>
            <a:cxnSpLocks/>
          </p:cNvCxnSpPr>
          <p:nvPr/>
        </p:nvCxnSpPr>
        <p:spPr>
          <a:xfrm flipH="1">
            <a:off x="5802303" y="3674241"/>
            <a:ext cx="9604" cy="296539"/>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0" name="Connecteur droit avec flèche 89">
            <a:extLst>
              <a:ext uri="{FF2B5EF4-FFF2-40B4-BE49-F238E27FC236}">
                <a16:creationId xmlns:a16="http://schemas.microsoft.com/office/drawing/2014/main" id="{088E4C02-F490-1D3A-084A-AB140A0C4884}"/>
              </a:ext>
            </a:extLst>
          </p:cNvPr>
          <p:cNvCxnSpPr>
            <a:cxnSpLocks/>
          </p:cNvCxnSpPr>
          <p:nvPr/>
        </p:nvCxnSpPr>
        <p:spPr>
          <a:xfrm flipH="1">
            <a:off x="8316110" y="45493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onnecteur droit avec flèche 90">
            <a:extLst>
              <a:ext uri="{FF2B5EF4-FFF2-40B4-BE49-F238E27FC236}">
                <a16:creationId xmlns:a16="http://schemas.microsoft.com/office/drawing/2014/main" id="{75496A23-8559-FC7D-51ED-D8486E915E24}"/>
              </a:ext>
            </a:extLst>
          </p:cNvPr>
          <p:cNvCxnSpPr>
            <a:cxnSpLocks/>
          </p:cNvCxnSpPr>
          <p:nvPr/>
        </p:nvCxnSpPr>
        <p:spPr>
          <a:xfrm flipH="1">
            <a:off x="7401710" y="45493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2" name="Connecteur droit avec flèche 91">
            <a:extLst>
              <a:ext uri="{FF2B5EF4-FFF2-40B4-BE49-F238E27FC236}">
                <a16:creationId xmlns:a16="http://schemas.microsoft.com/office/drawing/2014/main" id="{45ACCACE-C29D-A0C1-2671-E88A882D8794}"/>
              </a:ext>
            </a:extLst>
          </p:cNvPr>
          <p:cNvCxnSpPr>
            <a:cxnSpLocks/>
          </p:cNvCxnSpPr>
          <p:nvPr/>
        </p:nvCxnSpPr>
        <p:spPr>
          <a:xfrm flipH="1">
            <a:off x="6576210" y="45747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3" name="Connecteur droit avec flèche 92">
            <a:extLst>
              <a:ext uri="{FF2B5EF4-FFF2-40B4-BE49-F238E27FC236}">
                <a16:creationId xmlns:a16="http://schemas.microsoft.com/office/drawing/2014/main" id="{6D1F8363-20FE-2FF5-4DA0-FF67562B5441}"/>
              </a:ext>
            </a:extLst>
          </p:cNvPr>
          <p:cNvCxnSpPr>
            <a:cxnSpLocks/>
          </p:cNvCxnSpPr>
          <p:nvPr/>
        </p:nvCxnSpPr>
        <p:spPr>
          <a:xfrm flipH="1">
            <a:off x="5750710" y="45620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93">
            <a:extLst>
              <a:ext uri="{FF2B5EF4-FFF2-40B4-BE49-F238E27FC236}">
                <a16:creationId xmlns:a16="http://schemas.microsoft.com/office/drawing/2014/main" id="{588F9F5E-14AB-62F5-7970-9CBD1DD069FD}"/>
              </a:ext>
            </a:extLst>
          </p:cNvPr>
          <p:cNvCxnSpPr>
            <a:cxnSpLocks/>
          </p:cNvCxnSpPr>
          <p:nvPr/>
        </p:nvCxnSpPr>
        <p:spPr>
          <a:xfrm flipH="1">
            <a:off x="4937910" y="45366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5" name="Connecteur droit avec flèche 94">
            <a:extLst>
              <a:ext uri="{FF2B5EF4-FFF2-40B4-BE49-F238E27FC236}">
                <a16:creationId xmlns:a16="http://schemas.microsoft.com/office/drawing/2014/main" id="{51F9E0B5-FC05-14E1-9353-348E737914AC}"/>
              </a:ext>
            </a:extLst>
          </p:cNvPr>
          <p:cNvCxnSpPr>
            <a:cxnSpLocks/>
          </p:cNvCxnSpPr>
          <p:nvPr/>
        </p:nvCxnSpPr>
        <p:spPr>
          <a:xfrm flipH="1">
            <a:off x="4112410" y="45366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6" name="Connecteur droit avec flèche 95">
            <a:extLst>
              <a:ext uri="{FF2B5EF4-FFF2-40B4-BE49-F238E27FC236}">
                <a16:creationId xmlns:a16="http://schemas.microsoft.com/office/drawing/2014/main" id="{5E9F5D16-3C38-6430-96DF-296F25A80E9F}"/>
              </a:ext>
            </a:extLst>
          </p:cNvPr>
          <p:cNvCxnSpPr>
            <a:cxnSpLocks/>
          </p:cNvCxnSpPr>
          <p:nvPr/>
        </p:nvCxnSpPr>
        <p:spPr>
          <a:xfrm flipH="1">
            <a:off x="3299610" y="45493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onnecteur droit avec flèche 96">
            <a:extLst>
              <a:ext uri="{FF2B5EF4-FFF2-40B4-BE49-F238E27FC236}">
                <a16:creationId xmlns:a16="http://schemas.microsoft.com/office/drawing/2014/main" id="{366B614A-4DFD-05C5-7B0B-6BBEDBE2D284}"/>
              </a:ext>
            </a:extLst>
          </p:cNvPr>
          <p:cNvCxnSpPr>
            <a:cxnSpLocks/>
          </p:cNvCxnSpPr>
          <p:nvPr/>
        </p:nvCxnSpPr>
        <p:spPr>
          <a:xfrm flipH="1">
            <a:off x="2486810" y="4523985"/>
            <a:ext cx="9604" cy="216000"/>
          </a:xfrm>
          <a:prstGeom prst="straightConnector1">
            <a:avLst/>
          </a:prstGeom>
          <a:noFill/>
          <a:ln w="952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8" name="ZoneTexte 97">
            <a:extLst>
              <a:ext uri="{FF2B5EF4-FFF2-40B4-BE49-F238E27FC236}">
                <a16:creationId xmlns:a16="http://schemas.microsoft.com/office/drawing/2014/main" id="{9BD9B266-3670-B36E-4CFD-03CAA2119731}"/>
              </a:ext>
            </a:extLst>
          </p:cNvPr>
          <p:cNvSpPr txBox="1"/>
          <p:nvPr/>
        </p:nvSpPr>
        <p:spPr>
          <a:xfrm>
            <a:off x="5633296" y="5171784"/>
            <a:ext cx="3142403" cy="461665"/>
          </a:xfrm>
          <a:prstGeom prst="rect">
            <a:avLst/>
          </a:prstGeom>
          <a:noFill/>
        </p:spPr>
        <p:txBody>
          <a:bodyPr wrap="square" rtlCol="0">
            <a:spAutoFit/>
          </a:bodyPr>
          <a:lstStyle/>
          <a:p>
            <a:pPr algn="ctr"/>
            <a:r>
              <a:rPr lang="en-GB" sz="1200" b="1" dirty="0">
                <a:solidFill>
                  <a:schemeClr val="bg1">
                    <a:lumMod val="50000"/>
                  </a:schemeClr>
                </a:solidFill>
              </a:rPr>
              <a:t>Conditional</a:t>
            </a:r>
            <a:r>
              <a:rPr lang="en-GB" sz="1200" dirty="0">
                <a:solidFill>
                  <a:schemeClr val="bg1">
                    <a:lumMod val="50000"/>
                  </a:schemeClr>
                </a:solidFill>
              </a:rPr>
              <a:t> Language Model</a:t>
            </a:r>
          </a:p>
          <a:p>
            <a:pPr algn="ctr"/>
            <a:r>
              <a:rPr lang="en-GB" sz="1200" dirty="0">
                <a:solidFill>
                  <a:schemeClr val="bg1">
                    <a:lumMod val="50000"/>
                  </a:schemeClr>
                </a:solidFill>
              </a:rPr>
              <a:t>(output is conditioned on encoding)</a:t>
            </a:r>
          </a:p>
        </p:txBody>
      </p:sp>
      <p:sp>
        <p:nvSpPr>
          <p:cNvPr id="99" name="ZoneTexte 98">
            <a:extLst>
              <a:ext uri="{FF2B5EF4-FFF2-40B4-BE49-F238E27FC236}">
                <a16:creationId xmlns:a16="http://schemas.microsoft.com/office/drawing/2014/main" id="{46AB8E8A-C343-884F-8C34-64413E2D8584}"/>
              </a:ext>
            </a:extLst>
          </p:cNvPr>
          <p:cNvSpPr txBox="1"/>
          <p:nvPr/>
        </p:nvSpPr>
        <p:spPr>
          <a:xfrm>
            <a:off x="1709677" y="5856275"/>
            <a:ext cx="6803118" cy="369332"/>
          </a:xfrm>
          <a:prstGeom prst="rect">
            <a:avLst/>
          </a:prstGeom>
          <a:noFill/>
        </p:spPr>
        <p:txBody>
          <a:bodyPr wrap="square" rtlCol="0">
            <a:noAutofit/>
          </a:bodyPr>
          <a:lstStyle/>
          <a:p>
            <a:pPr algn="ctr"/>
            <a:r>
              <a:rPr lang="en-GB" b="1" dirty="0"/>
              <a:t>Trained end-to-end as a single system</a:t>
            </a:r>
          </a:p>
        </p:txBody>
      </p:sp>
    </p:spTree>
    <p:extLst>
      <p:ext uri="{BB962C8B-B14F-4D97-AF65-F5344CB8AC3E}">
        <p14:creationId xmlns:p14="http://schemas.microsoft.com/office/powerpoint/2010/main" val="167932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6BC85-6BDC-AE24-F8EF-B932E93409C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26F2031-4AB5-FC89-60E4-6FDA2D0A8E98}"/>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DE9B3F34-9821-A47E-9F9D-5497033D5440}"/>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81E49560-49BC-E24A-6E22-6696CFAEA586}"/>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Neural Machine Translation (NMT) Challenges</a:t>
            </a:r>
          </a:p>
        </p:txBody>
      </p:sp>
      <p:sp>
        <p:nvSpPr>
          <p:cNvPr id="3" name="ZoneTexte 2">
            <a:extLst>
              <a:ext uri="{FF2B5EF4-FFF2-40B4-BE49-F238E27FC236}">
                <a16:creationId xmlns:a16="http://schemas.microsoft.com/office/drawing/2014/main" id="{5917FF65-DFA4-1864-03C9-57472F608C53}"/>
              </a:ext>
            </a:extLst>
          </p:cNvPr>
          <p:cNvSpPr txBox="1"/>
          <p:nvPr/>
        </p:nvSpPr>
        <p:spPr>
          <a:xfrm>
            <a:off x="977899" y="1933912"/>
            <a:ext cx="2280308" cy="369332"/>
          </a:xfrm>
          <a:prstGeom prst="rect">
            <a:avLst/>
          </a:prstGeom>
          <a:noFill/>
        </p:spPr>
        <p:txBody>
          <a:bodyPr wrap="square" rtlCol="0">
            <a:noAutofit/>
          </a:bodyPr>
          <a:lstStyle/>
          <a:p>
            <a:r>
              <a:rPr lang="en-GB" sz="2000" b="1" dirty="0"/>
              <a:t>1. Alignments</a:t>
            </a:r>
          </a:p>
        </p:txBody>
      </p:sp>
      <p:grpSp>
        <p:nvGrpSpPr>
          <p:cNvPr id="6" name="Groupe 5">
            <a:extLst>
              <a:ext uri="{FF2B5EF4-FFF2-40B4-BE49-F238E27FC236}">
                <a16:creationId xmlns:a16="http://schemas.microsoft.com/office/drawing/2014/main" id="{43243036-AD55-5E7C-9ADD-28CA08D00427}"/>
              </a:ext>
            </a:extLst>
          </p:cNvPr>
          <p:cNvGrpSpPr/>
          <p:nvPr/>
        </p:nvGrpSpPr>
        <p:grpSpPr>
          <a:xfrm>
            <a:off x="304799" y="2427990"/>
            <a:ext cx="10689022" cy="914300"/>
            <a:chOff x="304799" y="2427990"/>
            <a:chExt cx="11690614" cy="1520934"/>
          </a:xfrm>
        </p:grpSpPr>
        <p:sp>
          <p:nvSpPr>
            <p:cNvPr id="49" name="Rectangle : coins arrondis 48">
              <a:extLst>
                <a:ext uri="{FF2B5EF4-FFF2-40B4-BE49-F238E27FC236}">
                  <a16:creationId xmlns:a16="http://schemas.microsoft.com/office/drawing/2014/main" id="{B1B5C169-F2CA-AB1F-9652-5A7D0A5F5E49}"/>
                </a:ext>
              </a:extLst>
            </p:cNvPr>
            <p:cNvSpPr/>
            <p:nvPr/>
          </p:nvSpPr>
          <p:spPr>
            <a:xfrm>
              <a:off x="304799" y="2439719"/>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25" name="ZoneTexte 24">
              <a:extLst>
                <a:ext uri="{FF2B5EF4-FFF2-40B4-BE49-F238E27FC236}">
                  <a16:creationId xmlns:a16="http://schemas.microsoft.com/office/drawing/2014/main" id="{16F7E313-AE73-A9C2-5032-4205FD156B40}"/>
                </a:ext>
              </a:extLst>
            </p:cNvPr>
            <p:cNvSpPr txBox="1"/>
            <p:nvPr/>
          </p:nvSpPr>
          <p:spPr>
            <a:xfrm>
              <a:off x="444498" y="2712991"/>
              <a:ext cx="3331343" cy="1234962"/>
            </a:xfrm>
            <a:prstGeom prst="rect">
              <a:avLst/>
            </a:prstGeom>
            <a:noFill/>
          </p:spPr>
          <p:txBody>
            <a:bodyPr wrap="square" rtlCol="0">
              <a:noAutofit/>
            </a:bodyPr>
            <a:lstStyle/>
            <a:p>
              <a:pPr algn="ctr"/>
              <a:r>
                <a:rPr lang="en-GB" sz="1000" dirty="0"/>
                <a:t>“</a:t>
              </a:r>
              <a:r>
                <a:rPr lang="en-GB" sz="1000" dirty="0">
                  <a:highlight>
                    <a:srgbClr val="00FF00"/>
                  </a:highlight>
                </a:rPr>
                <a:t>The</a:t>
              </a:r>
              <a:r>
                <a:rPr lang="en-GB" sz="1000" dirty="0"/>
                <a:t> </a:t>
              </a:r>
              <a:r>
                <a:rPr lang="en-GB" sz="1000" dirty="0">
                  <a:highlight>
                    <a:srgbClr val="00FFFF"/>
                  </a:highlight>
                </a:rPr>
                <a:t>battery</a:t>
              </a:r>
              <a:r>
                <a:rPr lang="en-GB" sz="1000" dirty="0"/>
                <a:t> </a:t>
              </a:r>
              <a:r>
                <a:rPr lang="en-GB" sz="1000" dirty="0">
                  <a:highlight>
                    <a:srgbClr val="FFFF00"/>
                  </a:highlight>
                </a:rPr>
                <a:t>is dead</a:t>
              </a:r>
              <a:r>
                <a:rPr lang="en-GB" sz="1000" dirty="0"/>
                <a:t>”</a:t>
              </a:r>
            </a:p>
            <a:p>
              <a:pPr algn="ctr"/>
              <a:endParaRPr lang="en-GB" sz="1000" dirty="0"/>
            </a:p>
            <a:p>
              <a:pPr algn="ctr"/>
              <a:endParaRPr lang="en-GB" sz="1000" dirty="0"/>
            </a:p>
            <a:p>
              <a:pPr algn="ctr"/>
              <a:r>
                <a:rPr lang="en-GB" sz="1000" dirty="0"/>
                <a:t>“</a:t>
              </a:r>
              <a:r>
                <a:rPr lang="en-GB" sz="1000" dirty="0" err="1">
                  <a:highlight>
                    <a:srgbClr val="FFFF00"/>
                  </a:highlight>
                </a:rPr>
                <a:t>Memerült</a:t>
              </a:r>
              <a:r>
                <a:rPr lang="en-GB" sz="1000" dirty="0"/>
                <a:t> </a:t>
              </a:r>
              <a:r>
                <a:rPr lang="en-GB" sz="1000" dirty="0" err="1">
                  <a:highlight>
                    <a:srgbClr val="00FF00"/>
                  </a:highlight>
                </a:rPr>
                <a:t>az</a:t>
              </a:r>
              <a:r>
                <a:rPr lang="en-GB" sz="1000" dirty="0"/>
                <a:t> </a:t>
              </a:r>
              <a:r>
                <a:rPr lang="en-GB" sz="1000" dirty="0" err="1">
                  <a:highlight>
                    <a:srgbClr val="00FFFF"/>
                  </a:highlight>
                </a:rPr>
                <a:t>akkumulàtor</a:t>
              </a:r>
              <a:r>
                <a:rPr lang="en-GB" sz="1000" dirty="0"/>
                <a:t>”</a:t>
              </a:r>
            </a:p>
          </p:txBody>
        </p:sp>
        <p:cxnSp>
          <p:nvCxnSpPr>
            <p:cNvPr id="26" name="Connecteur droit avec flèche 25">
              <a:extLst>
                <a:ext uri="{FF2B5EF4-FFF2-40B4-BE49-F238E27FC236}">
                  <a16:creationId xmlns:a16="http://schemas.microsoft.com/office/drawing/2014/main" id="{76679F74-417F-9096-485E-DA94A6679139}"/>
                </a:ext>
              </a:extLst>
            </p:cNvPr>
            <p:cNvCxnSpPr>
              <a:cxnSpLocks/>
            </p:cNvCxnSpPr>
            <p:nvPr/>
          </p:nvCxnSpPr>
          <p:spPr>
            <a:xfrm>
              <a:off x="1475173" y="3013161"/>
              <a:ext cx="525845" cy="442215"/>
            </a:xfrm>
            <a:prstGeom prst="straightConnector1">
              <a:avLst/>
            </a:prstGeom>
            <a:noFill/>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eur droit avec flèche 42">
              <a:extLst>
                <a:ext uri="{FF2B5EF4-FFF2-40B4-BE49-F238E27FC236}">
                  <a16:creationId xmlns:a16="http://schemas.microsoft.com/office/drawing/2014/main" id="{34C72AED-FAFD-265A-1AFF-7184CFBBB720}"/>
                </a:ext>
              </a:extLst>
            </p:cNvPr>
            <p:cNvCxnSpPr>
              <a:cxnSpLocks/>
            </p:cNvCxnSpPr>
            <p:nvPr/>
          </p:nvCxnSpPr>
          <p:spPr>
            <a:xfrm>
              <a:off x="2001018" y="3013161"/>
              <a:ext cx="599474" cy="442215"/>
            </a:xfrm>
            <a:prstGeom prst="straightConnector1">
              <a:avLst/>
            </a:prstGeom>
            <a:noFill/>
            <a:ln w="9525">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C37EEF35-A3FA-CD65-4136-227BE3BF70B2}"/>
                </a:ext>
              </a:extLst>
            </p:cNvPr>
            <p:cNvCxnSpPr>
              <a:cxnSpLocks/>
            </p:cNvCxnSpPr>
            <p:nvPr/>
          </p:nvCxnSpPr>
          <p:spPr>
            <a:xfrm flipH="1">
              <a:off x="1346200" y="3060915"/>
              <a:ext cx="1157234" cy="394461"/>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 coins arrondis 54">
              <a:extLst>
                <a:ext uri="{FF2B5EF4-FFF2-40B4-BE49-F238E27FC236}">
                  <a16:creationId xmlns:a16="http://schemas.microsoft.com/office/drawing/2014/main" id="{BD32BE98-17AE-E7AE-C0A9-E4771D709D55}"/>
                </a:ext>
              </a:extLst>
            </p:cNvPr>
            <p:cNvSpPr/>
            <p:nvPr/>
          </p:nvSpPr>
          <p:spPr>
            <a:xfrm>
              <a:off x="4321943" y="2427990"/>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56" name="ZoneTexte 55">
              <a:extLst>
                <a:ext uri="{FF2B5EF4-FFF2-40B4-BE49-F238E27FC236}">
                  <a16:creationId xmlns:a16="http://schemas.microsoft.com/office/drawing/2014/main" id="{4445871A-A883-2F4E-FB77-0617F236E069}"/>
                </a:ext>
              </a:extLst>
            </p:cNvPr>
            <p:cNvSpPr txBox="1"/>
            <p:nvPr/>
          </p:nvSpPr>
          <p:spPr>
            <a:xfrm>
              <a:off x="4224284" y="2701262"/>
              <a:ext cx="3785041" cy="1110057"/>
            </a:xfrm>
            <a:prstGeom prst="rect">
              <a:avLst/>
            </a:prstGeom>
            <a:noFill/>
          </p:spPr>
          <p:txBody>
            <a:bodyPr wrap="square" rtlCol="0">
              <a:noAutofit/>
            </a:bodyPr>
            <a:lstStyle/>
            <a:p>
              <a:pPr algn="ctr"/>
              <a:r>
                <a:rPr lang="en-GB" sz="1000" dirty="0"/>
                <a:t>“He </a:t>
              </a:r>
              <a:r>
                <a:rPr lang="en-GB" sz="1000" dirty="0">
                  <a:highlight>
                    <a:srgbClr val="FFFF00"/>
                  </a:highlight>
                </a:rPr>
                <a:t>got away with </a:t>
              </a:r>
              <a:r>
                <a:rPr lang="en-GB" sz="1000" dirty="0"/>
                <a:t>cheating at the exam.”</a:t>
              </a:r>
            </a:p>
            <a:p>
              <a:pPr algn="ctr"/>
              <a:endParaRPr lang="en-GB" sz="1000" dirty="0"/>
            </a:p>
            <a:p>
              <a:pPr algn="ctr"/>
              <a:endParaRPr lang="en-GB" sz="1000" dirty="0"/>
            </a:p>
            <a:p>
              <a:pPr algn="ctr"/>
              <a:r>
                <a:rPr lang="en-GB" sz="1000" dirty="0"/>
                <a:t>“</a:t>
              </a:r>
              <a:r>
                <a:rPr lang="en-GB" sz="1000" dirty="0" err="1">
                  <a:highlight>
                    <a:srgbClr val="FFFF00"/>
                  </a:highlight>
                </a:rPr>
                <a:t>Megùszta</a:t>
              </a:r>
              <a:r>
                <a:rPr lang="en-GB" sz="1000" dirty="0"/>
                <a:t> a </a:t>
              </a:r>
              <a:r>
                <a:rPr lang="en-GB" sz="1000" dirty="0" err="1"/>
                <a:t>puskàzàst</a:t>
              </a:r>
              <a:r>
                <a:rPr lang="en-GB" sz="1000" dirty="0"/>
                <a:t> a </a:t>
              </a:r>
              <a:r>
                <a:rPr lang="en-GB" sz="1000" dirty="0" err="1"/>
                <a:t>vizsgàn</a:t>
              </a:r>
              <a:r>
                <a:rPr lang="en-GB" sz="1000" dirty="0"/>
                <a:t>.”</a:t>
              </a:r>
            </a:p>
          </p:txBody>
        </p:sp>
        <p:cxnSp>
          <p:nvCxnSpPr>
            <p:cNvPr id="85" name="Connecteur droit avec flèche 84">
              <a:extLst>
                <a:ext uri="{FF2B5EF4-FFF2-40B4-BE49-F238E27FC236}">
                  <a16:creationId xmlns:a16="http://schemas.microsoft.com/office/drawing/2014/main" id="{AF6CBDEC-8EAD-5251-02A7-C9B09FBBF0A1}"/>
                </a:ext>
              </a:extLst>
            </p:cNvPr>
            <p:cNvCxnSpPr>
              <a:cxnSpLocks/>
            </p:cNvCxnSpPr>
            <p:nvPr/>
          </p:nvCxnSpPr>
          <p:spPr>
            <a:xfrm flipH="1">
              <a:off x="5147442" y="3013161"/>
              <a:ext cx="129192" cy="442215"/>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89" name="Rectangle : coins arrondis 88">
              <a:extLst>
                <a:ext uri="{FF2B5EF4-FFF2-40B4-BE49-F238E27FC236}">
                  <a16:creationId xmlns:a16="http://schemas.microsoft.com/office/drawing/2014/main" id="{1705716F-FB0B-580F-BCA6-9858C4968F7D}"/>
                </a:ext>
              </a:extLst>
            </p:cNvPr>
            <p:cNvSpPr/>
            <p:nvPr/>
          </p:nvSpPr>
          <p:spPr>
            <a:xfrm>
              <a:off x="8284343" y="2440690"/>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cxnSp>
          <p:nvCxnSpPr>
            <p:cNvPr id="103" name="Connecteur droit avec flèche 102">
              <a:extLst>
                <a:ext uri="{FF2B5EF4-FFF2-40B4-BE49-F238E27FC236}">
                  <a16:creationId xmlns:a16="http://schemas.microsoft.com/office/drawing/2014/main" id="{84B3BDDE-8C1F-8CB1-AD50-D8819A9FEA2A}"/>
                </a:ext>
              </a:extLst>
            </p:cNvPr>
            <p:cNvCxnSpPr>
              <a:cxnSpLocks/>
            </p:cNvCxnSpPr>
            <p:nvPr/>
          </p:nvCxnSpPr>
          <p:spPr>
            <a:xfrm flipH="1">
              <a:off x="9785136" y="3013161"/>
              <a:ext cx="126119" cy="442215"/>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12" name="ZoneTexte 111">
              <a:extLst>
                <a:ext uri="{FF2B5EF4-FFF2-40B4-BE49-F238E27FC236}">
                  <a16:creationId xmlns:a16="http://schemas.microsoft.com/office/drawing/2014/main" id="{8CCCFA42-42E6-7AD6-0478-381B8972931E}"/>
                </a:ext>
              </a:extLst>
            </p:cNvPr>
            <p:cNvSpPr txBox="1"/>
            <p:nvPr/>
          </p:nvSpPr>
          <p:spPr>
            <a:xfrm>
              <a:off x="8210372" y="2701262"/>
              <a:ext cx="3785041" cy="1110057"/>
            </a:xfrm>
            <a:prstGeom prst="rect">
              <a:avLst/>
            </a:prstGeom>
            <a:noFill/>
          </p:spPr>
          <p:txBody>
            <a:bodyPr wrap="square" rtlCol="0">
              <a:noAutofit/>
            </a:bodyPr>
            <a:lstStyle/>
            <a:p>
              <a:pPr algn="ctr"/>
              <a:r>
                <a:rPr lang="en-GB" sz="1000" dirty="0"/>
                <a:t>“She is </a:t>
              </a:r>
              <a:r>
                <a:rPr lang="en-GB" sz="1000" dirty="0">
                  <a:highlight>
                    <a:srgbClr val="FFFF00"/>
                  </a:highlight>
                </a:rPr>
                <a:t>fluent</a:t>
              </a:r>
              <a:r>
                <a:rPr lang="en-GB" sz="1000" dirty="0"/>
                <a:t> in English.”</a:t>
              </a:r>
            </a:p>
            <a:p>
              <a:pPr algn="ctr"/>
              <a:endParaRPr lang="en-GB" sz="1000" dirty="0"/>
            </a:p>
            <a:p>
              <a:pPr algn="ctr"/>
              <a:endParaRPr lang="en-GB" sz="1000" dirty="0"/>
            </a:p>
            <a:p>
              <a:pPr algn="ctr"/>
              <a:r>
                <a:rPr lang="en-GB" sz="1000" dirty="0"/>
                <a:t>“</a:t>
              </a:r>
              <a:r>
                <a:rPr lang="en-GB" sz="1000" dirty="0" err="1">
                  <a:highlight>
                    <a:srgbClr val="FFFF00"/>
                  </a:highlight>
                </a:rPr>
                <a:t>Folyékonyan</a:t>
              </a:r>
              <a:r>
                <a:rPr lang="en-GB" sz="1000" dirty="0">
                  <a:highlight>
                    <a:srgbClr val="FFFF00"/>
                  </a:highlight>
                </a:rPr>
                <a:t> </a:t>
              </a:r>
              <a:r>
                <a:rPr lang="en-GB" sz="1000" dirty="0" err="1">
                  <a:highlight>
                    <a:srgbClr val="FFFF00"/>
                  </a:highlight>
                </a:rPr>
                <a:t>beszél</a:t>
              </a:r>
              <a:r>
                <a:rPr lang="en-GB" sz="1000" dirty="0">
                  <a:highlight>
                    <a:srgbClr val="FFFF00"/>
                  </a:highlight>
                </a:rPr>
                <a:t> </a:t>
              </a:r>
              <a:r>
                <a:rPr lang="en-GB" sz="1000" dirty="0" err="1"/>
                <a:t>angolul</a:t>
              </a:r>
              <a:r>
                <a:rPr lang="en-GB" sz="1000" dirty="0"/>
                <a:t>.”</a:t>
              </a:r>
            </a:p>
          </p:txBody>
        </p:sp>
      </p:grpSp>
      <p:sp>
        <p:nvSpPr>
          <p:cNvPr id="113" name="ZoneTexte 112">
            <a:extLst>
              <a:ext uri="{FF2B5EF4-FFF2-40B4-BE49-F238E27FC236}">
                <a16:creationId xmlns:a16="http://schemas.microsoft.com/office/drawing/2014/main" id="{479098A4-DF9B-BFB5-8B3F-7226CD18D7B9}"/>
              </a:ext>
            </a:extLst>
          </p:cNvPr>
          <p:cNvSpPr txBox="1"/>
          <p:nvPr/>
        </p:nvSpPr>
        <p:spPr>
          <a:xfrm>
            <a:off x="5369030" y="2076197"/>
            <a:ext cx="1453937" cy="369332"/>
          </a:xfrm>
          <a:prstGeom prst="rect">
            <a:avLst/>
          </a:prstGeom>
          <a:noFill/>
        </p:spPr>
        <p:txBody>
          <a:bodyPr wrap="square" rtlCol="0">
            <a:noAutofit/>
          </a:bodyPr>
          <a:lstStyle/>
          <a:p>
            <a:pPr algn="ctr"/>
            <a:r>
              <a:rPr lang="en-GB" sz="1400" b="1" dirty="0">
                <a:solidFill>
                  <a:schemeClr val="accent1"/>
                </a:solidFill>
              </a:rPr>
              <a:t>many-to-one</a:t>
            </a:r>
          </a:p>
        </p:txBody>
      </p:sp>
      <p:sp>
        <p:nvSpPr>
          <p:cNvPr id="114" name="ZoneTexte 113">
            <a:extLst>
              <a:ext uri="{FF2B5EF4-FFF2-40B4-BE49-F238E27FC236}">
                <a16:creationId xmlns:a16="http://schemas.microsoft.com/office/drawing/2014/main" id="{7FBC84AD-CB5A-E582-2E47-A786952BE3ED}"/>
              </a:ext>
            </a:extLst>
          </p:cNvPr>
          <p:cNvSpPr txBox="1"/>
          <p:nvPr/>
        </p:nvSpPr>
        <p:spPr>
          <a:xfrm>
            <a:off x="9026631" y="2124201"/>
            <a:ext cx="1453937" cy="369332"/>
          </a:xfrm>
          <a:prstGeom prst="rect">
            <a:avLst/>
          </a:prstGeom>
          <a:noFill/>
        </p:spPr>
        <p:txBody>
          <a:bodyPr wrap="square" rtlCol="0">
            <a:noAutofit/>
          </a:bodyPr>
          <a:lstStyle/>
          <a:p>
            <a:pPr algn="ctr"/>
            <a:r>
              <a:rPr lang="en-GB" sz="1400" b="1" dirty="0">
                <a:solidFill>
                  <a:schemeClr val="accent1"/>
                </a:solidFill>
              </a:rPr>
              <a:t>one-to-many</a:t>
            </a:r>
          </a:p>
        </p:txBody>
      </p:sp>
      <p:sp>
        <p:nvSpPr>
          <p:cNvPr id="118" name="ZoneTexte 117">
            <a:extLst>
              <a:ext uri="{FF2B5EF4-FFF2-40B4-BE49-F238E27FC236}">
                <a16:creationId xmlns:a16="http://schemas.microsoft.com/office/drawing/2014/main" id="{AD20DBE8-744E-D12F-4060-00FB6FDFF2E9}"/>
              </a:ext>
            </a:extLst>
          </p:cNvPr>
          <p:cNvSpPr txBox="1"/>
          <p:nvPr/>
        </p:nvSpPr>
        <p:spPr>
          <a:xfrm>
            <a:off x="990599" y="3525364"/>
            <a:ext cx="1931277" cy="369332"/>
          </a:xfrm>
          <a:prstGeom prst="rect">
            <a:avLst/>
          </a:prstGeom>
          <a:noFill/>
        </p:spPr>
        <p:txBody>
          <a:bodyPr wrap="square" rtlCol="0">
            <a:noAutofit/>
          </a:bodyPr>
          <a:lstStyle/>
          <a:p>
            <a:r>
              <a:rPr lang="en-GB" sz="2000" b="1" dirty="0"/>
              <a:t>2. Structure</a:t>
            </a:r>
          </a:p>
        </p:txBody>
      </p:sp>
      <p:grpSp>
        <p:nvGrpSpPr>
          <p:cNvPr id="7" name="Groupe 6">
            <a:extLst>
              <a:ext uri="{FF2B5EF4-FFF2-40B4-BE49-F238E27FC236}">
                <a16:creationId xmlns:a16="http://schemas.microsoft.com/office/drawing/2014/main" id="{DEBE78E2-D7B8-405B-3808-4E9518C7894A}"/>
              </a:ext>
            </a:extLst>
          </p:cNvPr>
          <p:cNvGrpSpPr/>
          <p:nvPr/>
        </p:nvGrpSpPr>
        <p:grpSpPr>
          <a:xfrm>
            <a:off x="317499" y="4019442"/>
            <a:ext cx="10627433" cy="928238"/>
            <a:chOff x="317499" y="4586990"/>
            <a:chExt cx="11690614" cy="1520934"/>
          </a:xfrm>
        </p:grpSpPr>
        <p:sp>
          <p:nvSpPr>
            <p:cNvPr id="117" name="Rectangle : coins arrondis 116">
              <a:extLst>
                <a:ext uri="{FF2B5EF4-FFF2-40B4-BE49-F238E27FC236}">
                  <a16:creationId xmlns:a16="http://schemas.microsoft.com/office/drawing/2014/main" id="{9CDACCC3-4AA6-9DA5-4E20-793789A3B694}"/>
                </a:ext>
              </a:extLst>
            </p:cNvPr>
            <p:cNvSpPr/>
            <p:nvPr/>
          </p:nvSpPr>
          <p:spPr>
            <a:xfrm>
              <a:off x="317499" y="4598719"/>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19" name="ZoneTexte 118">
              <a:extLst>
                <a:ext uri="{FF2B5EF4-FFF2-40B4-BE49-F238E27FC236}">
                  <a16:creationId xmlns:a16="http://schemas.microsoft.com/office/drawing/2014/main" id="{8A0A927F-EDBE-ADDB-8356-09206E76FDB5}"/>
                </a:ext>
              </a:extLst>
            </p:cNvPr>
            <p:cNvSpPr txBox="1"/>
            <p:nvPr/>
          </p:nvSpPr>
          <p:spPr>
            <a:xfrm>
              <a:off x="457198" y="4871991"/>
              <a:ext cx="3331343" cy="1234962"/>
            </a:xfrm>
            <a:prstGeom prst="rect">
              <a:avLst/>
            </a:prstGeom>
            <a:noFill/>
          </p:spPr>
          <p:txBody>
            <a:bodyPr wrap="square" rtlCol="0">
              <a:noAutofit/>
            </a:bodyPr>
            <a:lstStyle/>
            <a:p>
              <a:pPr algn="ctr"/>
              <a:r>
                <a:rPr lang="en-GB" sz="1000" dirty="0"/>
                <a:t>“The </a:t>
              </a:r>
              <a:r>
                <a:rPr lang="en-GB" sz="1000" dirty="0">
                  <a:highlight>
                    <a:srgbClr val="00FFFF"/>
                  </a:highlight>
                </a:rPr>
                <a:t>battery</a:t>
              </a:r>
              <a:r>
                <a:rPr lang="en-GB" sz="1000" dirty="0"/>
                <a:t> </a:t>
              </a:r>
              <a:r>
                <a:rPr lang="en-GB" sz="1000" dirty="0">
                  <a:highlight>
                    <a:srgbClr val="FFFF00"/>
                  </a:highlight>
                </a:rPr>
                <a:t>is dead</a:t>
              </a:r>
              <a:r>
                <a:rPr lang="en-GB" sz="1000" dirty="0"/>
                <a:t>”</a:t>
              </a:r>
            </a:p>
            <a:p>
              <a:pPr algn="ctr"/>
              <a:endParaRPr lang="en-GB" sz="1000" dirty="0"/>
            </a:p>
            <a:p>
              <a:pPr algn="ctr"/>
              <a:endParaRPr lang="en-GB" sz="1000" dirty="0"/>
            </a:p>
            <a:p>
              <a:pPr algn="ctr"/>
              <a:r>
                <a:rPr lang="en-GB" sz="1000" dirty="0"/>
                <a:t>“</a:t>
              </a:r>
              <a:r>
                <a:rPr lang="en-GB" sz="1000" dirty="0" err="1">
                  <a:highlight>
                    <a:srgbClr val="FFFF00"/>
                  </a:highlight>
                </a:rPr>
                <a:t>Memerült</a:t>
              </a:r>
              <a:r>
                <a:rPr lang="en-GB" sz="1000" dirty="0"/>
                <a:t> </a:t>
              </a:r>
              <a:r>
                <a:rPr lang="en-GB" sz="1000" dirty="0" err="1"/>
                <a:t>az</a:t>
              </a:r>
              <a:r>
                <a:rPr lang="en-GB" sz="1000" dirty="0"/>
                <a:t> </a:t>
              </a:r>
              <a:r>
                <a:rPr lang="en-GB" sz="1000" dirty="0" err="1">
                  <a:highlight>
                    <a:srgbClr val="00FFFF"/>
                  </a:highlight>
                </a:rPr>
                <a:t>akkumulàtor</a:t>
              </a:r>
              <a:r>
                <a:rPr lang="en-GB" sz="1000" dirty="0"/>
                <a:t>”</a:t>
              </a:r>
            </a:p>
          </p:txBody>
        </p:sp>
        <p:cxnSp>
          <p:nvCxnSpPr>
            <p:cNvPr id="121" name="Connecteur droit avec flèche 120">
              <a:extLst>
                <a:ext uri="{FF2B5EF4-FFF2-40B4-BE49-F238E27FC236}">
                  <a16:creationId xmlns:a16="http://schemas.microsoft.com/office/drawing/2014/main" id="{72BFABBD-0C9C-7264-64B2-F01EB8896B18}"/>
                </a:ext>
              </a:extLst>
            </p:cNvPr>
            <p:cNvCxnSpPr>
              <a:cxnSpLocks/>
            </p:cNvCxnSpPr>
            <p:nvPr/>
          </p:nvCxnSpPr>
          <p:spPr>
            <a:xfrm flipH="1" flipV="1">
              <a:off x="2001018" y="5219915"/>
              <a:ext cx="869182" cy="394461"/>
            </a:xfrm>
            <a:prstGeom prst="straightConnector1">
              <a:avLst/>
            </a:prstGeom>
            <a:noFill/>
            <a:ln w="9525">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Connecteur droit avec flèche 121">
              <a:extLst>
                <a:ext uri="{FF2B5EF4-FFF2-40B4-BE49-F238E27FC236}">
                  <a16:creationId xmlns:a16="http://schemas.microsoft.com/office/drawing/2014/main" id="{E6126525-0B30-8C1F-1004-21052333583D}"/>
                </a:ext>
              </a:extLst>
            </p:cNvPr>
            <p:cNvCxnSpPr>
              <a:cxnSpLocks/>
            </p:cNvCxnSpPr>
            <p:nvPr/>
          </p:nvCxnSpPr>
          <p:spPr>
            <a:xfrm flipV="1">
              <a:off x="1475173" y="5219915"/>
              <a:ext cx="1125319" cy="394461"/>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23" name="Rectangle : coins arrondis 122">
              <a:extLst>
                <a:ext uri="{FF2B5EF4-FFF2-40B4-BE49-F238E27FC236}">
                  <a16:creationId xmlns:a16="http://schemas.microsoft.com/office/drawing/2014/main" id="{22DB0850-1F49-38D9-DACA-754E91157CB4}"/>
                </a:ext>
              </a:extLst>
            </p:cNvPr>
            <p:cNvSpPr/>
            <p:nvPr/>
          </p:nvSpPr>
          <p:spPr>
            <a:xfrm>
              <a:off x="4334643" y="4586990"/>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24" name="ZoneTexte 123">
              <a:extLst>
                <a:ext uri="{FF2B5EF4-FFF2-40B4-BE49-F238E27FC236}">
                  <a16:creationId xmlns:a16="http://schemas.microsoft.com/office/drawing/2014/main" id="{3ECDD751-F502-3790-17BA-EBCCB7195C26}"/>
                </a:ext>
              </a:extLst>
            </p:cNvPr>
            <p:cNvSpPr txBox="1"/>
            <p:nvPr/>
          </p:nvSpPr>
          <p:spPr>
            <a:xfrm>
              <a:off x="4236984" y="4860262"/>
              <a:ext cx="3785041" cy="1110057"/>
            </a:xfrm>
            <a:prstGeom prst="rect">
              <a:avLst/>
            </a:prstGeom>
            <a:noFill/>
          </p:spPr>
          <p:txBody>
            <a:bodyPr wrap="square" rtlCol="0">
              <a:noAutofit/>
            </a:bodyPr>
            <a:lstStyle/>
            <a:p>
              <a:pPr algn="ctr"/>
              <a:r>
                <a:rPr lang="en-GB" sz="1000" dirty="0"/>
                <a:t>“He </a:t>
              </a:r>
              <a:r>
                <a:rPr lang="en-GB" sz="1000" dirty="0">
                  <a:highlight>
                    <a:srgbClr val="FFFF00"/>
                  </a:highlight>
                </a:rPr>
                <a:t>got away with </a:t>
              </a:r>
              <a:r>
                <a:rPr lang="en-GB" sz="1000" dirty="0"/>
                <a:t>cheating at the exam.”</a:t>
              </a:r>
            </a:p>
            <a:p>
              <a:pPr algn="ctr"/>
              <a:endParaRPr lang="en-GB" sz="1000" dirty="0"/>
            </a:p>
            <a:p>
              <a:pPr algn="ctr"/>
              <a:endParaRPr lang="en-GB" sz="1000" dirty="0"/>
            </a:p>
            <a:p>
              <a:pPr algn="ctr"/>
              <a:r>
                <a:rPr lang="en-GB" sz="1000" dirty="0"/>
                <a:t>“</a:t>
              </a:r>
              <a:r>
                <a:rPr lang="en-GB" sz="1000" dirty="0" err="1">
                  <a:highlight>
                    <a:srgbClr val="FFFF00"/>
                  </a:highlight>
                </a:rPr>
                <a:t>Megùszta</a:t>
              </a:r>
              <a:r>
                <a:rPr lang="en-GB" sz="1000" dirty="0"/>
                <a:t> a </a:t>
              </a:r>
              <a:r>
                <a:rPr lang="en-GB" sz="1000" dirty="0" err="1"/>
                <a:t>puskàzàst</a:t>
              </a:r>
              <a:r>
                <a:rPr lang="en-GB" sz="1000" dirty="0"/>
                <a:t> a </a:t>
              </a:r>
              <a:r>
                <a:rPr lang="en-GB" sz="1000" dirty="0" err="1"/>
                <a:t>vizsgàn</a:t>
              </a:r>
              <a:r>
                <a:rPr lang="en-GB" sz="1000" dirty="0"/>
                <a:t>.”</a:t>
              </a:r>
            </a:p>
          </p:txBody>
        </p:sp>
        <p:cxnSp>
          <p:nvCxnSpPr>
            <p:cNvPr id="125" name="Connecteur droit avec flèche 124">
              <a:extLst>
                <a:ext uri="{FF2B5EF4-FFF2-40B4-BE49-F238E27FC236}">
                  <a16:creationId xmlns:a16="http://schemas.microsoft.com/office/drawing/2014/main" id="{5DCF8D87-1223-BC12-4356-05312B4DAB63}"/>
                </a:ext>
              </a:extLst>
            </p:cNvPr>
            <p:cNvCxnSpPr>
              <a:cxnSpLocks/>
            </p:cNvCxnSpPr>
            <p:nvPr/>
          </p:nvCxnSpPr>
          <p:spPr>
            <a:xfrm flipH="1">
              <a:off x="5160142" y="5172161"/>
              <a:ext cx="129192" cy="442215"/>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26" name="Rectangle : coins arrondis 125">
              <a:extLst>
                <a:ext uri="{FF2B5EF4-FFF2-40B4-BE49-F238E27FC236}">
                  <a16:creationId xmlns:a16="http://schemas.microsoft.com/office/drawing/2014/main" id="{E7B79207-5B9A-1F50-3539-881ECB0C7405}"/>
                </a:ext>
              </a:extLst>
            </p:cNvPr>
            <p:cNvSpPr/>
            <p:nvPr/>
          </p:nvSpPr>
          <p:spPr>
            <a:xfrm>
              <a:off x="8297043" y="4599690"/>
              <a:ext cx="3657601" cy="1508234"/>
            </a:xfrm>
            <a:prstGeom prst="roundRect">
              <a:avLst/>
            </a:prstGeom>
            <a:solidFill>
              <a:schemeClr val="accent1">
                <a:alpha val="3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cxnSp>
          <p:nvCxnSpPr>
            <p:cNvPr id="127" name="Connecteur droit avec flèche 126">
              <a:extLst>
                <a:ext uri="{FF2B5EF4-FFF2-40B4-BE49-F238E27FC236}">
                  <a16:creationId xmlns:a16="http://schemas.microsoft.com/office/drawing/2014/main" id="{4578B636-A1D3-9AB0-0E84-CCC89BEBAD73}"/>
                </a:ext>
              </a:extLst>
            </p:cNvPr>
            <p:cNvCxnSpPr>
              <a:cxnSpLocks/>
            </p:cNvCxnSpPr>
            <p:nvPr/>
          </p:nvCxnSpPr>
          <p:spPr>
            <a:xfrm flipH="1">
              <a:off x="9797836" y="5172161"/>
              <a:ext cx="126119" cy="442215"/>
            </a:xfrm>
            <a:prstGeom prst="straightConnector1">
              <a:avLst/>
            </a:prstGeom>
            <a:noFill/>
            <a:ln w="9525">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28" name="ZoneTexte 127">
              <a:extLst>
                <a:ext uri="{FF2B5EF4-FFF2-40B4-BE49-F238E27FC236}">
                  <a16:creationId xmlns:a16="http://schemas.microsoft.com/office/drawing/2014/main" id="{509A252C-1927-50A1-0FDC-4835E44D3414}"/>
                </a:ext>
              </a:extLst>
            </p:cNvPr>
            <p:cNvSpPr txBox="1"/>
            <p:nvPr/>
          </p:nvSpPr>
          <p:spPr>
            <a:xfrm>
              <a:off x="8223072" y="4860262"/>
              <a:ext cx="3785041" cy="1110057"/>
            </a:xfrm>
            <a:prstGeom prst="rect">
              <a:avLst/>
            </a:prstGeom>
            <a:noFill/>
          </p:spPr>
          <p:txBody>
            <a:bodyPr wrap="square" rtlCol="0">
              <a:noAutofit/>
            </a:bodyPr>
            <a:lstStyle/>
            <a:p>
              <a:pPr algn="ctr"/>
              <a:r>
                <a:rPr lang="en-GB" sz="1000" dirty="0"/>
                <a:t>“She is </a:t>
              </a:r>
              <a:r>
                <a:rPr lang="en-GB" sz="1000" dirty="0">
                  <a:highlight>
                    <a:srgbClr val="FFFF00"/>
                  </a:highlight>
                </a:rPr>
                <a:t>fluent</a:t>
              </a:r>
              <a:r>
                <a:rPr lang="en-GB" sz="1000" dirty="0"/>
                <a:t> in English.”</a:t>
              </a:r>
            </a:p>
            <a:p>
              <a:pPr algn="ctr"/>
              <a:endParaRPr lang="en-GB" sz="1000" dirty="0"/>
            </a:p>
            <a:p>
              <a:pPr algn="ctr"/>
              <a:endParaRPr lang="en-GB" sz="1000" dirty="0"/>
            </a:p>
            <a:p>
              <a:pPr algn="ctr"/>
              <a:r>
                <a:rPr lang="en-GB" sz="1000" dirty="0"/>
                <a:t>“</a:t>
              </a:r>
              <a:r>
                <a:rPr lang="en-GB" sz="1000" dirty="0" err="1">
                  <a:highlight>
                    <a:srgbClr val="FFFF00"/>
                  </a:highlight>
                </a:rPr>
                <a:t>Folyékonyan</a:t>
              </a:r>
              <a:r>
                <a:rPr lang="en-GB" sz="1000" dirty="0">
                  <a:highlight>
                    <a:srgbClr val="FFFF00"/>
                  </a:highlight>
                </a:rPr>
                <a:t> </a:t>
              </a:r>
              <a:r>
                <a:rPr lang="en-GB" sz="1000" dirty="0" err="1">
                  <a:highlight>
                    <a:srgbClr val="FFFF00"/>
                  </a:highlight>
                </a:rPr>
                <a:t>beszél</a:t>
              </a:r>
              <a:r>
                <a:rPr lang="en-GB" sz="1000" dirty="0">
                  <a:highlight>
                    <a:srgbClr val="FFFF00"/>
                  </a:highlight>
                </a:rPr>
                <a:t> </a:t>
              </a:r>
              <a:r>
                <a:rPr lang="en-GB" sz="1000" dirty="0" err="1"/>
                <a:t>angolul</a:t>
              </a:r>
              <a:r>
                <a:rPr lang="en-GB" sz="1000" dirty="0"/>
                <a:t>.”</a:t>
              </a:r>
            </a:p>
          </p:txBody>
        </p:sp>
      </p:grpSp>
      <p:sp>
        <p:nvSpPr>
          <p:cNvPr id="137" name="ZoneTexte 136">
            <a:extLst>
              <a:ext uri="{FF2B5EF4-FFF2-40B4-BE49-F238E27FC236}">
                <a16:creationId xmlns:a16="http://schemas.microsoft.com/office/drawing/2014/main" id="{01CD183E-EB5F-0832-9C97-5B0DC85B36F9}"/>
              </a:ext>
            </a:extLst>
          </p:cNvPr>
          <p:cNvSpPr txBox="1"/>
          <p:nvPr/>
        </p:nvSpPr>
        <p:spPr>
          <a:xfrm>
            <a:off x="534595" y="3804266"/>
            <a:ext cx="3427805" cy="369332"/>
          </a:xfrm>
          <a:prstGeom prst="rect">
            <a:avLst/>
          </a:prstGeom>
          <a:noFill/>
        </p:spPr>
        <p:txBody>
          <a:bodyPr wrap="square" rtlCol="0">
            <a:noAutofit/>
          </a:bodyPr>
          <a:lstStyle/>
          <a:p>
            <a:r>
              <a:rPr lang="en-GB" sz="1200" dirty="0"/>
              <a:t>English Structure is Subject, Verb, Object (SVO)</a:t>
            </a:r>
          </a:p>
        </p:txBody>
      </p:sp>
      <p:sp>
        <p:nvSpPr>
          <p:cNvPr id="138" name="ZoneTexte 137">
            <a:extLst>
              <a:ext uri="{FF2B5EF4-FFF2-40B4-BE49-F238E27FC236}">
                <a16:creationId xmlns:a16="http://schemas.microsoft.com/office/drawing/2014/main" id="{6A6A94FF-5BFC-4924-2214-E2356CC569A7}"/>
              </a:ext>
            </a:extLst>
          </p:cNvPr>
          <p:cNvSpPr txBox="1"/>
          <p:nvPr/>
        </p:nvSpPr>
        <p:spPr>
          <a:xfrm>
            <a:off x="460678" y="4981805"/>
            <a:ext cx="3427805" cy="369332"/>
          </a:xfrm>
          <a:prstGeom prst="rect">
            <a:avLst/>
          </a:prstGeom>
          <a:noFill/>
        </p:spPr>
        <p:txBody>
          <a:bodyPr wrap="square" rtlCol="0">
            <a:noAutofit/>
          </a:bodyPr>
          <a:lstStyle/>
          <a:p>
            <a:r>
              <a:rPr lang="en-GB" sz="1200" dirty="0"/>
              <a:t>Hungarian Structure is here Verb, Subject</a:t>
            </a:r>
          </a:p>
          <a:p>
            <a:r>
              <a:rPr lang="en-GB" sz="900" dirty="0"/>
              <a:t>(but “</a:t>
            </a:r>
            <a:r>
              <a:rPr lang="en-GB" sz="900" dirty="0" err="1"/>
              <a:t>az</a:t>
            </a:r>
            <a:r>
              <a:rPr lang="en-GB" sz="900" dirty="0"/>
              <a:t> </a:t>
            </a:r>
            <a:r>
              <a:rPr lang="en-GB" sz="900" dirty="0" err="1"/>
              <a:t>akkumulàtor</a:t>
            </a:r>
            <a:r>
              <a:rPr lang="en-GB" sz="900" dirty="0"/>
              <a:t>  </a:t>
            </a:r>
            <a:r>
              <a:rPr lang="en-GB" sz="900" dirty="0" err="1"/>
              <a:t>Memerült</a:t>
            </a:r>
            <a:r>
              <a:rPr lang="en-GB" sz="900" dirty="0"/>
              <a:t>” is also admitted)</a:t>
            </a:r>
          </a:p>
        </p:txBody>
      </p:sp>
      <p:sp>
        <p:nvSpPr>
          <p:cNvPr id="8" name="ZoneTexte 7">
            <a:extLst>
              <a:ext uri="{FF2B5EF4-FFF2-40B4-BE49-F238E27FC236}">
                <a16:creationId xmlns:a16="http://schemas.microsoft.com/office/drawing/2014/main" id="{E4BB9ECF-3FE7-87B0-846D-B441C69CB2B2}"/>
              </a:ext>
            </a:extLst>
          </p:cNvPr>
          <p:cNvSpPr txBox="1"/>
          <p:nvPr/>
        </p:nvSpPr>
        <p:spPr>
          <a:xfrm>
            <a:off x="915740" y="5495093"/>
            <a:ext cx="3934931" cy="677476"/>
          </a:xfrm>
          <a:prstGeom prst="rect">
            <a:avLst/>
          </a:prstGeom>
          <a:noFill/>
        </p:spPr>
        <p:txBody>
          <a:bodyPr wrap="square" rtlCol="0">
            <a:noAutofit/>
          </a:bodyPr>
          <a:lstStyle/>
          <a:p>
            <a:r>
              <a:rPr lang="en-GB" sz="2000" b="1" dirty="0"/>
              <a:t>3. Bias</a:t>
            </a:r>
            <a:endParaRPr lang="en-GB" sz="1400" b="1" dirty="0"/>
          </a:p>
          <a:p>
            <a:r>
              <a:rPr lang="en-GB" sz="2000" b="1" dirty="0"/>
              <a:t>4. Low-resource languages</a:t>
            </a:r>
          </a:p>
        </p:txBody>
      </p:sp>
    </p:spTree>
    <p:extLst>
      <p:ext uri="{BB962C8B-B14F-4D97-AF65-F5344CB8AC3E}">
        <p14:creationId xmlns:p14="http://schemas.microsoft.com/office/powerpoint/2010/main" val="1735001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741A9-03BC-3632-6EB7-7AEC7E6C08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6CDBAAD-EA92-7996-160A-FD047C981EF5}"/>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6883F0B6-A4B0-9ED7-A2D0-E4A6A8072DDF}"/>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C4224BAE-6199-094B-D6F2-D5A8EECB44C6}"/>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Effective Decoding </a:t>
            </a:r>
          </a:p>
        </p:txBody>
      </p:sp>
      <p:sp>
        <p:nvSpPr>
          <p:cNvPr id="3" name="ZoneTexte 2">
            <a:extLst>
              <a:ext uri="{FF2B5EF4-FFF2-40B4-BE49-F238E27FC236}">
                <a16:creationId xmlns:a16="http://schemas.microsoft.com/office/drawing/2014/main" id="{AAE87D5E-0EA5-9BF0-87F5-B3C84D6EE083}"/>
              </a:ext>
            </a:extLst>
          </p:cNvPr>
          <p:cNvSpPr txBox="1"/>
          <p:nvPr/>
        </p:nvSpPr>
        <p:spPr>
          <a:xfrm>
            <a:off x="859220" y="1965443"/>
            <a:ext cx="10515599" cy="731678"/>
          </a:xfrm>
          <a:prstGeom prst="rect">
            <a:avLst/>
          </a:prstGeom>
          <a:noFill/>
        </p:spPr>
        <p:txBody>
          <a:bodyPr wrap="square" rtlCol="0">
            <a:noAutofit/>
          </a:bodyPr>
          <a:lstStyle/>
          <a:p>
            <a:r>
              <a:rPr lang="en-GB" sz="1800" b="1" i="0" u="none" strike="noStrike" dirty="0">
                <a:effectLst/>
                <a:latin typeface="ui-sans-serif"/>
              </a:rPr>
              <a:t>Greedy Decoding: </a:t>
            </a:r>
            <a:r>
              <a:rPr lang="en-GB" dirty="0"/>
              <a:t>At each time step the word with the higher probability (from softmax distribution) is chosen as the output this is greedy decoding and does not necessarily lead to the best outcome.</a:t>
            </a:r>
          </a:p>
        </p:txBody>
      </p:sp>
      <p:grpSp>
        <p:nvGrpSpPr>
          <p:cNvPr id="126" name="Groupe 125">
            <a:extLst>
              <a:ext uri="{FF2B5EF4-FFF2-40B4-BE49-F238E27FC236}">
                <a16:creationId xmlns:a16="http://schemas.microsoft.com/office/drawing/2014/main" id="{8BFD253D-8676-0B5A-CA52-C392706ADA41}"/>
              </a:ext>
            </a:extLst>
          </p:cNvPr>
          <p:cNvGrpSpPr/>
          <p:nvPr/>
        </p:nvGrpSpPr>
        <p:grpSpPr>
          <a:xfrm>
            <a:off x="859220" y="2694093"/>
            <a:ext cx="5741277" cy="2692456"/>
            <a:chOff x="859220" y="2694093"/>
            <a:chExt cx="6674067" cy="3479542"/>
          </a:xfrm>
        </p:grpSpPr>
        <p:sp>
          <p:nvSpPr>
            <p:cNvPr id="25" name="Ellipse 24">
              <a:extLst>
                <a:ext uri="{FF2B5EF4-FFF2-40B4-BE49-F238E27FC236}">
                  <a16:creationId xmlns:a16="http://schemas.microsoft.com/office/drawing/2014/main" id="{ABFD9F5D-9089-3BD3-28E5-A18F072E997D}"/>
                </a:ext>
              </a:extLst>
            </p:cNvPr>
            <p:cNvSpPr/>
            <p:nvPr/>
          </p:nvSpPr>
          <p:spPr>
            <a:xfrm>
              <a:off x="2165131" y="4003230"/>
              <a:ext cx="662152" cy="6108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26" name="Ellipse 25">
              <a:extLst>
                <a:ext uri="{FF2B5EF4-FFF2-40B4-BE49-F238E27FC236}">
                  <a16:creationId xmlns:a16="http://schemas.microsoft.com/office/drawing/2014/main" id="{0431C19C-C9F1-206D-588A-7766F71E7E30}"/>
                </a:ext>
              </a:extLst>
            </p:cNvPr>
            <p:cNvSpPr/>
            <p:nvPr/>
          </p:nvSpPr>
          <p:spPr>
            <a:xfrm>
              <a:off x="3541987" y="4003230"/>
              <a:ext cx="662152" cy="6108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27" name="Ellipse 26">
              <a:extLst>
                <a:ext uri="{FF2B5EF4-FFF2-40B4-BE49-F238E27FC236}">
                  <a16:creationId xmlns:a16="http://schemas.microsoft.com/office/drawing/2014/main" id="{ADA6D3A4-C38C-37AE-A5E9-F3D0D25482CC}"/>
                </a:ext>
              </a:extLst>
            </p:cNvPr>
            <p:cNvSpPr/>
            <p:nvPr/>
          </p:nvSpPr>
          <p:spPr>
            <a:xfrm>
              <a:off x="5013432" y="3144553"/>
              <a:ext cx="790907" cy="5749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has</a:t>
              </a:r>
            </a:p>
          </p:txBody>
        </p:sp>
        <p:sp>
          <p:nvSpPr>
            <p:cNvPr id="42" name="Ellipse 41">
              <a:extLst>
                <a:ext uri="{FF2B5EF4-FFF2-40B4-BE49-F238E27FC236}">
                  <a16:creationId xmlns:a16="http://schemas.microsoft.com/office/drawing/2014/main" id="{6EA91834-FD3E-99C5-CF52-05C6E0C44C15}"/>
                </a:ext>
              </a:extLst>
            </p:cNvPr>
            <p:cNvSpPr/>
            <p:nvPr/>
          </p:nvSpPr>
          <p:spPr>
            <a:xfrm>
              <a:off x="6599191" y="2694093"/>
              <a:ext cx="934096" cy="7830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docked</a:t>
              </a:r>
            </a:p>
          </p:txBody>
        </p:sp>
        <p:sp>
          <p:nvSpPr>
            <p:cNvPr id="43" name="Ellipse 42">
              <a:extLst>
                <a:ext uri="{FF2B5EF4-FFF2-40B4-BE49-F238E27FC236}">
                  <a16:creationId xmlns:a16="http://schemas.microsoft.com/office/drawing/2014/main" id="{DCC74BDE-940E-A6F7-4557-A60B990D9036}"/>
                </a:ext>
              </a:extLst>
            </p:cNvPr>
            <p:cNvSpPr/>
            <p:nvPr/>
          </p:nvSpPr>
          <p:spPr>
            <a:xfrm>
              <a:off x="6611007" y="3659868"/>
              <a:ext cx="848710" cy="65869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sunk</a:t>
              </a:r>
            </a:p>
          </p:txBody>
        </p:sp>
        <p:sp>
          <p:nvSpPr>
            <p:cNvPr id="44" name="Ellipse 43">
              <a:extLst>
                <a:ext uri="{FF2B5EF4-FFF2-40B4-BE49-F238E27FC236}">
                  <a16:creationId xmlns:a16="http://schemas.microsoft.com/office/drawing/2014/main" id="{6F055B81-BF38-557A-45A3-A79A62EA62C6}"/>
                </a:ext>
              </a:extLst>
            </p:cNvPr>
            <p:cNvSpPr/>
            <p:nvPr/>
          </p:nvSpPr>
          <p:spPr>
            <a:xfrm>
              <a:off x="4955630" y="5022026"/>
              <a:ext cx="848710" cy="678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sailed</a:t>
              </a:r>
            </a:p>
          </p:txBody>
        </p:sp>
        <p:sp>
          <p:nvSpPr>
            <p:cNvPr id="45" name="Ellipse 44">
              <a:extLst>
                <a:ext uri="{FF2B5EF4-FFF2-40B4-BE49-F238E27FC236}">
                  <a16:creationId xmlns:a16="http://schemas.microsoft.com/office/drawing/2014/main" id="{99CB7F6D-A6CD-8365-F6AB-0752ABC953D2}"/>
                </a:ext>
              </a:extLst>
            </p:cNvPr>
            <p:cNvSpPr/>
            <p:nvPr/>
          </p:nvSpPr>
          <p:spPr>
            <a:xfrm>
              <a:off x="6647793" y="4549164"/>
              <a:ext cx="848709" cy="678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home</a:t>
              </a:r>
            </a:p>
          </p:txBody>
        </p:sp>
        <p:sp>
          <p:nvSpPr>
            <p:cNvPr id="46" name="Ellipse 45">
              <a:extLst>
                <a:ext uri="{FF2B5EF4-FFF2-40B4-BE49-F238E27FC236}">
                  <a16:creationId xmlns:a16="http://schemas.microsoft.com/office/drawing/2014/main" id="{504A2B8C-6FD9-E863-BBDE-073A9C3C43FB}"/>
                </a:ext>
              </a:extLst>
            </p:cNvPr>
            <p:cNvSpPr/>
            <p:nvPr/>
          </p:nvSpPr>
          <p:spPr>
            <a:xfrm>
              <a:off x="6647793" y="5553507"/>
              <a:ext cx="811923" cy="620128"/>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away</a:t>
              </a:r>
            </a:p>
          </p:txBody>
        </p:sp>
        <p:sp>
          <p:nvSpPr>
            <p:cNvPr id="47" name="ZoneTexte 46">
              <a:extLst>
                <a:ext uri="{FF2B5EF4-FFF2-40B4-BE49-F238E27FC236}">
                  <a16:creationId xmlns:a16="http://schemas.microsoft.com/office/drawing/2014/main" id="{0900154A-D3DE-9050-4613-6F9AF20CEE7E}"/>
                </a:ext>
              </a:extLst>
            </p:cNvPr>
            <p:cNvSpPr txBox="1"/>
            <p:nvPr/>
          </p:nvSpPr>
          <p:spPr>
            <a:xfrm>
              <a:off x="859220" y="4183118"/>
              <a:ext cx="738351" cy="278425"/>
            </a:xfrm>
            <a:prstGeom prst="rect">
              <a:avLst/>
            </a:prstGeom>
            <a:noFill/>
          </p:spPr>
          <p:txBody>
            <a:bodyPr wrap="square" rtlCol="0">
              <a:spAutoFit/>
            </a:bodyPr>
            <a:lstStyle/>
            <a:p>
              <a:r>
                <a:rPr lang="en-GB" sz="800" dirty="0"/>
                <a:t>&lt;start&gt;</a:t>
              </a:r>
            </a:p>
          </p:txBody>
        </p:sp>
        <mc:AlternateContent xmlns:mc="http://schemas.openxmlformats.org/markup-compatibility/2006" xmlns:a14="http://schemas.microsoft.com/office/drawing/2010/main">
          <mc:Choice Requires="a14">
            <p:sp>
              <p:nvSpPr>
                <p:cNvPr id="48" name="ZoneTexte 47">
                  <a:extLst>
                    <a:ext uri="{FF2B5EF4-FFF2-40B4-BE49-F238E27FC236}">
                      <a16:creationId xmlns:a16="http://schemas.microsoft.com/office/drawing/2014/main" id="{E74BD43E-D622-E474-F0DA-E5EF1675E434}"/>
                    </a:ext>
                  </a:extLst>
                </p:cNvPr>
                <p:cNvSpPr txBox="1"/>
                <p:nvPr/>
              </p:nvSpPr>
              <p:spPr>
                <a:xfrm>
                  <a:off x="1326929" y="4068559"/>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=1.00</m:t>
                        </m:r>
                      </m:oMath>
                    </m:oMathPara>
                  </a14:m>
                  <a:endParaRPr lang="en-GB" sz="800" dirty="0"/>
                </a:p>
              </p:txBody>
            </p:sp>
          </mc:Choice>
          <mc:Fallback xmlns="">
            <p:sp>
              <p:nvSpPr>
                <p:cNvPr id="48" name="ZoneTexte 47">
                  <a:extLst>
                    <a:ext uri="{FF2B5EF4-FFF2-40B4-BE49-F238E27FC236}">
                      <a16:creationId xmlns:a16="http://schemas.microsoft.com/office/drawing/2014/main" id="{E74BD43E-D622-E474-F0DA-E5EF1675E434}"/>
                    </a:ext>
                  </a:extLst>
                </p:cNvPr>
                <p:cNvSpPr txBox="1">
                  <a:spLocks noRot="1" noChangeAspect="1" noMove="1" noResize="1" noEditPoints="1" noAdjustHandles="1" noChangeArrowheads="1" noChangeShapeType="1" noTextEdit="1"/>
                </p:cNvSpPr>
                <p:nvPr/>
              </p:nvSpPr>
              <p:spPr>
                <a:xfrm>
                  <a:off x="1326929" y="4068559"/>
                  <a:ext cx="848711" cy="27842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97B926D1-BD42-09B3-CEAE-3ECDC9AD469A}"/>
                    </a:ext>
                  </a:extLst>
                </p:cNvPr>
                <p:cNvSpPr txBox="1"/>
                <p:nvPr/>
              </p:nvSpPr>
              <p:spPr>
                <a:xfrm>
                  <a:off x="2776044" y="4068163"/>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=1.00</m:t>
                        </m:r>
                      </m:oMath>
                    </m:oMathPara>
                  </a14:m>
                  <a:endParaRPr lang="en-GB" sz="800" dirty="0"/>
                </a:p>
              </p:txBody>
            </p:sp>
          </mc:Choice>
          <mc:Fallback xmlns="">
            <p:sp>
              <p:nvSpPr>
                <p:cNvPr id="49" name="ZoneTexte 48">
                  <a:extLst>
                    <a:ext uri="{FF2B5EF4-FFF2-40B4-BE49-F238E27FC236}">
                      <a16:creationId xmlns:a16="http://schemas.microsoft.com/office/drawing/2014/main" id="{97B926D1-BD42-09B3-CEAE-3ECDC9AD469A}"/>
                    </a:ext>
                  </a:extLst>
                </p:cNvPr>
                <p:cNvSpPr txBox="1">
                  <a:spLocks noRot="1" noChangeAspect="1" noMove="1" noResize="1" noEditPoints="1" noAdjustHandles="1" noChangeArrowheads="1" noChangeShapeType="1" noTextEdit="1"/>
                </p:cNvSpPr>
                <p:nvPr/>
              </p:nvSpPr>
              <p:spPr>
                <a:xfrm>
                  <a:off x="2776044" y="4068163"/>
                  <a:ext cx="848711" cy="27842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468847B1-C747-88E0-69B1-E36C5FFD815E}"/>
                    </a:ext>
                  </a:extLst>
                </p:cNvPr>
                <p:cNvSpPr txBox="1"/>
                <p:nvPr/>
              </p:nvSpPr>
              <p:spPr>
                <a:xfrm>
                  <a:off x="3926932" y="3487236"/>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=0.60</m:t>
                        </m:r>
                      </m:oMath>
                    </m:oMathPara>
                  </a14:m>
                  <a:endParaRPr lang="en-GB" sz="800" dirty="0"/>
                </a:p>
              </p:txBody>
            </p:sp>
          </mc:Choice>
          <mc:Fallback xmlns="">
            <p:sp>
              <p:nvSpPr>
                <p:cNvPr id="50" name="ZoneTexte 49">
                  <a:extLst>
                    <a:ext uri="{FF2B5EF4-FFF2-40B4-BE49-F238E27FC236}">
                      <a16:creationId xmlns:a16="http://schemas.microsoft.com/office/drawing/2014/main" id="{468847B1-C747-88E0-69B1-E36C5FFD815E}"/>
                    </a:ext>
                  </a:extLst>
                </p:cNvPr>
                <p:cNvSpPr txBox="1">
                  <a:spLocks noRot="1" noChangeAspect="1" noMove="1" noResize="1" noEditPoints="1" noAdjustHandles="1" noChangeArrowheads="1" noChangeShapeType="1" noTextEdit="1"/>
                </p:cNvSpPr>
                <p:nvPr/>
              </p:nvSpPr>
              <p:spPr>
                <a:xfrm>
                  <a:off x="3926932" y="3487236"/>
                  <a:ext cx="848711" cy="27842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A986EA33-C908-3538-DC5A-2FE34DC86C2E}"/>
                    </a:ext>
                  </a:extLst>
                </p:cNvPr>
                <p:cNvSpPr txBox="1"/>
                <p:nvPr/>
              </p:nvSpPr>
              <p:spPr>
                <a:xfrm>
                  <a:off x="3926932" y="5059313"/>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=0.40</m:t>
                        </m:r>
                      </m:oMath>
                    </m:oMathPara>
                  </a14:m>
                  <a:endParaRPr lang="en-GB" sz="800" dirty="0"/>
                </a:p>
              </p:txBody>
            </p:sp>
          </mc:Choice>
          <mc:Fallback xmlns="">
            <p:sp>
              <p:nvSpPr>
                <p:cNvPr id="55" name="ZoneTexte 54">
                  <a:extLst>
                    <a:ext uri="{FF2B5EF4-FFF2-40B4-BE49-F238E27FC236}">
                      <a16:creationId xmlns:a16="http://schemas.microsoft.com/office/drawing/2014/main" id="{A986EA33-C908-3538-DC5A-2FE34DC86C2E}"/>
                    </a:ext>
                  </a:extLst>
                </p:cNvPr>
                <p:cNvSpPr txBox="1">
                  <a:spLocks noRot="1" noChangeAspect="1" noMove="1" noResize="1" noEditPoints="1" noAdjustHandles="1" noChangeArrowheads="1" noChangeShapeType="1" noTextEdit="1"/>
                </p:cNvSpPr>
                <p:nvPr/>
              </p:nvSpPr>
              <p:spPr>
                <a:xfrm>
                  <a:off x="3926932" y="5059313"/>
                  <a:ext cx="848711" cy="27842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ZoneTexte 55">
                  <a:extLst>
                    <a:ext uri="{FF2B5EF4-FFF2-40B4-BE49-F238E27FC236}">
                      <a16:creationId xmlns:a16="http://schemas.microsoft.com/office/drawing/2014/main" id="{4379ECE4-BCC7-A872-0898-CB98FFD2CD39}"/>
                    </a:ext>
                  </a:extLst>
                </p:cNvPr>
                <p:cNvSpPr txBox="1"/>
                <p:nvPr/>
              </p:nvSpPr>
              <p:spPr>
                <a:xfrm>
                  <a:off x="5645373" y="2840853"/>
                  <a:ext cx="848711" cy="278425"/>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m:t>
                      </m:r>
                    </m:oMath>
                  </a14:m>
                  <a:r>
                    <a:rPr lang="en-GB" sz="800" dirty="0"/>
                    <a:t>55</a:t>
                  </a:r>
                </a:p>
              </p:txBody>
            </p:sp>
          </mc:Choice>
          <mc:Fallback xmlns="">
            <p:sp>
              <p:nvSpPr>
                <p:cNvPr id="56" name="ZoneTexte 55">
                  <a:extLst>
                    <a:ext uri="{FF2B5EF4-FFF2-40B4-BE49-F238E27FC236}">
                      <a16:creationId xmlns:a16="http://schemas.microsoft.com/office/drawing/2014/main" id="{4379ECE4-BCC7-A872-0898-CB98FFD2CD39}"/>
                    </a:ext>
                  </a:extLst>
                </p:cNvPr>
                <p:cNvSpPr txBox="1">
                  <a:spLocks noRot="1" noChangeAspect="1" noMove="1" noResize="1" noEditPoints="1" noAdjustHandles="1" noChangeArrowheads="1" noChangeShapeType="1" noTextEdit="1"/>
                </p:cNvSpPr>
                <p:nvPr/>
              </p:nvSpPr>
              <p:spPr>
                <a:xfrm>
                  <a:off x="5645373" y="2840853"/>
                  <a:ext cx="848711" cy="278425"/>
                </a:xfrm>
                <a:prstGeom prst="rect">
                  <a:avLst/>
                </a:prstGeom>
                <a:blipFill>
                  <a:blip r:embed="rId6"/>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AC42C2B4-E8D3-71A5-DB0B-A28A3DF43ED0}"/>
                    </a:ext>
                  </a:extLst>
                </p:cNvPr>
                <p:cNvSpPr txBox="1"/>
                <p:nvPr/>
              </p:nvSpPr>
              <p:spPr>
                <a:xfrm>
                  <a:off x="5640120" y="4674906"/>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=0.90</m:t>
                        </m:r>
                      </m:oMath>
                    </m:oMathPara>
                  </a14:m>
                  <a:endParaRPr lang="en-GB" sz="800" dirty="0"/>
                </a:p>
              </p:txBody>
            </p:sp>
          </mc:Choice>
          <mc:Fallback xmlns="">
            <p:sp>
              <p:nvSpPr>
                <p:cNvPr id="73" name="ZoneTexte 72">
                  <a:extLst>
                    <a:ext uri="{FF2B5EF4-FFF2-40B4-BE49-F238E27FC236}">
                      <a16:creationId xmlns:a16="http://schemas.microsoft.com/office/drawing/2014/main" id="{AC42C2B4-E8D3-71A5-DB0B-A28A3DF43ED0}"/>
                    </a:ext>
                  </a:extLst>
                </p:cNvPr>
                <p:cNvSpPr txBox="1">
                  <a:spLocks noRot="1" noChangeAspect="1" noMove="1" noResize="1" noEditPoints="1" noAdjustHandles="1" noChangeArrowheads="1" noChangeShapeType="1" noTextEdit="1"/>
                </p:cNvSpPr>
                <p:nvPr/>
              </p:nvSpPr>
              <p:spPr>
                <a:xfrm>
                  <a:off x="5640120" y="4674906"/>
                  <a:ext cx="848711" cy="27842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ZoneTexte 76">
                  <a:extLst>
                    <a:ext uri="{FF2B5EF4-FFF2-40B4-BE49-F238E27FC236}">
                      <a16:creationId xmlns:a16="http://schemas.microsoft.com/office/drawing/2014/main" id="{FF5F0FA3-8F3B-8633-BC7D-DD264547BCED}"/>
                    </a:ext>
                  </a:extLst>
                </p:cNvPr>
                <p:cNvSpPr txBox="1"/>
                <p:nvPr/>
              </p:nvSpPr>
              <p:spPr>
                <a:xfrm>
                  <a:off x="5682163" y="3823569"/>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=0.45</m:t>
                        </m:r>
                      </m:oMath>
                    </m:oMathPara>
                  </a14:m>
                  <a:endParaRPr lang="en-GB" sz="800" dirty="0"/>
                </a:p>
              </p:txBody>
            </p:sp>
          </mc:Choice>
          <mc:Fallback xmlns="">
            <p:sp>
              <p:nvSpPr>
                <p:cNvPr id="77" name="ZoneTexte 76">
                  <a:extLst>
                    <a:ext uri="{FF2B5EF4-FFF2-40B4-BE49-F238E27FC236}">
                      <a16:creationId xmlns:a16="http://schemas.microsoft.com/office/drawing/2014/main" id="{FF5F0FA3-8F3B-8633-BC7D-DD264547BCED}"/>
                    </a:ext>
                  </a:extLst>
                </p:cNvPr>
                <p:cNvSpPr txBox="1">
                  <a:spLocks noRot="1" noChangeAspect="1" noMove="1" noResize="1" noEditPoints="1" noAdjustHandles="1" noChangeArrowheads="1" noChangeShapeType="1" noTextEdit="1"/>
                </p:cNvSpPr>
                <p:nvPr/>
              </p:nvSpPr>
              <p:spPr>
                <a:xfrm>
                  <a:off x="5682163" y="3823569"/>
                  <a:ext cx="848711" cy="27842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6507ADBC-8545-6310-BCFC-DC337BBCF056}"/>
                    </a:ext>
                  </a:extLst>
                </p:cNvPr>
                <p:cNvSpPr txBox="1"/>
                <p:nvPr/>
              </p:nvSpPr>
              <p:spPr>
                <a:xfrm>
                  <a:off x="5675595" y="5769951"/>
                  <a:ext cx="848711" cy="278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𝑃𝑟𝑜𝑏</m:t>
                        </m:r>
                        <m:r>
                          <a:rPr lang="fr-FR" sz="800" b="0" i="1" smtClean="0">
                            <a:latin typeface="Cambria Math" panose="02040503050406030204" pitchFamily="18" charset="0"/>
                          </a:rPr>
                          <m:t>=0.10</m:t>
                        </m:r>
                      </m:oMath>
                    </m:oMathPara>
                  </a14:m>
                  <a:endParaRPr lang="en-GB" sz="800" dirty="0"/>
                </a:p>
              </p:txBody>
            </p:sp>
          </mc:Choice>
          <mc:Fallback xmlns="">
            <p:sp>
              <p:nvSpPr>
                <p:cNvPr id="85" name="ZoneTexte 84">
                  <a:extLst>
                    <a:ext uri="{FF2B5EF4-FFF2-40B4-BE49-F238E27FC236}">
                      <a16:creationId xmlns:a16="http://schemas.microsoft.com/office/drawing/2014/main" id="{6507ADBC-8545-6310-BCFC-DC337BBCF056}"/>
                    </a:ext>
                  </a:extLst>
                </p:cNvPr>
                <p:cNvSpPr txBox="1">
                  <a:spLocks noRot="1" noChangeAspect="1" noMove="1" noResize="1" noEditPoints="1" noAdjustHandles="1" noChangeArrowheads="1" noChangeShapeType="1" noTextEdit="1"/>
                </p:cNvSpPr>
                <p:nvPr/>
              </p:nvSpPr>
              <p:spPr>
                <a:xfrm>
                  <a:off x="5675595" y="5769951"/>
                  <a:ext cx="848711" cy="278425"/>
                </a:xfrm>
                <a:prstGeom prst="rect">
                  <a:avLst/>
                </a:prstGeom>
                <a:blipFill>
                  <a:blip r:embed="rId9"/>
                  <a:stretch>
                    <a:fillRect/>
                  </a:stretch>
                </a:blipFill>
              </p:spPr>
              <p:txBody>
                <a:bodyPr/>
                <a:lstStyle/>
                <a:p>
                  <a:r>
                    <a:rPr lang="en-GB">
                      <a:noFill/>
                    </a:rPr>
                    <a:t> </a:t>
                  </a:r>
                </a:p>
              </p:txBody>
            </p:sp>
          </mc:Fallback>
        </mc:AlternateContent>
        <p:cxnSp>
          <p:nvCxnSpPr>
            <p:cNvPr id="89" name="Connecteur droit avec flèche 88">
              <a:extLst>
                <a:ext uri="{FF2B5EF4-FFF2-40B4-BE49-F238E27FC236}">
                  <a16:creationId xmlns:a16="http://schemas.microsoft.com/office/drawing/2014/main" id="{171CA358-13BD-4E25-4EA5-D2215A3CBC3C}"/>
                </a:ext>
              </a:extLst>
            </p:cNvPr>
            <p:cNvCxnSpPr>
              <a:cxnSpLocks/>
              <a:endCxn id="25" idx="2"/>
            </p:cNvCxnSpPr>
            <p:nvPr/>
          </p:nvCxnSpPr>
          <p:spPr>
            <a:xfrm>
              <a:off x="1418897" y="4308636"/>
              <a:ext cx="746234" cy="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5B585EE9-76D5-E634-F4B4-4B0DC1875989}"/>
                </a:ext>
              </a:extLst>
            </p:cNvPr>
            <p:cNvCxnSpPr>
              <a:cxnSpLocks/>
            </p:cNvCxnSpPr>
            <p:nvPr/>
          </p:nvCxnSpPr>
          <p:spPr>
            <a:xfrm>
              <a:off x="2827283" y="4298995"/>
              <a:ext cx="746234" cy="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Connecteur droit avec flèche 103">
              <a:extLst>
                <a:ext uri="{FF2B5EF4-FFF2-40B4-BE49-F238E27FC236}">
                  <a16:creationId xmlns:a16="http://schemas.microsoft.com/office/drawing/2014/main" id="{D12AB363-FE47-AEDB-52A1-18E7C44970A8}"/>
                </a:ext>
              </a:extLst>
            </p:cNvPr>
            <p:cNvCxnSpPr>
              <a:cxnSpLocks/>
              <a:stCxn id="26" idx="6"/>
              <a:endCxn id="27" idx="3"/>
            </p:cNvCxnSpPr>
            <p:nvPr/>
          </p:nvCxnSpPr>
          <p:spPr>
            <a:xfrm flipV="1">
              <a:off x="4204139" y="3635267"/>
              <a:ext cx="925119" cy="673369"/>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EABDEA44-8E50-ACE9-B829-6EDC8812FA59}"/>
                </a:ext>
              </a:extLst>
            </p:cNvPr>
            <p:cNvCxnSpPr>
              <a:cxnSpLocks/>
              <a:stCxn id="26" idx="6"/>
              <a:endCxn id="44" idx="1"/>
            </p:cNvCxnSpPr>
            <p:nvPr/>
          </p:nvCxnSpPr>
          <p:spPr>
            <a:xfrm>
              <a:off x="4204139" y="4308636"/>
              <a:ext cx="875782" cy="812772"/>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B535AD93-B481-8960-6D6D-8B48F490E0A1}"/>
                </a:ext>
              </a:extLst>
            </p:cNvPr>
            <p:cNvCxnSpPr>
              <a:cxnSpLocks/>
              <a:stCxn id="27" idx="6"/>
              <a:endCxn id="42" idx="2"/>
            </p:cNvCxnSpPr>
            <p:nvPr/>
          </p:nvCxnSpPr>
          <p:spPr>
            <a:xfrm flipV="1">
              <a:off x="5804339" y="3085622"/>
              <a:ext cx="794852" cy="346385"/>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8498D4EB-058D-2A07-D70F-E627172C381C}"/>
                </a:ext>
              </a:extLst>
            </p:cNvPr>
            <p:cNvCxnSpPr>
              <a:cxnSpLocks/>
              <a:stCxn id="27" idx="6"/>
              <a:endCxn id="43" idx="2"/>
            </p:cNvCxnSpPr>
            <p:nvPr/>
          </p:nvCxnSpPr>
          <p:spPr>
            <a:xfrm>
              <a:off x="5804339" y="3432007"/>
              <a:ext cx="806668" cy="557209"/>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0B712512-946D-BA13-3EE9-1EE9B09AA453}"/>
                </a:ext>
              </a:extLst>
            </p:cNvPr>
            <p:cNvCxnSpPr>
              <a:cxnSpLocks/>
              <a:stCxn id="44" idx="6"/>
              <a:endCxn id="45" idx="2"/>
            </p:cNvCxnSpPr>
            <p:nvPr/>
          </p:nvCxnSpPr>
          <p:spPr>
            <a:xfrm flipV="1">
              <a:off x="5804340" y="4888477"/>
              <a:ext cx="843453" cy="472862"/>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D98304AF-B7E5-D0CD-E7B2-CB8803BB6F97}"/>
                </a:ext>
              </a:extLst>
            </p:cNvPr>
            <p:cNvCxnSpPr>
              <a:cxnSpLocks/>
              <a:stCxn id="44" idx="6"/>
              <a:endCxn id="46" idx="2"/>
            </p:cNvCxnSpPr>
            <p:nvPr/>
          </p:nvCxnSpPr>
          <p:spPr>
            <a:xfrm>
              <a:off x="5804340" y="5361339"/>
              <a:ext cx="843453" cy="502232"/>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24" name="ZoneTexte 123">
                <a:extLst>
                  <a:ext uri="{FF2B5EF4-FFF2-40B4-BE49-F238E27FC236}">
                    <a16:creationId xmlns:a16="http://schemas.microsoft.com/office/drawing/2014/main" id="{DC92EBDA-586F-A2DC-8B81-98A680194AEA}"/>
                  </a:ext>
                </a:extLst>
              </p:cNvPr>
              <p:cNvSpPr txBox="1"/>
              <p:nvPr/>
            </p:nvSpPr>
            <p:spPr>
              <a:xfrm>
                <a:off x="6907925" y="2810428"/>
                <a:ext cx="3055884" cy="415498"/>
              </a:xfrm>
              <a:prstGeom prst="rect">
                <a:avLst/>
              </a:prstGeom>
              <a:noFill/>
            </p:spPr>
            <p:txBody>
              <a:bodyPr wrap="square" rtlCol="0">
                <a:spAutoFit/>
              </a:bodyPr>
              <a:lstStyle/>
              <a:p>
                <a:r>
                  <a:rPr lang="en-GB" sz="1200" b="0" noProof="0" dirty="0">
                    <a:latin typeface="Cambria Math" panose="02040503050406030204" pitchFamily="18" charset="0"/>
                  </a:rPr>
                  <a:t>The sentence chosen with Greedy Decoding</a:t>
                </a:r>
              </a:p>
              <a:p>
                <a:pPr/>
                <a14:m>
                  <m:oMathPara xmlns:m="http://schemas.openxmlformats.org/officeDocument/2006/math">
                    <m:oMathParaPr>
                      <m:jc m:val="left"/>
                    </m:oMathParaPr>
                    <m:oMath xmlns:m="http://schemas.openxmlformats.org/officeDocument/2006/math">
                      <m:r>
                        <a:rPr lang="fr-FR" sz="900" b="0" i="1" smtClean="0">
                          <a:latin typeface="Cambria Math" panose="02040503050406030204" pitchFamily="18" charset="0"/>
                        </a:rPr>
                        <m:t>𝑃𝑟𝑜</m:t>
                      </m:r>
                      <m:sSub>
                        <m:sSubPr>
                          <m:ctrlPr>
                            <a:rPr lang="fr-FR" sz="900" b="0" i="1" smtClean="0">
                              <a:latin typeface="Cambria Math" panose="02040503050406030204" pitchFamily="18" charset="0"/>
                            </a:rPr>
                          </m:ctrlPr>
                        </m:sSubPr>
                        <m:e>
                          <m:r>
                            <a:rPr lang="fr-FR" sz="900" b="0" i="1" smtClean="0">
                              <a:latin typeface="Cambria Math" panose="02040503050406030204" pitchFamily="18" charset="0"/>
                            </a:rPr>
                            <m:t>𝑏</m:t>
                          </m:r>
                        </m:e>
                        <m:sub>
                          <m:r>
                            <a:rPr lang="fr-FR" sz="900" b="0" i="1" smtClean="0">
                              <a:latin typeface="Cambria Math" panose="02040503050406030204" pitchFamily="18" charset="0"/>
                            </a:rPr>
                            <m:t>𝑠𝑒𝑛𝑡𝑒𝑛𝑐𝑒</m:t>
                          </m:r>
                        </m:sub>
                      </m:sSub>
                      <m:r>
                        <a:rPr lang="fr-FR" sz="900" b="0" i="1" smtClean="0">
                          <a:latin typeface="Cambria Math" panose="02040503050406030204" pitchFamily="18" charset="0"/>
                        </a:rPr>
                        <m:t>=1 ×</m:t>
                      </m:r>
                      <m:r>
                        <a:rPr lang="fr-FR" sz="900" i="1">
                          <a:latin typeface="Cambria Math" panose="02040503050406030204" pitchFamily="18" charset="0"/>
                        </a:rPr>
                        <m:t>1 ×1 ×</m:t>
                      </m:r>
                      <m:r>
                        <a:rPr lang="fr-FR" sz="900" b="0" i="1" smtClean="0">
                          <a:latin typeface="Cambria Math" panose="02040503050406030204" pitchFamily="18" charset="0"/>
                        </a:rPr>
                        <m:t>0.60</m:t>
                      </m:r>
                      <m:r>
                        <a:rPr lang="fr-FR" sz="900" i="1">
                          <a:latin typeface="Cambria Math" panose="02040503050406030204" pitchFamily="18" charset="0"/>
                        </a:rPr>
                        <m:t> ×</m:t>
                      </m:r>
                      <m:r>
                        <a:rPr lang="fr-FR" sz="900" b="0" i="1" smtClean="0">
                          <a:latin typeface="Cambria Math" panose="02040503050406030204" pitchFamily="18" charset="0"/>
                        </a:rPr>
                        <m:t> 0.55=0.33</m:t>
                      </m:r>
                    </m:oMath>
                  </m:oMathPara>
                </a14:m>
                <a:endParaRPr lang="en-GB" sz="900" dirty="0"/>
              </a:p>
            </p:txBody>
          </p:sp>
        </mc:Choice>
        <mc:Fallback xmlns="">
          <p:sp>
            <p:nvSpPr>
              <p:cNvPr id="124" name="ZoneTexte 123">
                <a:extLst>
                  <a:ext uri="{FF2B5EF4-FFF2-40B4-BE49-F238E27FC236}">
                    <a16:creationId xmlns:a16="http://schemas.microsoft.com/office/drawing/2014/main" id="{DC92EBDA-586F-A2DC-8B81-98A680194AEA}"/>
                  </a:ext>
                </a:extLst>
              </p:cNvPr>
              <p:cNvSpPr txBox="1">
                <a:spLocks noRot="1" noChangeAspect="1" noMove="1" noResize="1" noEditPoints="1" noAdjustHandles="1" noChangeArrowheads="1" noChangeShapeType="1" noTextEdit="1"/>
              </p:cNvSpPr>
              <p:nvPr/>
            </p:nvSpPr>
            <p:spPr>
              <a:xfrm>
                <a:off x="6907925" y="2810428"/>
                <a:ext cx="3055884" cy="415498"/>
              </a:xfrm>
              <a:prstGeom prst="rect">
                <a:avLst/>
              </a:prstGeom>
              <a:blipFill>
                <a:blip r:embed="rId10"/>
                <a:stretch>
                  <a:fillRect b="-30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5" name="ZoneTexte 124">
                <a:extLst>
                  <a:ext uri="{FF2B5EF4-FFF2-40B4-BE49-F238E27FC236}">
                    <a16:creationId xmlns:a16="http://schemas.microsoft.com/office/drawing/2014/main" id="{C1B0C2F3-C503-E98B-00C7-B679FBE05F46}"/>
                  </a:ext>
                </a:extLst>
              </p:cNvPr>
              <p:cNvSpPr txBox="1"/>
              <p:nvPr/>
            </p:nvSpPr>
            <p:spPr>
              <a:xfrm>
                <a:off x="6907925" y="4213504"/>
                <a:ext cx="3239375" cy="415498"/>
              </a:xfrm>
              <a:prstGeom prst="rect">
                <a:avLst/>
              </a:prstGeom>
              <a:noFill/>
            </p:spPr>
            <p:txBody>
              <a:bodyPr wrap="square" rtlCol="0">
                <a:spAutoFit/>
              </a:bodyPr>
              <a:lstStyle/>
              <a:p>
                <a:r>
                  <a:rPr lang="en-GB" sz="1200" b="0" noProof="0" dirty="0">
                    <a:latin typeface="Cambria Math" panose="02040503050406030204" pitchFamily="18" charset="0"/>
                  </a:rPr>
                  <a:t>While the most probable sentence is this one.</a:t>
                </a:r>
                <a:endParaRPr lang="en-GB" sz="1200" b="0" i="1" dirty="0">
                  <a:latin typeface="Cambria Math" panose="02040503050406030204" pitchFamily="18" charset="0"/>
                </a:endParaRPr>
              </a:p>
              <a:p>
                <a14:m>
                  <m:oMath xmlns:m="http://schemas.openxmlformats.org/officeDocument/2006/math">
                    <m:r>
                      <a:rPr lang="fr-FR" sz="900" b="0" i="1" smtClean="0">
                        <a:latin typeface="Cambria Math" panose="02040503050406030204" pitchFamily="18" charset="0"/>
                      </a:rPr>
                      <m:t>𝑃𝑟𝑜</m:t>
                    </m:r>
                    <m:sSub>
                      <m:sSubPr>
                        <m:ctrlPr>
                          <a:rPr lang="fr-FR" sz="900" b="0" i="1" smtClean="0">
                            <a:latin typeface="Cambria Math" panose="02040503050406030204" pitchFamily="18" charset="0"/>
                          </a:rPr>
                        </m:ctrlPr>
                      </m:sSubPr>
                      <m:e>
                        <m:r>
                          <a:rPr lang="fr-FR" sz="900" b="0" i="1" smtClean="0">
                            <a:latin typeface="Cambria Math" panose="02040503050406030204" pitchFamily="18" charset="0"/>
                          </a:rPr>
                          <m:t>𝑏</m:t>
                        </m:r>
                      </m:e>
                      <m:sub>
                        <m:r>
                          <a:rPr lang="fr-FR" sz="900" b="0" i="1" smtClean="0">
                            <a:latin typeface="Cambria Math" panose="02040503050406030204" pitchFamily="18" charset="0"/>
                          </a:rPr>
                          <m:t>𝑠𝑒𝑛𝑡𝑒𝑛𝑐𝑒</m:t>
                        </m:r>
                      </m:sub>
                    </m:sSub>
                    <m:r>
                      <a:rPr lang="fr-FR" sz="900" b="0" i="1" smtClean="0">
                        <a:latin typeface="Cambria Math" panose="02040503050406030204" pitchFamily="18" charset="0"/>
                      </a:rPr>
                      <m:t>=1 ×</m:t>
                    </m:r>
                    <m:r>
                      <a:rPr lang="fr-FR" sz="900" i="1">
                        <a:latin typeface="Cambria Math" panose="02040503050406030204" pitchFamily="18" charset="0"/>
                      </a:rPr>
                      <m:t>1 ×1 ×</m:t>
                    </m:r>
                    <m:r>
                      <a:rPr lang="fr-FR" sz="900" b="0" i="1" smtClean="0">
                        <a:latin typeface="Cambria Math" panose="02040503050406030204" pitchFamily="18" charset="0"/>
                      </a:rPr>
                      <m:t>0.40</m:t>
                    </m:r>
                    <m:r>
                      <a:rPr lang="fr-FR" sz="900" i="1">
                        <a:latin typeface="Cambria Math" panose="02040503050406030204" pitchFamily="18" charset="0"/>
                      </a:rPr>
                      <m:t> ×</m:t>
                    </m:r>
                    <m:r>
                      <a:rPr lang="fr-FR" sz="900" b="0" i="1" smtClean="0">
                        <a:latin typeface="Cambria Math" panose="02040503050406030204" pitchFamily="18" charset="0"/>
                      </a:rPr>
                      <m:t> 0.90=0.3</m:t>
                    </m:r>
                  </m:oMath>
                </a14:m>
                <a:r>
                  <a:rPr lang="en-GB" sz="900" dirty="0"/>
                  <a:t>6</a:t>
                </a:r>
              </a:p>
            </p:txBody>
          </p:sp>
        </mc:Choice>
        <mc:Fallback xmlns="">
          <p:sp>
            <p:nvSpPr>
              <p:cNvPr id="125" name="ZoneTexte 124">
                <a:extLst>
                  <a:ext uri="{FF2B5EF4-FFF2-40B4-BE49-F238E27FC236}">
                    <a16:creationId xmlns:a16="http://schemas.microsoft.com/office/drawing/2014/main" id="{C1B0C2F3-C503-E98B-00C7-B679FBE05F46}"/>
                  </a:ext>
                </a:extLst>
              </p:cNvPr>
              <p:cNvSpPr txBox="1">
                <a:spLocks noRot="1" noChangeAspect="1" noMove="1" noResize="1" noEditPoints="1" noAdjustHandles="1" noChangeArrowheads="1" noChangeShapeType="1" noTextEdit="1"/>
              </p:cNvSpPr>
              <p:nvPr/>
            </p:nvSpPr>
            <p:spPr>
              <a:xfrm>
                <a:off x="6907925" y="4213504"/>
                <a:ext cx="3239375" cy="415498"/>
              </a:xfrm>
              <a:prstGeom prst="rect">
                <a:avLst/>
              </a:prstGeom>
              <a:blipFill>
                <a:blip r:embed="rId11"/>
                <a:stretch>
                  <a:fillRect b="-5882"/>
                </a:stretch>
              </a:blipFill>
            </p:spPr>
            <p:txBody>
              <a:bodyPr/>
              <a:lstStyle/>
              <a:p>
                <a:r>
                  <a:rPr lang="en-GB">
                    <a:noFill/>
                  </a:rPr>
                  <a:t> </a:t>
                </a:r>
              </a:p>
            </p:txBody>
          </p:sp>
        </mc:Fallback>
      </mc:AlternateContent>
      <p:sp>
        <p:nvSpPr>
          <p:cNvPr id="127" name="ZoneTexte 126">
            <a:extLst>
              <a:ext uri="{FF2B5EF4-FFF2-40B4-BE49-F238E27FC236}">
                <a16:creationId xmlns:a16="http://schemas.microsoft.com/office/drawing/2014/main" id="{4CA2A7E3-7498-BDC1-A733-C77045BB0C47}"/>
              </a:ext>
            </a:extLst>
          </p:cNvPr>
          <p:cNvSpPr txBox="1"/>
          <p:nvPr/>
        </p:nvSpPr>
        <p:spPr>
          <a:xfrm>
            <a:off x="914363" y="5542486"/>
            <a:ext cx="11004368" cy="731678"/>
          </a:xfrm>
          <a:prstGeom prst="rect">
            <a:avLst/>
          </a:prstGeom>
          <a:noFill/>
        </p:spPr>
        <p:txBody>
          <a:bodyPr wrap="square" rtlCol="0">
            <a:noAutofit/>
          </a:bodyPr>
          <a:lstStyle/>
          <a:p>
            <a:r>
              <a:rPr lang="en-GB" sz="1600" dirty="0">
                <a:latin typeface="ui-sans-serif"/>
              </a:rPr>
              <a:t>When greedy decoding will go up at a time step (0.60), it does not obtain the most probable sentence.</a:t>
            </a:r>
          </a:p>
          <a:p>
            <a:r>
              <a:rPr lang="en-GB" sz="1600" dirty="0">
                <a:latin typeface="ui-sans-serif"/>
              </a:rPr>
              <a:t>We could think about computing all the possible sentences and choose the most probable but there are too many words to do it. So, we will keep the k most probable branches at each time step.</a:t>
            </a:r>
            <a:endParaRPr lang="en-GB" sz="1600" dirty="0"/>
          </a:p>
        </p:txBody>
      </p:sp>
    </p:spTree>
    <p:extLst>
      <p:ext uri="{BB962C8B-B14F-4D97-AF65-F5344CB8AC3E}">
        <p14:creationId xmlns:p14="http://schemas.microsoft.com/office/powerpoint/2010/main" val="293242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BE54-61A7-7B4B-4A34-9A19883E38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6D976B-504C-4251-601A-D8C41B24982D}"/>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F41A51A2-8C5E-11CD-F733-3E40773B3F37}"/>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AF3F13D5-E702-C23C-1B37-731FC918962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Effective Decoding With Beam Search </a:t>
            </a:r>
          </a:p>
        </p:txBody>
      </p:sp>
      <p:sp>
        <p:nvSpPr>
          <p:cNvPr id="3" name="ZoneTexte 2">
            <a:extLst>
              <a:ext uri="{FF2B5EF4-FFF2-40B4-BE49-F238E27FC236}">
                <a16:creationId xmlns:a16="http://schemas.microsoft.com/office/drawing/2014/main" id="{4EEA33E9-E6D1-5647-9594-D0BA505B0D85}"/>
              </a:ext>
            </a:extLst>
          </p:cNvPr>
          <p:cNvSpPr txBox="1"/>
          <p:nvPr/>
        </p:nvSpPr>
        <p:spPr>
          <a:xfrm>
            <a:off x="859220" y="1965443"/>
            <a:ext cx="10515599" cy="731678"/>
          </a:xfrm>
          <a:prstGeom prst="rect">
            <a:avLst/>
          </a:prstGeom>
          <a:noFill/>
        </p:spPr>
        <p:txBody>
          <a:bodyPr wrap="square" rtlCol="0">
            <a:noAutofit/>
          </a:bodyPr>
          <a:lstStyle/>
          <a:p>
            <a:r>
              <a:rPr lang="en-GB" sz="1800" b="1" i="0" u="none" strike="noStrike" dirty="0">
                <a:effectLst/>
                <a:latin typeface="ui-sans-serif"/>
              </a:rPr>
              <a:t>Track the cumulative log probability of each branch and continue with th</a:t>
            </a:r>
            <a:r>
              <a:rPr lang="en-GB" b="1" dirty="0">
                <a:latin typeface="ui-sans-serif"/>
              </a:rPr>
              <a:t>e top k branches.</a:t>
            </a:r>
            <a:endParaRPr lang="en-GB" dirty="0"/>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74C6CCAB-9512-50B5-596C-B7CE02C64F92}"/>
                  </a:ext>
                </a:extLst>
              </p:cNvPr>
              <p:cNvSpPr txBox="1"/>
              <p:nvPr/>
            </p:nvSpPr>
            <p:spPr>
              <a:xfrm>
                <a:off x="914363" y="2776922"/>
                <a:ext cx="6355143" cy="1052404"/>
              </a:xfrm>
              <a:prstGeom prst="rect">
                <a:avLst/>
              </a:prstGeom>
              <a:noFill/>
            </p:spPr>
            <p:txBody>
              <a:bodyPr wrap="square" lIns="0" tIns="0" rIns="0" bIns="0" rtlCol="0">
                <a:spAutoFit/>
              </a:bodyPr>
              <a:lstStyle/>
              <a:p>
                <a:r>
                  <a:rPr lang="en-GB" noProof="0" dirty="0">
                    <a:latin typeface="Cambria Math" panose="02040503050406030204" pitchFamily="18" charset="0"/>
                  </a:rPr>
                  <a:t>Cumulative log Probability:</a:t>
                </a:r>
                <a:endParaRPr lang="en-GB" b="0" noProof="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𝑠𝑐𝑜𝑟𝑒</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𝑡</m:t>
                              </m:r>
                            </m:sub>
                          </m:sSub>
                        </m:e>
                      </m:d>
                      <m:r>
                        <a:rPr lang="fr-FR" b="0" i="1" smtClean="0">
                          <a:latin typeface="Cambria Math" panose="02040503050406030204" pitchFamily="18" charset="0"/>
                        </a:rPr>
                        <m:t>=</m:t>
                      </m:r>
                      <m:nary>
                        <m:naryPr>
                          <m:chr m:val="∑"/>
                          <m:ctrlPr>
                            <a:rPr lang="fr-FR" b="0" i="1" smtClean="0">
                              <a:latin typeface="Cambria Math" panose="02040503050406030204" pitchFamily="18" charset="0"/>
                            </a:rPr>
                          </m:ctrlPr>
                        </m:naryPr>
                        <m:sub>
                          <m:r>
                            <m:rPr>
                              <m:brk m:alnAt="23"/>
                            </m:rPr>
                            <a:rPr lang="fr-FR" b="0" i="1" smtClean="0">
                              <a:latin typeface="Cambria Math" panose="02040503050406030204" pitchFamily="18" charset="0"/>
                            </a:rPr>
                            <m:t>𝑖</m:t>
                          </m:r>
                          <m:r>
                            <a:rPr lang="fr-FR" b="0" i="1" smtClean="0">
                              <a:latin typeface="Cambria Math" panose="02040503050406030204" pitchFamily="18" charset="0"/>
                            </a:rPr>
                            <m:t>=1</m:t>
                          </m:r>
                        </m:sub>
                        <m:sup>
                          <m:r>
                            <a:rPr lang="fr-FR" b="0" i="1" smtClean="0">
                              <a:latin typeface="Cambria Math" panose="02040503050406030204" pitchFamily="18" charset="0"/>
                            </a:rPr>
                            <m:t>𝑡</m:t>
                          </m:r>
                        </m:sup>
                        <m:e>
                          <m:r>
                            <a:rPr lang="fr-FR" b="0" i="1" smtClean="0">
                              <a:latin typeface="Cambria Math" panose="02040503050406030204" pitchFamily="18" charset="0"/>
                            </a:rPr>
                            <m:t>𝑙𝑜𝑔𝑃</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m:t>
                              </m:r>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1</m:t>
                              </m:r>
                            </m:sub>
                          </m:sSub>
                          <m:r>
                            <a:rPr lang="fr-FR" b="0" i="1" smtClean="0">
                              <a:latin typeface="Cambria Math" panose="02040503050406030204" pitchFamily="18" charset="0"/>
                            </a:rPr>
                            <m:t>,</m:t>
                          </m:r>
                          <m:r>
                            <a:rPr lang="fr-FR" b="0" i="1" smtClean="0">
                              <a:latin typeface="Cambria Math" panose="02040503050406030204" pitchFamily="18" charset="0"/>
                            </a:rPr>
                            <m:t>𝑥</m:t>
                          </m:r>
                          <m:r>
                            <a:rPr lang="fr-FR" b="0" i="1" smtClean="0">
                              <a:latin typeface="Cambria Math" panose="02040503050406030204" pitchFamily="18" charset="0"/>
                            </a:rPr>
                            <m:t>)</m:t>
                          </m:r>
                        </m:e>
                      </m:nary>
                    </m:oMath>
                  </m:oMathPara>
                </a14:m>
                <a:endParaRPr lang="en-GB" dirty="0"/>
              </a:p>
            </p:txBody>
          </p:sp>
        </mc:Choice>
        <mc:Fallback xmlns="">
          <p:sp>
            <p:nvSpPr>
              <p:cNvPr id="6" name="ZoneTexte 5">
                <a:extLst>
                  <a:ext uri="{FF2B5EF4-FFF2-40B4-BE49-F238E27FC236}">
                    <a16:creationId xmlns:a16="http://schemas.microsoft.com/office/drawing/2014/main" id="{74C6CCAB-9512-50B5-596C-B7CE02C64F92}"/>
                  </a:ext>
                </a:extLst>
              </p:cNvPr>
              <p:cNvSpPr txBox="1">
                <a:spLocks noRot="1" noChangeAspect="1" noMove="1" noResize="1" noEditPoints="1" noAdjustHandles="1" noChangeArrowheads="1" noChangeShapeType="1" noTextEdit="1"/>
              </p:cNvSpPr>
              <p:nvPr/>
            </p:nvSpPr>
            <p:spPr>
              <a:xfrm>
                <a:off x="914363" y="2776922"/>
                <a:ext cx="6355143" cy="1052404"/>
              </a:xfrm>
              <a:prstGeom prst="rect">
                <a:avLst/>
              </a:prstGeom>
              <a:blipFill>
                <a:blip r:embed="rId2"/>
                <a:stretch>
                  <a:fillRect l="-2395" t="-57143" b="-127381"/>
                </a:stretch>
              </a:blipFill>
            </p:spPr>
            <p:txBody>
              <a:bodyPr/>
              <a:lstStyle/>
              <a:p>
                <a:r>
                  <a:rPr lang="en-GB">
                    <a:noFill/>
                  </a:rPr>
                  <a:t> </a:t>
                </a:r>
              </a:p>
            </p:txBody>
          </p:sp>
        </mc:Fallback>
      </mc:AlternateContent>
    </p:spTree>
    <p:extLst>
      <p:ext uri="{BB962C8B-B14F-4D97-AF65-F5344CB8AC3E}">
        <p14:creationId xmlns:p14="http://schemas.microsoft.com/office/powerpoint/2010/main" val="242385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3955C-D054-5A73-A926-106D5810E3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F7597044-6E23-2715-89E0-19E651A6422E}"/>
                  </a:ext>
                </a:extLst>
              </p:cNvPr>
              <p:cNvSpPr txBox="1"/>
              <p:nvPr/>
            </p:nvSpPr>
            <p:spPr>
              <a:xfrm>
                <a:off x="4141035" y="4280010"/>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2</a:t>
                </a:r>
              </a:p>
            </p:txBody>
          </p:sp>
        </mc:Choice>
        <mc:Fallback xmlns="">
          <p:sp>
            <p:nvSpPr>
              <p:cNvPr id="63" name="ZoneTexte 62">
                <a:extLst>
                  <a:ext uri="{FF2B5EF4-FFF2-40B4-BE49-F238E27FC236}">
                    <a16:creationId xmlns:a16="http://schemas.microsoft.com/office/drawing/2014/main" id="{F7597044-6E23-2715-89E0-19E651A6422E}"/>
                  </a:ext>
                </a:extLst>
              </p:cNvPr>
              <p:cNvSpPr txBox="1">
                <a:spLocks noRot="1" noChangeAspect="1" noMove="1" noResize="1" noEditPoints="1" noAdjustHandles="1" noChangeArrowheads="1" noChangeShapeType="1" noTextEdit="1"/>
              </p:cNvSpPr>
              <p:nvPr/>
            </p:nvSpPr>
            <p:spPr>
              <a:xfrm>
                <a:off x="4141035" y="4280010"/>
                <a:ext cx="491629" cy="215444"/>
              </a:xfrm>
              <a:prstGeom prst="rect">
                <a:avLst/>
              </a:prstGeom>
              <a:blipFill>
                <a:blip r:embed="rId2"/>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ZoneTexte 64">
                <a:extLst>
                  <a:ext uri="{FF2B5EF4-FFF2-40B4-BE49-F238E27FC236}">
                    <a16:creationId xmlns:a16="http://schemas.microsoft.com/office/drawing/2014/main" id="{5F796A35-939C-4A1A-B999-7C7E6FE5B26F}"/>
                  </a:ext>
                </a:extLst>
              </p:cNvPr>
              <p:cNvSpPr txBox="1"/>
              <p:nvPr/>
            </p:nvSpPr>
            <p:spPr>
              <a:xfrm>
                <a:off x="4221218" y="4476661"/>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8</a:t>
                </a:r>
              </a:p>
            </p:txBody>
          </p:sp>
        </mc:Choice>
        <mc:Fallback xmlns="">
          <p:sp>
            <p:nvSpPr>
              <p:cNvPr id="65" name="ZoneTexte 64">
                <a:extLst>
                  <a:ext uri="{FF2B5EF4-FFF2-40B4-BE49-F238E27FC236}">
                    <a16:creationId xmlns:a16="http://schemas.microsoft.com/office/drawing/2014/main" id="{5F796A35-939C-4A1A-B999-7C7E6FE5B26F}"/>
                  </a:ext>
                </a:extLst>
              </p:cNvPr>
              <p:cNvSpPr txBox="1">
                <a:spLocks noRot="1" noChangeAspect="1" noMove="1" noResize="1" noEditPoints="1" noAdjustHandles="1" noChangeArrowheads="1" noChangeShapeType="1" noTextEdit="1"/>
              </p:cNvSpPr>
              <p:nvPr/>
            </p:nvSpPr>
            <p:spPr>
              <a:xfrm>
                <a:off x="4221218" y="4476661"/>
                <a:ext cx="491629" cy="215444"/>
              </a:xfrm>
              <a:prstGeom prst="rect">
                <a:avLst/>
              </a:prstGeom>
              <a:blipFill>
                <a:blip r:embed="rId3"/>
                <a:stretch>
                  <a:fillRect b="-5556"/>
                </a:stretch>
              </a:blipFill>
            </p:spPr>
            <p:txBody>
              <a:bodyPr/>
              <a:lstStyle/>
              <a:p>
                <a:r>
                  <a:rPr lang="en-GB">
                    <a:noFill/>
                  </a:rPr>
                  <a:t> </a:t>
                </a:r>
              </a:p>
            </p:txBody>
          </p:sp>
        </mc:Fallback>
      </mc:AlternateContent>
      <p:sp>
        <p:nvSpPr>
          <p:cNvPr id="2" name="Titre 1">
            <a:extLst>
              <a:ext uri="{FF2B5EF4-FFF2-40B4-BE49-F238E27FC236}">
                <a16:creationId xmlns:a16="http://schemas.microsoft.com/office/drawing/2014/main" id="{12720A26-329A-4178-2497-7A10A9AF040B}"/>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2AA1DDFB-FB68-D4A1-5A22-B74A09624BE6}"/>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2D11A8C6-93AA-572B-6395-8C35B045C0D4}"/>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Effective Decoding With Beam Search </a:t>
            </a:r>
          </a:p>
        </p:txBody>
      </p:sp>
      <p:sp>
        <p:nvSpPr>
          <p:cNvPr id="3" name="ZoneTexte 2">
            <a:extLst>
              <a:ext uri="{FF2B5EF4-FFF2-40B4-BE49-F238E27FC236}">
                <a16:creationId xmlns:a16="http://schemas.microsoft.com/office/drawing/2014/main" id="{2218289F-66DD-92E3-1BE9-B847C28F9577}"/>
              </a:ext>
            </a:extLst>
          </p:cNvPr>
          <p:cNvSpPr txBox="1"/>
          <p:nvPr/>
        </p:nvSpPr>
        <p:spPr>
          <a:xfrm>
            <a:off x="859220" y="1965443"/>
            <a:ext cx="10515599" cy="372235"/>
          </a:xfrm>
          <a:prstGeom prst="rect">
            <a:avLst/>
          </a:prstGeom>
          <a:noFill/>
        </p:spPr>
        <p:txBody>
          <a:bodyPr wrap="square" rtlCol="0">
            <a:noAutofit/>
          </a:bodyPr>
          <a:lstStyle/>
          <a:p>
            <a:r>
              <a:rPr lang="en-GB" sz="1800" b="1" i="0" u="none" strike="noStrike" dirty="0">
                <a:effectLst/>
                <a:latin typeface="ui-sans-serif"/>
              </a:rPr>
              <a:t>Beam Width (k) = 2</a:t>
            </a:r>
            <a:endParaRPr lang="en-GB" dirty="0"/>
          </a:p>
        </p:txBody>
      </p:sp>
      <p:sp>
        <p:nvSpPr>
          <p:cNvPr id="27" name="Ellipse 26">
            <a:extLst>
              <a:ext uri="{FF2B5EF4-FFF2-40B4-BE49-F238E27FC236}">
                <a16:creationId xmlns:a16="http://schemas.microsoft.com/office/drawing/2014/main" id="{325B498B-AFC1-AEF0-9CB5-6C7A24F3CDE7}"/>
              </a:ext>
            </a:extLst>
          </p:cNvPr>
          <p:cNvSpPr/>
          <p:nvPr/>
        </p:nvSpPr>
        <p:spPr>
          <a:xfrm>
            <a:off x="2101044" y="3844209"/>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42" name="Ellipse 41">
            <a:extLst>
              <a:ext uri="{FF2B5EF4-FFF2-40B4-BE49-F238E27FC236}">
                <a16:creationId xmlns:a16="http://schemas.microsoft.com/office/drawing/2014/main" id="{4BBBF9AD-42D8-83B9-FA9D-85BFD839B904}"/>
              </a:ext>
            </a:extLst>
          </p:cNvPr>
          <p:cNvSpPr/>
          <p:nvPr/>
        </p:nvSpPr>
        <p:spPr>
          <a:xfrm>
            <a:off x="3465172" y="3495645"/>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ship</a:t>
            </a:r>
          </a:p>
        </p:txBody>
      </p:sp>
      <p:sp>
        <p:nvSpPr>
          <p:cNvPr id="43" name="Ellipse 42">
            <a:extLst>
              <a:ext uri="{FF2B5EF4-FFF2-40B4-BE49-F238E27FC236}">
                <a16:creationId xmlns:a16="http://schemas.microsoft.com/office/drawing/2014/main" id="{F7A982C6-E3FD-F3FF-CC9A-AE2324DDA90C}"/>
              </a:ext>
            </a:extLst>
          </p:cNvPr>
          <p:cNvSpPr/>
          <p:nvPr/>
        </p:nvSpPr>
        <p:spPr>
          <a:xfrm>
            <a:off x="3475337" y="4242958"/>
            <a:ext cx="730092" cy="50969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boat</a:t>
            </a:r>
          </a:p>
        </p:txBody>
      </p:sp>
      <p:sp>
        <p:nvSpPr>
          <p:cNvPr id="44" name="Ellipse 43">
            <a:extLst>
              <a:ext uri="{FF2B5EF4-FFF2-40B4-BE49-F238E27FC236}">
                <a16:creationId xmlns:a16="http://schemas.microsoft.com/office/drawing/2014/main" id="{30798EBC-24AD-AD67-39F3-D25705FDBB81}"/>
              </a:ext>
            </a:extLst>
          </p:cNvPr>
          <p:cNvSpPr/>
          <p:nvPr/>
        </p:nvSpPr>
        <p:spPr>
          <a:xfrm>
            <a:off x="2051321" y="5296990"/>
            <a:ext cx="730092" cy="5251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sunk</a:t>
            </a:r>
          </a:p>
        </p:txBody>
      </p:sp>
      <p:sp>
        <p:nvSpPr>
          <p:cNvPr id="45" name="Ellipse 44">
            <a:extLst>
              <a:ext uri="{FF2B5EF4-FFF2-40B4-BE49-F238E27FC236}">
                <a16:creationId xmlns:a16="http://schemas.microsoft.com/office/drawing/2014/main" id="{0318B20D-8100-7A01-A56D-72FE56959B4C}"/>
              </a:ext>
            </a:extLst>
          </p:cNvPr>
          <p:cNvSpPr/>
          <p:nvPr/>
        </p:nvSpPr>
        <p:spPr>
          <a:xfrm>
            <a:off x="3506982" y="4931092"/>
            <a:ext cx="730091" cy="525118"/>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fire</a:t>
            </a:r>
          </a:p>
        </p:txBody>
      </p:sp>
      <p:sp>
        <p:nvSpPr>
          <p:cNvPr id="46" name="Ellipse 45">
            <a:extLst>
              <a:ext uri="{FF2B5EF4-FFF2-40B4-BE49-F238E27FC236}">
                <a16:creationId xmlns:a16="http://schemas.microsoft.com/office/drawing/2014/main" id="{07F9E7EA-2B9F-B0F0-ACDE-6C91525C5335}"/>
              </a:ext>
            </a:extLst>
          </p:cNvPr>
          <p:cNvSpPr/>
          <p:nvPr/>
        </p:nvSpPr>
        <p:spPr>
          <a:xfrm>
            <a:off x="3506982" y="5708248"/>
            <a:ext cx="698446" cy="479853"/>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47" name="ZoneTexte 46">
            <a:extLst>
              <a:ext uri="{FF2B5EF4-FFF2-40B4-BE49-F238E27FC236}">
                <a16:creationId xmlns:a16="http://schemas.microsoft.com/office/drawing/2014/main" id="{A9BAE7B8-B0FF-DB66-3B32-AC2B9507C8C9}"/>
              </a:ext>
            </a:extLst>
          </p:cNvPr>
          <p:cNvSpPr txBox="1"/>
          <p:nvPr/>
        </p:nvSpPr>
        <p:spPr>
          <a:xfrm>
            <a:off x="864747" y="4637249"/>
            <a:ext cx="635157" cy="246221"/>
          </a:xfrm>
          <a:prstGeom prst="rect">
            <a:avLst/>
          </a:prstGeom>
          <a:noFill/>
        </p:spPr>
        <p:txBody>
          <a:bodyPr wrap="square" rtlCol="0">
            <a:spAutoFit/>
          </a:bodyPr>
          <a:lstStyle/>
          <a:p>
            <a:r>
              <a:rPr lang="en-GB" sz="1000" b="1" dirty="0"/>
              <a:t>&lt;start&gt;</a:t>
            </a:r>
          </a:p>
        </p:txBody>
      </p: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438FF8D1-0369-7E8D-E08B-E39559023552}"/>
                  </a:ext>
                </a:extLst>
              </p:cNvPr>
              <p:cNvSpPr txBox="1"/>
              <p:nvPr/>
            </p:nvSpPr>
            <p:spPr>
              <a:xfrm>
                <a:off x="1404860" y="4215142"/>
                <a:ext cx="458370"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−0.2</m:t>
                      </m:r>
                    </m:oMath>
                  </m:oMathPara>
                </a14:m>
                <a:endParaRPr lang="en-GB" sz="800" dirty="0"/>
              </a:p>
            </p:txBody>
          </p:sp>
        </mc:Choice>
        <mc:Fallback xmlns="">
          <p:sp>
            <p:nvSpPr>
              <p:cNvPr id="50" name="ZoneTexte 49">
                <a:extLst>
                  <a:ext uri="{FF2B5EF4-FFF2-40B4-BE49-F238E27FC236}">
                    <a16:creationId xmlns:a16="http://schemas.microsoft.com/office/drawing/2014/main" id="{438FF8D1-0369-7E8D-E08B-E39559023552}"/>
                  </a:ext>
                </a:extLst>
              </p:cNvPr>
              <p:cNvSpPr txBox="1">
                <a:spLocks noRot="1" noChangeAspect="1" noMove="1" noResize="1" noEditPoints="1" noAdjustHandles="1" noChangeArrowheads="1" noChangeShapeType="1" noTextEdit="1"/>
              </p:cNvSpPr>
              <p:nvPr/>
            </p:nvSpPr>
            <p:spPr>
              <a:xfrm>
                <a:off x="1404860" y="4215142"/>
                <a:ext cx="458370" cy="21544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5682CB44-9DA8-C2D5-ECB9-5C8E83DF40FC}"/>
                  </a:ext>
                </a:extLst>
              </p:cNvPr>
              <p:cNvSpPr txBox="1"/>
              <p:nvPr/>
            </p:nvSpPr>
            <p:spPr>
              <a:xfrm>
                <a:off x="1289922" y="5039282"/>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−1,.6</m:t>
                      </m:r>
                    </m:oMath>
                  </m:oMathPara>
                </a14:m>
                <a:endParaRPr lang="en-GB" sz="800" dirty="0"/>
              </a:p>
            </p:txBody>
          </p:sp>
        </mc:Choice>
        <mc:Fallback xmlns="">
          <p:sp>
            <p:nvSpPr>
              <p:cNvPr id="55" name="ZoneTexte 54">
                <a:extLst>
                  <a:ext uri="{FF2B5EF4-FFF2-40B4-BE49-F238E27FC236}">
                    <a16:creationId xmlns:a16="http://schemas.microsoft.com/office/drawing/2014/main" id="{5682CB44-9DA8-C2D5-ECB9-5C8E83DF40FC}"/>
                  </a:ext>
                </a:extLst>
              </p:cNvPr>
              <p:cNvSpPr txBox="1">
                <a:spLocks noRot="1" noChangeAspect="1" noMove="1" noResize="1" noEditPoints="1" noAdjustHandles="1" noChangeArrowheads="1" noChangeShapeType="1" noTextEdit="1"/>
              </p:cNvSpPr>
              <p:nvPr/>
            </p:nvSpPr>
            <p:spPr>
              <a:xfrm>
                <a:off x="1289922" y="5039282"/>
                <a:ext cx="491629" cy="21544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DC5E0027-F935-754C-5C69-5BE13DBC4BF0}"/>
                  </a:ext>
                </a:extLst>
              </p:cNvPr>
              <p:cNvSpPr txBox="1"/>
              <p:nvPr/>
            </p:nvSpPr>
            <p:spPr>
              <a:xfrm>
                <a:off x="2831779" y="5106384"/>
                <a:ext cx="407856"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−0.9</m:t>
                      </m:r>
                    </m:oMath>
                  </m:oMathPara>
                </a14:m>
                <a:endParaRPr lang="en-GB" sz="800" dirty="0"/>
              </a:p>
            </p:txBody>
          </p:sp>
        </mc:Choice>
        <mc:Fallback xmlns="">
          <p:sp>
            <p:nvSpPr>
              <p:cNvPr id="73" name="ZoneTexte 72">
                <a:extLst>
                  <a:ext uri="{FF2B5EF4-FFF2-40B4-BE49-F238E27FC236}">
                    <a16:creationId xmlns:a16="http://schemas.microsoft.com/office/drawing/2014/main" id="{DC5E0027-F935-754C-5C69-5BE13DBC4BF0}"/>
                  </a:ext>
                </a:extLst>
              </p:cNvPr>
              <p:cNvSpPr txBox="1">
                <a:spLocks noRot="1" noChangeAspect="1" noMove="1" noResize="1" noEditPoints="1" noAdjustHandles="1" noChangeArrowheads="1" noChangeShapeType="1" noTextEdit="1"/>
              </p:cNvSpPr>
              <p:nvPr/>
            </p:nvSpPr>
            <p:spPr>
              <a:xfrm>
                <a:off x="2831779" y="5106384"/>
                <a:ext cx="407856" cy="215444"/>
              </a:xfrm>
              <a:prstGeom prst="rect">
                <a:avLst/>
              </a:prstGeom>
              <a:blipFill>
                <a:blip r:embed="rId6"/>
                <a:stretch>
                  <a:fillRect/>
                </a:stretch>
              </a:blipFill>
            </p:spPr>
            <p:txBody>
              <a:bodyPr/>
              <a:lstStyle/>
              <a:p>
                <a:r>
                  <a:rPr lang="en-GB">
                    <a:noFill/>
                  </a:rPr>
                  <a:t> </a:t>
                </a:r>
              </a:p>
            </p:txBody>
          </p:sp>
        </mc:Fallback>
      </mc:AlternateContent>
      <p:cxnSp>
        <p:nvCxnSpPr>
          <p:cNvPr id="104" name="Connecteur droit avec flèche 103">
            <a:extLst>
              <a:ext uri="{FF2B5EF4-FFF2-40B4-BE49-F238E27FC236}">
                <a16:creationId xmlns:a16="http://schemas.microsoft.com/office/drawing/2014/main" id="{C9BC0654-22DB-8669-3D5D-556F57369C05}"/>
              </a:ext>
            </a:extLst>
          </p:cNvPr>
          <p:cNvCxnSpPr>
            <a:cxnSpLocks/>
            <a:endCxn id="27" idx="3"/>
          </p:cNvCxnSpPr>
          <p:nvPr/>
        </p:nvCxnSpPr>
        <p:spPr>
          <a:xfrm flipV="1">
            <a:off x="1404861" y="4223922"/>
            <a:ext cx="795821" cy="52105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4ECAD77A-389D-A511-040F-037226B5C7A7}"/>
              </a:ext>
            </a:extLst>
          </p:cNvPr>
          <p:cNvCxnSpPr>
            <a:cxnSpLocks/>
            <a:endCxn id="44" idx="1"/>
          </p:cNvCxnSpPr>
          <p:nvPr/>
        </p:nvCxnSpPr>
        <p:spPr>
          <a:xfrm>
            <a:off x="1404861" y="4744972"/>
            <a:ext cx="753380" cy="62892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1EEE574F-3838-E970-C23A-E63EB44C2D94}"/>
              </a:ext>
            </a:extLst>
          </p:cNvPr>
          <p:cNvCxnSpPr>
            <a:cxnSpLocks/>
            <a:stCxn id="27" idx="6"/>
            <a:endCxn id="42" idx="2"/>
          </p:cNvCxnSpPr>
          <p:nvPr/>
        </p:nvCxnSpPr>
        <p:spPr>
          <a:xfrm flipV="1">
            <a:off x="2781411" y="3798609"/>
            <a:ext cx="683761" cy="26803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0CABB7D9-9E2D-44C9-733E-993B239877E1}"/>
              </a:ext>
            </a:extLst>
          </p:cNvPr>
          <p:cNvCxnSpPr>
            <a:cxnSpLocks/>
            <a:stCxn id="27" idx="6"/>
            <a:endCxn id="43" idx="2"/>
          </p:cNvCxnSpPr>
          <p:nvPr/>
        </p:nvCxnSpPr>
        <p:spPr>
          <a:xfrm>
            <a:off x="2781411" y="4066640"/>
            <a:ext cx="693925" cy="431166"/>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082C38ED-C760-6073-F1BA-6769DC1B418C}"/>
              </a:ext>
            </a:extLst>
          </p:cNvPr>
          <p:cNvCxnSpPr>
            <a:cxnSpLocks/>
            <a:stCxn id="44" idx="6"/>
            <a:endCxn id="45" idx="2"/>
          </p:cNvCxnSpPr>
          <p:nvPr/>
        </p:nvCxnSpPr>
        <p:spPr>
          <a:xfrm flipV="1">
            <a:off x="2781412" y="5193651"/>
            <a:ext cx="725569" cy="365899"/>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3A406A30-D4B0-6733-0DDB-E5E2D727E4E9}"/>
              </a:ext>
            </a:extLst>
          </p:cNvPr>
          <p:cNvCxnSpPr>
            <a:cxnSpLocks/>
            <a:stCxn id="44" idx="6"/>
            <a:endCxn id="46" idx="2"/>
          </p:cNvCxnSpPr>
          <p:nvPr/>
        </p:nvCxnSpPr>
        <p:spPr>
          <a:xfrm>
            <a:off x="2781412" y="5559550"/>
            <a:ext cx="725569" cy="388625"/>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Ellipse 5">
            <a:extLst>
              <a:ext uri="{FF2B5EF4-FFF2-40B4-BE49-F238E27FC236}">
                <a16:creationId xmlns:a16="http://schemas.microsoft.com/office/drawing/2014/main" id="{21A206C3-AA69-64BB-2EA3-E09A742391BE}"/>
              </a:ext>
            </a:extLst>
          </p:cNvPr>
          <p:cNvSpPr/>
          <p:nvPr/>
        </p:nvSpPr>
        <p:spPr>
          <a:xfrm>
            <a:off x="4565713" y="3649774"/>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sailed</a:t>
            </a:r>
          </a:p>
        </p:txBody>
      </p:sp>
      <p:sp>
        <p:nvSpPr>
          <p:cNvPr id="7" name="Ellipse 6">
            <a:extLst>
              <a:ext uri="{FF2B5EF4-FFF2-40B4-BE49-F238E27FC236}">
                <a16:creationId xmlns:a16="http://schemas.microsoft.com/office/drawing/2014/main" id="{8D703B81-3399-F280-ACCA-294A7B7D78D2}"/>
              </a:ext>
            </a:extLst>
          </p:cNvPr>
          <p:cNvSpPr/>
          <p:nvPr/>
        </p:nvSpPr>
        <p:spPr>
          <a:xfrm>
            <a:off x="5929841" y="3353760"/>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home</a:t>
            </a:r>
          </a:p>
        </p:txBody>
      </p:sp>
      <p:sp>
        <p:nvSpPr>
          <p:cNvPr id="8" name="Ellipse 7">
            <a:extLst>
              <a:ext uri="{FF2B5EF4-FFF2-40B4-BE49-F238E27FC236}">
                <a16:creationId xmlns:a16="http://schemas.microsoft.com/office/drawing/2014/main" id="{56DC2A05-AAD3-2E30-B5F7-AE8DED04F386}"/>
              </a:ext>
            </a:extLst>
          </p:cNvPr>
          <p:cNvSpPr/>
          <p:nvPr/>
        </p:nvSpPr>
        <p:spPr>
          <a:xfrm>
            <a:off x="5940006" y="4048523"/>
            <a:ext cx="730092" cy="509696"/>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shark</a:t>
            </a:r>
          </a:p>
        </p:txBody>
      </p:sp>
      <p:cxnSp>
        <p:nvCxnSpPr>
          <p:cNvPr id="11" name="Connecteur droit avec flèche 10">
            <a:extLst>
              <a:ext uri="{FF2B5EF4-FFF2-40B4-BE49-F238E27FC236}">
                <a16:creationId xmlns:a16="http://schemas.microsoft.com/office/drawing/2014/main" id="{9CEEAB25-BB6C-92AD-C378-1CA40EDCC41A}"/>
              </a:ext>
            </a:extLst>
          </p:cNvPr>
          <p:cNvCxnSpPr>
            <a:cxnSpLocks/>
            <a:stCxn id="6" idx="6"/>
            <a:endCxn id="7" idx="2"/>
          </p:cNvCxnSpPr>
          <p:nvPr/>
        </p:nvCxnSpPr>
        <p:spPr>
          <a:xfrm flipV="1">
            <a:off x="5246080" y="3656724"/>
            <a:ext cx="683761" cy="21548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EEA1E92D-FBCC-43C9-D16F-DE564D3FFF36}"/>
              </a:ext>
            </a:extLst>
          </p:cNvPr>
          <p:cNvCxnSpPr>
            <a:cxnSpLocks/>
            <a:stCxn id="6" idx="6"/>
            <a:endCxn id="8" idx="2"/>
          </p:cNvCxnSpPr>
          <p:nvPr/>
        </p:nvCxnSpPr>
        <p:spPr>
          <a:xfrm>
            <a:off x="5246080" y="3872205"/>
            <a:ext cx="693925" cy="431166"/>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Ellipse 12">
            <a:extLst>
              <a:ext uri="{FF2B5EF4-FFF2-40B4-BE49-F238E27FC236}">
                <a16:creationId xmlns:a16="http://schemas.microsoft.com/office/drawing/2014/main" id="{246662D7-4441-A263-10ED-BC6B8FD33EA7}"/>
              </a:ext>
            </a:extLst>
          </p:cNvPr>
          <p:cNvSpPr/>
          <p:nvPr/>
        </p:nvSpPr>
        <p:spPr>
          <a:xfrm>
            <a:off x="4591990" y="2372769"/>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has</a:t>
            </a:r>
          </a:p>
        </p:txBody>
      </p:sp>
      <p:sp>
        <p:nvSpPr>
          <p:cNvPr id="14" name="Ellipse 13">
            <a:extLst>
              <a:ext uri="{FF2B5EF4-FFF2-40B4-BE49-F238E27FC236}">
                <a16:creationId xmlns:a16="http://schemas.microsoft.com/office/drawing/2014/main" id="{43E01337-675B-2F58-45D2-0344459D305A}"/>
              </a:ext>
            </a:extLst>
          </p:cNvPr>
          <p:cNvSpPr/>
          <p:nvPr/>
        </p:nvSpPr>
        <p:spPr>
          <a:xfrm>
            <a:off x="5956118" y="2024205"/>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docked</a:t>
            </a:r>
          </a:p>
        </p:txBody>
      </p:sp>
      <p:sp>
        <p:nvSpPr>
          <p:cNvPr id="15" name="Ellipse 14">
            <a:extLst>
              <a:ext uri="{FF2B5EF4-FFF2-40B4-BE49-F238E27FC236}">
                <a16:creationId xmlns:a16="http://schemas.microsoft.com/office/drawing/2014/main" id="{635AB3DB-7666-3FD6-8447-2E4FC7E8A92B}"/>
              </a:ext>
            </a:extLst>
          </p:cNvPr>
          <p:cNvSpPr/>
          <p:nvPr/>
        </p:nvSpPr>
        <p:spPr>
          <a:xfrm>
            <a:off x="5966283" y="2771518"/>
            <a:ext cx="730092" cy="509696"/>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sunk</a:t>
            </a:r>
          </a:p>
        </p:txBody>
      </p:sp>
      <p:cxnSp>
        <p:nvCxnSpPr>
          <p:cNvPr id="18" name="Connecteur droit avec flèche 17">
            <a:extLst>
              <a:ext uri="{FF2B5EF4-FFF2-40B4-BE49-F238E27FC236}">
                <a16:creationId xmlns:a16="http://schemas.microsoft.com/office/drawing/2014/main" id="{D4A25AA3-85DA-0D3E-B309-EA88B77AD79B}"/>
              </a:ext>
            </a:extLst>
          </p:cNvPr>
          <p:cNvCxnSpPr>
            <a:cxnSpLocks/>
            <a:stCxn id="13" idx="6"/>
            <a:endCxn id="14" idx="2"/>
          </p:cNvCxnSpPr>
          <p:nvPr/>
        </p:nvCxnSpPr>
        <p:spPr>
          <a:xfrm flipV="1">
            <a:off x="5272357" y="2327169"/>
            <a:ext cx="683761" cy="26803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7A39316E-F283-10BF-46E3-DAB7AF81A847}"/>
              </a:ext>
            </a:extLst>
          </p:cNvPr>
          <p:cNvCxnSpPr>
            <a:cxnSpLocks/>
            <a:stCxn id="13" idx="6"/>
            <a:endCxn id="15" idx="2"/>
          </p:cNvCxnSpPr>
          <p:nvPr/>
        </p:nvCxnSpPr>
        <p:spPr>
          <a:xfrm>
            <a:off x="5272357" y="2595200"/>
            <a:ext cx="693925" cy="431166"/>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4C4784BF-9034-D96D-DB73-CD2A3F7D290C}"/>
              </a:ext>
            </a:extLst>
          </p:cNvPr>
          <p:cNvCxnSpPr>
            <a:cxnSpLocks/>
            <a:stCxn id="42" idx="6"/>
            <a:endCxn id="13" idx="3"/>
          </p:cNvCxnSpPr>
          <p:nvPr/>
        </p:nvCxnSpPr>
        <p:spPr>
          <a:xfrm flipV="1">
            <a:off x="4268716" y="2752482"/>
            <a:ext cx="422911" cy="1046127"/>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23A6C23F-EFFC-8ECC-3A88-95ED192A78AD}"/>
              </a:ext>
            </a:extLst>
          </p:cNvPr>
          <p:cNvCxnSpPr>
            <a:cxnSpLocks/>
            <a:stCxn id="42" idx="6"/>
          </p:cNvCxnSpPr>
          <p:nvPr/>
        </p:nvCxnSpPr>
        <p:spPr>
          <a:xfrm>
            <a:off x="4268716" y="3798609"/>
            <a:ext cx="396634" cy="105495"/>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5" name="Ellipse 34">
            <a:extLst>
              <a:ext uri="{FF2B5EF4-FFF2-40B4-BE49-F238E27FC236}">
                <a16:creationId xmlns:a16="http://schemas.microsoft.com/office/drawing/2014/main" id="{CF843C5C-1ACA-DA9E-8F69-22425FC52A92}"/>
              </a:ext>
            </a:extLst>
          </p:cNvPr>
          <p:cNvSpPr/>
          <p:nvPr/>
        </p:nvSpPr>
        <p:spPr>
          <a:xfrm>
            <a:off x="4570969" y="4842697"/>
            <a:ext cx="680367" cy="444861"/>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sailed</a:t>
            </a:r>
          </a:p>
        </p:txBody>
      </p:sp>
      <p:sp>
        <p:nvSpPr>
          <p:cNvPr id="36" name="Ellipse 35">
            <a:extLst>
              <a:ext uri="{FF2B5EF4-FFF2-40B4-BE49-F238E27FC236}">
                <a16:creationId xmlns:a16="http://schemas.microsoft.com/office/drawing/2014/main" id="{6F0714A9-D66E-3467-03E3-1BAFF3D02F46}"/>
              </a:ext>
            </a:extLst>
          </p:cNvPr>
          <p:cNvSpPr/>
          <p:nvPr/>
        </p:nvSpPr>
        <p:spPr>
          <a:xfrm>
            <a:off x="4555205" y="4269883"/>
            <a:ext cx="680367" cy="444861"/>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has</a:t>
            </a:r>
          </a:p>
        </p:txBody>
      </p:sp>
      <p:cxnSp>
        <p:nvCxnSpPr>
          <p:cNvPr id="37" name="Connecteur droit avec flèche 36">
            <a:extLst>
              <a:ext uri="{FF2B5EF4-FFF2-40B4-BE49-F238E27FC236}">
                <a16:creationId xmlns:a16="http://schemas.microsoft.com/office/drawing/2014/main" id="{320B5A3C-649A-7095-2E1D-28E05B2C32A2}"/>
              </a:ext>
            </a:extLst>
          </p:cNvPr>
          <p:cNvCxnSpPr>
            <a:cxnSpLocks/>
            <a:stCxn id="43" idx="6"/>
            <a:endCxn id="36" idx="2"/>
          </p:cNvCxnSpPr>
          <p:nvPr/>
        </p:nvCxnSpPr>
        <p:spPr>
          <a:xfrm flipV="1">
            <a:off x="4205429" y="4492314"/>
            <a:ext cx="349776" cy="5492"/>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9BA2489B-842E-7B2C-212F-5A2B3A6D63D9}"/>
              </a:ext>
            </a:extLst>
          </p:cNvPr>
          <p:cNvCxnSpPr>
            <a:cxnSpLocks/>
            <a:stCxn id="43" idx="6"/>
            <a:endCxn id="35" idx="2"/>
          </p:cNvCxnSpPr>
          <p:nvPr/>
        </p:nvCxnSpPr>
        <p:spPr>
          <a:xfrm>
            <a:off x="4205429" y="4497806"/>
            <a:ext cx="365540" cy="567322"/>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1368C4AB-A6E1-B32C-8169-CA547C4F73D0}"/>
                  </a:ext>
                </a:extLst>
              </p:cNvPr>
              <p:cNvSpPr txBox="1"/>
              <p:nvPr/>
            </p:nvSpPr>
            <p:spPr>
              <a:xfrm>
                <a:off x="1587746" y="4812946"/>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𝟔</m:t>
                      </m:r>
                    </m:oMath>
                  </m:oMathPara>
                </a14:m>
                <a:endParaRPr lang="en-GB" sz="800" b="1" dirty="0">
                  <a:solidFill>
                    <a:srgbClr val="FF0000"/>
                  </a:solidFill>
                </a:endParaRPr>
              </a:p>
            </p:txBody>
          </p:sp>
        </mc:Choice>
        <mc:Fallback xmlns="">
          <p:sp>
            <p:nvSpPr>
              <p:cNvPr id="52" name="ZoneTexte 51">
                <a:extLst>
                  <a:ext uri="{FF2B5EF4-FFF2-40B4-BE49-F238E27FC236}">
                    <a16:creationId xmlns:a16="http://schemas.microsoft.com/office/drawing/2014/main" id="{1368C4AB-A6E1-B32C-8169-CA547C4F73D0}"/>
                  </a:ext>
                </a:extLst>
              </p:cNvPr>
              <p:cNvSpPr txBox="1">
                <a:spLocks noRot="1" noChangeAspect="1" noMove="1" noResize="1" noEditPoints="1" noAdjustHandles="1" noChangeArrowheads="1" noChangeShapeType="1" noTextEdit="1"/>
              </p:cNvSpPr>
              <p:nvPr/>
            </p:nvSpPr>
            <p:spPr>
              <a:xfrm>
                <a:off x="1587746" y="4812946"/>
                <a:ext cx="491629" cy="21544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944B3057-0548-B1FD-A8D6-A274E82E5463}"/>
                  </a:ext>
                </a:extLst>
              </p:cNvPr>
              <p:cNvSpPr txBox="1"/>
              <p:nvPr/>
            </p:nvSpPr>
            <p:spPr>
              <a:xfrm>
                <a:off x="1609760" y="4491151"/>
                <a:ext cx="458370"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𝟎</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oMath>
                  </m:oMathPara>
                </a14:m>
                <a:endParaRPr lang="en-GB" sz="800" b="1" dirty="0">
                  <a:solidFill>
                    <a:srgbClr val="FF0000"/>
                  </a:solidFill>
                </a:endParaRPr>
              </a:p>
            </p:txBody>
          </p:sp>
        </mc:Choice>
        <mc:Fallback xmlns="">
          <p:sp>
            <p:nvSpPr>
              <p:cNvPr id="53" name="ZoneTexte 52">
                <a:extLst>
                  <a:ext uri="{FF2B5EF4-FFF2-40B4-BE49-F238E27FC236}">
                    <a16:creationId xmlns:a16="http://schemas.microsoft.com/office/drawing/2014/main" id="{944B3057-0548-B1FD-A8D6-A274E82E5463}"/>
                  </a:ext>
                </a:extLst>
              </p:cNvPr>
              <p:cNvSpPr txBox="1">
                <a:spLocks noRot="1" noChangeAspect="1" noMove="1" noResize="1" noEditPoints="1" noAdjustHandles="1" noChangeArrowheads="1" noChangeShapeType="1" noTextEdit="1"/>
              </p:cNvSpPr>
              <p:nvPr/>
            </p:nvSpPr>
            <p:spPr>
              <a:xfrm>
                <a:off x="1609760" y="4491151"/>
                <a:ext cx="458370" cy="21544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18CE8B89-40DB-6062-99FF-BBAD69FF289B}"/>
                  </a:ext>
                </a:extLst>
              </p:cNvPr>
              <p:cNvSpPr txBox="1"/>
              <p:nvPr/>
            </p:nvSpPr>
            <p:spPr>
              <a:xfrm>
                <a:off x="2840419" y="5797272"/>
                <a:ext cx="390576"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5</a:t>
                </a:r>
              </a:p>
            </p:txBody>
          </p:sp>
        </mc:Choice>
        <mc:Fallback xmlns="">
          <p:sp>
            <p:nvSpPr>
              <p:cNvPr id="54" name="ZoneTexte 53">
                <a:extLst>
                  <a:ext uri="{FF2B5EF4-FFF2-40B4-BE49-F238E27FC236}">
                    <a16:creationId xmlns:a16="http://schemas.microsoft.com/office/drawing/2014/main" id="{18CE8B89-40DB-6062-99FF-BBAD69FF289B}"/>
                  </a:ext>
                </a:extLst>
              </p:cNvPr>
              <p:cNvSpPr txBox="1">
                <a:spLocks noRot="1" noChangeAspect="1" noMove="1" noResize="1" noEditPoints="1" noAdjustHandles="1" noChangeArrowheads="1" noChangeShapeType="1" noTextEdit="1"/>
              </p:cNvSpPr>
              <p:nvPr/>
            </p:nvSpPr>
            <p:spPr>
              <a:xfrm>
                <a:off x="2840419" y="5797272"/>
                <a:ext cx="390576" cy="215444"/>
              </a:xfrm>
              <a:prstGeom prst="rect">
                <a:avLst/>
              </a:prstGeom>
              <a:blipFill>
                <a:blip r:embed="rId9"/>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7" name="ZoneTexte 56">
                <a:extLst>
                  <a:ext uri="{FF2B5EF4-FFF2-40B4-BE49-F238E27FC236}">
                    <a16:creationId xmlns:a16="http://schemas.microsoft.com/office/drawing/2014/main" id="{88C0F259-F2F8-19EF-D8D4-464D3AD5C78E}"/>
                  </a:ext>
                </a:extLst>
              </p:cNvPr>
              <p:cNvSpPr txBox="1"/>
              <p:nvPr/>
            </p:nvSpPr>
            <p:spPr>
              <a:xfrm>
                <a:off x="2831779" y="539706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57" name="ZoneTexte 56">
                <a:extLst>
                  <a:ext uri="{FF2B5EF4-FFF2-40B4-BE49-F238E27FC236}">
                    <a16:creationId xmlns:a16="http://schemas.microsoft.com/office/drawing/2014/main" id="{88C0F259-F2F8-19EF-D8D4-464D3AD5C78E}"/>
                  </a:ext>
                </a:extLst>
              </p:cNvPr>
              <p:cNvSpPr txBox="1">
                <a:spLocks noRot="1" noChangeAspect="1" noMove="1" noResize="1" noEditPoints="1" noAdjustHandles="1" noChangeArrowheads="1" noChangeShapeType="1" noTextEdit="1"/>
              </p:cNvSpPr>
              <p:nvPr/>
            </p:nvSpPr>
            <p:spPr>
              <a:xfrm>
                <a:off x="2831779" y="5397062"/>
                <a:ext cx="491629" cy="215444"/>
              </a:xfrm>
              <a:prstGeom prst="rect">
                <a:avLst/>
              </a:prstGeom>
              <a:blipFill>
                <a:blip r:embed="rId10"/>
                <a:stretch>
                  <a:fillRect b="-526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BB5F6D52-E7C7-889B-DA49-12CA13562993}"/>
                  </a:ext>
                </a:extLst>
              </p:cNvPr>
              <p:cNvSpPr txBox="1"/>
              <p:nvPr/>
            </p:nvSpPr>
            <p:spPr>
              <a:xfrm>
                <a:off x="2963159" y="558099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r>
                      <a:rPr lang="fr-FR" sz="800" b="1" i="1" smtClean="0">
                        <a:solidFill>
                          <a:srgbClr val="FF0000"/>
                        </a:solidFill>
                        <a:latin typeface="Cambria Math" panose="02040503050406030204" pitchFamily="18" charset="0"/>
                      </a:rPr>
                      <m:t>.</m:t>
                    </m:r>
                  </m:oMath>
                </a14:m>
                <a:r>
                  <a:rPr lang="en-GB" sz="800" b="1" dirty="0">
                    <a:solidFill>
                      <a:srgbClr val="FF0000"/>
                    </a:solidFill>
                  </a:rPr>
                  <a:t>1</a:t>
                </a:r>
              </a:p>
            </p:txBody>
          </p:sp>
        </mc:Choice>
        <mc:Fallback xmlns="">
          <p:sp>
            <p:nvSpPr>
              <p:cNvPr id="58" name="ZoneTexte 57">
                <a:extLst>
                  <a:ext uri="{FF2B5EF4-FFF2-40B4-BE49-F238E27FC236}">
                    <a16:creationId xmlns:a16="http://schemas.microsoft.com/office/drawing/2014/main" id="{BB5F6D52-E7C7-889B-DA49-12CA13562993}"/>
                  </a:ext>
                </a:extLst>
              </p:cNvPr>
              <p:cNvSpPr txBox="1">
                <a:spLocks noRot="1" noChangeAspect="1" noMove="1" noResize="1" noEditPoints="1" noAdjustHandles="1" noChangeArrowheads="1" noChangeShapeType="1" noTextEdit="1"/>
              </p:cNvSpPr>
              <p:nvPr/>
            </p:nvSpPr>
            <p:spPr>
              <a:xfrm>
                <a:off x="2963159" y="5580992"/>
                <a:ext cx="491629" cy="215444"/>
              </a:xfrm>
              <a:prstGeom prst="rect">
                <a:avLst/>
              </a:prstGeom>
              <a:blipFill>
                <a:blip r:embed="rId11"/>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ZoneTexte 58">
                <a:extLst>
                  <a:ext uri="{FF2B5EF4-FFF2-40B4-BE49-F238E27FC236}">
                    <a16:creationId xmlns:a16="http://schemas.microsoft.com/office/drawing/2014/main" id="{8A3C9045-813C-05B2-BECA-460ACE14B91D}"/>
                  </a:ext>
                </a:extLst>
              </p:cNvPr>
              <p:cNvSpPr txBox="1"/>
              <p:nvPr/>
            </p:nvSpPr>
            <p:spPr>
              <a:xfrm>
                <a:off x="2693343" y="4277107"/>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−1.4</m:t>
                      </m:r>
                    </m:oMath>
                  </m:oMathPara>
                </a14:m>
                <a:endParaRPr lang="en-GB" sz="800" dirty="0"/>
              </a:p>
            </p:txBody>
          </p:sp>
        </mc:Choice>
        <mc:Fallback xmlns="">
          <p:sp>
            <p:nvSpPr>
              <p:cNvPr id="59" name="ZoneTexte 58">
                <a:extLst>
                  <a:ext uri="{FF2B5EF4-FFF2-40B4-BE49-F238E27FC236}">
                    <a16:creationId xmlns:a16="http://schemas.microsoft.com/office/drawing/2014/main" id="{8A3C9045-813C-05B2-BECA-460ACE14B91D}"/>
                  </a:ext>
                </a:extLst>
              </p:cNvPr>
              <p:cNvSpPr txBox="1">
                <a:spLocks noRot="1" noChangeAspect="1" noMove="1" noResize="1" noEditPoints="1" noAdjustHandles="1" noChangeArrowheads="1" noChangeShapeType="1" noTextEdit="1"/>
              </p:cNvSpPr>
              <p:nvPr/>
            </p:nvSpPr>
            <p:spPr>
              <a:xfrm>
                <a:off x="2693343" y="4277107"/>
                <a:ext cx="491629" cy="21544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ZoneTexte 59">
                <a:extLst>
                  <a:ext uri="{FF2B5EF4-FFF2-40B4-BE49-F238E27FC236}">
                    <a16:creationId xmlns:a16="http://schemas.microsoft.com/office/drawing/2014/main" id="{E6078F10-5CA0-BABF-653A-7F9D217BBDC7}"/>
                  </a:ext>
                </a:extLst>
              </p:cNvPr>
              <p:cNvSpPr txBox="1"/>
              <p:nvPr/>
            </p:nvSpPr>
            <p:spPr>
              <a:xfrm>
                <a:off x="2693343" y="3673038"/>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−0.3</m:t>
                      </m:r>
                    </m:oMath>
                  </m:oMathPara>
                </a14:m>
                <a:endParaRPr lang="en-GB" sz="800" dirty="0"/>
              </a:p>
            </p:txBody>
          </p:sp>
        </mc:Choice>
        <mc:Fallback xmlns="">
          <p:sp>
            <p:nvSpPr>
              <p:cNvPr id="60" name="ZoneTexte 59">
                <a:extLst>
                  <a:ext uri="{FF2B5EF4-FFF2-40B4-BE49-F238E27FC236}">
                    <a16:creationId xmlns:a16="http://schemas.microsoft.com/office/drawing/2014/main" id="{E6078F10-5CA0-BABF-653A-7F9D217BBDC7}"/>
                  </a:ext>
                </a:extLst>
              </p:cNvPr>
              <p:cNvSpPr txBox="1">
                <a:spLocks noRot="1" noChangeAspect="1" noMove="1" noResize="1" noEditPoints="1" noAdjustHandles="1" noChangeArrowheads="1" noChangeShapeType="1" noTextEdit="1"/>
              </p:cNvSpPr>
              <p:nvPr/>
            </p:nvSpPr>
            <p:spPr>
              <a:xfrm>
                <a:off x="2693343" y="3673038"/>
                <a:ext cx="491629" cy="21544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ZoneTexte 60">
                <a:extLst>
                  <a:ext uri="{FF2B5EF4-FFF2-40B4-BE49-F238E27FC236}">
                    <a16:creationId xmlns:a16="http://schemas.microsoft.com/office/drawing/2014/main" id="{919B2F7C-82AB-68AA-CF58-1943D2829FE9}"/>
                  </a:ext>
                </a:extLst>
              </p:cNvPr>
              <p:cNvSpPr txBox="1"/>
              <p:nvPr/>
            </p:nvSpPr>
            <p:spPr>
              <a:xfrm>
                <a:off x="2939184" y="3921301"/>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𝟎</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61" name="ZoneTexte 60">
                <a:extLst>
                  <a:ext uri="{FF2B5EF4-FFF2-40B4-BE49-F238E27FC236}">
                    <a16:creationId xmlns:a16="http://schemas.microsoft.com/office/drawing/2014/main" id="{919B2F7C-82AB-68AA-CF58-1943D2829FE9}"/>
                  </a:ext>
                </a:extLst>
              </p:cNvPr>
              <p:cNvSpPr txBox="1">
                <a:spLocks noRot="1" noChangeAspect="1" noMove="1" noResize="1" noEditPoints="1" noAdjustHandles="1" noChangeArrowheads="1" noChangeShapeType="1" noTextEdit="1"/>
              </p:cNvSpPr>
              <p:nvPr/>
            </p:nvSpPr>
            <p:spPr>
              <a:xfrm>
                <a:off x="2939184" y="3921301"/>
                <a:ext cx="491629" cy="215444"/>
              </a:xfrm>
              <a:prstGeom prst="rect">
                <a:avLst/>
              </a:prstGeom>
              <a:blipFill>
                <a:blip r:embed="rId14"/>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1F92DC92-8D47-D683-D3DA-01457E82D94A}"/>
                  </a:ext>
                </a:extLst>
              </p:cNvPr>
              <p:cNvSpPr txBox="1"/>
              <p:nvPr/>
            </p:nvSpPr>
            <p:spPr>
              <a:xfrm>
                <a:off x="3061611" y="4124947"/>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6</a:t>
                </a:r>
              </a:p>
            </p:txBody>
          </p:sp>
        </mc:Choice>
        <mc:Fallback xmlns="">
          <p:sp>
            <p:nvSpPr>
              <p:cNvPr id="62" name="ZoneTexte 61">
                <a:extLst>
                  <a:ext uri="{FF2B5EF4-FFF2-40B4-BE49-F238E27FC236}">
                    <a16:creationId xmlns:a16="http://schemas.microsoft.com/office/drawing/2014/main" id="{1F92DC92-8D47-D683-D3DA-01457E82D94A}"/>
                  </a:ext>
                </a:extLst>
              </p:cNvPr>
              <p:cNvSpPr txBox="1">
                <a:spLocks noRot="1" noChangeAspect="1" noMove="1" noResize="1" noEditPoints="1" noAdjustHandles="1" noChangeArrowheads="1" noChangeShapeType="1" noTextEdit="1"/>
              </p:cNvSpPr>
              <p:nvPr/>
            </p:nvSpPr>
            <p:spPr>
              <a:xfrm>
                <a:off x="3061611" y="4124947"/>
                <a:ext cx="491629" cy="215444"/>
              </a:xfrm>
              <a:prstGeom prst="rect">
                <a:avLst/>
              </a:prstGeom>
              <a:blipFill>
                <a:blip r:embed="rId15"/>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ZoneTexte 63">
                <a:extLst>
                  <a:ext uri="{FF2B5EF4-FFF2-40B4-BE49-F238E27FC236}">
                    <a16:creationId xmlns:a16="http://schemas.microsoft.com/office/drawing/2014/main" id="{38F58655-419E-5700-B036-378CB3E2D25F}"/>
                  </a:ext>
                </a:extLst>
              </p:cNvPr>
              <p:cNvSpPr txBox="1"/>
              <p:nvPr/>
            </p:nvSpPr>
            <p:spPr>
              <a:xfrm>
                <a:off x="4109140" y="475847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−1.</m:t>
                    </m:r>
                  </m:oMath>
                </a14:m>
                <a:r>
                  <a:rPr lang="en-GB" sz="800" dirty="0"/>
                  <a:t>6</a:t>
                </a:r>
              </a:p>
            </p:txBody>
          </p:sp>
        </mc:Choice>
        <mc:Fallback xmlns="">
          <p:sp>
            <p:nvSpPr>
              <p:cNvPr id="64" name="ZoneTexte 63">
                <a:extLst>
                  <a:ext uri="{FF2B5EF4-FFF2-40B4-BE49-F238E27FC236}">
                    <a16:creationId xmlns:a16="http://schemas.microsoft.com/office/drawing/2014/main" id="{38F58655-419E-5700-B036-378CB3E2D25F}"/>
                  </a:ext>
                </a:extLst>
              </p:cNvPr>
              <p:cNvSpPr txBox="1">
                <a:spLocks noRot="1" noChangeAspect="1" noMove="1" noResize="1" noEditPoints="1" noAdjustHandles="1" noChangeArrowheads="1" noChangeShapeType="1" noTextEdit="1"/>
              </p:cNvSpPr>
              <p:nvPr/>
            </p:nvSpPr>
            <p:spPr>
              <a:xfrm>
                <a:off x="4109140" y="4758472"/>
                <a:ext cx="491629" cy="215444"/>
              </a:xfrm>
              <a:prstGeom prst="rect">
                <a:avLst/>
              </a:prstGeom>
              <a:blipFill>
                <a:blip r:embed="rId16"/>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2CC0FF66-D39B-96B6-3270-B44A1D7BB3D0}"/>
                  </a:ext>
                </a:extLst>
              </p:cNvPr>
              <p:cNvSpPr txBox="1"/>
              <p:nvPr/>
            </p:nvSpPr>
            <p:spPr>
              <a:xfrm>
                <a:off x="4346175" y="470053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𝟑</m:t>
                    </m:r>
                    <m:r>
                      <a:rPr lang="fr-FR" sz="800" b="1" i="1" smtClean="0">
                        <a:solidFill>
                          <a:srgbClr val="FF0000"/>
                        </a:solidFill>
                        <a:latin typeface="Cambria Math" panose="02040503050406030204" pitchFamily="18" charset="0"/>
                      </a:rPr>
                      <m:t>.</m:t>
                    </m:r>
                  </m:oMath>
                </a14:m>
                <a:r>
                  <a:rPr lang="en-GB" sz="800" b="1" dirty="0">
                    <a:solidFill>
                      <a:srgbClr val="FF0000"/>
                    </a:solidFill>
                  </a:rPr>
                  <a:t>2</a:t>
                </a:r>
              </a:p>
            </p:txBody>
          </p:sp>
        </mc:Choice>
        <mc:Fallback xmlns="">
          <p:sp>
            <p:nvSpPr>
              <p:cNvPr id="66" name="ZoneTexte 65">
                <a:extLst>
                  <a:ext uri="{FF2B5EF4-FFF2-40B4-BE49-F238E27FC236}">
                    <a16:creationId xmlns:a16="http://schemas.microsoft.com/office/drawing/2014/main" id="{2CC0FF66-D39B-96B6-3270-B44A1D7BB3D0}"/>
                  </a:ext>
                </a:extLst>
              </p:cNvPr>
              <p:cNvSpPr txBox="1">
                <a:spLocks noRot="1" noChangeAspect="1" noMove="1" noResize="1" noEditPoints="1" noAdjustHandles="1" noChangeArrowheads="1" noChangeShapeType="1" noTextEdit="1"/>
              </p:cNvSpPr>
              <p:nvPr/>
            </p:nvSpPr>
            <p:spPr>
              <a:xfrm>
                <a:off x="4346175" y="4700532"/>
                <a:ext cx="491629" cy="215444"/>
              </a:xfrm>
              <a:prstGeom prst="rect">
                <a:avLst/>
              </a:prstGeom>
              <a:blipFill>
                <a:blip r:embed="rId17"/>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D9E5CABB-1923-81D3-9C4F-31029FDF4F35}"/>
                  </a:ext>
                </a:extLst>
              </p:cNvPr>
              <p:cNvSpPr txBox="1"/>
              <p:nvPr/>
            </p:nvSpPr>
            <p:spPr>
              <a:xfrm>
                <a:off x="4215467" y="2972206"/>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5</a:t>
                </a:r>
              </a:p>
            </p:txBody>
          </p:sp>
        </mc:Choice>
        <mc:Fallback xmlns="">
          <p:sp>
            <p:nvSpPr>
              <p:cNvPr id="67" name="ZoneTexte 66">
                <a:extLst>
                  <a:ext uri="{FF2B5EF4-FFF2-40B4-BE49-F238E27FC236}">
                    <a16:creationId xmlns:a16="http://schemas.microsoft.com/office/drawing/2014/main" id="{D9E5CABB-1923-81D3-9C4F-31029FDF4F35}"/>
                  </a:ext>
                </a:extLst>
              </p:cNvPr>
              <p:cNvSpPr txBox="1">
                <a:spLocks noRot="1" noChangeAspect="1" noMove="1" noResize="1" noEditPoints="1" noAdjustHandles="1" noChangeArrowheads="1" noChangeShapeType="1" noTextEdit="1"/>
              </p:cNvSpPr>
              <p:nvPr/>
            </p:nvSpPr>
            <p:spPr>
              <a:xfrm>
                <a:off x="4215467" y="2972206"/>
                <a:ext cx="491629" cy="215444"/>
              </a:xfrm>
              <a:prstGeom prst="rect">
                <a:avLst/>
              </a:prstGeom>
              <a:blipFill>
                <a:blip r:embed="rId18"/>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ZoneTexte 67">
                <a:extLst>
                  <a:ext uri="{FF2B5EF4-FFF2-40B4-BE49-F238E27FC236}">
                    <a16:creationId xmlns:a16="http://schemas.microsoft.com/office/drawing/2014/main" id="{642717D7-E7A8-FBBA-1830-F98F18ECED2D}"/>
                  </a:ext>
                </a:extLst>
              </p:cNvPr>
              <p:cNvSpPr txBox="1"/>
              <p:nvPr/>
            </p:nvSpPr>
            <p:spPr>
              <a:xfrm>
                <a:off x="4409058" y="3190121"/>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0" smtClean="0">
                          <a:solidFill>
                            <a:srgbClr val="FF0000"/>
                          </a:solidFill>
                          <a:latin typeface="Cambria Math" panose="02040503050406030204" pitchFamily="18" charset="0"/>
                        </a:rPr>
                        <m:t>𝟎</m:t>
                      </m:r>
                    </m:oMath>
                  </m:oMathPara>
                </a14:m>
                <a:endParaRPr lang="en-GB" sz="800" b="1" dirty="0">
                  <a:solidFill>
                    <a:srgbClr val="FF0000"/>
                  </a:solidFill>
                </a:endParaRPr>
              </a:p>
            </p:txBody>
          </p:sp>
        </mc:Choice>
        <mc:Fallback xmlns="">
          <p:sp>
            <p:nvSpPr>
              <p:cNvPr id="68" name="ZoneTexte 67">
                <a:extLst>
                  <a:ext uri="{FF2B5EF4-FFF2-40B4-BE49-F238E27FC236}">
                    <a16:creationId xmlns:a16="http://schemas.microsoft.com/office/drawing/2014/main" id="{642717D7-E7A8-FBBA-1830-F98F18ECED2D}"/>
                  </a:ext>
                </a:extLst>
              </p:cNvPr>
              <p:cNvSpPr txBox="1">
                <a:spLocks noRot="1" noChangeAspect="1" noMove="1" noResize="1" noEditPoints="1" noAdjustHandles="1" noChangeArrowheads="1" noChangeShapeType="1" noTextEdit="1"/>
              </p:cNvSpPr>
              <p:nvPr/>
            </p:nvSpPr>
            <p:spPr>
              <a:xfrm>
                <a:off x="4409058" y="3190121"/>
                <a:ext cx="491629" cy="215444"/>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20B83F7C-06D7-2E18-8A77-5DB1AB680998}"/>
                  </a:ext>
                </a:extLst>
              </p:cNvPr>
              <p:cNvSpPr txBox="1"/>
              <p:nvPr/>
            </p:nvSpPr>
            <p:spPr>
              <a:xfrm>
                <a:off x="4218273" y="3871654"/>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9</a:t>
                </a:r>
              </a:p>
            </p:txBody>
          </p:sp>
        </mc:Choice>
        <mc:Fallback xmlns="">
          <p:sp>
            <p:nvSpPr>
              <p:cNvPr id="69" name="ZoneTexte 68">
                <a:extLst>
                  <a:ext uri="{FF2B5EF4-FFF2-40B4-BE49-F238E27FC236}">
                    <a16:creationId xmlns:a16="http://schemas.microsoft.com/office/drawing/2014/main" id="{20B83F7C-06D7-2E18-8A77-5DB1AB680998}"/>
                  </a:ext>
                </a:extLst>
              </p:cNvPr>
              <p:cNvSpPr txBox="1">
                <a:spLocks noRot="1" noChangeAspect="1" noMove="1" noResize="1" noEditPoints="1" noAdjustHandles="1" noChangeArrowheads="1" noChangeShapeType="1" noTextEdit="1"/>
              </p:cNvSpPr>
              <p:nvPr/>
            </p:nvSpPr>
            <p:spPr>
              <a:xfrm>
                <a:off x="4218273" y="3871654"/>
                <a:ext cx="491629" cy="215444"/>
              </a:xfrm>
              <a:prstGeom prst="rect">
                <a:avLst/>
              </a:prstGeom>
              <a:blipFill>
                <a:blip r:embed="rId20"/>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3EF9D78F-8AE8-BEA5-965E-40CD63E05DC3}"/>
                  </a:ext>
                </a:extLst>
              </p:cNvPr>
              <p:cNvSpPr txBox="1"/>
              <p:nvPr/>
            </p:nvSpPr>
            <p:spPr>
              <a:xfrm>
                <a:off x="4248511" y="3653858"/>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4</a:t>
                </a:r>
              </a:p>
            </p:txBody>
          </p:sp>
        </mc:Choice>
        <mc:Fallback xmlns="">
          <p:sp>
            <p:nvSpPr>
              <p:cNvPr id="70" name="ZoneTexte 69">
                <a:extLst>
                  <a:ext uri="{FF2B5EF4-FFF2-40B4-BE49-F238E27FC236}">
                    <a16:creationId xmlns:a16="http://schemas.microsoft.com/office/drawing/2014/main" id="{3EF9D78F-8AE8-BEA5-965E-40CD63E05DC3}"/>
                  </a:ext>
                </a:extLst>
              </p:cNvPr>
              <p:cNvSpPr txBox="1">
                <a:spLocks noRot="1" noChangeAspect="1" noMove="1" noResize="1" noEditPoints="1" noAdjustHandles="1" noChangeArrowheads="1" noChangeShapeType="1" noTextEdit="1"/>
              </p:cNvSpPr>
              <p:nvPr/>
            </p:nvSpPr>
            <p:spPr>
              <a:xfrm>
                <a:off x="4248511" y="3653858"/>
                <a:ext cx="491629" cy="215444"/>
              </a:xfrm>
              <a:prstGeom prst="rect">
                <a:avLst/>
              </a:prstGeom>
              <a:blipFill>
                <a:blip r:embed="rId21"/>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72952B9D-43B4-A1C1-9551-DBD6E378A215}"/>
                  </a:ext>
                </a:extLst>
              </p:cNvPr>
              <p:cNvSpPr txBox="1"/>
              <p:nvPr/>
            </p:nvSpPr>
            <p:spPr>
              <a:xfrm>
                <a:off x="5349816" y="2285931"/>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6</a:t>
                </a:r>
              </a:p>
            </p:txBody>
          </p:sp>
        </mc:Choice>
        <mc:Fallback xmlns="">
          <p:sp>
            <p:nvSpPr>
              <p:cNvPr id="71" name="ZoneTexte 70">
                <a:extLst>
                  <a:ext uri="{FF2B5EF4-FFF2-40B4-BE49-F238E27FC236}">
                    <a16:creationId xmlns:a16="http://schemas.microsoft.com/office/drawing/2014/main" id="{72952B9D-43B4-A1C1-9551-DBD6E378A215}"/>
                  </a:ext>
                </a:extLst>
              </p:cNvPr>
              <p:cNvSpPr txBox="1">
                <a:spLocks noRot="1" noChangeAspect="1" noMove="1" noResize="1" noEditPoints="1" noAdjustHandles="1" noChangeArrowheads="1" noChangeShapeType="1" noTextEdit="1"/>
              </p:cNvSpPr>
              <p:nvPr/>
            </p:nvSpPr>
            <p:spPr>
              <a:xfrm>
                <a:off x="5349816" y="2285931"/>
                <a:ext cx="491629" cy="215444"/>
              </a:xfrm>
              <a:prstGeom prst="rect">
                <a:avLst/>
              </a:prstGeom>
              <a:blipFill>
                <a:blip r:embed="rId22"/>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897FFD14-2198-6111-6BC7-A9996AB52265}"/>
                  </a:ext>
                </a:extLst>
              </p:cNvPr>
              <p:cNvSpPr txBox="1"/>
              <p:nvPr/>
            </p:nvSpPr>
            <p:spPr>
              <a:xfrm>
                <a:off x="5336992" y="279916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8</a:t>
                </a:r>
              </a:p>
            </p:txBody>
          </p:sp>
        </mc:Choice>
        <mc:Fallback xmlns="">
          <p:sp>
            <p:nvSpPr>
              <p:cNvPr id="72" name="ZoneTexte 71">
                <a:extLst>
                  <a:ext uri="{FF2B5EF4-FFF2-40B4-BE49-F238E27FC236}">
                    <a16:creationId xmlns:a16="http://schemas.microsoft.com/office/drawing/2014/main" id="{897FFD14-2198-6111-6BC7-A9996AB52265}"/>
                  </a:ext>
                </a:extLst>
              </p:cNvPr>
              <p:cNvSpPr txBox="1">
                <a:spLocks noRot="1" noChangeAspect="1" noMove="1" noResize="1" noEditPoints="1" noAdjustHandles="1" noChangeArrowheads="1" noChangeShapeType="1" noTextEdit="1"/>
              </p:cNvSpPr>
              <p:nvPr/>
            </p:nvSpPr>
            <p:spPr>
              <a:xfrm>
                <a:off x="5336992" y="2799162"/>
                <a:ext cx="491629" cy="215444"/>
              </a:xfrm>
              <a:prstGeom prst="rect">
                <a:avLst/>
              </a:prstGeom>
              <a:blipFill>
                <a:blip r:embed="rId23"/>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ZoneTexte 73">
                <a:extLst>
                  <a:ext uri="{FF2B5EF4-FFF2-40B4-BE49-F238E27FC236}">
                    <a16:creationId xmlns:a16="http://schemas.microsoft.com/office/drawing/2014/main" id="{9DFD41FD-881A-535B-B3E6-E9E3571EDD88}"/>
                  </a:ext>
                </a:extLst>
              </p:cNvPr>
              <p:cNvSpPr txBox="1"/>
              <p:nvPr/>
            </p:nvSpPr>
            <p:spPr>
              <a:xfrm>
                <a:off x="5368422" y="353724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1</a:t>
                </a:r>
              </a:p>
            </p:txBody>
          </p:sp>
        </mc:Choice>
        <mc:Fallback xmlns="">
          <p:sp>
            <p:nvSpPr>
              <p:cNvPr id="74" name="ZoneTexte 73">
                <a:extLst>
                  <a:ext uri="{FF2B5EF4-FFF2-40B4-BE49-F238E27FC236}">
                    <a16:creationId xmlns:a16="http://schemas.microsoft.com/office/drawing/2014/main" id="{9DFD41FD-881A-535B-B3E6-E9E3571EDD88}"/>
                  </a:ext>
                </a:extLst>
              </p:cNvPr>
              <p:cNvSpPr txBox="1">
                <a:spLocks noRot="1" noChangeAspect="1" noMove="1" noResize="1" noEditPoints="1" noAdjustHandles="1" noChangeArrowheads="1" noChangeShapeType="1" noTextEdit="1"/>
              </p:cNvSpPr>
              <p:nvPr/>
            </p:nvSpPr>
            <p:spPr>
              <a:xfrm>
                <a:off x="5368422" y="3537242"/>
                <a:ext cx="491629" cy="215444"/>
              </a:xfrm>
              <a:prstGeom prst="rect">
                <a:avLst/>
              </a:prstGeom>
              <a:blipFill>
                <a:blip r:embed="rId24"/>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EC6F0A78-7273-6D61-63EC-DBE74B4AFDE8}"/>
                  </a:ext>
                </a:extLst>
              </p:cNvPr>
              <p:cNvSpPr txBox="1"/>
              <p:nvPr/>
            </p:nvSpPr>
            <p:spPr>
              <a:xfrm>
                <a:off x="5364213" y="4135809"/>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−2.</m:t>
                    </m:r>
                  </m:oMath>
                </a14:m>
                <a:r>
                  <a:rPr lang="en-GB" sz="800" dirty="0"/>
                  <a:t>3</a:t>
                </a:r>
              </a:p>
            </p:txBody>
          </p:sp>
        </mc:Choice>
        <mc:Fallback xmlns="">
          <p:sp>
            <p:nvSpPr>
              <p:cNvPr id="75" name="ZoneTexte 74">
                <a:extLst>
                  <a:ext uri="{FF2B5EF4-FFF2-40B4-BE49-F238E27FC236}">
                    <a16:creationId xmlns:a16="http://schemas.microsoft.com/office/drawing/2014/main" id="{EC6F0A78-7273-6D61-63EC-DBE74B4AFDE8}"/>
                  </a:ext>
                </a:extLst>
              </p:cNvPr>
              <p:cNvSpPr txBox="1">
                <a:spLocks noRot="1" noChangeAspect="1" noMove="1" noResize="1" noEditPoints="1" noAdjustHandles="1" noChangeArrowheads="1" noChangeShapeType="1" noTextEdit="1"/>
              </p:cNvSpPr>
              <p:nvPr/>
            </p:nvSpPr>
            <p:spPr>
              <a:xfrm>
                <a:off x="5364213" y="4135809"/>
                <a:ext cx="491629" cy="215444"/>
              </a:xfrm>
              <a:prstGeom prst="rect">
                <a:avLst/>
              </a:prstGeom>
              <a:blipFill>
                <a:blip r:embed="rId25"/>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5DBFC774-53C4-A773-E3B8-3DA145C75BB9}"/>
                  </a:ext>
                </a:extLst>
              </p:cNvPr>
              <p:cNvSpPr txBox="1"/>
              <p:nvPr/>
            </p:nvSpPr>
            <p:spPr>
              <a:xfrm>
                <a:off x="5335521" y="2457852"/>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𝟔</m:t>
                      </m:r>
                    </m:oMath>
                  </m:oMathPara>
                </a14:m>
                <a:endParaRPr lang="en-GB" sz="800" b="1" dirty="0">
                  <a:solidFill>
                    <a:srgbClr val="FF0000"/>
                  </a:solidFill>
                </a:endParaRPr>
              </a:p>
            </p:txBody>
          </p:sp>
        </mc:Choice>
        <mc:Fallback xmlns="">
          <p:sp>
            <p:nvSpPr>
              <p:cNvPr id="76" name="ZoneTexte 75">
                <a:extLst>
                  <a:ext uri="{FF2B5EF4-FFF2-40B4-BE49-F238E27FC236}">
                    <a16:creationId xmlns:a16="http://schemas.microsoft.com/office/drawing/2014/main" id="{5DBFC774-53C4-A773-E3B8-3DA145C75BB9}"/>
                  </a:ext>
                </a:extLst>
              </p:cNvPr>
              <p:cNvSpPr txBox="1">
                <a:spLocks noRot="1" noChangeAspect="1" noMove="1" noResize="1" noEditPoints="1" noAdjustHandles="1" noChangeArrowheads="1" noChangeShapeType="1" noTextEdit="1"/>
              </p:cNvSpPr>
              <p:nvPr/>
            </p:nvSpPr>
            <p:spPr>
              <a:xfrm>
                <a:off x="5335521" y="2457852"/>
                <a:ext cx="491629" cy="215444"/>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ZoneTexte 77">
                <a:extLst>
                  <a:ext uri="{FF2B5EF4-FFF2-40B4-BE49-F238E27FC236}">
                    <a16:creationId xmlns:a16="http://schemas.microsoft.com/office/drawing/2014/main" id="{09AF867A-BD1A-326B-659D-22A72DDD43EE}"/>
                  </a:ext>
                </a:extLst>
              </p:cNvPr>
              <p:cNvSpPr txBox="1"/>
              <p:nvPr/>
            </p:nvSpPr>
            <p:spPr>
              <a:xfrm>
                <a:off x="5487921" y="2638604"/>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8</a:t>
                </a:r>
              </a:p>
            </p:txBody>
          </p:sp>
        </mc:Choice>
        <mc:Fallback xmlns="">
          <p:sp>
            <p:nvSpPr>
              <p:cNvPr id="78" name="ZoneTexte 77">
                <a:extLst>
                  <a:ext uri="{FF2B5EF4-FFF2-40B4-BE49-F238E27FC236}">
                    <a16:creationId xmlns:a16="http://schemas.microsoft.com/office/drawing/2014/main" id="{09AF867A-BD1A-326B-659D-22A72DDD43EE}"/>
                  </a:ext>
                </a:extLst>
              </p:cNvPr>
              <p:cNvSpPr txBox="1">
                <a:spLocks noRot="1" noChangeAspect="1" noMove="1" noResize="1" noEditPoints="1" noAdjustHandles="1" noChangeArrowheads="1" noChangeShapeType="1" noTextEdit="1"/>
              </p:cNvSpPr>
              <p:nvPr/>
            </p:nvSpPr>
            <p:spPr>
              <a:xfrm>
                <a:off x="5487921" y="2638604"/>
                <a:ext cx="491629" cy="215444"/>
              </a:xfrm>
              <a:prstGeom prst="rect">
                <a:avLst/>
              </a:prstGeom>
              <a:blipFill>
                <a:blip r:embed="rId27"/>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ZoneTexte 78">
                <a:extLst>
                  <a:ext uri="{FF2B5EF4-FFF2-40B4-BE49-F238E27FC236}">
                    <a16:creationId xmlns:a16="http://schemas.microsoft.com/office/drawing/2014/main" id="{E38D7F5C-E5C7-EFB8-97B6-892862F0CC9A}"/>
                  </a:ext>
                </a:extLst>
              </p:cNvPr>
              <p:cNvSpPr txBox="1"/>
              <p:nvPr/>
            </p:nvSpPr>
            <p:spPr>
              <a:xfrm>
                <a:off x="5443398" y="3748246"/>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79" name="ZoneTexte 78">
                <a:extLst>
                  <a:ext uri="{FF2B5EF4-FFF2-40B4-BE49-F238E27FC236}">
                    <a16:creationId xmlns:a16="http://schemas.microsoft.com/office/drawing/2014/main" id="{E38D7F5C-E5C7-EFB8-97B6-892862F0CC9A}"/>
                  </a:ext>
                </a:extLst>
              </p:cNvPr>
              <p:cNvSpPr txBox="1">
                <a:spLocks noRot="1" noChangeAspect="1" noMove="1" noResize="1" noEditPoints="1" noAdjustHandles="1" noChangeArrowheads="1" noChangeShapeType="1" noTextEdit="1"/>
              </p:cNvSpPr>
              <p:nvPr/>
            </p:nvSpPr>
            <p:spPr>
              <a:xfrm>
                <a:off x="5443398" y="3748246"/>
                <a:ext cx="491629" cy="215444"/>
              </a:xfrm>
              <a:prstGeom prst="rect">
                <a:avLst/>
              </a:prstGeom>
              <a:blipFill>
                <a:blip r:embed="rId28"/>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70C26A30-DCA1-E1E4-AB64-82CA5097B54C}"/>
                  </a:ext>
                </a:extLst>
              </p:cNvPr>
              <p:cNvSpPr txBox="1"/>
              <p:nvPr/>
            </p:nvSpPr>
            <p:spPr>
              <a:xfrm>
                <a:off x="5523352" y="3947490"/>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𝟑</m:t>
                    </m:r>
                    <m:r>
                      <a:rPr lang="fr-FR" sz="800" b="1" i="1" smtClean="0">
                        <a:solidFill>
                          <a:srgbClr val="FF0000"/>
                        </a:solidFill>
                        <a:latin typeface="Cambria Math" panose="02040503050406030204" pitchFamily="18" charset="0"/>
                      </a:rPr>
                      <m:t>.</m:t>
                    </m:r>
                  </m:oMath>
                </a14:m>
                <a:r>
                  <a:rPr lang="en-GB" sz="800" b="1" dirty="0">
                    <a:solidFill>
                      <a:srgbClr val="FF0000"/>
                    </a:solidFill>
                  </a:rPr>
                  <a:t>7</a:t>
                </a:r>
              </a:p>
            </p:txBody>
          </p:sp>
        </mc:Choice>
        <mc:Fallback xmlns="">
          <p:sp>
            <p:nvSpPr>
              <p:cNvPr id="80" name="ZoneTexte 79">
                <a:extLst>
                  <a:ext uri="{FF2B5EF4-FFF2-40B4-BE49-F238E27FC236}">
                    <a16:creationId xmlns:a16="http://schemas.microsoft.com/office/drawing/2014/main" id="{70C26A30-DCA1-E1E4-AB64-82CA5097B54C}"/>
                  </a:ext>
                </a:extLst>
              </p:cNvPr>
              <p:cNvSpPr txBox="1">
                <a:spLocks noRot="1" noChangeAspect="1" noMove="1" noResize="1" noEditPoints="1" noAdjustHandles="1" noChangeArrowheads="1" noChangeShapeType="1" noTextEdit="1"/>
              </p:cNvSpPr>
              <p:nvPr/>
            </p:nvSpPr>
            <p:spPr>
              <a:xfrm>
                <a:off x="5523352" y="3947490"/>
                <a:ext cx="491629" cy="215444"/>
              </a:xfrm>
              <a:prstGeom prst="rect">
                <a:avLst/>
              </a:prstGeom>
              <a:blipFill>
                <a:blip r:embed="rId29"/>
                <a:stretch>
                  <a:fillRect b="-5882"/>
                </a:stretch>
              </a:blipFill>
            </p:spPr>
            <p:txBody>
              <a:bodyPr/>
              <a:lstStyle/>
              <a:p>
                <a:r>
                  <a:rPr lang="en-GB">
                    <a:noFill/>
                  </a:rPr>
                  <a:t> </a:t>
                </a:r>
              </a:p>
            </p:txBody>
          </p:sp>
        </mc:Fallback>
      </mc:AlternateContent>
      <p:cxnSp>
        <p:nvCxnSpPr>
          <p:cNvPr id="81" name="Connecteur droit avec flèche 80">
            <a:extLst>
              <a:ext uri="{FF2B5EF4-FFF2-40B4-BE49-F238E27FC236}">
                <a16:creationId xmlns:a16="http://schemas.microsoft.com/office/drawing/2014/main" id="{C9B0C0EE-8587-3B2D-7904-36F0B380CE48}"/>
              </a:ext>
            </a:extLst>
          </p:cNvPr>
          <p:cNvCxnSpPr>
            <a:cxnSpLocks/>
            <a:stCxn id="14" idx="6"/>
          </p:cNvCxnSpPr>
          <p:nvPr/>
        </p:nvCxnSpPr>
        <p:spPr>
          <a:xfrm flipV="1">
            <a:off x="6759662" y="2324450"/>
            <a:ext cx="768189" cy="2719"/>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2EEBACDA-1128-57E3-4E32-4D6AD4249D69}"/>
              </a:ext>
            </a:extLst>
          </p:cNvPr>
          <p:cNvCxnSpPr>
            <a:cxnSpLocks/>
            <a:stCxn id="7" idx="6"/>
          </p:cNvCxnSpPr>
          <p:nvPr/>
        </p:nvCxnSpPr>
        <p:spPr>
          <a:xfrm flipV="1">
            <a:off x="6733385" y="3644964"/>
            <a:ext cx="794466" cy="1176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91" name="ZoneTexte 90">
            <a:extLst>
              <a:ext uri="{FF2B5EF4-FFF2-40B4-BE49-F238E27FC236}">
                <a16:creationId xmlns:a16="http://schemas.microsoft.com/office/drawing/2014/main" id="{D841A474-320F-39A6-AB36-2D2979ADB1C8}"/>
              </a:ext>
            </a:extLst>
          </p:cNvPr>
          <p:cNvSpPr txBox="1"/>
          <p:nvPr/>
        </p:nvSpPr>
        <p:spPr>
          <a:xfrm>
            <a:off x="7499571" y="2206781"/>
            <a:ext cx="635157" cy="246221"/>
          </a:xfrm>
          <a:prstGeom prst="rect">
            <a:avLst/>
          </a:prstGeom>
          <a:noFill/>
        </p:spPr>
        <p:txBody>
          <a:bodyPr wrap="square" rtlCol="0">
            <a:spAutoFit/>
          </a:bodyPr>
          <a:lstStyle/>
          <a:p>
            <a:r>
              <a:rPr lang="en-GB" sz="1000" b="1" dirty="0"/>
              <a:t>&lt;end&gt;</a:t>
            </a:r>
          </a:p>
        </p:txBody>
      </p:sp>
      <p:sp>
        <p:nvSpPr>
          <p:cNvPr id="92" name="ZoneTexte 91">
            <a:extLst>
              <a:ext uri="{FF2B5EF4-FFF2-40B4-BE49-F238E27FC236}">
                <a16:creationId xmlns:a16="http://schemas.microsoft.com/office/drawing/2014/main" id="{91B1525B-D4C9-4B76-827D-CC9AEB3DE123}"/>
              </a:ext>
            </a:extLst>
          </p:cNvPr>
          <p:cNvSpPr txBox="1"/>
          <p:nvPr/>
        </p:nvSpPr>
        <p:spPr>
          <a:xfrm>
            <a:off x="7527851" y="3528223"/>
            <a:ext cx="635157" cy="246221"/>
          </a:xfrm>
          <a:prstGeom prst="rect">
            <a:avLst/>
          </a:prstGeom>
          <a:noFill/>
        </p:spPr>
        <p:txBody>
          <a:bodyPr wrap="square" rtlCol="0">
            <a:spAutoFit/>
          </a:bodyPr>
          <a:lstStyle/>
          <a:p>
            <a:r>
              <a:rPr lang="en-GB" sz="1000" b="1" dirty="0"/>
              <a:t>&lt;end&gt;</a:t>
            </a:r>
          </a:p>
        </p:txBody>
      </p:sp>
      <p:sp>
        <p:nvSpPr>
          <p:cNvPr id="93" name="ZoneTexte 92">
            <a:extLst>
              <a:ext uri="{FF2B5EF4-FFF2-40B4-BE49-F238E27FC236}">
                <a16:creationId xmlns:a16="http://schemas.microsoft.com/office/drawing/2014/main" id="{AD3704D6-F80D-F8E1-1BB3-F4D48DA14DEA}"/>
              </a:ext>
            </a:extLst>
          </p:cNvPr>
          <p:cNvSpPr txBox="1"/>
          <p:nvPr/>
        </p:nvSpPr>
        <p:spPr>
          <a:xfrm>
            <a:off x="8407873" y="2149639"/>
            <a:ext cx="3263943" cy="1810047"/>
          </a:xfrm>
          <a:prstGeom prst="rect">
            <a:avLst/>
          </a:prstGeom>
          <a:noFill/>
          <a:ln>
            <a:solidFill>
              <a:schemeClr val="tx1">
                <a:lumMod val="50000"/>
                <a:lumOff val="50000"/>
              </a:schemeClr>
            </a:solidFill>
          </a:ln>
        </p:spPr>
        <p:txBody>
          <a:bodyPr wrap="square" rtlCol="0">
            <a:noAutofit/>
          </a:bodyPr>
          <a:lstStyle/>
          <a:p>
            <a:r>
              <a:rPr lang="en-GB" sz="1400" dirty="0">
                <a:latin typeface="Cambria Math" panose="02040503050406030204" pitchFamily="18" charset="0"/>
                <a:ea typeface="Cambria Math" panose="02040503050406030204" pitchFamily="18" charset="0"/>
              </a:rPr>
              <a:t>At this point we have our two top branches which are also known as hypotheses. We can now either pass both to a downstream system for further evaluation or just pick the one with the highest probability and return that as the result. That’s </a:t>
            </a:r>
            <a:r>
              <a:rPr lang="en-GB" sz="1400" b="1" dirty="0">
                <a:latin typeface="Cambria Math" panose="02040503050406030204" pitchFamily="18" charset="0"/>
                <a:ea typeface="Cambria Math" panose="02040503050406030204" pitchFamily="18" charset="0"/>
              </a:rPr>
              <a:t>Beam search</a:t>
            </a:r>
            <a:r>
              <a:rPr lang="en-GB" sz="1400" dirty="0">
                <a:latin typeface="Cambria Math" panose="02040503050406030204" pitchFamily="18" charset="0"/>
                <a:ea typeface="Cambria Math" panose="02040503050406030204" pitchFamily="18" charset="0"/>
              </a:rPr>
              <a:t> which is intuitive.</a:t>
            </a:r>
          </a:p>
        </p:txBody>
      </p:sp>
    </p:spTree>
    <p:extLst>
      <p:ext uri="{BB962C8B-B14F-4D97-AF65-F5344CB8AC3E}">
        <p14:creationId xmlns:p14="http://schemas.microsoft.com/office/powerpoint/2010/main" val="3688619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1B63-DD47-EC3A-113A-5827171F131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8F1C4D3E-391C-3911-CF84-B0F8B33B1F9F}"/>
                  </a:ext>
                </a:extLst>
              </p:cNvPr>
              <p:cNvSpPr txBox="1"/>
              <p:nvPr/>
            </p:nvSpPr>
            <p:spPr>
              <a:xfrm>
                <a:off x="4141035" y="4280010"/>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2</a:t>
                </a:r>
              </a:p>
            </p:txBody>
          </p:sp>
        </mc:Choice>
        <mc:Fallback xmlns="">
          <p:sp>
            <p:nvSpPr>
              <p:cNvPr id="63" name="ZoneTexte 62">
                <a:extLst>
                  <a:ext uri="{FF2B5EF4-FFF2-40B4-BE49-F238E27FC236}">
                    <a16:creationId xmlns:a16="http://schemas.microsoft.com/office/drawing/2014/main" id="{8F1C4D3E-391C-3911-CF84-B0F8B33B1F9F}"/>
                  </a:ext>
                </a:extLst>
              </p:cNvPr>
              <p:cNvSpPr txBox="1">
                <a:spLocks noRot="1" noChangeAspect="1" noMove="1" noResize="1" noEditPoints="1" noAdjustHandles="1" noChangeArrowheads="1" noChangeShapeType="1" noTextEdit="1"/>
              </p:cNvSpPr>
              <p:nvPr/>
            </p:nvSpPr>
            <p:spPr>
              <a:xfrm>
                <a:off x="4141035" y="4280010"/>
                <a:ext cx="491629" cy="215444"/>
              </a:xfrm>
              <a:prstGeom prst="rect">
                <a:avLst/>
              </a:prstGeom>
              <a:blipFill>
                <a:blip r:embed="rId2"/>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ZoneTexte 64">
                <a:extLst>
                  <a:ext uri="{FF2B5EF4-FFF2-40B4-BE49-F238E27FC236}">
                    <a16:creationId xmlns:a16="http://schemas.microsoft.com/office/drawing/2014/main" id="{1E97ADC1-5074-0A74-5E06-BB5B1B7ECF38}"/>
                  </a:ext>
                </a:extLst>
              </p:cNvPr>
              <p:cNvSpPr txBox="1"/>
              <p:nvPr/>
            </p:nvSpPr>
            <p:spPr>
              <a:xfrm>
                <a:off x="4221218" y="4476661"/>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8</a:t>
                </a:r>
              </a:p>
            </p:txBody>
          </p:sp>
        </mc:Choice>
        <mc:Fallback xmlns="">
          <p:sp>
            <p:nvSpPr>
              <p:cNvPr id="65" name="ZoneTexte 64">
                <a:extLst>
                  <a:ext uri="{FF2B5EF4-FFF2-40B4-BE49-F238E27FC236}">
                    <a16:creationId xmlns:a16="http://schemas.microsoft.com/office/drawing/2014/main" id="{1E97ADC1-5074-0A74-5E06-BB5B1B7ECF38}"/>
                  </a:ext>
                </a:extLst>
              </p:cNvPr>
              <p:cNvSpPr txBox="1">
                <a:spLocks noRot="1" noChangeAspect="1" noMove="1" noResize="1" noEditPoints="1" noAdjustHandles="1" noChangeArrowheads="1" noChangeShapeType="1" noTextEdit="1"/>
              </p:cNvSpPr>
              <p:nvPr/>
            </p:nvSpPr>
            <p:spPr>
              <a:xfrm>
                <a:off x="4221218" y="4476661"/>
                <a:ext cx="491629" cy="215444"/>
              </a:xfrm>
              <a:prstGeom prst="rect">
                <a:avLst/>
              </a:prstGeom>
              <a:blipFill>
                <a:blip r:embed="rId3"/>
                <a:stretch>
                  <a:fillRect b="-5556"/>
                </a:stretch>
              </a:blipFill>
            </p:spPr>
            <p:txBody>
              <a:bodyPr/>
              <a:lstStyle/>
              <a:p>
                <a:r>
                  <a:rPr lang="en-GB">
                    <a:noFill/>
                  </a:rPr>
                  <a:t> </a:t>
                </a:r>
              </a:p>
            </p:txBody>
          </p:sp>
        </mc:Fallback>
      </mc:AlternateContent>
      <p:sp>
        <p:nvSpPr>
          <p:cNvPr id="2" name="Titre 1">
            <a:extLst>
              <a:ext uri="{FF2B5EF4-FFF2-40B4-BE49-F238E27FC236}">
                <a16:creationId xmlns:a16="http://schemas.microsoft.com/office/drawing/2014/main" id="{D0F7D9B9-7CFF-55FB-1C98-8F097C3D82E0}"/>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B5EE2FAC-28BF-7F40-886C-DEB8BF3852F4}"/>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DF64E623-875A-8400-4F2F-B4DFF8628BC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Effective Decoding With Beam Search </a:t>
            </a:r>
          </a:p>
        </p:txBody>
      </p:sp>
      <p:sp>
        <p:nvSpPr>
          <p:cNvPr id="3" name="ZoneTexte 2">
            <a:extLst>
              <a:ext uri="{FF2B5EF4-FFF2-40B4-BE49-F238E27FC236}">
                <a16:creationId xmlns:a16="http://schemas.microsoft.com/office/drawing/2014/main" id="{DD488854-E237-C2F8-C745-6CD54167E809}"/>
              </a:ext>
            </a:extLst>
          </p:cNvPr>
          <p:cNvSpPr txBox="1"/>
          <p:nvPr/>
        </p:nvSpPr>
        <p:spPr>
          <a:xfrm>
            <a:off x="859220" y="1965443"/>
            <a:ext cx="10515599" cy="372235"/>
          </a:xfrm>
          <a:prstGeom prst="rect">
            <a:avLst/>
          </a:prstGeom>
          <a:noFill/>
        </p:spPr>
        <p:txBody>
          <a:bodyPr wrap="square" rtlCol="0">
            <a:noAutofit/>
          </a:bodyPr>
          <a:lstStyle/>
          <a:p>
            <a:r>
              <a:rPr lang="en-GB" sz="1800" b="1" i="0" u="none" strike="noStrike" dirty="0">
                <a:effectLst/>
                <a:latin typeface="ui-sans-serif"/>
              </a:rPr>
              <a:t>Beam Width (k) = 2</a:t>
            </a:r>
            <a:endParaRPr lang="en-GB" dirty="0"/>
          </a:p>
        </p:txBody>
      </p:sp>
      <p:sp>
        <p:nvSpPr>
          <p:cNvPr id="27" name="Ellipse 26">
            <a:extLst>
              <a:ext uri="{FF2B5EF4-FFF2-40B4-BE49-F238E27FC236}">
                <a16:creationId xmlns:a16="http://schemas.microsoft.com/office/drawing/2014/main" id="{3A80B6EC-F738-409E-2117-B92A06CDBA12}"/>
              </a:ext>
            </a:extLst>
          </p:cNvPr>
          <p:cNvSpPr/>
          <p:nvPr/>
        </p:nvSpPr>
        <p:spPr>
          <a:xfrm>
            <a:off x="2101044" y="3844209"/>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42" name="Ellipse 41">
            <a:extLst>
              <a:ext uri="{FF2B5EF4-FFF2-40B4-BE49-F238E27FC236}">
                <a16:creationId xmlns:a16="http://schemas.microsoft.com/office/drawing/2014/main" id="{5D6728A9-DE32-BB0D-8090-1FCDAF53296A}"/>
              </a:ext>
            </a:extLst>
          </p:cNvPr>
          <p:cNvSpPr/>
          <p:nvPr/>
        </p:nvSpPr>
        <p:spPr>
          <a:xfrm>
            <a:off x="3465172" y="3495645"/>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ship</a:t>
            </a:r>
          </a:p>
        </p:txBody>
      </p:sp>
      <p:sp>
        <p:nvSpPr>
          <p:cNvPr id="43" name="Ellipse 42">
            <a:extLst>
              <a:ext uri="{FF2B5EF4-FFF2-40B4-BE49-F238E27FC236}">
                <a16:creationId xmlns:a16="http://schemas.microsoft.com/office/drawing/2014/main" id="{1FBFC76F-FF93-C389-E5E0-F16D13924AB0}"/>
              </a:ext>
            </a:extLst>
          </p:cNvPr>
          <p:cNvSpPr/>
          <p:nvPr/>
        </p:nvSpPr>
        <p:spPr>
          <a:xfrm>
            <a:off x="3475337" y="4242958"/>
            <a:ext cx="730092" cy="50969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boat</a:t>
            </a:r>
          </a:p>
        </p:txBody>
      </p:sp>
      <p:sp>
        <p:nvSpPr>
          <p:cNvPr id="44" name="Ellipse 43">
            <a:extLst>
              <a:ext uri="{FF2B5EF4-FFF2-40B4-BE49-F238E27FC236}">
                <a16:creationId xmlns:a16="http://schemas.microsoft.com/office/drawing/2014/main" id="{45EEF1A2-4E57-60A2-9073-B915FAC2089A}"/>
              </a:ext>
            </a:extLst>
          </p:cNvPr>
          <p:cNvSpPr/>
          <p:nvPr/>
        </p:nvSpPr>
        <p:spPr>
          <a:xfrm>
            <a:off x="2051321" y="5296990"/>
            <a:ext cx="730092" cy="5251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sunk</a:t>
            </a:r>
          </a:p>
        </p:txBody>
      </p:sp>
      <p:sp>
        <p:nvSpPr>
          <p:cNvPr id="45" name="Ellipse 44">
            <a:extLst>
              <a:ext uri="{FF2B5EF4-FFF2-40B4-BE49-F238E27FC236}">
                <a16:creationId xmlns:a16="http://schemas.microsoft.com/office/drawing/2014/main" id="{F65E6709-120D-DEF1-C51E-F82044866E3C}"/>
              </a:ext>
            </a:extLst>
          </p:cNvPr>
          <p:cNvSpPr/>
          <p:nvPr/>
        </p:nvSpPr>
        <p:spPr>
          <a:xfrm>
            <a:off x="3506982" y="4931092"/>
            <a:ext cx="730091" cy="525118"/>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fire</a:t>
            </a:r>
          </a:p>
        </p:txBody>
      </p:sp>
      <p:sp>
        <p:nvSpPr>
          <p:cNvPr id="46" name="Ellipse 45">
            <a:extLst>
              <a:ext uri="{FF2B5EF4-FFF2-40B4-BE49-F238E27FC236}">
                <a16:creationId xmlns:a16="http://schemas.microsoft.com/office/drawing/2014/main" id="{C824092F-7FC6-27D3-A234-92FCAFB8F9D2}"/>
              </a:ext>
            </a:extLst>
          </p:cNvPr>
          <p:cNvSpPr/>
          <p:nvPr/>
        </p:nvSpPr>
        <p:spPr>
          <a:xfrm>
            <a:off x="3506982" y="5708248"/>
            <a:ext cx="698446" cy="479853"/>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the</a:t>
            </a:r>
          </a:p>
        </p:txBody>
      </p:sp>
      <p:sp>
        <p:nvSpPr>
          <p:cNvPr id="47" name="ZoneTexte 46">
            <a:extLst>
              <a:ext uri="{FF2B5EF4-FFF2-40B4-BE49-F238E27FC236}">
                <a16:creationId xmlns:a16="http://schemas.microsoft.com/office/drawing/2014/main" id="{6130715C-90DC-8769-7CD6-EBAB9C4DB46D}"/>
              </a:ext>
            </a:extLst>
          </p:cNvPr>
          <p:cNvSpPr txBox="1"/>
          <p:nvPr/>
        </p:nvSpPr>
        <p:spPr>
          <a:xfrm>
            <a:off x="864747" y="4637249"/>
            <a:ext cx="635157" cy="246221"/>
          </a:xfrm>
          <a:prstGeom prst="rect">
            <a:avLst/>
          </a:prstGeom>
          <a:noFill/>
        </p:spPr>
        <p:txBody>
          <a:bodyPr wrap="square" rtlCol="0">
            <a:spAutoFit/>
          </a:bodyPr>
          <a:lstStyle/>
          <a:p>
            <a:r>
              <a:rPr lang="en-GB" sz="1000" b="1" dirty="0"/>
              <a:t>&lt;start&gt;</a:t>
            </a:r>
          </a:p>
        </p:txBody>
      </p: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F94438A6-43BC-CD6C-8963-EF87F8B92155}"/>
                  </a:ext>
                </a:extLst>
              </p:cNvPr>
              <p:cNvSpPr txBox="1"/>
              <p:nvPr/>
            </p:nvSpPr>
            <p:spPr>
              <a:xfrm>
                <a:off x="1404860" y="4215142"/>
                <a:ext cx="458370"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−0.2</m:t>
                      </m:r>
                    </m:oMath>
                  </m:oMathPara>
                </a14:m>
                <a:endParaRPr lang="en-GB" sz="800" dirty="0"/>
              </a:p>
            </p:txBody>
          </p:sp>
        </mc:Choice>
        <mc:Fallback xmlns="">
          <p:sp>
            <p:nvSpPr>
              <p:cNvPr id="50" name="ZoneTexte 49">
                <a:extLst>
                  <a:ext uri="{FF2B5EF4-FFF2-40B4-BE49-F238E27FC236}">
                    <a16:creationId xmlns:a16="http://schemas.microsoft.com/office/drawing/2014/main" id="{F94438A6-43BC-CD6C-8963-EF87F8B92155}"/>
                  </a:ext>
                </a:extLst>
              </p:cNvPr>
              <p:cNvSpPr txBox="1">
                <a:spLocks noRot="1" noChangeAspect="1" noMove="1" noResize="1" noEditPoints="1" noAdjustHandles="1" noChangeArrowheads="1" noChangeShapeType="1" noTextEdit="1"/>
              </p:cNvSpPr>
              <p:nvPr/>
            </p:nvSpPr>
            <p:spPr>
              <a:xfrm>
                <a:off x="1404860" y="4215142"/>
                <a:ext cx="458370" cy="21544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6ACEB5E1-FF38-4C8E-8EDB-BFD79B38C171}"/>
                  </a:ext>
                </a:extLst>
              </p:cNvPr>
              <p:cNvSpPr txBox="1"/>
              <p:nvPr/>
            </p:nvSpPr>
            <p:spPr>
              <a:xfrm>
                <a:off x="1289922" y="5039282"/>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−1,.6</m:t>
                      </m:r>
                    </m:oMath>
                  </m:oMathPara>
                </a14:m>
                <a:endParaRPr lang="en-GB" sz="800" dirty="0"/>
              </a:p>
            </p:txBody>
          </p:sp>
        </mc:Choice>
        <mc:Fallback xmlns="">
          <p:sp>
            <p:nvSpPr>
              <p:cNvPr id="55" name="ZoneTexte 54">
                <a:extLst>
                  <a:ext uri="{FF2B5EF4-FFF2-40B4-BE49-F238E27FC236}">
                    <a16:creationId xmlns:a16="http://schemas.microsoft.com/office/drawing/2014/main" id="{6ACEB5E1-FF38-4C8E-8EDB-BFD79B38C171}"/>
                  </a:ext>
                </a:extLst>
              </p:cNvPr>
              <p:cNvSpPr txBox="1">
                <a:spLocks noRot="1" noChangeAspect="1" noMove="1" noResize="1" noEditPoints="1" noAdjustHandles="1" noChangeArrowheads="1" noChangeShapeType="1" noTextEdit="1"/>
              </p:cNvSpPr>
              <p:nvPr/>
            </p:nvSpPr>
            <p:spPr>
              <a:xfrm>
                <a:off x="1289922" y="5039282"/>
                <a:ext cx="491629" cy="21544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C215F808-5E42-A915-6579-91B168E4F1F8}"/>
                  </a:ext>
                </a:extLst>
              </p:cNvPr>
              <p:cNvSpPr txBox="1"/>
              <p:nvPr/>
            </p:nvSpPr>
            <p:spPr>
              <a:xfrm>
                <a:off x="2831779" y="5106384"/>
                <a:ext cx="407856"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−0.9</m:t>
                      </m:r>
                    </m:oMath>
                  </m:oMathPara>
                </a14:m>
                <a:endParaRPr lang="en-GB" sz="800" dirty="0"/>
              </a:p>
            </p:txBody>
          </p:sp>
        </mc:Choice>
        <mc:Fallback xmlns="">
          <p:sp>
            <p:nvSpPr>
              <p:cNvPr id="73" name="ZoneTexte 72">
                <a:extLst>
                  <a:ext uri="{FF2B5EF4-FFF2-40B4-BE49-F238E27FC236}">
                    <a16:creationId xmlns:a16="http://schemas.microsoft.com/office/drawing/2014/main" id="{C215F808-5E42-A915-6579-91B168E4F1F8}"/>
                  </a:ext>
                </a:extLst>
              </p:cNvPr>
              <p:cNvSpPr txBox="1">
                <a:spLocks noRot="1" noChangeAspect="1" noMove="1" noResize="1" noEditPoints="1" noAdjustHandles="1" noChangeArrowheads="1" noChangeShapeType="1" noTextEdit="1"/>
              </p:cNvSpPr>
              <p:nvPr/>
            </p:nvSpPr>
            <p:spPr>
              <a:xfrm>
                <a:off x="2831779" y="5106384"/>
                <a:ext cx="407856" cy="215444"/>
              </a:xfrm>
              <a:prstGeom prst="rect">
                <a:avLst/>
              </a:prstGeom>
              <a:blipFill>
                <a:blip r:embed="rId6"/>
                <a:stretch>
                  <a:fillRect/>
                </a:stretch>
              </a:blipFill>
            </p:spPr>
            <p:txBody>
              <a:bodyPr/>
              <a:lstStyle/>
              <a:p>
                <a:r>
                  <a:rPr lang="en-GB">
                    <a:noFill/>
                  </a:rPr>
                  <a:t> </a:t>
                </a:r>
              </a:p>
            </p:txBody>
          </p:sp>
        </mc:Fallback>
      </mc:AlternateContent>
      <p:cxnSp>
        <p:nvCxnSpPr>
          <p:cNvPr id="104" name="Connecteur droit avec flèche 103">
            <a:extLst>
              <a:ext uri="{FF2B5EF4-FFF2-40B4-BE49-F238E27FC236}">
                <a16:creationId xmlns:a16="http://schemas.microsoft.com/office/drawing/2014/main" id="{64E912CC-237F-2888-8312-30CBD9DBD695}"/>
              </a:ext>
            </a:extLst>
          </p:cNvPr>
          <p:cNvCxnSpPr>
            <a:cxnSpLocks/>
            <a:endCxn id="27" idx="3"/>
          </p:cNvCxnSpPr>
          <p:nvPr/>
        </p:nvCxnSpPr>
        <p:spPr>
          <a:xfrm flipV="1">
            <a:off x="1404861" y="4223922"/>
            <a:ext cx="795821" cy="52105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13B0993A-DD42-EC4F-168A-0C51CC6651F3}"/>
              </a:ext>
            </a:extLst>
          </p:cNvPr>
          <p:cNvCxnSpPr>
            <a:cxnSpLocks/>
            <a:endCxn id="44" idx="1"/>
          </p:cNvCxnSpPr>
          <p:nvPr/>
        </p:nvCxnSpPr>
        <p:spPr>
          <a:xfrm>
            <a:off x="1404861" y="4744972"/>
            <a:ext cx="753380" cy="62892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BCAB5B59-20C7-36CD-6940-972F731C57EC}"/>
              </a:ext>
            </a:extLst>
          </p:cNvPr>
          <p:cNvCxnSpPr>
            <a:cxnSpLocks/>
            <a:stCxn id="27" idx="6"/>
            <a:endCxn id="42" idx="2"/>
          </p:cNvCxnSpPr>
          <p:nvPr/>
        </p:nvCxnSpPr>
        <p:spPr>
          <a:xfrm flipV="1">
            <a:off x="2781411" y="3798609"/>
            <a:ext cx="683761" cy="26803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D8DC3861-DD9F-B6C8-53C4-0644FED98027}"/>
              </a:ext>
            </a:extLst>
          </p:cNvPr>
          <p:cNvCxnSpPr>
            <a:cxnSpLocks/>
            <a:stCxn id="27" idx="6"/>
            <a:endCxn id="43" idx="2"/>
          </p:cNvCxnSpPr>
          <p:nvPr/>
        </p:nvCxnSpPr>
        <p:spPr>
          <a:xfrm>
            <a:off x="2781411" y="4066640"/>
            <a:ext cx="693925" cy="431166"/>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282B4B26-8C56-80F5-A135-5BEA277941DE}"/>
              </a:ext>
            </a:extLst>
          </p:cNvPr>
          <p:cNvCxnSpPr>
            <a:cxnSpLocks/>
            <a:stCxn id="44" idx="6"/>
            <a:endCxn id="45" idx="2"/>
          </p:cNvCxnSpPr>
          <p:nvPr/>
        </p:nvCxnSpPr>
        <p:spPr>
          <a:xfrm flipV="1">
            <a:off x="2781412" y="5193651"/>
            <a:ext cx="725569" cy="365899"/>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37D96D52-D1A3-7182-649F-220D663BF742}"/>
              </a:ext>
            </a:extLst>
          </p:cNvPr>
          <p:cNvCxnSpPr>
            <a:cxnSpLocks/>
            <a:stCxn id="44" idx="6"/>
            <a:endCxn id="46" idx="2"/>
          </p:cNvCxnSpPr>
          <p:nvPr/>
        </p:nvCxnSpPr>
        <p:spPr>
          <a:xfrm>
            <a:off x="2781412" y="5559550"/>
            <a:ext cx="725569" cy="388625"/>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Ellipse 5">
            <a:extLst>
              <a:ext uri="{FF2B5EF4-FFF2-40B4-BE49-F238E27FC236}">
                <a16:creationId xmlns:a16="http://schemas.microsoft.com/office/drawing/2014/main" id="{2077FF03-55A2-D1B4-8454-F12571F8F1E6}"/>
              </a:ext>
            </a:extLst>
          </p:cNvPr>
          <p:cNvSpPr/>
          <p:nvPr/>
        </p:nvSpPr>
        <p:spPr>
          <a:xfrm>
            <a:off x="4565713" y="3649774"/>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sailed</a:t>
            </a:r>
          </a:p>
        </p:txBody>
      </p:sp>
      <p:sp>
        <p:nvSpPr>
          <p:cNvPr id="7" name="Ellipse 6">
            <a:extLst>
              <a:ext uri="{FF2B5EF4-FFF2-40B4-BE49-F238E27FC236}">
                <a16:creationId xmlns:a16="http://schemas.microsoft.com/office/drawing/2014/main" id="{A7E2CC8F-94A7-EB7E-A12C-10A0983090F3}"/>
              </a:ext>
            </a:extLst>
          </p:cNvPr>
          <p:cNvSpPr/>
          <p:nvPr/>
        </p:nvSpPr>
        <p:spPr>
          <a:xfrm>
            <a:off x="5929841" y="3353760"/>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home</a:t>
            </a:r>
          </a:p>
        </p:txBody>
      </p:sp>
      <p:sp>
        <p:nvSpPr>
          <p:cNvPr id="8" name="Ellipse 7">
            <a:extLst>
              <a:ext uri="{FF2B5EF4-FFF2-40B4-BE49-F238E27FC236}">
                <a16:creationId xmlns:a16="http://schemas.microsoft.com/office/drawing/2014/main" id="{152A0141-F15A-5DA1-D36A-A99BD72FC434}"/>
              </a:ext>
            </a:extLst>
          </p:cNvPr>
          <p:cNvSpPr/>
          <p:nvPr/>
        </p:nvSpPr>
        <p:spPr>
          <a:xfrm>
            <a:off x="5940006" y="4048523"/>
            <a:ext cx="730092" cy="509696"/>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shark</a:t>
            </a:r>
          </a:p>
        </p:txBody>
      </p:sp>
      <p:cxnSp>
        <p:nvCxnSpPr>
          <p:cNvPr id="11" name="Connecteur droit avec flèche 10">
            <a:extLst>
              <a:ext uri="{FF2B5EF4-FFF2-40B4-BE49-F238E27FC236}">
                <a16:creationId xmlns:a16="http://schemas.microsoft.com/office/drawing/2014/main" id="{5B656C82-F4F9-1789-6658-0062E8F8BD8B}"/>
              </a:ext>
            </a:extLst>
          </p:cNvPr>
          <p:cNvCxnSpPr>
            <a:cxnSpLocks/>
            <a:stCxn id="6" idx="6"/>
            <a:endCxn id="7" idx="2"/>
          </p:cNvCxnSpPr>
          <p:nvPr/>
        </p:nvCxnSpPr>
        <p:spPr>
          <a:xfrm flipV="1">
            <a:off x="5246080" y="3656724"/>
            <a:ext cx="683761" cy="21548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E51AE1E5-F643-CEAD-6515-B4642D28D6DC}"/>
              </a:ext>
            </a:extLst>
          </p:cNvPr>
          <p:cNvCxnSpPr>
            <a:cxnSpLocks/>
            <a:stCxn id="6" idx="6"/>
            <a:endCxn id="8" idx="2"/>
          </p:cNvCxnSpPr>
          <p:nvPr/>
        </p:nvCxnSpPr>
        <p:spPr>
          <a:xfrm>
            <a:off x="5246080" y="3872205"/>
            <a:ext cx="693925" cy="431166"/>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Ellipse 12">
            <a:extLst>
              <a:ext uri="{FF2B5EF4-FFF2-40B4-BE49-F238E27FC236}">
                <a16:creationId xmlns:a16="http://schemas.microsoft.com/office/drawing/2014/main" id="{E87AD5B1-C12B-16B3-4A61-DE2EFA69E776}"/>
              </a:ext>
            </a:extLst>
          </p:cNvPr>
          <p:cNvSpPr/>
          <p:nvPr/>
        </p:nvSpPr>
        <p:spPr>
          <a:xfrm>
            <a:off x="4591990" y="2372769"/>
            <a:ext cx="680367" cy="444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has</a:t>
            </a:r>
          </a:p>
        </p:txBody>
      </p:sp>
      <p:sp>
        <p:nvSpPr>
          <p:cNvPr id="14" name="Ellipse 13">
            <a:extLst>
              <a:ext uri="{FF2B5EF4-FFF2-40B4-BE49-F238E27FC236}">
                <a16:creationId xmlns:a16="http://schemas.microsoft.com/office/drawing/2014/main" id="{4CD569A5-503E-C3B4-C2E3-75A10DB62EA3}"/>
              </a:ext>
            </a:extLst>
          </p:cNvPr>
          <p:cNvSpPr/>
          <p:nvPr/>
        </p:nvSpPr>
        <p:spPr>
          <a:xfrm>
            <a:off x="5956118" y="2024205"/>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docked</a:t>
            </a:r>
          </a:p>
        </p:txBody>
      </p:sp>
      <p:sp>
        <p:nvSpPr>
          <p:cNvPr id="15" name="Ellipse 14">
            <a:extLst>
              <a:ext uri="{FF2B5EF4-FFF2-40B4-BE49-F238E27FC236}">
                <a16:creationId xmlns:a16="http://schemas.microsoft.com/office/drawing/2014/main" id="{17AEC4BE-6420-8A7F-5E0D-77B11019E14E}"/>
              </a:ext>
            </a:extLst>
          </p:cNvPr>
          <p:cNvSpPr/>
          <p:nvPr/>
        </p:nvSpPr>
        <p:spPr>
          <a:xfrm>
            <a:off x="5966283" y="2771518"/>
            <a:ext cx="730092" cy="509696"/>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sunk</a:t>
            </a:r>
          </a:p>
        </p:txBody>
      </p:sp>
      <p:cxnSp>
        <p:nvCxnSpPr>
          <p:cNvPr id="18" name="Connecteur droit avec flèche 17">
            <a:extLst>
              <a:ext uri="{FF2B5EF4-FFF2-40B4-BE49-F238E27FC236}">
                <a16:creationId xmlns:a16="http://schemas.microsoft.com/office/drawing/2014/main" id="{193F228F-F614-34AE-92CA-A4C5B659DFBA}"/>
              </a:ext>
            </a:extLst>
          </p:cNvPr>
          <p:cNvCxnSpPr>
            <a:cxnSpLocks/>
            <a:stCxn id="13" idx="6"/>
            <a:endCxn id="14" idx="2"/>
          </p:cNvCxnSpPr>
          <p:nvPr/>
        </p:nvCxnSpPr>
        <p:spPr>
          <a:xfrm flipV="1">
            <a:off x="5272357" y="2327169"/>
            <a:ext cx="683761" cy="268031"/>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2AC92E18-8CDD-3134-C29B-E23134BD4DA5}"/>
              </a:ext>
            </a:extLst>
          </p:cNvPr>
          <p:cNvCxnSpPr>
            <a:cxnSpLocks/>
            <a:stCxn id="13" idx="6"/>
            <a:endCxn id="15" idx="2"/>
          </p:cNvCxnSpPr>
          <p:nvPr/>
        </p:nvCxnSpPr>
        <p:spPr>
          <a:xfrm>
            <a:off x="5272357" y="2595200"/>
            <a:ext cx="693925" cy="431166"/>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9C50BA5B-9AB2-CC76-1387-98F35562C54F}"/>
              </a:ext>
            </a:extLst>
          </p:cNvPr>
          <p:cNvCxnSpPr>
            <a:cxnSpLocks/>
            <a:stCxn id="42" idx="6"/>
            <a:endCxn id="13" idx="3"/>
          </p:cNvCxnSpPr>
          <p:nvPr/>
        </p:nvCxnSpPr>
        <p:spPr>
          <a:xfrm flipV="1">
            <a:off x="4268716" y="2752482"/>
            <a:ext cx="422911" cy="1046127"/>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963E1907-CD5B-908A-CBBB-48A105228062}"/>
              </a:ext>
            </a:extLst>
          </p:cNvPr>
          <p:cNvCxnSpPr>
            <a:cxnSpLocks/>
            <a:stCxn id="42" idx="6"/>
          </p:cNvCxnSpPr>
          <p:nvPr/>
        </p:nvCxnSpPr>
        <p:spPr>
          <a:xfrm>
            <a:off x="4268716" y="3798609"/>
            <a:ext cx="396634" cy="105495"/>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5" name="Ellipse 34">
            <a:extLst>
              <a:ext uri="{FF2B5EF4-FFF2-40B4-BE49-F238E27FC236}">
                <a16:creationId xmlns:a16="http://schemas.microsoft.com/office/drawing/2014/main" id="{8E477AF5-0973-1EF9-C2E1-00E1F65C1E49}"/>
              </a:ext>
            </a:extLst>
          </p:cNvPr>
          <p:cNvSpPr/>
          <p:nvPr/>
        </p:nvSpPr>
        <p:spPr>
          <a:xfrm>
            <a:off x="4570969" y="4842697"/>
            <a:ext cx="680367" cy="444861"/>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sailed</a:t>
            </a:r>
          </a:p>
        </p:txBody>
      </p:sp>
      <p:sp>
        <p:nvSpPr>
          <p:cNvPr id="36" name="Ellipse 35">
            <a:extLst>
              <a:ext uri="{FF2B5EF4-FFF2-40B4-BE49-F238E27FC236}">
                <a16:creationId xmlns:a16="http://schemas.microsoft.com/office/drawing/2014/main" id="{D448DF2A-F576-591B-774F-AF41AC915986}"/>
              </a:ext>
            </a:extLst>
          </p:cNvPr>
          <p:cNvSpPr/>
          <p:nvPr/>
        </p:nvSpPr>
        <p:spPr>
          <a:xfrm>
            <a:off x="4555205" y="4269883"/>
            <a:ext cx="680367" cy="444861"/>
          </a:xfrm>
          <a:prstGeom prst="ellipse">
            <a:avLst/>
          </a:prstGeom>
          <a:solidFill>
            <a:schemeClr val="accent1">
              <a:alpha val="20000"/>
            </a:schemeClr>
          </a:solidFill>
          <a:ln>
            <a:solidFill>
              <a:schemeClr val="accent1">
                <a:shade val="15000"/>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has</a:t>
            </a:r>
          </a:p>
        </p:txBody>
      </p:sp>
      <p:cxnSp>
        <p:nvCxnSpPr>
          <p:cNvPr id="37" name="Connecteur droit avec flèche 36">
            <a:extLst>
              <a:ext uri="{FF2B5EF4-FFF2-40B4-BE49-F238E27FC236}">
                <a16:creationId xmlns:a16="http://schemas.microsoft.com/office/drawing/2014/main" id="{B5F1A4A9-3746-6E97-A24F-0D7225BAC6D0}"/>
              </a:ext>
            </a:extLst>
          </p:cNvPr>
          <p:cNvCxnSpPr>
            <a:cxnSpLocks/>
            <a:stCxn id="43" idx="6"/>
            <a:endCxn id="36" idx="2"/>
          </p:cNvCxnSpPr>
          <p:nvPr/>
        </p:nvCxnSpPr>
        <p:spPr>
          <a:xfrm flipV="1">
            <a:off x="4205429" y="4492314"/>
            <a:ext cx="349776" cy="5492"/>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704892D0-21B4-A783-CED0-1ABDADAA6E3E}"/>
              </a:ext>
            </a:extLst>
          </p:cNvPr>
          <p:cNvCxnSpPr>
            <a:cxnSpLocks/>
            <a:stCxn id="43" idx="6"/>
            <a:endCxn id="35" idx="2"/>
          </p:cNvCxnSpPr>
          <p:nvPr/>
        </p:nvCxnSpPr>
        <p:spPr>
          <a:xfrm>
            <a:off x="4205429" y="4497806"/>
            <a:ext cx="365540" cy="567322"/>
          </a:xfrm>
          <a:prstGeom prst="straightConnector1">
            <a:avLst/>
          </a:prstGeom>
          <a:noFill/>
          <a:ln>
            <a:solidFill>
              <a:schemeClr val="accent1">
                <a:alpha val="2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B559EF6B-20D8-B773-044A-AD18E624B7E7}"/>
                  </a:ext>
                </a:extLst>
              </p:cNvPr>
              <p:cNvSpPr txBox="1"/>
              <p:nvPr/>
            </p:nvSpPr>
            <p:spPr>
              <a:xfrm>
                <a:off x="1587746" y="4812946"/>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𝟔</m:t>
                      </m:r>
                    </m:oMath>
                  </m:oMathPara>
                </a14:m>
                <a:endParaRPr lang="en-GB" sz="800" b="1" dirty="0">
                  <a:solidFill>
                    <a:srgbClr val="FF0000"/>
                  </a:solidFill>
                </a:endParaRPr>
              </a:p>
            </p:txBody>
          </p:sp>
        </mc:Choice>
        <mc:Fallback xmlns="">
          <p:sp>
            <p:nvSpPr>
              <p:cNvPr id="52" name="ZoneTexte 51">
                <a:extLst>
                  <a:ext uri="{FF2B5EF4-FFF2-40B4-BE49-F238E27FC236}">
                    <a16:creationId xmlns:a16="http://schemas.microsoft.com/office/drawing/2014/main" id="{B559EF6B-20D8-B773-044A-AD18E624B7E7}"/>
                  </a:ext>
                </a:extLst>
              </p:cNvPr>
              <p:cNvSpPr txBox="1">
                <a:spLocks noRot="1" noChangeAspect="1" noMove="1" noResize="1" noEditPoints="1" noAdjustHandles="1" noChangeArrowheads="1" noChangeShapeType="1" noTextEdit="1"/>
              </p:cNvSpPr>
              <p:nvPr/>
            </p:nvSpPr>
            <p:spPr>
              <a:xfrm>
                <a:off x="1587746" y="4812946"/>
                <a:ext cx="491629" cy="21544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73A62DFD-018F-C510-F9D7-6D7848FE5ACE}"/>
                  </a:ext>
                </a:extLst>
              </p:cNvPr>
              <p:cNvSpPr txBox="1"/>
              <p:nvPr/>
            </p:nvSpPr>
            <p:spPr>
              <a:xfrm>
                <a:off x="1609760" y="4491151"/>
                <a:ext cx="458370"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𝟎</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oMath>
                  </m:oMathPara>
                </a14:m>
                <a:endParaRPr lang="en-GB" sz="800" b="1" dirty="0">
                  <a:solidFill>
                    <a:srgbClr val="FF0000"/>
                  </a:solidFill>
                </a:endParaRPr>
              </a:p>
            </p:txBody>
          </p:sp>
        </mc:Choice>
        <mc:Fallback xmlns="">
          <p:sp>
            <p:nvSpPr>
              <p:cNvPr id="53" name="ZoneTexte 52">
                <a:extLst>
                  <a:ext uri="{FF2B5EF4-FFF2-40B4-BE49-F238E27FC236}">
                    <a16:creationId xmlns:a16="http://schemas.microsoft.com/office/drawing/2014/main" id="{73A62DFD-018F-C510-F9D7-6D7848FE5ACE}"/>
                  </a:ext>
                </a:extLst>
              </p:cNvPr>
              <p:cNvSpPr txBox="1">
                <a:spLocks noRot="1" noChangeAspect="1" noMove="1" noResize="1" noEditPoints="1" noAdjustHandles="1" noChangeArrowheads="1" noChangeShapeType="1" noTextEdit="1"/>
              </p:cNvSpPr>
              <p:nvPr/>
            </p:nvSpPr>
            <p:spPr>
              <a:xfrm>
                <a:off x="1609760" y="4491151"/>
                <a:ext cx="458370" cy="21544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D4435311-301F-2949-B73C-1F5849960A69}"/>
                  </a:ext>
                </a:extLst>
              </p:cNvPr>
              <p:cNvSpPr txBox="1"/>
              <p:nvPr/>
            </p:nvSpPr>
            <p:spPr>
              <a:xfrm>
                <a:off x="2840419" y="5797272"/>
                <a:ext cx="390576"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5</a:t>
                </a:r>
              </a:p>
            </p:txBody>
          </p:sp>
        </mc:Choice>
        <mc:Fallback xmlns="">
          <p:sp>
            <p:nvSpPr>
              <p:cNvPr id="54" name="ZoneTexte 53">
                <a:extLst>
                  <a:ext uri="{FF2B5EF4-FFF2-40B4-BE49-F238E27FC236}">
                    <a16:creationId xmlns:a16="http://schemas.microsoft.com/office/drawing/2014/main" id="{D4435311-301F-2949-B73C-1F5849960A69}"/>
                  </a:ext>
                </a:extLst>
              </p:cNvPr>
              <p:cNvSpPr txBox="1">
                <a:spLocks noRot="1" noChangeAspect="1" noMove="1" noResize="1" noEditPoints="1" noAdjustHandles="1" noChangeArrowheads="1" noChangeShapeType="1" noTextEdit="1"/>
              </p:cNvSpPr>
              <p:nvPr/>
            </p:nvSpPr>
            <p:spPr>
              <a:xfrm>
                <a:off x="2840419" y="5797272"/>
                <a:ext cx="390576" cy="215444"/>
              </a:xfrm>
              <a:prstGeom prst="rect">
                <a:avLst/>
              </a:prstGeom>
              <a:blipFill>
                <a:blip r:embed="rId9"/>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7" name="ZoneTexte 56">
                <a:extLst>
                  <a:ext uri="{FF2B5EF4-FFF2-40B4-BE49-F238E27FC236}">
                    <a16:creationId xmlns:a16="http://schemas.microsoft.com/office/drawing/2014/main" id="{B39C6DD7-318D-2E77-01B9-7CB3606D0109}"/>
                  </a:ext>
                </a:extLst>
              </p:cNvPr>
              <p:cNvSpPr txBox="1"/>
              <p:nvPr/>
            </p:nvSpPr>
            <p:spPr>
              <a:xfrm>
                <a:off x="2831779" y="539706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57" name="ZoneTexte 56">
                <a:extLst>
                  <a:ext uri="{FF2B5EF4-FFF2-40B4-BE49-F238E27FC236}">
                    <a16:creationId xmlns:a16="http://schemas.microsoft.com/office/drawing/2014/main" id="{B39C6DD7-318D-2E77-01B9-7CB3606D0109}"/>
                  </a:ext>
                </a:extLst>
              </p:cNvPr>
              <p:cNvSpPr txBox="1">
                <a:spLocks noRot="1" noChangeAspect="1" noMove="1" noResize="1" noEditPoints="1" noAdjustHandles="1" noChangeArrowheads="1" noChangeShapeType="1" noTextEdit="1"/>
              </p:cNvSpPr>
              <p:nvPr/>
            </p:nvSpPr>
            <p:spPr>
              <a:xfrm>
                <a:off x="2831779" y="5397062"/>
                <a:ext cx="491629" cy="215444"/>
              </a:xfrm>
              <a:prstGeom prst="rect">
                <a:avLst/>
              </a:prstGeom>
              <a:blipFill>
                <a:blip r:embed="rId10"/>
                <a:stretch>
                  <a:fillRect b="-526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B48C6BA4-4CE2-E8A1-C2FC-2A89C3417BEA}"/>
                  </a:ext>
                </a:extLst>
              </p:cNvPr>
              <p:cNvSpPr txBox="1"/>
              <p:nvPr/>
            </p:nvSpPr>
            <p:spPr>
              <a:xfrm>
                <a:off x="2963159" y="558099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𝟐</m:t>
                    </m:r>
                    <m:r>
                      <a:rPr lang="fr-FR" sz="800" b="1" i="1" smtClean="0">
                        <a:solidFill>
                          <a:srgbClr val="FF0000"/>
                        </a:solidFill>
                        <a:latin typeface="Cambria Math" panose="02040503050406030204" pitchFamily="18" charset="0"/>
                      </a:rPr>
                      <m:t>.</m:t>
                    </m:r>
                  </m:oMath>
                </a14:m>
                <a:r>
                  <a:rPr lang="en-GB" sz="800" b="1" dirty="0">
                    <a:solidFill>
                      <a:srgbClr val="FF0000"/>
                    </a:solidFill>
                  </a:rPr>
                  <a:t>1</a:t>
                </a:r>
              </a:p>
            </p:txBody>
          </p:sp>
        </mc:Choice>
        <mc:Fallback xmlns="">
          <p:sp>
            <p:nvSpPr>
              <p:cNvPr id="58" name="ZoneTexte 57">
                <a:extLst>
                  <a:ext uri="{FF2B5EF4-FFF2-40B4-BE49-F238E27FC236}">
                    <a16:creationId xmlns:a16="http://schemas.microsoft.com/office/drawing/2014/main" id="{B48C6BA4-4CE2-E8A1-C2FC-2A89C3417BEA}"/>
                  </a:ext>
                </a:extLst>
              </p:cNvPr>
              <p:cNvSpPr txBox="1">
                <a:spLocks noRot="1" noChangeAspect="1" noMove="1" noResize="1" noEditPoints="1" noAdjustHandles="1" noChangeArrowheads="1" noChangeShapeType="1" noTextEdit="1"/>
              </p:cNvSpPr>
              <p:nvPr/>
            </p:nvSpPr>
            <p:spPr>
              <a:xfrm>
                <a:off x="2963159" y="5580992"/>
                <a:ext cx="491629" cy="215444"/>
              </a:xfrm>
              <a:prstGeom prst="rect">
                <a:avLst/>
              </a:prstGeom>
              <a:blipFill>
                <a:blip r:embed="rId11"/>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ZoneTexte 58">
                <a:extLst>
                  <a:ext uri="{FF2B5EF4-FFF2-40B4-BE49-F238E27FC236}">
                    <a16:creationId xmlns:a16="http://schemas.microsoft.com/office/drawing/2014/main" id="{AE070121-EB3A-2FCC-54AF-D679FB204819}"/>
                  </a:ext>
                </a:extLst>
              </p:cNvPr>
              <p:cNvSpPr txBox="1"/>
              <p:nvPr/>
            </p:nvSpPr>
            <p:spPr>
              <a:xfrm>
                <a:off x="2693343" y="4277107"/>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−1.4</m:t>
                      </m:r>
                    </m:oMath>
                  </m:oMathPara>
                </a14:m>
                <a:endParaRPr lang="en-GB" sz="800" dirty="0"/>
              </a:p>
            </p:txBody>
          </p:sp>
        </mc:Choice>
        <mc:Fallback xmlns="">
          <p:sp>
            <p:nvSpPr>
              <p:cNvPr id="59" name="ZoneTexte 58">
                <a:extLst>
                  <a:ext uri="{FF2B5EF4-FFF2-40B4-BE49-F238E27FC236}">
                    <a16:creationId xmlns:a16="http://schemas.microsoft.com/office/drawing/2014/main" id="{AE070121-EB3A-2FCC-54AF-D679FB204819}"/>
                  </a:ext>
                </a:extLst>
              </p:cNvPr>
              <p:cNvSpPr txBox="1">
                <a:spLocks noRot="1" noChangeAspect="1" noMove="1" noResize="1" noEditPoints="1" noAdjustHandles="1" noChangeArrowheads="1" noChangeShapeType="1" noTextEdit="1"/>
              </p:cNvSpPr>
              <p:nvPr/>
            </p:nvSpPr>
            <p:spPr>
              <a:xfrm>
                <a:off x="2693343" y="4277107"/>
                <a:ext cx="491629" cy="21544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ZoneTexte 59">
                <a:extLst>
                  <a:ext uri="{FF2B5EF4-FFF2-40B4-BE49-F238E27FC236}">
                    <a16:creationId xmlns:a16="http://schemas.microsoft.com/office/drawing/2014/main" id="{B26ABFAB-7EE0-8AE9-5E7B-05F7F6599475}"/>
                  </a:ext>
                </a:extLst>
              </p:cNvPr>
              <p:cNvSpPr txBox="1"/>
              <p:nvPr/>
            </p:nvSpPr>
            <p:spPr>
              <a:xfrm>
                <a:off x="2693343" y="3673038"/>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−0.3</m:t>
                      </m:r>
                    </m:oMath>
                  </m:oMathPara>
                </a14:m>
                <a:endParaRPr lang="en-GB" sz="800" dirty="0"/>
              </a:p>
            </p:txBody>
          </p:sp>
        </mc:Choice>
        <mc:Fallback xmlns="">
          <p:sp>
            <p:nvSpPr>
              <p:cNvPr id="60" name="ZoneTexte 59">
                <a:extLst>
                  <a:ext uri="{FF2B5EF4-FFF2-40B4-BE49-F238E27FC236}">
                    <a16:creationId xmlns:a16="http://schemas.microsoft.com/office/drawing/2014/main" id="{B26ABFAB-7EE0-8AE9-5E7B-05F7F6599475}"/>
                  </a:ext>
                </a:extLst>
              </p:cNvPr>
              <p:cNvSpPr txBox="1">
                <a:spLocks noRot="1" noChangeAspect="1" noMove="1" noResize="1" noEditPoints="1" noAdjustHandles="1" noChangeArrowheads="1" noChangeShapeType="1" noTextEdit="1"/>
              </p:cNvSpPr>
              <p:nvPr/>
            </p:nvSpPr>
            <p:spPr>
              <a:xfrm>
                <a:off x="2693343" y="3673038"/>
                <a:ext cx="491629" cy="21544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ZoneTexte 60">
                <a:extLst>
                  <a:ext uri="{FF2B5EF4-FFF2-40B4-BE49-F238E27FC236}">
                    <a16:creationId xmlns:a16="http://schemas.microsoft.com/office/drawing/2014/main" id="{895CEC85-DCF5-3133-C42F-43DA2D256066}"/>
                  </a:ext>
                </a:extLst>
              </p:cNvPr>
              <p:cNvSpPr txBox="1"/>
              <p:nvPr/>
            </p:nvSpPr>
            <p:spPr>
              <a:xfrm>
                <a:off x="2939184" y="3921301"/>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𝟎</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61" name="ZoneTexte 60">
                <a:extLst>
                  <a:ext uri="{FF2B5EF4-FFF2-40B4-BE49-F238E27FC236}">
                    <a16:creationId xmlns:a16="http://schemas.microsoft.com/office/drawing/2014/main" id="{895CEC85-DCF5-3133-C42F-43DA2D256066}"/>
                  </a:ext>
                </a:extLst>
              </p:cNvPr>
              <p:cNvSpPr txBox="1">
                <a:spLocks noRot="1" noChangeAspect="1" noMove="1" noResize="1" noEditPoints="1" noAdjustHandles="1" noChangeArrowheads="1" noChangeShapeType="1" noTextEdit="1"/>
              </p:cNvSpPr>
              <p:nvPr/>
            </p:nvSpPr>
            <p:spPr>
              <a:xfrm>
                <a:off x="2939184" y="3921301"/>
                <a:ext cx="491629" cy="215444"/>
              </a:xfrm>
              <a:prstGeom prst="rect">
                <a:avLst/>
              </a:prstGeom>
              <a:blipFill>
                <a:blip r:embed="rId14"/>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872AB768-C50C-2E4E-2ED9-606827263D2A}"/>
                  </a:ext>
                </a:extLst>
              </p:cNvPr>
              <p:cNvSpPr txBox="1"/>
              <p:nvPr/>
            </p:nvSpPr>
            <p:spPr>
              <a:xfrm>
                <a:off x="3061611" y="4124947"/>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6</a:t>
                </a:r>
              </a:p>
            </p:txBody>
          </p:sp>
        </mc:Choice>
        <mc:Fallback xmlns="">
          <p:sp>
            <p:nvSpPr>
              <p:cNvPr id="62" name="ZoneTexte 61">
                <a:extLst>
                  <a:ext uri="{FF2B5EF4-FFF2-40B4-BE49-F238E27FC236}">
                    <a16:creationId xmlns:a16="http://schemas.microsoft.com/office/drawing/2014/main" id="{872AB768-C50C-2E4E-2ED9-606827263D2A}"/>
                  </a:ext>
                </a:extLst>
              </p:cNvPr>
              <p:cNvSpPr txBox="1">
                <a:spLocks noRot="1" noChangeAspect="1" noMove="1" noResize="1" noEditPoints="1" noAdjustHandles="1" noChangeArrowheads="1" noChangeShapeType="1" noTextEdit="1"/>
              </p:cNvSpPr>
              <p:nvPr/>
            </p:nvSpPr>
            <p:spPr>
              <a:xfrm>
                <a:off x="3061611" y="4124947"/>
                <a:ext cx="491629" cy="215444"/>
              </a:xfrm>
              <a:prstGeom prst="rect">
                <a:avLst/>
              </a:prstGeom>
              <a:blipFill>
                <a:blip r:embed="rId15"/>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ZoneTexte 63">
                <a:extLst>
                  <a:ext uri="{FF2B5EF4-FFF2-40B4-BE49-F238E27FC236}">
                    <a16:creationId xmlns:a16="http://schemas.microsoft.com/office/drawing/2014/main" id="{38AE7601-9B67-8FC3-7675-65467C30C2D2}"/>
                  </a:ext>
                </a:extLst>
              </p:cNvPr>
              <p:cNvSpPr txBox="1"/>
              <p:nvPr/>
            </p:nvSpPr>
            <p:spPr>
              <a:xfrm>
                <a:off x="4109140" y="475847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−1.</m:t>
                    </m:r>
                  </m:oMath>
                </a14:m>
                <a:r>
                  <a:rPr lang="en-GB" sz="800" dirty="0"/>
                  <a:t>6</a:t>
                </a:r>
              </a:p>
            </p:txBody>
          </p:sp>
        </mc:Choice>
        <mc:Fallback xmlns="">
          <p:sp>
            <p:nvSpPr>
              <p:cNvPr id="64" name="ZoneTexte 63">
                <a:extLst>
                  <a:ext uri="{FF2B5EF4-FFF2-40B4-BE49-F238E27FC236}">
                    <a16:creationId xmlns:a16="http://schemas.microsoft.com/office/drawing/2014/main" id="{38AE7601-9B67-8FC3-7675-65467C30C2D2}"/>
                  </a:ext>
                </a:extLst>
              </p:cNvPr>
              <p:cNvSpPr txBox="1">
                <a:spLocks noRot="1" noChangeAspect="1" noMove="1" noResize="1" noEditPoints="1" noAdjustHandles="1" noChangeArrowheads="1" noChangeShapeType="1" noTextEdit="1"/>
              </p:cNvSpPr>
              <p:nvPr/>
            </p:nvSpPr>
            <p:spPr>
              <a:xfrm>
                <a:off x="4109140" y="4758472"/>
                <a:ext cx="491629" cy="215444"/>
              </a:xfrm>
              <a:prstGeom prst="rect">
                <a:avLst/>
              </a:prstGeom>
              <a:blipFill>
                <a:blip r:embed="rId16"/>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06F14139-A352-B0BB-390C-74F16673C33F}"/>
                  </a:ext>
                </a:extLst>
              </p:cNvPr>
              <p:cNvSpPr txBox="1"/>
              <p:nvPr/>
            </p:nvSpPr>
            <p:spPr>
              <a:xfrm>
                <a:off x="4346175" y="4700532"/>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𝟑</m:t>
                    </m:r>
                    <m:r>
                      <a:rPr lang="fr-FR" sz="800" b="1" i="1" smtClean="0">
                        <a:solidFill>
                          <a:srgbClr val="FF0000"/>
                        </a:solidFill>
                        <a:latin typeface="Cambria Math" panose="02040503050406030204" pitchFamily="18" charset="0"/>
                      </a:rPr>
                      <m:t>.</m:t>
                    </m:r>
                  </m:oMath>
                </a14:m>
                <a:r>
                  <a:rPr lang="en-GB" sz="800" b="1" dirty="0">
                    <a:solidFill>
                      <a:srgbClr val="FF0000"/>
                    </a:solidFill>
                  </a:rPr>
                  <a:t>2</a:t>
                </a:r>
              </a:p>
            </p:txBody>
          </p:sp>
        </mc:Choice>
        <mc:Fallback xmlns="">
          <p:sp>
            <p:nvSpPr>
              <p:cNvPr id="66" name="ZoneTexte 65">
                <a:extLst>
                  <a:ext uri="{FF2B5EF4-FFF2-40B4-BE49-F238E27FC236}">
                    <a16:creationId xmlns:a16="http://schemas.microsoft.com/office/drawing/2014/main" id="{06F14139-A352-B0BB-390C-74F16673C33F}"/>
                  </a:ext>
                </a:extLst>
              </p:cNvPr>
              <p:cNvSpPr txBox="1">
                <a:spLocks noRot="1" noChangeAspect="1" noMove="1" noResize="1" noEditPoints="1" noAdjustHandles="1" noChangeArrowheads="1" noChangeShapeType="1" noTextEdit="1"/>
              </p:cNvSpPr>
              <p:nvPr/>
            </p:nvSpPr>
            <p:spPr>
              <a:xfrm>
                <a:off x="4346175" y="4700532"/>
                <a:ext cx="491629" cy="215444"/>
              </a:xfrm>
              <a:prstGeom prst="rect">
                <a:avLst/>
              </a:prstGeom>
              <a:blipFill>
                <a:blip r:embed="rId17"/>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C7F4F2F0-3A73-387C-E489-8413481564A0}"/>
                  </a:ext>
                </a:extLst>
              </p:cNvPr>
              <p:cNvSpPr txBox="1"/>
              <p:nvPr/>
            </p:nvSpPr>
            <p:spPr>
              <a:xfrm>
                <a:off x="4215467" y="2972206"/>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5</a:t>
                </a:r>
              </a:p>
            </p:txBody>
          </p:sp>
        </mc:Choice>
        <mc:Fallback xmlns="">
          <p:sp>
            <p:nvSpPr>
              <p:cNvPr id="67" name="ZoneTexte 66">
                <a:extLst>
                  <a:ext uri="{FF2B5EF4-FFF2-40B4-BE49-F238E27FC236}">
                    <a16:creationId xmlns:a16="http://schemas.microsoft.com/office/drawing/2014/main" id="{C7F4F2F0-3A73-387C-E489-8413481564A0}"/>
                  </a:ext>
                </a:extLst>
              </p:cNvPr>
              <p:cNvSpPr txBox="1">
                <a:spLocks noRot="1" noChangeAspect="1" noMove="1" noResize="1" noEditPoints="1" noAdjustHandles="1" noChangeArrowheads="1" noChangeShapeType="1" noTextEdit="1"/>
              </p:cNvSpPr>
              <p:nvPr/>
            </p:nvSpPr>
            <p:spPr>
              <a:xfrm>
                <a:off x="4215467" y="2972206"/>
                <a:ext cx="491629" cy="215444"/>
              </a:xfrm>
              <a:prstGeom prst="rect">
                <a:avLst/>
              </a:prstGeom>
              <a:blipFill>
                <a:blip r:embed="rId18"/>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ZoneTexte 67">
                <a:extLst>
                  <a:ext uri="{FF2B5EF4-FFF2-40B4-BE49-F238E27FC236}">
                    <a16:creationId xmlns:a16="http://schemas.microsoft.com/office/drawing/2014/main" id="{CBA85769-ABFB-8644-62AC-92188C4F8D1B}"/>
                  </a:ext>
                </a:extLst>
              </p:cNvPr>
              <p:cNvSpPr txBox="1"/>
              <p:nvPr/>
            </p:nvSpPr>
            <p:spPr>
              <a:xfrm>
                <a:off x="4409058" y="3190121"/>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0" smtClean="0">
                          <a:solidFill>
                            <a:srgbClr val="FF0000"/>
                          </a:solidFill>
                          <a:latin typeface="Cambria Math" panose="02040503050406030204" pitchFamily="18" charset="0"/>
                        </a:rPr>
                        <m:t>𝟎</m:t>
                      </m:r>
                    </m:oMath>
                  </m:oMathPara>
                </a14:m>
                <a:endParaRPr lang="en-GB" sz="800" b="1" dirty="0">
                  <a:solidFill>
                    <a:srgbClr val="FF0000"/>
                  </a:solidFill>
                </a:endParaRPr>
              </a:p>
            </p:txBody>
          </p:sp>
        </mc:Choice>
        <mc:Fallback xmlns="">
          <p:sp>
            <p:nvSpPr>
              <p:cNvPr id="68" name="ZoneTexte 67">
                <a:extLst>
                  <a:ext uri="{FF2B5EF4-FFF2-40B4-BE49-F238E27FC236}">
                    <a16:creationId xmlns:a16="http://schemas.microsoft.com/office/drawing/2014/main" id="{CBA85769-ABFB-8644-62AC-92188C4F8D1B}"/>
                  </a:ext>
                </a:extLst>
              </p:cNvPr>
              <p:cNvSpPr txBox="1">
                <a:spLocks noRot="1" noChangeAspect="1" noMove="1" noResize="1" noEditPoints="1" noAdjustHandles="1" noChangeArrowheads="1" noChangeShapeType="1" noTextEdit="1"/>
              </p:cNvSpPr>
              <p:nvPr/>
            </p:nvSpPr>
            <p:spPr>
              <a:xfrm>
                <a:off x="4409058" y="3190121"/>
                <a:ext cx="491629" cy="215444"/>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E2A2BAB2-20DC-51C6-6322-3448D80477B3}"/>
                  </a:ext>
                </a:extLst>
              </p:cNvPr>
              <p:cNvSpPr txBox="1"/>
              <p:nvPr/>
            </p:nvSpPr>
            <p:spPr>
              <a:xfrm>
                <a:off x="4218273" y="3871654"/>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9</a:t>
                </a:r>
              </a:p>
            </p:txBody>
          </p:sp>
        </mc:Choice>
        <mc:Fallback xmlns="">
          <p:sp>
            <p:nvSpPr>
              <p:cNvPr id="69" name="ZoneTexte 68">
                <a:extLst>
                  <a:ext uri="{FF2B5EF4-FFF2-40B4-BE49-F238E27FC236}">
                    <a16:creationId xmlns:a16="http://schemas.microsoft.com/office/drawing/2014/main" id="{E2A2BAB2-20DC-51C6-6322-3448D80477B3}"/>
                  </a:ext>
                </a:extLst>
              </p:cNvPr>
              <p:cNvSpPr txBox="1">
                <a:spLocks noRot="1" noChangeAspect="1" noMove="1" noResize="1" noEditPoints="1" noAdjustHandles="1" noChangeArrowheads="1" noChangeShapeType="1" noTextEdit="1"/>
              </p:cNvSpPr>
              <p:nvPr/>
            </p:nvSpPr>
            <p:spPr>
              <a:xfrm>
                <a:off x="4218273" y="3871654"/>
                <a:ext cx="491629" cy="215444"/>
              </a:xfrm>
              <a:prstGeom prst="rect">
                <a:avLst/>
              </a:prstGeom>
              <a:blipFill>
                <a:blip r:embed="rId20"/>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50E0CADE-A334-21FA-4E8E-4BDE696788F6}"/>
                  </a:ext>
                </a:extLst>
              </p:cNvPr>
              <p:cNvSpPr txBox="1"/>
              <p:nvPr/>
            </p:nvSpPr>
            <p:spPr>
              <a:xfrm>
                <a:off x="4248511" y="3653858"/>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4</a:t>
                </a:r>
              </a:p>
            </p:txBody>
          </p:sp>
        </mc:Choice>
        <mc:Fallback xmlns="">
          <p:sp>
            <p:nvSpPr>
              <p:cNvPr id="70" name="ZoneTexte 69">
                <a:extLst>
                  <a:ext uri="{FF2B5EF4-FFF2-40B4-BE49-F238E27FC236}">
                    <a16:creationId xmlns:a16="http://schemas.microsoft.com/office/drawing/2014/main" id="{50E0CADE-A334-21FA-4E8E-4BDE696788F6}"/>
                  </a:ext>
                </a:extLst>
              </p:cNvPr>
              <p:cNvSpPr txBox="1">
                <a:spLocks noRot="1" noChangeAspect="1" noMove="1" noResize="1" noEditPoints="1" noAdjustHandles="1" noChangeArrowheads="1" noChangeShapeType="1" noTextEdit="1"/>
              </p:cNvSpPr>
              <p:nvPr/>
            </p:nvSpPr>
            <p:spPr>
              <a:xfrm>
                <a:off x="4248511" y="3653858"/>
                <a:ext cx="491629" cy="215444"/>
              </a:xfrm>
              <a:prstGeom prst="rect">
                <a:avLst/>
              </a:prstGeom>
              <a:blipFill>
                <a:blip r:embed="rId21"/>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9DA7D1A2-C100-7B0B-3337-49EA4F373CDD}"/>
                  </a:ext>
                </a:extLst>
              </p:cNvPr>
              <p:cNvSpPr txBox="1"/>
              <p:nvPr/>
            </p:nvSpPr>
            <p:spPr>
              <a:xfrm>
                <a:off x="5349816" y="2285931"/>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6</a:t>
                </a:r>
              </a:p>
            </p:txBody>
          </p:sp>
        </mc:Choice>
        <mc:Fallback xmlns="">
          <p:sp>
            <p:nvSpPr>
              <p:cNvPr id="71" name="ZoneTexte 70">
                <a:extLst>
                  <a:ext uri="{FF2B5EF4-FFF2-40B4-BE49-F238E27FC236}">
                    <a16:creationId xmlns:a16="http://schemas.microsoft.com/office/drawing/2014/main" id="{9DA7D1A2-C100-7B0B-3337-49EA4F373CDD}"/>
                  </a:ext>
                </a:extLst>
              </p:cNvPr>
              <p:cNvSpPr txBox="1">
                <a:spLocks noRot="1" noChangeAspect="1" noMove="1" noResize="1" noEditPoints="1" noAdjustHandles="1" noChangeArrowheads="1" noChangeShapeType="1" noTextEdit="1"/>
              </p:cNvSpPr>
              <p:nvPr/>
            </p:nvSpPr>
            <p:spPr>
              <a:xfrm>
                <a:off x="5349816" y="2285931"/>
                <a:ext cx="491629" cy="215444"/>
              </a:xfrm>
              <a:prstGeom prst="rect">
                <a:avLst/>
              </a:prstGeom>
              <a:blipFill>
                <a:blip r:embed="rId22"/>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3F99B053-5C39-7B2C-D734-57E41D0C1DA7}"/>
                  </a:ext>
                </a:extLst>
              </p:cNvPr>
              <p:cNvSpPr txBox="1"/>
              <p:nvPr/>
            </p:nvSpPr>
            <p:spPr>
              <a:xfrm>
                <a:off x="5336992" y="279916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8</a:t>
                </a:r>
              </a:p>
            </p:txBody>
          </p:sp>
        </mc:Choice>
        <mc:Fallback xmlns="">
          <p:sp>
            <p:nvSpPr>
              <p:cNvPr id="72" name="ZoneTexte 71">
                <a:extLst>
                  <a:ext uri="{FF2B5EF4-FFF2-40B4-BE49-F238E27FC236}">
                    <a16:creationId xmlns:a16="http://schemas.microsoft.com/office/drawing/2014/main" id="{3F99B053-5C39-7B2C-D734-57E41D0C1DA7}"/>
                  </a:ext>
                </a:extLst>
              </p:cNvPr>
              <p:cNvSpPr txBox="1">
                <a:spLocks noRot="1" noChangeAspect="1" noMove="1" noResize="1" noEditPoints="1" noAdjustHandles="1" noChangeArrowheads="1" noChangeShapeType="1" noTextEdit="1"/>
              </p:cNvSpPr>
              <p:nvPr/>
            </p:nvSpPr>
            <p:spPr>
              <a:xfrm>
                <a:off x="5336992" y="2799162"/>
                <a:ext cx="491629" cy="215444"/>
              </a:xfrm>
              <a:prstGeom prst="rect">
                <a:avLst/>
              </a:prstGeom>
              <a:blipFill>
                <a:blip r:embed="rId23"/>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ZoneTexte 73">
                <a:extLst>
                  <a:ext uri="{FF2B5EF4-FFF2-40B4-BE49-F238E27FC236}">
                    <a16:creationId xmlns:a16="http://schemas.microsoft.com/office/drawing/2014/main" id="{66CD62C4-CF66-7670-452C-06F5F0F0D6CF}"/>
                  </a:ext>
                </a:extLst>
              </p:cNvPr>
              <p:cNvSpPr txBox="1"/>
              <p:nvPr/>
            </p:nvSpPr>
            <p:spPr>
              <a:xfrm>
                <a:off x="5368422" y="3537242"/>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1</a:t>
                </a:r>
              </a:p>
            </p:txBody>
          </p:sp>
        </mc:Choice>
        <mc:Fallback xmlns="">
          <p:sp>
            <p:nvSpPr>
              <p:cNvPr id="74" name="ZoneTexte 73">
                <a:extLst>
                  <a:ext uri="{FF2B5EF4-FFF2-40B4-BE49-F238E27FC236}">
                    <a16:creationId xmlns:a16="http://schemas.microsoft.com/office/drawing/2014/main" id="{66CD62C4-CF66-7670-452C-06F5F0F0D6CF}"/>
                  </a:ext>
                </a:extLst>
              </p:cNvPr>
              <p:cNvSpPr txBox="1">
                <a:spLocks noRot="1" noChangeAspect="1" noMove="1" noResize="1" noEditPoints="1" noAdjustHandles="1" noChangeArrowheads="1" noChangeShapeType="1" noTextEdit="1"/>
              </p:cNvSpPr>
              <p:nvPr/>
            </p:nvSpPr>
            <p:spPr>
              <a:xfrm>
                <a:off x="5368422" y="3537242"/>
                <a:ext cx="491629" cy="215444"/>
              </a:xfrm>
              <a:prstGeom prst="rect">
                <a:avLst/>
              </a:prstGeom>
              <a:blipFill>
                <a:blip r:embed="rId24"/>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18B5B11E-9A57-32E0-4BCD-F057E43DCE07}"/>
                  </a:ext>
                </a:extLst>
              </p:cNvPr>
              <p:cNvSpPr txBox="1"/>
              <p:nvPr/>
            </p:nvSpPr>
            <p:spPr>
              <a:xfrm>
                <a:off x="5364213" y="4135809"/>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−2.</m:t>
                    </m:r>
                  </m:oMath>
                </a14:m>
                <a:r>
                  <a:rPr lang="en-GB" sz="800" dirty="0"/>
                  <a:t>3</a:t>
                </a:r>
              </a:p>
            </p:txBody>
          </p:sp>
        </mc:Choice>
        <mc:Fallback xmlns="">
          <p:sp>
            <p:nvSpPr>
              <p:cNvPr id="75" name="ZoneTexte 74">
                <a:extLst>
                  <a:ext uri="{FF2B5EF4-FFF2-40B4-BE49-F238E27FC236}">
                    <a16:creationId xmlns:a16="http://schemas.microsoft.com/office/drawing/2014/main" id="{18B5B11E-9A57-32E0-4BCD-F057E43DCE07}"/>
                  </a:ext>
                </a:extLst>
              </p:cNvPr>
              <p:cNvSpPr txBox="1">
                <a:spLocks noRot="1" noChangeAspect="1" noMove="1" noResize="1" noEditPoints="1" noAdjustHandles="1" noChangeArrowheads="1" noChangeShapeType="1" noTextEdit="1"/>
              </p:cNvSpPr>
              <p:nvPr/>
            </p:nvSpPr>
            <p:spPr>
              <a:xfrm>
                <a:off x="5364213" y="4135809"/>
                <a:ext cx="491629" cy="215444"/>
              </a:xfrm>
              <a:prstGeom prst="rect">
                <a:avLst/>
              </a:prstGeom>
              <a:blipFill>
                <a:blip r:embed="rId25"/>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3DEE0086-F79D-8B73-EC81-665A1663A593}"/>
                  </a:ext>
                </a:extLst>
              </p:cNvPr>
              <p:cNvSpPr txBox="1"/>
              <p:nvPr/>
            </p:nvSpPr>
            <p:spPr>
              <a:xfrm>
                <a:off x="5335521" y="2457852"/>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𝟔</m:t>
                      </m:r>
                    </m:oMath>
                  </m:oMathPara>
                </a14:m>
                <a:endParaRPr lang="en-GB" sz="800" b="1" dirty="0">
                  <a:solidFill>
                    <a:srgbClr val="FF0000"/>
                  </a:solidFill>
                </a:endParaRPr>
              </a:p>
            </p:txBody>
          </p:sp>
        </mc:Choice>
        <mc:Fallback xmlns="">
          <p:sp>
            <p:nvSpPr>
              <p:cNvPr id="76" name="ZoneTexte 75">
                <a:extLst>
                  <a:ext uri="{FF2B5EF4-FFF2-40B4-BE49-F238E27FC236}">
                    <a16:creationId xmlns:a16="http://schemas.microsoft.com/office/drawing/2014/main" id="{3DEE0086-F79D-8B73-EC81-665A1663A593}"/>
                  </a:ext>
                </a:extLst>
              </p:cNvPr>
              <p:cNvSpPr txBox="1">
                <a:spLocks noRot="1" noChangeAspect="1" noMove="1" noResize="1" noEditPoints="1" noAdjustHandles="1" noChangeArrowheads="1" noChangeShapeType="1" noTextEdit="1"/>
              </p:cNvSpPr>
              <p:nvPr/>
            </p:nvSpPr>
            <p:spPr>
              <a:xfrm>
                <a:off x="5335521" y="2457852"/>
                <a:ext cx="491629" cy="215444"/>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ZoneTexte 77">
                <a:extLst>
                  <a:ext uri="{FF2B5EF4-FFF2-40B4-BE49-F238E27FC236}">
                    <a16:creationId xmlns:a16="http://schemas.microsoft.com/office/drawing/2014/main" id="{830F3D0E-6C5B-7D99-8348-E51B33690BB7}"/>
                  </a:ext>
                </a:extLst>
              </p:cNvPr>
              <p:cNvSpPr txBox="1"/>
              <p:nvPr/>
            </p:nvSpPr>
            <p:spPr>
              <a:xfrm>
                <a:off x="5487921" y="2638604"/>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8</a:t>
                </a:r>
              </a:p>
            </p:txBody>
          </p:sp>
        </mc:Choice>
        <mc:Fallback xmlns="">
          <p:sp>
            <p:nvSpPr>
              <p:cNvPr id="78" name="ZoneTexte 77">
                <a:extLst>
                  <a:ext uri="{FF2B5EF4-FFF2-40B4-BE49-F238E27FC236}">
                    <a16:creationId xmlns:a16="http://schemas.microsoft.com/office/drawing/2014/main" id="{830F3D0E-6C5B-7D99-8348-E51B33690BB7}"/>
                  </a:ext>
                </a:extLst>
              </p:cNvPr>
              <p:cNvSpPr txBox="1">
                <a:spLocks noRot="1" noChangeAspect="1" noMove="1" noResize="1" noEditPoints="1" noAdjustHandles="1" noChangeArrowheads="1" noChangeShapeType="1" noTextEdit="1"/>
              </p:cNvSpPr>
              <p:nvPr/>
            </p:nvSpPr>
            <p:spPr>
              <a:xfrm>
                <a:off x="5487921" y="2638604"/>
                <a:ext cx="491629" cy="215444"/>
              </a:xfrm>
              <a:prstGeom prst="rect">
                <a:avLst/>
              </a:prstGeom>
              <a:blipFill>
                <a:blip r:embed="rId27"/>
                <a:stretch>
                  <a:fillRect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ZoneTexte 78">
                <a:extLst>
                  <a:ext uri="{FF2B5EF4-FFF2-40B4-BE49-F238E27FC236}">
                    <a16:creationId xmlns:a16="http://schemas.microsoft.com/office/drawing/2014/main" id="{9574AD5D-AD52-8A9C-B14B-E954A5772A43}"/>
                  </a:ext>
                </a:extLst>
              </p:cNvPr>
              <p:cNvSpPr txBox="1"/>
              <p:nvPr/>
            </p:nvSpPr>
            <p:spPr>
              <a:xfrm>
                <a:off x="5443398" y="3748246"/>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𝟏</m:t>
                    </m:r>
                    <m:r>
                      <a:rPr lang="fr-FR" sz="800" b="1" i="1" smtClean="0">
                        <a:solidFill>
                          <a:srgbClr val="FF0000"/>
                        </a:solidFill>
                        <a:latin typeface="Cambria Math" panose="02040503050406030204" pitchFamily="18" charset="0"/>
                      </a:rPr>
                      <m:t>.</m:t>
                    </m:r>
                  </m:oMath>
                </a14:m>
                <a:r>
                  <a:rPr lang="en-GB" sz="800" b="1" dirty="0">
                    <a:solidFill>
                      <a:srgbClr val="FF0000"/>
                    </a:solidFill>
                  </a:rPr>
                  <a:t>5</a:t>
                </a:r>
              </a:p>
            </p:txBody>
          </p:sp>
        </mc:Choice>
        <mc:Fallback xmlns="">
          <p:sp>
            <p:nvSpPr>
              <p:cNvPr id="79" name="ZoneTexte 78">
                <a:extLst>
                  <a:ext uri="{FF2B5EF4-FFF2-40B4-BE49-F238E27FC236}">
                    <a16:creationId xmlns:a16="http://schemas.microsoft.com/office/drawing/2014/main" id="{9574AD5D-AD52-8A9C-B14B-E954A5772A43}"/>
                  </a:ext>
                </a:extLst>
              </p:cNvPr>
              <p:cNvSpPr txBox="1">
                <a:spLocks noRot="1" noChangeAspect="1" noMove="1" noResize="1" noEditPoints="1" noAdjustHandles="1" noChangeArrowheads="1" noChangeShapeType="1" noTextEdit="1"/>
              </p:cNvSpPr>
              <p:nvPr/>
            </p:nvSpPr>
            <p:spPr>
              <a:xfrm>
                <a:off x="5443398" y="3748246"/>
                <a:ext cx="491629" cy="215444"/>
              </a:xfrm>
              <a:prstGeom prst="rect">
                <a:avLst/>
              </a:prstGeom>
              <a:blipFill>
                <a:blip r:embed="rId28"/>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EEC8FF88-B0DA-2ECA-311E-E8BD754E8E78}"/>
                  </a:ext>
                </a:extLst>
              </p:cNvPr>
              <p:cNvSpPr txBox="1"/>
              <p:nvPr/>
            </p:nvSpPr>
            <p:spPr>
              <a:xfrm>
                <a:off x="5523352" y="3947490"/>
                <a:ext cx="491629" cy="215444"/>
              </a:xfrm>
              <a:prstGeom prst="rect">
                <a:avLst/>
              </a:prstGeom>
              <a:noFill/>
            </p:spPr>
            <p:txBody>
              <a:bodyPr wrap="square" rtlCol="0">
                <a:spAutoFit/>
              </a:bodyPr>
              <a:lstStyle/>
              <a:p>
                <a14:m>
                  <m:oMath xmlns:m="http://schemas.openxmlformats.org/officeDocument/2006/math">
                    <m:r>
                      <a:rPr lang="fr-FR" sz="800" b="1" i="1" smtClean="0">
                        <a:solidFill>
                          <a:srgbClr val="FF0000"/>
                        </a:solidFill>
                        <a:latin typeface="Cambria Math" panose="02040503050406030204" pitchFamily="18" charset="0"/>
                      </a:rPr>
                      <m:t>−</m:t>
                    </m:r>
                    <m:r>
                      <a:rPr lang="fr-FR" sz="800" b="1" i="1" smtClean="0">
                        <a:solidFill>
                          <a:srgbClr val="FF0000"/>
                        </a:solidFill>
                        <a:latin typeface="Cambria Math" panose="02040503050406030204" pitchFamily="18" charset="0"/>
                      </a:rPr>
                      <m:t>𝟑</m:t>
                    </m:r>
                    <m:r>
                      <a:rPr lang="fr-FR" sz="800" b="1" i="1" smtClean="0">
                        <a:solidFill>
                          <a:srgbClr val="FF0000"/>
                        </a:solidFill>
                        <a:latin typeface="Cambria Math" panose="02040503050406030204" pitchFamily="18" charset="0"/>
                      </a:rPr>
                      <m:t>.</m:t>
                    </m:r>
                  </m:oMath>
                </a14:m>
                <a:r>
                  <a:rPr lang="en-GB" sz="800" b="1" dirty="0">
                    <a:solidFill>
                      <a:srgbClr val="FF0000"/>
                    </a:solidFill>
                  </a:rPr>
                  <a:t>7</a:t>
                </a:r>
              </a:p>
            </p:txBody>
          </p:sp>
        </mc:Choice>
        <mc:Fallback xmlns="">
          <p:sp>
            <p:nvSpPr>
              <p:cNvPr id="80" name="ZoneTexte 79">
                <a:extLst>
                  <a:ext uri="{FF2B5EF4-FFF2-40B4-BE49-F238E27FC236}">
                    <a16:creationId xmlns:a16="http://schemas.microsoft.com/office/drawing/2014/main" id="{EEC8FF88-B0DA-2ECA-311E-E8BD754E8E78}"/>
                  </a:ext>
                </a:extLst>
              </p:cNvPr>
              <p:cNvSpPr txBox="1">
                <a:spLocks noRot="1" noChangeAspect="1" noMove="1" noResize="1" noEditPoints="1" noAdjustHandles="1" noChangeArrowheads="1" noChangeShapeType="1" noTextEdit="1"/>
              </p:cNvSpPr>
              <p:nvPr/>
            </p:nvSpPr>
            <p:spPr>
              <a:xfrm>
                <a:off x="5523352" y="3947490"/>
                <a:ext cx="491629" cy="215444"/>
              </a:xfrm>
              <a:prstGeom prst="rect">
                <a:avLst/>
              </a:prstGeom>
              <a:blipFill>
                <a:blip r:embed="rId29"/>
                <a:stretch>
                  <a:fillRect b="-5882"/>
                </a:stretch>
              </a:blipFill>
            </p:spPr>
            <p:txBody>
              <a:bodyPr/>
              <a:lstStyle/>
              <a:p>
                <a:r>
                  <a:rPr lang="en-GB">
                    <a:noFill/>
                  </a:rPr>
                  <a:t> </a:t>
                </a:r>
              </a:p>
            </p:txBody>
          </p:sp>
        </mc:Fallback>
      </mc:AlternateContent>
      <p:cxnSp>
        <p:nvCxnSpPr>
          <p:cNvPr id="81" name="Connecteur droit avec flèche 80">
            <a:extLst>
              <a:ext uri="{FF2B5EF4-FFF2-40B4-BE49-F238E27FC236}">
                <a16:creationId xmlns:a16="http://schemas.microsoft.com/office/drawing/2014/main" id="{1785F8C9-D5E0-D5D0-9EA5-6B44B1EEB625}"/>
              </a:ext>
            </a:extLst>
          </p:cNvPr>
          <p:cNvCxnSpPr>
            <a:cxnSpLocks/>
            <a:stCxn id="14" idx="6"/>
          </p:cNvCxnSpPr>
          <p:nvPr/>
        </p:nvCxnSpPr>
        <p:spPr>
          <a:xfrm flipV="1">
            <a:off x="6759662" y="2324450"/>
            <a:ext cx="768189" cy="2719"/>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8452CE10-ED96-BC94-4792-8EA7ADD7A109}"/>
              </a:ext>
            </a:extLst>
          </p:cNvPr>
          <p:cNvCxnSpPr>
            <a:cxnSpLocks/>
            <a:stCxn id="7" idx="6"/>
          </p:cNvCxnSpPr>
          <p:nvPr/>
        </p:nvCxnSpPr>
        <p:spPr>
          <a:xfrm flipV="1">
            <a:off x="6733385" y="3644964"/>
            <a:ext cx="794466" cy="11760"/>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91" name="ZoneTexte 90">
            <a:extLst>
              <a:ext uri="{FF2B5EF4-FFF2-40B4-BE49-F238E27FC236}">
                <a16:creationId xmlns:a16="http://schemas.microsoft.com/office/drawing/2014/main" id="{D1259677-4370-AD8F-DBF1-61A010666FE5}"/>
              </a:ext>
            </a:extLst>
          </p:cNvPr>
          <p:cNvSpPr txBox="1"/>
          <p:nvPr/>
        </p:nvSpPr>
        <p:spPr>
          <a:xfrm>
            <a:off x="7499571" y="2206781"/>
            <a:ext cx="635157" cy="246221"/>
          </a:xfrm>
          <a:prstGeom prst="rect">
            <a:avLst/>
          </a:prstGeom>
          <a:noFill/>
        </p:spPr>
        <p:txBody>
          <a:bodyPr wrap="square" rtlCol="0">
            <a:spAutoFit/>
          </a:bodyPr>
          <a:lstStyle/>
          <a:p>
            <a:r>
              <a:rPr lang="en-GB" sz="1000" b="1" dirty="0"/>
              <a:t>&lt;end&gt;</a:t>
            </a:r>
          </a:p>
        </p:txBody>
      </p:sp>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34751EA5-4308-00FC-6163-5AC0CB8F3956}"/>
                  </a:ext>
                </a:extLst>
              </p:cNvPr>
              <p:cNvSpPr txBox="1"/>
              <p:nvPr/>
            </p:nvSpPr>
            <p:spPr>
              <a:xfrm>
                <a:off x="6884803" y="4008143"/>
                <a:ext cx="5140049" cy="2222373"/>
              </a:xfrm>
              <a:prstGeom prst="rect">
                <a:avLst/>
              </a:prstGeom>
              <a:noFill/>
              <a:ln>
                <a:solidFill>
                  <a:schemeClr val="tx1">
                    <a:lumMod val="50000"/>
                    <a:lumOff val="50000"/>
                  </a:schemeClr>
                </a:solidFill>
              </a:ln>
            </p:spPr>
            <p:txBody>
              <a:bodyPr wrap="square" rtlCol="0">
                <a:noAutofit/>
              </a:bodyPr>
              <a:lstStyle/>
              <a:p>
                <a:r>
                  <a:rPr lang="en-GB" sz="1200" dirty="0">
                    <a:latin typeface="Cambria Math" panose="02040503050406030204" pitchFamily="18" charset="0"/>
                    <a:ea typeface="Cambria Math" panose="02040503050406030204" pitchFamily="18" charset="0"/>
                  </a:rPr>
                  <a:t>One think to keep in mind is that Beam search will </a:t>
                </a:r>
                <a:r>
                  <a:rPr lang="en-GB" sz="1200" b="1" dirty="0">
                    <a:latin typeface="Cambria Math" panose="02040503050406030204" pitchFamily="18" charset="0"/>
                    <a:ea typeface="Cambria Math" panose="02040503050406030204" pitchFamily="18" charset="0"/>
                  </a:rPr>
                  <a:t>bias</a:t>
                </a:r>
                <a:r>
                  <a:rPr lang="en-GB" sz="1200" dirty="0">
                    <a:latin typeface="Cambria Math" panose="02040503050406030204" pitchFamily="18" charset="0"/>
                    <a:ea typeface="Cambria Math" panose="02040503050406030204" pitchFamily="18" charset="0"/>
                  </a:rPr>
                  <a:t> in favour of shorter sentences.</a:t>
                </a:r>
              </a:p>
              <a:p>
                <a:r>
                  <a:rPr lang="en-GB" sz="1200" dirty="0">
                    <a:latin typeface="Cambria Math" panose="02040503050406030204" pitchFamily="18" charset="0"/>
                    <a:ea typeface="Cambria Math" panose="02040503050406030204" pitchFamily="18" charset="0"/>
                  </a:rPr>
                  <a:t>If one of the hypotheses were longer than the other and we will pick only the single most probable branch in the end, then the shorter one maybe chosen despite the longer one maybe being more adequate or more fluent.</a:t>
                </a:r>
              </a:p>
              <a:p>
                <a:r>
                  <a:rPr lang="en-GB" sz="1200" dirty="0">
                    <a:latin typeface="Cambria Math" panose="02040503050406030204" pitchFamily="18" charset="0"/>
                    <a:ea typeface="Cambria Math" panose="02040503050406030204" pitchFamily="18" charset="0"/>
                  </a:rPr>
                  <a:t>To avoid penalizing longer sentences, the score is normalized by the length (the number of words T):</a:t>
                </a:r>
                <a:r>
                  <a:rPr lang="fr-FR" sz="1200" b="0" dirty="0"/>
                  <a:t> </a:t>
                </a:r>
              </a:p>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𝑠𝑐𝑜𝑟𝑒</m:t>
                      </m:r>
                      <m:d>
                        <m:dPr>
                          <m:ctrlPr>
                            <a:rPr lang="fr-FR" sz="1200" b="0" i="1" smtClean="0">
                              <a:latin typeface="Cambria Math" panose="02040503050406030204" pitchFamily="18" charset="0"/>
                            </a:rPr>
                          </m:ctrlPr>
                        </m:dPr>
                        <m:e>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𝑤</m:t>
                              </m:r>
                            </m:e>
                            <m:sub>
                              <m:r>
                                <a:rPr lang="fr-FR" sz="1200" b="0" i="1" smtClean="0">
                                  <a:latin typeface="Cambria Math" panose="02040503050406030204" pitchFamily="18" charset="0"/>
                                </a:rPr>
                                <m:t>1</m:t>
                              </m:r>
                            </m:sub>
                          </m:sSub>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𝑤</m:t>
                              </m:r>
                            </m:e>
                            <m:sub>
                              <m:r>
                                <a:rPr lang="fr-FR" sz="1200" b="0" i="1" smtClean="0">
                                  <a:latin typeface="Cambria Math" panose="02040503050406030204" pitchFamily="18" charset="0"/>
                                </a:rPr>
                                <m:t>𝑡</m:t>
                              </m:r>
                            </m:sub>
                          </m:sSub>
                        </m:e>
                      </m:d>
                      <m:r>
                        <a:rPr lang="fr-FR" sz="1200" b="0" i="1" smtClean="0">
                          <a:latin typeface="Cambria Math" panose="02040503050406030204" pitchFamily="18" charset="0"/>
                        </a:rPr>
                        <m:t>=</m:t>
                      </m:r>
                      <m:f>
                        <m:fPr>
                          <m:ctrlPr>
                            <a:rPr lang="fr-FR" sz="1200" b="0" i="1" smtClean="0">
                              <a:latin typeface="Cambria Math" panose="02040503050406030204" pitchFamily="18" charset="0"/>
                            </a:rPr>
                          </m:ctrlPr>
                        </m:fPr>
                        <m:num>
                          <m:r>
                            <a:rPr lang="fr-FR" sz="1200" b="0" i="1" smtClean="0">
                              <a:latin typeface="Cambria Math" panose="02040503050406030204" pitchFamily="18" charset="0"/>
                            </a:rPr>
                            <m:t>1</m:t>
                          </m:r>
                        </m:num>
                        <m:den>
                          <m:r>
                            <a:rPr lang="fr-FR" sz="1200" b="0" i="1" smtClean="0">
                              <a:latin typeface="Cambria Math" panose="02040503050406030204" pitchFamily="18" charset="0"/>
                            </a:rPr>
                            <m:t>𝑇</m:t>
                          </m:r>
                        </m:den>
                      </m:f>
                      <m:nary>
                        <m:naryPr>
                          <m:chr m:val="∑"/>
                          <m:ctrlPr>
                            <a:rPr lang="fr-FR" sz="1200" b="0" i="1" smtClean="0">
                              <a:latin typeface="Cambria Math" panose="02040503050406030204" pitchFamily="18" charset="0"/>
                            </a:rPr>
                          </m:ctrlPr>
                        </m:naryPr>
                        <m:sub>
                          <m:r>
                            <m:rPr>
                              <m:brk m:alnAt="23"/>
                            </m:rPr>
                            <a:rPr lang="fr-FR" sz="1200" b="0" i="1" smtClean="0">
                              <a:latin typeface="Cambria Math" panose="02040503050406030204" pitchFamily="18" charset="0"/>
                            </a:rPr>
                            <m:t>𝑖</m:t>
                          </m:r>
                          <m:r>
                            <a:rPr lang="fr-FR" sz="1200" b="0" i="1" smtClean="0">
                              <a:latin typeface="Cambria Math" panose="02040503050406030204" pitchFamily="18" charset="0"/>
                            </a:rPr>
                            <m:t>=1</m:t>
                          </m:r>
                        </m:sub>
                        <m:sup>
                          <m:r>
                            <a:rPr lang="fr-FR" sz="1200" b="0" i="1" smtClean="0">
                              <a:latin typeface="Cambria Math" panose="02040503050406030204" pitchFamily="18" charset="0"/>
                            </a:rPr>
                            <m:t>𝑡</m:t>
                          </m:r>
                        </m:sup>
                        <m:e>
                          <m:r>
                            <a:rPr lang="fr-FR" sz="1200" b="0" i="1" smtClean="0">
                              <a:latin typeface="Cambria Math" panose="02040503050406030204" pitchFamily="18" charset="0"/>
                            </a:rPr>
                            <m:t>𝑙𝑜𝑔𝑃</m:t>
                          </m:r>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𝑤</m:t>
                              </m:r>
                            </m:e>
                            <m:sub>
                              <m:r>
                                <a:rPr lang="fr-FR" sz="1200" b="0" i="1" smtClean="0">
                                  <a:latin typeface="Cambria Math" panose="02040503050406030204" pitchFamily="18" charset="0"/>
                                </a:rPr>
                                <m:t>𝑖</m:t>
                              </m:r>
                            </m:sub>
                          </m:sSub>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𝑤</m:t>
                              </m:r>
                            </m:e>
                            <m:sub>
                              <m:r>
                                <a:rPr lang="fr-FR" sz="1200" b="0" i="1" smtClean="0">
                                  <a:latin typeface="Cambria Math" panose="02040503050406030204" pitchFamily="18" charset="0"/>
                                </a:rPr>
                                <m:t>𝑖</m:t>
                              </m:r>
                              <m:r>
                                <a:rPr lang="fr-FR" sz="1200" b="0" i="1" smtClean="0">
                                  <a:latin typeface="Cambria Math" panose="02040503050406030204" pitchFamily="18" charset="0"/>
                                </a:rPr>
                                <m:t>−1</m:t>
                              </m:r>
                            </m:sub>
                          </m:sSub>
                          <m:r>
                            <a:rPr lang="fr-FR" sz="1200" b="0" i="1" smtClean="0">
                              <a:latin typeface="Cambria Math" panose="02040503050406030204" pitchFamily="18" charset="0"/>
                            </a:rPr>
                            <m:t>,…,</m:t>
                          </m:r>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𝑤</m:t>
                              </m:r>
                            </m:e>
                            <m:sub>
                              <m:r>
                                <a:rPr lang="fr-FR" sz="1200" b="0" i="1" smtClean="0">
                                  <a:latin typeface="Cambria Math" panose="02040503050406030204" pitchFamily="18" charset="0"/>
                                </a:rPr>
                                <m:t>1</m:t>
                              </m:r>
                            </m:sub>
                          </m:sSub>
                          <m:r>
                            <a:rPr lang="fr-FR" sz="1200" b="0" i="1" smtClean="0">
                              <a:latin typeface="Cambria Math" panose="02040503050406030204" pitchFamily="18" charset="0"/>
                            </a:rPr>
                            <m:t>,</m:t>
                          </m:r>
                          <m:r>
                            <a:rPr lang="fr-FR" sz="1200" b="0" i="1" smtClean="0">
                              <a:latin typeface="Cambria Math" panose="02040503050406030204" pitchFamily="18" charset="0"/>
                            </a:rPr>
                            <m:t>𝑥</m:t>
                          </m:r>
                          <m:r>
                            <a:rPr lang="fr-FR" sz="1200" b="0" i="1" smtClean="0">
                              <a:latin typeface="Cambria Math" panose="02040503050406030204" pitchFamily="18" charset="0"/>
                            </a:rPr>
                            <m:t>)</m:t>
                          </m:r>
                        </m:e>
                      </m:nary>
                    </m:oMath>
                  </m:oMathPara>
                </a14:m>
                <a:endParaRPr lang="en-GB" sz="1200" dirty="0">
                  <a:latin typeface="Cambria Math" panose="02040503050406030204" pitchFamily="18" charset="0"/>
                  <a:ea typeface="Cambria Math" panose="02040503050406030204" pitchFamily="18" charset="0"/>
                </a:endParaRPr>
              </a:p>
            </p:txBody>
          </p:sp>
        </mc:Choice>
        <mc:Fallback xmlns="">
          <p:sp>
            <p:nvSpPr>
              <p:cNvPr id="93" name="ZoneTexte 92">
                <a:extLst>
                  <a:ext uri="{FF2B5EF4-FFF2-40B4-BE49-F238E27FC236}">
                    <a16:creationId xmlns:a16="http://schemas.microsoft.com/office/drawing/2014/main" id="{34751EA5-4308-00FC-6163-5AC0CB8F3956}"/>
                  </a:ext>
                </a:extLst>
              </p:cNvPr>
              <p:cNvSpPr txBox="1">
                <a:spLocks noRot="1" noChangeAspect="1" noMove="1" noResize="1" noEditPoints="1" noAdjustHandles="1" noChangeArrowheads="1" noChangeShapeType="1" noTextEdit="1"/>
              </p:cNvSpPr>
              <p:nvPr/>
            </p:nvSpPr>
            <p:spPr>
              <a:xfrm>
                <a:off x="6884803" y="4008143"/>
                <a:ext cx="5140049" cy="2222373"/>
              </a:xfrm>
              <a:prstGeom prst="rect">
                <a:avLst/>
              </a:prstGeom>
              <a:blipFill>
                <a:blip r:embed="rId30"/>
                <a:stretch>
                  <a:fillRect b="-24294"/>
                </a:stretch>
              </a:blipFill>
              <a:ln>
                <a:solidFill>
                  <a:schemeClr val="tx1">
                    <a:lumMod val="50000"/>
                    <a:lumOff val="50000"/>
                  </a:schemeClr>
                </a:solidFill>
              </a:ln>
            </p:spPr>
            <p:txBody>
              <a:bodyPr/>
              <a:lstStyle/>
              <a:p>
                <a:r>
                  <a:rPr lang="en-GB">
                    <a:noFill/>
                  </a:rPr>
                  <a:t> </a:t>
                </a:r>
              </a:p>
            </p:txBody>
          </p:sp>
        </mc:Fallback>
      </mc:AlternateContent>
      <p:sp>
        <p:nvSpPr>
          <p:cNvPr id="9" name="Ellipse 8">
            <a:extLst>
              <a:ext uri="{FF2B5EF4-FFF2-40B4-BE49-F238E27FC236}">
                <a16:creationId xmlns:a16="http://schemas.microsoft.com/office/drawing/2014/main" id="{E823FD21-FCD0-533F-9EF0-F07F2150CC71}"/>
              </a:ext>
            </a:extLst>
          </p:cNvPr>
          <p:cNvSpPr/>
          <p:nvPr/>
        </p:nvSpPr>
        <p:spPr>
          <a:xfrm>
            <a:off x="7537536" y="3326697"/>
            <a:ext cx="803544" cy="6059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t>at</a:t>
            </a:r>
          </a:p>
        </p:txBody>
      </p:sp>
      <p:cxnSp>
        <p:nvCxnSpPr>
          <p:cNvPr id="10" name="Connecteur droit avec flèche 9">
            <a:extLst>
              <a:ext uri="{FF2B5EF4-FFF2-40B4-BE49-F238E27FC236}">
                <a16:creationId xmlns:a16="http://schemas.microsoft.com/office/drawing/2014/main" id="{B83125DC-5303-6A03-DD21-4FC1B9750398}"/>
              </a:ext>
            </a:extLst>
          </p:cNvPr>
          <p:cNvCxnSpPr>
            <a:cxnSpLocks/>
          </p:cNvCxnSpPr>
          <p:nvPr/>
        </p:nvCxnSpPr>
        <p:spPr>
          <a:xfrm flipV="1">
            <a:off x="8350765" y="3608991"/>
            <a:ext cx="540000" cy="11760"/>
          </a:xfrm>
          <a:prstGeom prst="straightConnector1">
            <a:avLst/>
          </a:prstGeom>
          <a:noFill/>
          <a:ln w="12700">
            <a:solidFill>
              <a:schemeClr val="accent1"/>
            </a:solidFill>
            <a:prstDash val="dash"/>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8830B4F1-DE8A-EAE6-35BB-2F25ED61455C}"/>
                  </a:ext>
                </a:extLst>
              </p:cNvPr>
              <p:cNvSpPr txBox="1"/>
              <p:nvPr/>
            </p:nvSpPr>
            <p:spPr>
              <a:xfrm>
                <a:off x="6884803" y="3430218"/>
                <a:ext cx="491629" cy="215444"/>
              </a:xfrm>
              <a:prstGeom prst="rect">
                <a:avLst/>
              </a:prstGeom>
              <a:noFill/>
            </p:spPr>
            <p:txBody>
              <a:bodyPr wrap="square" rtlCol="0">
                <a:spAutoFit/>
              </a:bodyPr>
              <a:lstStyle/>
              <a:p>
                <a14:m>
                  <m:oMath xmlns:m="http://schemas.openxmlformats.org/officeDocument/2006/math">
                    <m:r>
                      <a:rPr lang="fr-FR" sz="800" b="0" i="1" smtClean="0">
                        <a:latin typeface="Cambria Math" panose="02040503050406030204" pitchFamily="18" charset="0"/>
                      </a:rPr>
                      <m:t>−0.</m:t>
                    </m:r>
                  </m:oMath>
                </a14:m>
                <a:r>
                  <a:rPr lang="en-GB" sz="800" dirty="0"/>
                  <a:t>15</a:t>
                </a:r>
              </a:p>
            </p:txBody>
          </p:sp>
        </mc:Choice>
        <mc:Fallback xmlns="">
          <p:sp>
            <p:nvSpPr>
              <p:cNvPr id="16" name="ZoneTexte 15">
                <a:extLst>
                  <a:ext uri="{FF2B5EF4-FFF2-40B4-BE49-F238E27FC236}">
                    <a16:creationId xmlns:a16="http://schemas.microsoft.com/office/drawing/2014/main" id="{8830B4F1-DE8A-EAE6-35BB-2F25ED61455C}"/>
                  </a:ext>
                </a:extLst>
              </p:cNvPr>
              <p:cNvSpPr txBox="1">
                <a:spLocks noRot="1" noChangeAspect="1" noMove="1" noResize="1" noEditPoints="1" noAdjustHandles="1" noChangeArrowheads="1" noChangeShapeType="1" noTextEdit="1"/>
              </p:cNvSpPr>
              <p:nvPr/>
            </p:nvSpPr>
            <p:spPr>
              <a:xfrm>
                <a:off x="6884803" y="3430218"/>
                <a:ext cx="491629" cy="215444"/>
              </a:xfrm>
              <a:prstGeom prst="rect">
                <a:avLst/>
              </a:prstGeom>
              <a:blipFill>
                <a:blip r:embed="rId3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11A6EA27-35B2-BCA4-D83B-92087B79BA06}"/>
                  </a:ext>
                </a:extLst>
              </p:cNvPr>
              <p:cNvSpPr txBox="1"/>
              <p:nvPr/>
            </p:nvSpPr>
            <p:spPr>
              <a:xfrm>
                <a:off x="6832105" y="2096790"/>
                <a:ext cx="491629"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0.0</m:t>
                      </m:r>
                    </m:oMath>
                  </m:oMathPara>
                </a14:m>
                <a:endParaRPr lang="en-GB" sz="800" dirty="0"/>
              </a:p>
            </p:txBody>
          </p:sp>
        </mc:Choice>
        <mc:Fallback xmlns="">
          <p:sp>
            <p:nvSpPr>
              <p:cNvPr id="17" name="ZoneTexte 16">
                <a:extLst>
                  <a:ext uri="{FF2B5EF4-FFF2-40B4-BE49-F238E27FC236}">
                    <a16:creationId xmlns:a16="http://schemas.microsoft.com/office/drawing/2014/main" id="{11A6EA27-35B2-BCA4-D83B-92087B79BA06}"/>
                  </a:ext>
                </a:extLst>
              </p:cNvPr>
              <p:cNvSpPr txBox="1">
                <a:spLocks noRot="1" noChangeAspect="1" noMove="1" noResize="1" noEditPoints="1" noAdjustHandles="1" noChangeArrowheads="1" noChangeShapeType="1" noTextEdit="1"/>
              </p:cNvSpPr>
              <p:nvPr/>
            </p:nvSpPr>
            <p:spPr>
              <a:xfrm>
                <a:off x="6832105" y="2096790"/>
                <a:ext cx="491629" cy="215444"/>
              </a:xfrm>
              <a:prstGeom prst="rect">
                <a:avLst/>
              </a:prstGeom>
              <a:blipFill>
                <a:blip r:embed="rId3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87932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ACD2-F8F6-FFCB-75BA-69513AD0A2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3A15FB-4E59-C35A-7F46-9343C14E6CDB}"/>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42CB87CC-B3F7-5077-AF91-19DEDE277F1D}"/>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73301BEB-22CA-1075-EA4D-256D3DF4256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Effective Decoding With Beam Search </a:t>
            </a:r>
          </a:p>
        </p:txBody>
      </p:sp>
      <p:sp>
        <p:nvSpPr>
          <p:cNvPr id="3" name="ZoneTexte 2">
            <a:extLst>
              <a:ext uri="{FF2B5EF4-FFF2-40B4-BE49-F238E27FC236}">
                <a16:creationId xmlns:a16="http://schemas.microsoft.com/office/drawing/2014/main" id="{EE4893EE-32C2-4759-3F26-3A6043C1A80E}"/>
              </a:ext>
            </a:extLst>
          </p:cNvPr>
          <p:cNvSpPr txBox="1"/>
          <p:nvPr/>
        </p:nvSpPr>
        <p:spPr>
          <a:xfrm>
            <a:off x="859220" y="2044099"/>
            <a:ext cx="10515599" cy="1325563"/>
          </a:xfrm>
          <a:prstGeom prst="rect">
            <a:avLst/>
          </a:prstGeom>
          <a:noFill/>
        </p:spPr>
        <p:txBody>
          <a:bodyPr wrap="square" rtlCol="0">
            <a:noAutofit/>
          </a:bodyPr>
          <a:lstStyle/>
          <a:p>
            <a:pPr marL="285750" indent="-285750">
              <a:buFont typeface="Arial" panose="020B0604020202020204" pitchFamily="34" charset="0"/>
              <a:buChar char="•"/>
            </a:pPr>
            <a:r>
              <a:rPr lang="en-GB" sz="1800" i="0" u="none" strike="noStrike" dirty="0">
                <a:effectLst/>
                <a:latin typeface="ui-sans-serif"/>
              </a:rPr>
              <a:t>Beam search does not guarantee to find the most probable. </a:t>
            </a:r>
            <a:r>
              <a:rPr lang="en-GB" dirty="0">
                <a:latin typeface="ui-sans-serif"/>
              </a:rPr>
              <a:t>As we track only a subset of branches at any point in time. To have a better chance of finding it we can widen the beam but of course that costs more time so, it’s It is a trade-off to be made between narrow versus wide beam.</a:t>
            </a:r>
            <a:endParaRPr lang="en-GB" dirty="0"/>
          </a:p>
        </p:txBody>
      </p:sp>
    </p:spTree>
    <p:extLst>
      <p:ext uri="{BB962C8B-B14F-4D97-AF65-F5344CB8AC3E}">
        <p14:creationId xmlns:p14="http://schemas.microsoft.com/office/powerpoint/2010/main" val="3465520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8426-679C-FC24-4A27-8A95FD0B49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6C5A73-917F-B142-6101-F7B7D00F6DAA}"/>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BB62EEEC-40FF-D598-2E28-D0ADFD18758B}"/>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0CA794F1-5350-3901-4911-72C1BF7368FF}"/>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NMT Evaluation with Bilingual Evaluation Understudy (</a:t>
            </a:r>
            <a:r>
              <a:rPr lang="en-GB" sz="2800" b="1" i="0" u="none" strike="noStrike" dirty="0">
                <a:solidFill>
                  <a:schemeClr val="accent4"/>
                </a:solidFill>
                <a:effectLst/>
                <a:latin typeface="ui-sans-serif"/>
              </a:rPr>
              <a:t>BLEU</a:t>
            </a:r>
            <a:r>
              <a:rPr lang="en-GB" sz="2800" b="1" i="0" u="none" strike="noStrike" dirty="0">
                <a:effectLst/>
                <a:latin typeface="ui-sans-serif"/>
              </a:rPr>
              <a:t>)</a:t>
            </a:r>
          </a:p>
        </p:txBody>
      </p:sp>
      <p:sp>
        <p:nvSpPr>
          <p:cNvPr id="3" name="ZoneTexte 2">
            <a:extLst>
              <a:ext uri="{FF2B5EF4-FFF2-40B4-BE49-F238E27FC236}">
                <a16:creationId xmlns:a16="http://schemas.microsoft.com/office/drawing/2014/main" id="{7D6147CE-4B15-1202-8B4D-DAF385FFAD53}"/>
              </a:ext>
            </a:extLst>
          </p:cNvPr>
          <p:cNvSpPr txBox="1"/>
          <p:nvPr/>
        </p:nvSpPr>
        <p:spPr>
          <a:xfrm>
            <a:off x="859220" y="2044099"/>
            <a:ext cx="10515599" cy="1325563"/>
          </a:xfrm>
          <a:prstGeom prst="rect">
            <a:avLst/>
          </a:prstGeom>
          <a:noFill/>
        </p:spPr>
        <p:txBody>
          <a:bodyPr wrap="square" rtlCol="0">
            <a:noAutofit/>
          </a:bodyPr>
          <a:lstStyle/>
          <a:p>
            <a:r>
              <a:rPr lang="en-GB" sz="1800" i="0" u="none" strike="noStrike" dirty="0">
                <a:effectLst/>
                <a:latin typeface="ui-sans-serif"/>
              </a:rPr>
              <a:t>To have a better evaluation, we could have humans looking at the results.</a:t>
            </a:r>
          </a:p>
          <a:p>
            <a:r>
              <a:rPr lang="en-GB" dirty="0">
                <a:latin typeface="ui-sans-serif"/>
              </a:rPr>
              <a:t>Like this is expensive see infeasible, the most popular automatic method is called BLEU.</a:t>
            </a:r>
          </a:p>
          <a:p>
            <a:r>
              <a:rPr lang="en-GB" dirty="0">
                <a:latin typeface="ui-sans-serif"/>
              </a:rPr>
              <a:t>There is a set of sources translations provided by humans (two below).</a:t>
            </a:r>
            <a:r>
              <a:rPr lang="en-GB" sz="1800" i="0" u="none" strike="noStrike" dirty="0">
                <a:effectLst/>
                <a:latin typeface="ui-sans-serif"/>
              </a:rPr>
              <a:t> </a:t>
            </a:r>
            <a:endParaRPr lang="en-GB" dirty="0"/>
          </a:p>
        </p:txBody>
      </p:sp>
      <p:sp>
        <p:nvSpPr>
          <p:cNvPr id="6" name="ZoneTexte 5">
            <a:extLst>
              <a:ext uri="{FF2B5EF4-FFF2-40B4-BE49-F238E27FC236}">
                <a16:creationId xmlns:a16="http://schemas.microsoft.com/office/drawing/2014/main" id="{359A940E-4DC2-CBA1-0BD2-E63B777B4C86}"/>
              </a:ext>
            </a:extLst>
          </p:cNvPr>
          <p:cNvSpPr txBox="1"/>
          <p:nvPr/>
        </p:nvSpPr>
        <p:spPr>
          <a:xfrm>
            <a:off x="838200" y="3456731"/>
            <a:ext cx="4294240" cy="365126"/>
          </a:xfrm>
          <a:prstGeom prst="rect">
            <a:avLst/>
          </a:prstGeom>
          <a:noFill/>
        </p:spPr>
        <p:txBody>
          <a:bodyPr wrap="square" rtlCol="0">
            <a:noAutofit/>
          </a:bodyPr>
          <a:lstStyle/>
          <a:p>
            <a:r>
              <a:rPr lang="en-GB" sz="1800" i="0" u="none" strike="noStrike" dirty="0">
                <a:effectLst/>
                <a:latin typeface="ui-sans-serif"/>
              </a:rPr>
              <a:t>The plane took off from Istanbul.</a:t>
            </a:r>
            <a:endParaRPr lang="en-GB" dirty="0"/>
          </a:p>
        </p:txBody>
      </p:sp>
      <p:sp>
        <p:nvSpPr>
          <p:cNvPr id="7" name="ZoneTexte 6">
            <a:extLst>
              <a:ext uri="{FF2B5EF4-FFF2-40B4-BE49-F238E27FC236}">
                <a16:creationId xmlns:a16="http://schemas.microsoft.com/office/drawing/2014/main" id="{9B6B4CCC-9DA4-87B6-2230-42B9F686470E}"/>
              </a:ext>
            </a:extLst>
          </p:cNvPr>
          <p:cNvSpPr txBox="1"/>
          <p:nvPr/>
        </p:nvSpPr>
        <p:spPr>
          <a:xfrm>
            <a:off x="859220" y="3881743"/>
            <a:ext cx="4294240" cy="365126"/>
          </a:xfrm>
          <a:prstGeom prst="rect">
            <a:avLst/>
          </a:prstGeom>
          <a:noFill/>
        </p:spPr>
        <p:txBody>
          <a:bodyPr wrap="square" rtlCol="0">
            <a:noAutofit/>
          </a:bodyPr>
          <a:lstStyle/>
          <a:p>
            <a:r>
              <a:rPr lang="en-GB" sz="1800" i="0" u="none" strike="noStrike" dirty="0">
                <a:effectLst/>
                <a:latin typeface="ui-sans-serif"/>
              </a:rPr>
              <a:t>The plane departed from Istanbul.</a:t>
            </a:r>
            <a:endParaRPr lang="en-GB" dirty="0"/>
          </a:p>
        </p:txBody>
      </p:sp>
      <p:sp>
        <p:nvSpPr>
          <p:cNvPr id="8" name="ZoneTexte 7">
            <a:extLst>
              <a:ext uri="{FF2B5EF4-FFF2-40B4-BE49-F238E27FC236}">
                <a16:creationId xmlns:a16="http://schemas.microsoft.com/office/drawing/2014/main" id="{37F4E625-7816-623D-F000-1AFFF4CFC46B}"/>
              </a:ext>
            </a:extLst>
          </p:cNvPr>
          <p:cNvSpPr txBox="1"/>
          <p:nvPr/>
        </p:nvSpPr>
        <p:spPr>
          <a:xfrm>
            <a:off x="4912442" y="3688922"/>
            <a:ext cx="4294240" cy="365126"/>
          </a:xfrm>
          <a:prstGeom prst="rect">
            <a:avLst/>
          </a:prstGeom>
          <a:noFill/>
        </p:spPr>
        <p:txBody>
          <a:bodyPr wrap="square" rtlCol="0">
            <a:noAutofit/>
          </a:bodyPr>
          <a:lstStyle/>
          <a:p>
            <a:r>
              <a:rPr lang="en-GB" sz="1800" b="1" i="0" u="none" strike="noStrike" dirty="0">
                <a:effectLst/>
                <a:latin typeface="ui-sans-serif"/>
              </a:rPr>
              <a:t>References</a:t>
            </a:r>
            <a:r>
              <a:rPr lang="en-GB" sz="1800" i="0" u="none" strike="noStrike" dirty="0">
                <a:effectLst/>
                <a:latin typeface="ui-sans-serif"/>
              </a:rPr>
              <a:t> (human provided)</a:t>
            </a:r>
            <a:endParaRPr lang="en-GB" dirty="0"/>
          </a:p>
        </p:txBody>
      </p:sp>
      <p:sp>
        <p:nvSpPr>
          <p:cNvPr id="9" name="Accolade fermante 8">
            <a:extLst>
              <a:ext uri="{FF2B5EF4-FFF2-40B4-BE49-F238E27FC236}">
                <a16:creationId xmlns:a16="http://schemas.microsoft.com/office/drawing/2014/main" id="{B347A584-0174-E12C-71CD-387E14384945}"/>
              </a:ext>
            </a:extLst>
          </p:cNvPr>
          <p:cNvSpPr/>
          <p:nvPr/>
        </p:nvSpPr>
        <p:spPr>
          <a:xfrm>
            <a:off x="4395019" y="3488339"/>
            <a:ext cx="511278" cy="81841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ZoneTexte 9">
            <a:extLst>
              <a:ext uri="{FF2B5EF4-FFF2-40B4-BE49-F238E27FC236}">
                <a16:creationId xmlns:a16="http://schemas.microsoft.com/office/drawing/2014/main" id="{8F6DCC65-D94D-CCDA-698B-C66976BC0D9D}"/>
              </a:ext>
            </a:extLst>
          </p:cNvPr>
          <p:cNvSpPr txBox="1"/>
          <p:nvPr/>
        </p:nvSpPr>
        <p:spPr>
          <a:xfrm>
            <a:off x="859220" y="4561099"/>
            <a:ext cx="4294240" cy="365126"/>
          </a:xfrm>
          <a:prstGeom prst="rect">
            <a:avLst/>
          </a:prstGeom>
          <a:noFill/>
        </p:spPr>
        <p:txBody>
          <a:bodyPr wrap="square" rtlCol="0">
            <a:noAutofit/>
          </a:bodyPr>
          <a:lstStyle/>
          <a:p>
            <a:r>
              <a:rPr lang="en-GB" sz="1800" i="0" u="none" strike="noStrike" dirty="0">
                <a:solidFill>
                  <a:schemeClr val="accent1"/>
                </a:solidFill>
                <a:effectLst/>
                <a:latin typeface="ui-sans-serif"/>
              </a:rPr>
              <a:t>The plane flew in from Istanbul.</a:t>
            </a:r>
            <a:endParaRPr lang="en-GB" dirty="0">
              <a:solidFill>
                <a:schemeClr val="accent1"/>
              </a:solidFill>
            </a:endParaRPr>
          </a:p>
        </p:txBody>
      </p:sp>
      <p:sp>
        <p:nvSpPr>
          <p:cNvPr id="11" name="ZoneTexte 10">
            <a:extLst>
              <a:ext uri="{FF2B5EF4-FFF2-40B4-BE49-F238E27FC236}">
                <a16:creationId xmlns:a16="http://schemas.microsoft.com/office/drawing/2014/main" id="{806C7404-4350-2EF8-69D9-6C1CA1730A01}"/>
              </a:ext>
            </a:extLst>
          </p:cNvPr>
          <p:cNvSpPr txBox="1"/>
          <p:nvPr/>
        </p:nvSpPr>
        <p:spPr>
          <a:xfrm>
            <a:off x="4912442" y="4567463"/>
            <a:ext cx="4294240" cy="365126"/>
          </a:xfrm>
          <a:prstGeom prst="rect">
            <a:avLst/>
          </a:prstGeom>
          <a:noFill/>
        </p:spPr>
        <p:txBody>
          <a:bodyPr wrap="square" rtlCol="0">
            <a:noAutofit/>
          </a:bodyPr>
          <a:lstStyle/>
          <a:p>
            <a:r>
              <a:rPr lang="en-GB" sz="1800" b="1" i="0" u="none" strike="noStrike" dirty="0">
                <a:effectLst/>
                <a:latin typeface="ui-sans-serif"/>
              </a:rPr>
              <a:t>Candidate</a:t>
            </a:r>
            <a:r>
              <a:rPr lang="en-GB" sz="1800" i="0" u="none" strike="noStrike" dirty="0">
                <a:effectLst/>
                <a:latin typeface="ui-sans-serif"/>
              </a:rPr>
              <a:t> (machine translation)</a:t>
            </a:r>
            <a:endParaRPr lang="en-GB" dirty="0"/>
          </a:p>
        </p:txBody>
      </p:sp>
      <p:sp>
        <p:nvSpPr>
          <p:cNvPr id="12" name="Accolade fermante 11">
            <a:extLst>
              <a:ext uri="{FF2B5EF4-FFF2-40B4-BE49-F238E27FC236}">
                <a16:creationId xmlns:a16="http://schemas.microsoft.com/office/drawing/2014/main" id="{CE845B55-8AD0-CD2C-2187-7336C11D8A1B}"/>
              </a:ext>
            </a:extLst>
          </p:cNvPr>
          <p:cNvSpPr/>
          <p:nvPr/>
        </p:nvSpPr>
        <p:spPr>
          <a:xfrm>
            <a:off x="4409767" y="4515829"/>
            <a:ext cx="511278" cy="58380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ZoneTexte 12">
            <a:extLst>
              <a:ext uri="{FF2B5EF4-FFF2-40B4-BE49-F238E27FC236}">
                <a16:creationId xmlns:a16="http://schemas.microsoft.com/office/drawing/2014/main" id="{13F251C1-E32A-5038-D6A6-BE6BD6F28427}"/>
              </a:ext>
            </a:extLst>
          </p:cNvPr>
          <p:cNvSpPr txBox="1"/>
          <p:nvPr/>
        </p:nvSpPr>
        <p:spPr>
          <a:xfrm>
            <a:off x="859220" y="5477809"/>
            <a:ext cx="11027980" cy="365126"/>
          </a:xfrm>
          <a:prstGeom prst="rect">
            <a:avLst/>
          </a:prstGeom>
          <a:noFill/>
        </p:spPr>
        <p:txBody>
          <a:bodyPr wrap="square" rtlCol="0">
            <a:noAutofit/>
          </a:bodyPr>
          <a:lstStyle/>
          <a:p>
            <a:r>
              <a:rPr lang="en-GB" sz="1800" i="0" u="none" strike="noStrike" dirty="0">
                <a:effectLst/>
                <a:latin typeface="ui-sans-serif"/>
              </a:rPr>
              <a:t>The intuition is to count the number of overlapping N-grams between the candidate and the reference translations.</a:t>
            </a:r>
            <a:endParaRPr lang="en-GB" dirty="0"/>
          </a:p>
        </p:txBody>
      </p:sp>
    </p:spTree>
    <p:extLst>
      <p:ext uri="{BB962C8B-B14F-4D97-AF65-F5344CB8AC3E}">
        <p14:creationId xmlns:p14="http://schemas.microsoft.com/office/powerpoint/2010/main" val="2367029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7C3F-28B9-AB25-64C2-2C16C13206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B5CE74-8DCE-CF8E-1290-78907FCCD2A3}"/>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F0E964CC-13DD-4602-8933-4241B4D701F5}"/>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543B53BB-F2F1-E5BB-7D43-A4DBAE095EE0}"/>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NMT Evaluation with Bilingual Evaluation Understudy (</a:t>
            </a:r>
            <a:r>
              <a:rPr lang="en-GB" sz="2800" b="1" i="0" u="none" strike="noStrike" dirty="0">
                <a:solidFill>
                  <a:schemeClr val="accent4"/>
                </a:solidFill>
                <a:effectLst/>
                <a:latin typeface="ui-sans-serif"/>
              </a:rPr>
              <a:t>BLEU</a:t>
            </a:r>
            <a:r>
              <a:rPr lang="en-GB" sz="2800" b="1" i="0" u="none" strike="noStrike" dirty="0">
                <a:effectLst/>
                <a:latin typeface="ui-sans-serif"/>
              </a:rPr>
              <a:t>)</a:t>
            </a:r>
          </a:p>
        </p:txBody>
      </p:sp>
      <p:sp>
        <p:nvSpPr>
          <p:cNvPr id="3" name="ZoneTexte 2">
            <a:extLst>
              <a:ext uri="{FF2B5EF4-FFF2-40B4-BE49-F238E27FC236}">
                <a16:creationId xmlns:a16="http://schemas.microsoft.com/office/drawing/2014/main" id="{F5167B61-1FC4-3077-6AF9-74198234144C}"/>
              </a:ext>
            </a:extLst>
          </p:cNvPr>
          <p:cNvSpPr txBox="1"/>
          <p:nvPr/>
        </p:nvSpPr>
        <p:spPr>
          <a:xfrm>
            <a:off x="859220" y="2044099"/>
            <a:ext cx="10515599" cy="457173"/>
          </a:xfrm>
          <a:prstGeom prst="rect">
            <a:avLst/>
          </a:prstGeom>
          <a:noFill/>
        </p:spPr>
        <p:txBody>
          <a:bodyPr wrap="square" rtlCol="0">
            <a:noAutofit/>
          </a:bodyPr>
          <a:lstStyle/>
          <a:p>
            <a:r>
              <a:rPr lang="en-GB" sz="1800" i="0" u="none" strike="noStrike" dirty="0">
                <a:effectLst/>
                <a:latin typeface="ui-sans-serif"/>
              </a:rPr>
              <a:t>Intuition: measure similarity using n-gram overlap.</a:t>
            </a:r>
            <a:endParaRPr lang="en-GB" dirty="0"/>
          </a:p>
        </p:txBody>
      </p:sp>
      <p:sp>
        <p:nvSpPr>
          <p:cNvPr id="6" name="ZoneTexte 5">
            <a:extLst>
              <a:ext uri="{FF2B5EF4-FFF2-40B4-BE49-F238E27FC236}">
                <a16:creationId xmlns:a16="http://schemas.microsoft.com/office/drawing/2014/main" id="{5E5BAA35-5B08-066D-5A3D-693B73E88390}"/>
              </a:ext>
            </a:extLst>
          </p:cNvPr>
          <p:cNvSpPr txBox="1"/>
          <p:nvPr/>
        </p:nvSpPr>
        <p:spPr>
          <a:xfrm>
            <a:off x="838200" y="2906125"/>
            <a:ext cx="4294240" cy="365126"/>
          </a:xfrm>
          <a:prstGeom prst="rect">
            <a:avLst/>
          </a:prstGeom>
          <a:noFill/>
        </p:spPr>
        <p:txBody>
          <a:bodyPr wrap="square" rtlCol="0">
            <a:noAutofit/>
          </a:bodyPr>
          <a:lstStyle/>
          <a:p>
            <a:r>
              <a:rPr lang="en-GB" sz="1800" i="0" u="none" strike="noStrike" dirty="0">
                <a:effectLst/>
                <a:highlight>
                  <a:srgbClr val="00FFFF"/>
                </a:highlight>
                <a:latin typeface="ui-sans-serif"/>
              </a:rPr>
              <a:t>The plane </a:t>
            </a:r>
            <a:r>
              <a:rPr lang="en-GB" sz="1800" i="0" u="none" strike="noStrike" dirty="0">
                <a:effectLst/>
                <a:latin typeface="ui-sans-serif"/>
              </a:rPr>
              <a:t>took off </a:t>
            </a:r>
            <a:r>
              <a:rPr lang="en-GB" sz="1800" i="0" u="none" strike="noStrike" dirty="0">
                <a:effectLst/>
                <a:highlight>
                  <a:srgbClr val="00FFFF"/>
                </a:highlight>
                <a:latin typeface="ui-sans-serif"/>
              </a:rPr>
              <a:t>from Istanbul</a:t>
            </a:r>
            <a:r>
              <a:rPr lang="en-GB" sz="1800" i="0" u="none" strike="noStrike" dirty="0">
                <a:effectLst/>
                <a:latin typeface="ui-sans-serif"/>
              </a:rPr>
              <a:t>.</a:t>
            </a:r>
            <a:endParaRPr lang="en-GB" dirty="0"/>
          </a:p>
        </p:txBody>
      </p:sp>
      <p:sp>
        <p:nvSpPr>
          <p:cNvPr id="7" name="ZoneTexte 6">
            <a:extLst>
              <a:ext uri="{FF2B5EF4-FFF2-40B4-BE49-F238E27FC236}">
                <a16:creationId xmlns:a16="http://schemas.microsoft.com/office/drawing/2014/main" id="{B352F9F1-DC75-517A-1E8C-2EDC4A32731F}"/>
              </a:ext>
            </a:extLst>
          </p:cNvPr>
          <p:cNvSpPr txBox="1"/>
          <p:nvPr/>
        </p:nvSpPr>
        <p:spPr>
          <a:xfrm>
            <a:off x="859220" y="3331137"/>
            <a:ext cx="4294240" cy="365126"/>
          </a:xfrm>
          <a:prstGeom prst="rect">
            <a:avLst/>
          </a:prstGeom>
          <a:noFill/>
        </p:spPr>
        <p:txBody>
          <a:bodyPr wrap="square" rtlCol="0">
            <a:noAutofit/>
          </a:bodyPr>
          <a:lstStyle/>
          <a:p>
            <a:r>
              <a:rPr lang="en-GB" sz="1800" i="0" u="none" strike="noStrike" dirty="0">
                <a:effectLst/>
                <a:highlight>
                  <a:srgbClr val="00FFFF"/>
                </a:highlight>
                <a:latin typeface="ui-sans-serif"/>
              </a:rPr>
              <a:t>The plane </a:t>
            </a:r>
            <a:r>
              <a:rPr lang="en-GB" sz="1800" i="0" u="none" strike="noStrike" dirty="0">
                <a:effectLst/>
                <a:latin typeface="ui-sans-serif"/>
              </a:rPr>
              <a:t>departed </a:t>
            </a:r>
            <a:r>
              <a:rPr lang="en-GB" sz="1800" i="0" u="none" strike="noStrike" dirty="0">
                <a:effectLst/>
                <a:highlight>
                  <a:srgbClr val="00FFFF"/>
                </a:highlight>
                <a:latin typeface="ui-sans-serif"/>
              </a:rPr>
              <a:t>from Istanbul</a:t>
            </a:r>
            <a:r>
              <a:rPr lang="en-GB" sz="1800" i="0" u="none" strike="noStrike" dirty="0">
                <a:effectLst/>
                <a:latin typeface="ui-sans-serif"/>
              </a:rPr>
              <a:t>.</a:t>
            </a:r>
            <a:endParaRPr lang="en-GB" dirty="0"/>
          </a:p>
        </p:txBody>
      </p:sp>
      <p:sp>
        <p:nvSpPr>
          <p:cNvPr id="8" name="ZoneTexte 7">
            <a:extLst>
              <a:ext uri="{FF2B5EF4-FFF2-40B4-BE49-F238E27FC236}">
                <a16:creationId xmlns:a16="http://schemas.microsoft.com/office/drawing/2014/main" id="{35C903E1-2838-C807-E27F-6F4D8BB21547}"/>
              </a:ext>
            </a:extLst>
          </p:cNvPr>
          <p:cNvSpPr txBox="1"/>
          <p:nvPr/>
        </p:nvSpPr>
        <p:spPr>
          <a:xfrm>
            <a:off x="6898557" y="2446605"/>
            <a:ext cx="4294240" cy="1719801"/>
          </a:xfrm>
          <a:prstGeom prst="rect">
            <a:avLst/>
          </a:prstGeom>
          <a:noFill/>
        </p:spPr>
        <p:txBody>
          <a:bodyPr wrap="square" rtlCol="0">
            <a:noAutofit/>
          </a:bodyPr>
          <a:lstStyle/>
          <a:p>
            <a:r>
              <a:rPr lang="en-GB" sz="1400" b="1" i="0" u="none" strike="noStrike" dirty="0">
                <a:effectLst/>
                <a:latin typeface="ui-sans-serif"/>
              </a:rPr>
              <a:t>Compare the Bigrams of the candidate sentence </a:t>
            </a:r>
            <a:r>
              <a:rPr lang="en-GB" sz="1400" b="1" dirty="0">
                <a:latin typeface="ui-sans-serif"/>
              </a:rPr>
              <a:t>(below) </a:t>
            </a:r>
            <a:r>
              <a:rPr lang="en-GB" sz="1400" b="1" i="0" u="none" strike="noStrike" dirty="0">
                <a:effectLst/>
                <a:latin typeface="ui-sans-serif"/>
              </a:rPr>
              <a:t>with the bigrams of the reference sentences</a:t>
            </a:r>
            <a:endParaRPr lang="en-GB" sz="1400" i="0" u="none" strike="noStrike" dirty="0">
              <a:effectLst/>
              <a:latin typeface="ui-sans-serif"/>
            </a:endParaRPr>
          </a:p>
          <a:p>
            <a:pPr lvl="1"/>
            <a:r>
              <a:rPr lang="en-GB" sz="1400" dirty="0">
                <a:solidFill>
                  <a:schemeClr val="accent4"/>
                </a:solidFill>
                <a:latin typeface="ui-sans-serif"/>
              </a:rPr>
              <a:t>The plane</a:t>
            </a:r>
          </a:p>
          <a:p>
            <a:pPr lvl="1"/>
            <a:r>
              <a:rPr lang="en-GB" sz="1400" dirty="0">
                <a:solidFill>
                  <a:schemeClr val="accent4"/>
                </a:solidFill>
                <a:latin typeface="ui-sans-serif"/>
              </a:rPr>
              <a:t>plane flew</a:t>
            </a:r>
          </a:p>
          <a:p>
            <a:pPr lvl="1"/>
            <a:r>
              <a:rPr lang="en-GB" sz="1400" dirty="0">
                <a:solidFill>
                  <a:schemeClr val="accent4"/>
                </a:solidFill>
                <a:latin typeface="ui-sans-serif"/>
              </a:rPr>
              <a:t>flew in</a:t>
            </a:r>
          </a:p>
          <a:p>
            <a:pPr lvl="1"/>
            <a:r>
              <a:rPr lang="en-GB" sz="1400" dirty="0">
                <a:solidFill>
                  <a:schemeClr val="accent4"/>
                </a:solidFill>
                <a:latin typeface="ui-sans-serif"/>
              </a:rPr>
              <a:t>in from</a:t>
            </a:r>
          </a:p>
          <a:p>
            <a:pPr lvl="1"/>
            <a:r>
              <a:rPr lang="en-GB" sz="1400" dirty="0">
                <a:solidFill>
                  <a:schemeClr val="accent4"/>
                </a:solidFill>
                <a:latin typeface="ui-sans-serif"/>
              </a:rPr>
              <a:t>from Istanbul</a:t>
            </a:r>
            <a:endParaRPr lang="en-GB" sz="1400" dirty="0">
              <a:solidFill>
                <a:schemeClr val="accent4"/>
              </a:solidFill>
            </a:endParaRPr>
          </a:p>
        </p:txBody>
      </p:sp>
      <p:sp>
        <p:nvSpPr>
          <p:cNvPr id="9" name="Accolade fermante 8">
            <a:extLst>
              <a:ext uri="{FF2B5EF4-FFF2-40B4-BE49-F238E27FC236}">
                <a16:creationId xmlns:a16="http://schemas.microsoft.com/office/drawing/2014/main" id="{9C686F5E-7F1C-1FEA-8A4D-85B54BE301D7}"/>
              </a:ext>
            </a:extLst>
          </p:cNvPr>
          <p:cNvSpPr/>
          <p:nvPr/>
        </p:nvSpPr>
        <p:spPr>
          <a:xfrm>
            <a:off x="4395019" y="2937733"/>
            <a:ext cx="511278" cy="81841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ZoneTexte 9">
            <a:extLst>
              <a:ext uri="{FF2B5EF4-FFF2-40B4-BE49-F238E27FC236}">
                <a16:creationId xmlns:a16="http://schemas.microsoft.com/office/drawing/2014/main" id="{C0180521-682A-8244-824D-E47C967BF7E6}"/>
              </a:ext>
            </a:extLst>
          </p:cNvPr>
          <p:cNvSpPr txBox="1"/>
          <p:nvPr/>
        </p:nvSpPr>
        <p:spPr>
          <a:xfrm>
            <a:off x="859220" y="4010493"/>
            <a:ext cx="4294240" cy="365126"/>
          </a:xfrm>
          <a:prstGeom prst="rect">
            <a:avLst/>
          </a:prstGeom>
          <a:noFill/>
        </p:spPr>
        <p:txBody>
          <a:bodyPr wrap="square" rtlCol="0">
            <a:noAutofit/>
          </a:bodyPr>
          <a:lstStyle/>
          <a:p>
            <a:r>
              <a:rPr lang="en-GB" sz="1800" i="0" u="none" strike="noStrike" dirty="0">
                <a:solidFill>
                  <a:schemeClr val="accent1"/>
                </a:solidFill>
                <a:effectLst/>
                <a:latin typeface="ui-sans-serif"/>
              </a:rPr>
              <a:t>The plane flew in from Istanbul.</a:t>
            </a:r>
            <a:endParaRPr lang="en-GB" dirty="0">
              <a:solidFill>
                <a:schemeClr val="accent1"/>
              </a:solidFill>
            </a:endParaRPr>
          </a:p>
        </p:txBody>
      </p:sp>
      <p:sp>
        <p:nvSpPr>
          <p:cNvPr id="12" name="Accolade fermante 11">
            <a:extLst>
              <a:ext uri="{FF2B5EF4-FFF2-40B4-BE49-F238E27FC236}">
                <a16:creationId xmlns:a16="http://schemas.microsoft.com/office/drawing/2014/main" id="{37766C99-D940-01E6-CE79-D608401ED3F4}"/>
              </a:ext>
            </a:extLst>
          </p:cNvPr>
          <p:cNvSpPr/>
          <p:nvPr/>
        </p:nvSpPr>
        <p:spPr>
          <a:xfrm>
            <a:off x="4409767" y="3965223"/>
            <a:ext cx="511278" cy="58380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ZoneTexte 14">
            <a:extLst>
              <a:ext uri="{FF2B5EF4-FFF2-40B4-BE49-F238E27FC236}">
                <a16:creationId xmlns:a16="http://schemas.microsoft.com/office/drawing/2014/main" id="{F96CF8CA-EDB6-6B76-F4AE-7C6925786F02}"/>
              </a:ext>
            </a:extLst>
          </p:cNvPr>
          <p:cNvSpPr txBox="1"/>
          <p:nvPr/>
        </p:nvSpPr>
        <p:spPr>
          <a:xfrm>
            <a:off x="5042105" y="3308161"/>
            <a:ext cx="985069" cy="369332"/>
          </a:xfrm>
          <a:prstGeom prst="rect">
            <a:avLst/>
          </a:prstGeom>
          <a:noFill/>
        </p:spPr>
        <p:txBody>
          <a:bodyPr wrap="square" rtlCol="0">
            <a:spAutoFit/>
          </a:bodyPr>
          <a:lstStyle/>
          <a:p>
            <a:r>
              <a:rPr lang="en-GB" dirty="0">
                <a:solidFill>
                  <a:srgbClr val="FF0000"/>
                </a:solidFill>
                <a:latin typeface="Monaco" pitchFamily="2" charset="77"/>
              </a:rPr>
              <a:t>2 / 5</a:t>
            </a:r>
          </a:p>
        </p:txBody>
      </p:sp>
      <p:sp>
        <p:nvSpPr>
          <p:cNvPr id="16" name="ZoneTexte 15">
            <a:extLst>
              <a:ext uri="{FF2B5EF4-FFF2-40B4-BE49-F238E27FC236}">
                <a16:creationId xmlns:a16="http://schemas.microsoft.com/office/drawing/2014/main" id="{FBA310AE-F40F-6271-645C-99C74DF8E419}"/>
              </a:ext>
            </a:extLst>
          </p:cNvPr>
          <p:cNvSpPr txBox="1"/>
          <p:nvPr/>
        </p:nvSpPr>
        <p:spPr>
          <a:xfrm>
            <a:off x="5042105" y="2901919"/>
            <a:ext cx="985069" cy="369332"/>
          </a:xfrm>
          <a:prstGeom prst="rect">
            <a:avLst/>
          </a:prstGeom>
          <a:noFill/>
        </p:spPr>
        <p:txBody>
          <a:bodyPr wrap="square" rtlCol="0">
            <a:spAutoFit/>
          </a:bodyPr>
          <a:lstStyle/>
          <a:p>
            <a:r>
              <a:rPr lang="en-GB" dirty="0">
                <a:solidFill>
                  <a:srgbClr val="FF0000"/>
                </a:solidFill>
                <a:latin typeface="Monaco" pitchFamily="2" charset="77"/>
              </a:rPr>
              <a:t>2 / 5</a:t>
            </a:r>
          </a:p>
        </p:txBody>
      </p:sp>
      <p:sp>
        <p:nvSpPr>
          <p:cNvPr id="17" name="Flèche vers la gauche 16">
            <a:extLst>
              <a:ext uri="{FF2B5EF4-FFF2-40B4-BE49-F238E27FC236}">
                <a16:creationId xmlns:a16="http://schemas.microsoft.com/office/drawing/2014/main" id="{09A4B026-3897-0869-7A6F-B74E227B8271}"/>
              </a:ext>
            </a:extLst>
          </p:cNvPr>
          <p:cNvSpPr/>
          <p:nvPr/>
        </p:nvSpPr>
        <p:spPr>
          <a:xfrm>
            <a:off x="6095999" y="2990612"/>
            <a:ext cx="781538" cy="4916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ZoneTexte 17">
            <a:extLst>
              <a:ext uri="{FF2B5EF4-FFF2-40B4-BE49-F238E27FC236}">
                <a16:creationId xmlns:a16="http://schemas.microsoft.com/office/drawing/2014/main" id="{41398956-6413-D0A4-405C-E2F360614231}"/>
              </a:ext>
            </a:extLst>
          </p:cNvPr>
          <p:cNvSpPr txBox="1"/>
          <p:nvPr/>
        </p:nvSpPr>
        <p:spPr>
          <a:xfrm>
            <a:off x="2949677" y="5004621"/>
            <a:ext cx="7354529" cy="881586"/>
          </a:xfrm>
          <a:prstGeom prst="rect">
            <a:avLst/>
          </a:prstGeom>
          <a:noFill/>
        </p:spPr>
        <p:txBody>
          <a:bodyPr wrap="square" rtlCol="0">
            <a:noAutofit/>
          </a:bodyPr>
          <a:lstStyle/>
          <a:p>
            <a:r>
              <a:rPr lang="en-GB" sz="1800" i="0" u="none" strike="noStrike" dirty="0">
                <a:effectLst/>
                <a:latin typeface="ui-sans-serif"/>
              </a:rPr>
              <a:t>In our case there is equality (2/5) between the two reference sentences.</a:t>
            </a:r>
          </a:p>
          <a:p>
            <a:r>
              <a:rPr lang="en-GB" dirty="0">
                <a:latin typeface="ui-sans-serif"/>
              </a:rPr>
              <a:t>The actual BLEU formula is a little bit different.</a:t>
            </a:r>
            <a:endParaRPr lang="en-GB" dirty="0"/>
          </a:p>
        </p:txBody>
      </p:sp>
    </p:spTree>
    <p:extLst>
      <p:ext uri="{BB962C8B-B14F-4D97-AF65-F5344CB8AC3E}">
        <p14:creationId xmlns:p14="http://schemas.microsoft.com/office/powerpoint/2010/main" val="922788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08B9-4F7B-6256-819B-1823770FC9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2B49A31F-A811-4B55-9B24-79D6ACAF55DB}"/>
                  </a:ext>
                </a:extLst>
              </p:cNvPr>
              <p:cNvSpPr txBox="1"/>
              <p:nvPr/>
            </p:nvSpPr>
            <p:spPr>
              <a:xfrm>
                <a:off x="2139727" y="2960356"/>
                <a:ext cx="5414902" cy="6626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𝑠𝑐𝑜𝑟</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𝐵𝐿𝐸𝑈</m:t>
                          </m:r>
                        </m:sub>
                      </m:sSub>
                      <m:r>
                        <a:rPr lang="fr-FR" sz="1600" b="0" i="1" smtClean="0">
                          <a:latin typeface="Cambria Math" panose="02040503050406030204" pitchFamily="18" charset="0"/>
                        </a:rPr>
                        <m:t>=</m:t>
                      </m:r>
                      <m:func>
                        <m:funcPr>
                          <m:ctrlPr>
                            <a:rPr lang="fr-FR" sz="1600" b="0" i="1" smtClean="0">
                              <a:latin typeface="Cambria Math" panose="02040503050406030204" pitchFamily="18" charset="0"/>
                            </a:rPr>
                          </m:ctrlPr>
                        </m:funcPr>
                        <m:fName>
                          <m:r>
                            <m:rPr>
                              <m:sty m:val="p"/>
                            </m:rPr>
                            <a:rPr lang="fr-FR" sz="1600" b="0" i="0" smtClean="0">
                              <a:latin typeface="Cambria Math" panose="02040503050406030204" pitchFamily="18" charset="0"/>
                            </a:rPr>
                            <m:t>min</m:t>
                          </m:r>
                        </m:fName>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1,</m:t>
                              </m:r>
                              <m:func>
                                <m:funcPr>
                                  <m:ctrlPr>
                                    <a:rPr lang="fr-FR" sz="1600" b="0" i="1" smtClean="0">
                                      <a:latin typeface="Cambria Math" panose="02040503050406030204" pitchFamily="18" charset="0"/>
                                    </a:rPr>
                                  </m:ctrlPr>
                                </m:funcPr>
                                <m:fName>
                                  <m:r>
                                    <a:rPr lang="fr-FR" sz="1600" b="0" i="0" smtClean="0">
                                      <a:latin typeface="Cambria Math" panose="02040503050406030204" pitchFamily="18" charset="0"/>
                                    </a:rPr>
                                    <m:t> </m:t>
                                  </m:r>
                                  <m:r>
                                    <m:rPr>
                                      <m:sty m:val="p"/>
                                    </m:rPr>
                                    <a:rPr lang="fr-FR" sz="1600" b="0" i="0" smtClean="0">
                                      <a:latin typeface="Cambria Math" panose="02040503050406030204" pitchFamily="18" charset="0"/>
                                    </a:rPr>
                                    <m:t>exp</m:t>
                                  </m:r>
                                </m:fName>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1−</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𝑟𝑒𝑓𝑒𝑟𝑒𝑛𝑐</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𝑙𝑒𝑛</m:t>
                                              </m:r>
                                            </m:sub>
                                          </m:sSub>
                                        </m:num>
                                        <m:den>
                                          <m:r>
                                            <a:rPr lang="fr-FR" sz="1600" b="0" i="1" smtClean="0">
                                              <a:latin typeface="Cambria Math" panose="02040503050406030204" pitchFamily="18" charset="0"/>
                                            </a:rPr>
                                            <m:t>𝑐𝑎𝑛𝑑𝑖𝑑𝑎𝑡</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𝑙𝑒𝑛</m:t>
                                              </m:r>
                                            </m:sub>
                                          </m:sSub>
                                        </m:den>
                                      </m:f>
                                    </m:e>
                                  </m:d>
                                </m:e>
                              </m:func>
                            </m:e>
                          </m:d>
                          <m:r>
                            <a:rPr lang="fr-FR" sz="1600" b="0" i="1" smtClean="0">
                              <a:latin typeface="Cambria Math" panose="02040503050406030204" pitchFamily="18" charset="0"/>
                            </a:rPr>
                            <m:t>×</m:t>
                          </m:r>
                        </m:e>
                      </m:func>
                      <m:sSup>
                        <m:sSupPr>
                          <m:ctrlPr>
                            <a:rPr lang="fr-FR" sz="1600" b="0" i="1" smtClean="0">
                              <a:latin typeface="Cambria Math" panose="02040503050406030204" pitchFamily="18" charset="0"/>
                            </a:rPr>
                          </m:ctrlPr>
                        </m:sSupPr>
                        <m:e>
                          <m:d>
                            <m:dPr>
                              <m:ctrlPr>
                                <a:rPr lang="fr-FR" sz="1600" b="0" i="1" smtClean="0">
                                  <a:latin typeface="Cambria Math" panose="02040503050406030204" pitchFamily="18" charset="0"/>
                                </a:rPr>
                              </m:ctrlPr>
                            </m:dPr>
                            <m:e>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𝑖</m:t>
                                  </m:r>
                                  <m:r>
                                    <a:rPr lang="fr-FR" sz="1600" b="0" i="1" smtClean="0">
                                      <a:latin typeface="Cambria Math" panose="02040503050406030204" pitchFamily="18" charset="0"/>
                                    </a:rPr>
                                    <m:t>=1</m:t>
                                  </m:r>
                                </m:sub>
                                <m:sup>
                                  <m:r>
                                    <a:rPr lang="fr-FR" sz="1600" b="0" i="1" smtClean="0">
                                      <a:latin typeface="Cambria Math" panose="02040503050406030204" pitchFamily="18" charset="0"/>
                                    </a:rPr>
                                    <m:t>4</m:t>
                                  </m:r>
                                </m:sup>
                                <m:e>
                                  <m:r>
                                    <a:rPr lang="fr-FR" sz="1600" b="0" i="1" smtClean="0">
                                      <a:latin typeface="Cambria Math" panose="02040503050406030204" pitchFamily="18" charset="0"/>
                                    </a:rPr>
                                    <m:t>𝑝𝑟𝑒𝑐𝑖𝑠𝑖𝑜</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𝑛</m:t>
                                      </m:r>
                                    </m:e>
                                    <m:sub>
                                      <m:r>
                                        <a:rPr lang="fr-FR" sz="1600" b="0" i="1" smtClean="0">
                                          <a:latin typeface="Cambria Math" panose="02040503050406030204" pitchFamily="18" charset="0"/>
                                        </a:rPr>
                                        <m:t>𝑖</m:t>
                                      </m:r>
                                    </m:sub>
                                  </m:sSub>
                                </m:e>
                              </m:nary>
                            </m:e>
                          </m:d>
                        </m:e>
                        <m:sup>
                          <m:r>
                            <a:rPr lang="fr-FR" sz="1600" b="0" i="1" smtClean="0">
                              <a:latin typeface="Cambria Math" panose="02040503050406030204" pitchFamily="18" charset="0"/>
                            </a:rPr>
                            <m:t>1/4</m:t>
                          </m:r>
                        </m:sup>
                      </m:sSup>
                    </m:oMath>
                  </m:oMathPara>
                </a14:m>
                <a:endParaRPr lang="en-GB" sz="1600" dirty="0"/>
              </a:p>
            </p:txBody>
          </p:sp>
        </mc:Choice>
        <mc:Fallback xmlns="">
          <p:sp>
            <p:nvSpPr>
              <p:cNvPr id="11" name="ZoneTexte 10">
                <a:extLst>
                  <a:ext uri="{FF2B5EF4-FFF2-40B4-BE49-F238E27FC236}">
                    <a16:creationId xmlns:a16="http://schemas.microsoft.com/office/drawing/2014/main" id="{2B49A31F-A811-4B55-9B24-79D6ACAF55DB}"/>
                  </a:ext>
                </a:extLst>
              </p:cNvPr>
              <p:cNvSpPr txBox="1">
                <a:spLocks noRot="1" noChangeAspect="1" noMove="1" noResize="1" noEditPoints="1" noAdjustHandles="1" noChangeArrowheads="1" noChangeShapeType="1" noTextEdit="1"/>
              </p:cNvSpPr>
              <p:nvPr/>
            </p:nvSpPr>
            <p:spPr>
              <a:xfrm>
                <a:off x="2139727" y="2960356"/>
                <a:ext cx="5414902" cy="662630"/>
              </a:xfrm>
              <a:prstGeom prst="rect">
                <a:avLst/>
              </a:prstGeom>
              <a:blipFill>
                <a:blip r:embed="rId2"/>
                <a:stretch>
                  <a:fillRect l="-937" t="-113208" r="-11475" b="-200000"/>
                </a:stretch>
              </a:blipFill>
            </p:spPr>
            <p:txBody>
              <a:bodyPr/>
              <a:lstStyle/>
              <a:p>
                <a:r>
                  <a:rPr lang="en-GB">
                    <a:noFill/>
                  </a:rPr>
                  <a:t> </a:t>
                </a:r>
              </a:p>
            </p:txBody>
          </p:sp>
        </mc:Fallback>
      </mc:AlternateContent>
      <p:sp>
        <p:nvSpPr>
          <p:cNvPr id="13" name="Accolade ouvrante 12">
            <a:extLst>
              <a:ext uri="{FF2B5EF4-FFF2-40B4-BE49-F238E27FC236}">
                <a16:creationId xmlns:a16="http://schemas.microsoft.com/office/drawing/2014/main" id="{60E67926-6C69-2191-629D-F13D800F908F}"/>
              </a:ext>
            </a:extLst>
          </p:cNvPr>
          <p:cNvSpPr/>
          <p:nvPr/>
        </p:nvSpPr>
        <p:spPr>
          <a:xfrm rot="16200000">
            <a:off x="4455032" y="2507233"/>
            <a:ext cx="241520" cy="2624338"/>
          </a:xfrm>
          <a:prstGeom prst="lef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a:solidFill>
                <a:schemeClr val="tx1">
                  <a:lumMod val="50000"/>
                  <a:lumOff val="50000"/>
                </a:schemeClr>
              </a:solidFill>
            </a:endParaRPr>
          </a:p>
        </p:txBody>
      </p:sp>
      <p:sp>
        <p:nvSpPr>
          <p:cNvPr id="14" name="Accolade ouvrante 13">
            <a:extLst>
              <a:ext uri="{FF2B5EF4-FFF2-40B4-BE49-F238E27FC236}">
                <a16:creationId xmlns:a16="http://schemas.microsoft.com/office/drawing/2014/main" id="{AB8AF78E-C298-EAE5-7E2E-5A80EEF03772}"/>
              </a:ext>
            </a:extLst>
          </p:cNvPr>
          <p:cNvSpPr/>
          <p:nvPr/>
        </p:nvSpPr>
        <p:spPr>
          <a:xfrm rot="16200000">
            <a:off x="6878020" y="2934989"/>
            <a:ext cx="241520" cy="1759130"/>
          </a:xfrm>
          <a:prstGeom prst="lef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dirty="0"/>
          </a:p>
        </p:txBody>
      </p:sp>
      <p:sp>
        <p:nvSpPr>
          <p:cNvPr id="19" name="ZoneTexte 18">
            <a:extLst>
              <a:ext uri="{FF2B5EF4-FFF2-40B4-BE49-F238E27FC236}">
                <a16:creationId xmlns:a16="http://schemas.microsoft.com/office/drawing/2014/main" id="{BAB7A904-68CF-6500-1874-5FF05326D2E3}"/>
              </a:ext>
            </a:extLst>
          </p:cNvPr>
          <p:cNvSpPr txBox="1"/>
          <p:nvPr/>
        </p:nvSpPr>
        <p:spPr>
          <a:xfrm>
            <a:off x="3731264" y="3967964"/>
            <a:ext cx="1681671" cy="253916"/>
          </a:xfrm>
          <a:prstGeom prst="rect">
            <a:avLst/>
          </a:prstGeom>
          <a:noFill/>
        </p:spPr>
        <p:txBody>
          <a:bodyPr wrap="square" rtlCol="0">
            <a:spAutoFit/>
          </a:bodyPr>
          <a:lstStyle/>
          <a:p>
            <a:pPr algn="ctr"/>
            <a:r>
              <a:rPr lang="en-GB" sz="1050" dirty="0">
                <a:solidFill>
                  <a:schemeClr val="tx1">
                    <a:lumMod val="50000"/>
                    <a:lumOff val="50000"/>
                  </a:schemeClr>
                </a:solidFill>
              </a:rPr>
              <a:t>Brevity Penalty</a:t>
            </a:r>
          </a:p>
        </p:txBody>
      </p:sp>
      <p:sp>
        <p:nvSpPr>
          <p:cNvPr id="20" name="ZoneTexte 19">
            <a:extLst>
              <a:ext uri="{FF2B5EF4-FFF2-40B4-BE49-F238E27FC236}">
                <a16:creationId xmlns:a16="http://schemas.microsoft.com/office/drawing/2014/main" id="{E6634131-F043-6749-978F-3F40A463F66E}"/>
              </a:ext>
            </a:extLst>
          </p:cNvPr>
          <p:cNvSpPr txBox="1"/>
          <p:nvPr/>
        </p:nvSpPr>
        <p:spPr>
          <a:xfrm>
            <a:off x="6172303" y="3967964"/>
            <a:ext cx="1681671" cy="261610"/>
          </a:xfrm>
          <a:prstGeom prst="rect">
            <a:avLst/>
          </a:prstGeom>
          <a:noFill/>
        </p:spPr>
        <p:txBody>
          <a:bodyPr wrap="square" rtlCol="0">
            <a:spAutoFit/>
          </a:bodyPr>
          <a:lstStyle/>
          <a:p>
            <a:pPr algn="ctr"/>
            <a:r>
              <a:rPr lang="en-GB" sz="1100" dirty="0">
                <a:solidFill>
                  <a:schemeClr val="tx1">
                    <a:lumMod val="50000"/>
                    <a:lumOff val="50000"/>
                  </a:schemeClr>
                </a:solidFill>
              </a:rPr>
              <a:t>N-gram overlap</a:t>
            </a:r>
          </a:p>
        </p:txBody>
      </p:sp>
      <p:cxnSp>
        <p:nvCxnSpPr>
          <p:cNvPr id="23" name="Connecteur droit avec flèche 22">
            <a:extLst>
              <a:ext uri="{FF2B5EF4-FFF2-40B4-BE49-F238E27FC236}">
                <a16:creationId xmlns:a16="http://schemas.microsoft.com/office/drawing/2014/main" id="{1B87033E-269A-CFF8-4F28-EE399A7DE0B4}"/>
              </a:ext>
            </a:extLst>
          </p:cNvPr>
          <p:cNvCxnSpPr>
            <a:cxnSpLocks/>
            <a:stCxn id="21" idx="1"/>
          </p:cNvCxnSpPr>
          <p:nvPr/>
        </p:nvCxnSpPr>
        <p:spPr>
          <a:xfrm flipH="1">
            <a:off x="6768000" y="2476504"/>
            <a:ext cx="948457" cy="542781"/>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F8214BD3-8C6B-55AB-0DB3-68C21CC32037}"/>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F1029F1F-A9D7-AF9C-0850-CA7B911E958C}"/>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8B390A2A-2B82-82CA-C591-BDD5A3DDE2B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NMT Evaluation with Bilingual Evaluation Understudy (</a:t>
            </a:r>
            <a:r>
              <a:rPr lang="en-GB" sz="2800" b="1" i="0" u="none" strike="noStrike" dirty="0">
                <a:solidFill>
                  <a:schemeClr val="accent4"/>
                </a:solidFill>
                <a:effectLst/>
                <a:latin typeface="ui-sans-serif"/>
              </a:rPr>
              <a:t>BLEU</a:t>
            </a:r>
            <a:r>
              <a:rPr lang="en-GB" sz="2800" b="1" i="0" u="none" strike="noStrike" dirty="0">
                <a:effectLst/>
                <a:latin typeface="ui-sans-serif"/>
              </a:rPr>
              <a:t>)</a:t>
            </a:r>
          </a:p>
        </p:txBody>
      </p:sp>
      <p:sp>
        <p:nvSpPr>
          <p:cNvPr id="3" name="ZoneTexte 2">
            <a:extLst>
              <a:ext uri="{FF2B5EF4-FFF2-40B4-BE49-F238E27FC236}">
                <a16:creationId xmlns:a16="http://schemas.microsoft.com/office/drawing/2014/main" id="{E65B300B-D592-2004-F8C5-AC5AFDD2DF17}"/>
              </a:ext>
            </a:extLst>
          </p:cNvPr>
          <p:cNvSpPr txBox="1"/>
          <p:nvPr/>
        </p:nvSpPr>
        <p:spPr>
          <a:xfrm>
            <a:off x="859220" y="2044099"/>
            <a:ext cx="10515599" cy="457173"/>
          </a:xfrm>
          <a:prstGeom prst="rect">
            <a:avLst/>
          </a:prstGeom>
          <a:noFill/>
        </p:spPr>
        <p:txBody>
          <a:bodyPr wrap="square" rtlCol="0">
            <a:noAutofit/>
          </a:bodyPr>
          <a:lstStyle/>
          <a:p>
            <a:r>
              <a:rPr lang="en-GB" sz="1800" i="0" u="none" strike="noStrike" dirty="0">
                <a:effectLst/>
                <a:latin typeface="ui-sans-serif"/>
              </a:rPr>
              <a:t>Intuition: measure similarity using n-gram overlap.</a:t>
            </a:r>
            <a:endParaRPr lang="en-GB" dirty="0"/>
          </a:p>
        </p:txBody>
      </p:sp>
      <p:sp>
        <p:nvSpPr>
          <p:cNvPr id="21" name="ZoneTexte 20">
            <a:extLst>
              <a:ext uri="{FF2B5EF4-FFF2-40B4-BE49-F238E27FC236}">
                <a16:creationId xmlns:a16="http://schemas.microsoft.com/office/drawing/2014/main" id="{F4B8DAEF-5DA0-61E7-FE31-49549D02DC2A}"/>
              </a:ext>
            </a:extLst>
          </p:cNvPr>
          <p:cNvSpPr txBox="1"/>
          <p:nvPr/>
        </p:nvSpPr>
        <p:spPr>
          <a:xfrm>
            <a:off x="7716457" y="2349546"/>
            <a:ext cx="2035277" cy="253916"/>
          </a:xfrm>
          <a:prstGeom prst="rect">
            <a:avLst/>
          </a:prstGeom>
          <a:noFill/>
        </p:spPr>
        <p:txBody>
          <a:bodyPr wrap="square" rtlCol="0">
            <a:spAutoFit/>
          </a:bodyPr>
          <a:lstStyle/>
          <a:p>
            <a:pPr algn="ctr"/>
            <a:r>
              <a:rPr lang="en-GB" sz="1050" dirty="0">
                <a:solidFill>
                  <a:schemeClr val="tx1">
                    <a:lumMod val="50000"/>
                    <a:lumOff val="50000"/>
                  </a:schemeClr>
                </a:solidFill>
              </a:rPr>
              <a:t>1-gram, 2-gram, 3-gram, 4-gram</a:t>
            </a:r>
          </a:p>
        </p:txBody>
      </p: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CA05A031-054A-D8C8-EDBE-352B388D0BE6}"/>
                  </a:ext>
                </a:extLst>
              </p:cNvPr>
              <p:cNvSpPr txBox="1"/>
              <p:nvPr/>
            </p:nvSpPr>
            <p:spPr>
              <a:xfrm>
                <a:off x="2113533" y="4906098"/>
                <a:ext cx="4885248"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𝑝𝑟𝑒𝑐𝑖𝑠𝑖𝑜</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𝑛</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nary>
                            <m:naryPr>
                              <m:chr m:val="∑"/>
                              <m:supHide m:val="on"/>
                              <m:ctrlPr>
                                <a:rPr lang="fr-FR" sz="1600" i="1">
                                  <a:latin typeface="Cambria Math" panose="02040503050406030204" pitchFamily="18" charset="0"/>
                                </a:rPr>
                              </m:ctrlPr>
                            </m:naryPr>
                            <m:sub>
                              <m:r>
                                <m:rPr>
                                  <m:brk m:alnAt="7"/>
                                </m:rPr>
                                <a:rPr lang="fr-FR" sz="1600" i="1">
                                  <a:latin typeface="Cambria Math" panose="02040503050406030204" pitchFamily="18" charset="0"/>
                                </a:rPr>
                                <m:t>𝐶</m:t>
                              </m:r>
                              <m:r>
                                <a:rPr lang="fr-FR" sz="1600" i="1">
                                  <a:latin typeface="Cambria Math" panose="02040503050406030204" pitchFamily="18" charset="0"/>
                                </a:rPr>
                                <m:t>∈</m:t>
                              </m:r>
                              <m:r>
                                <a:rPr lang="fr-FR" sz="1600" i="1">
                                  <a:latin typeface="Cambria Math" panose="02040503050406030204" pitchFamily="18" charset="0"/>
                                </a:rPr>
                                <m:t>𝐶𝑎𝑛𝑑𝑖𝑑𝑎𝑡𝑒𝑠</m:t>
                              </m:r>
                            </m:sub>
                            <m:sup/>
                            <m:e>
                              <m:nary>
                                <m:naryPr>
                                  <m:chr m:val="∑"/>
                                  <m:supHide m:val="on"/>
                                  <m:ctrlPr>
                                    <a:rPr lang="fr-FR" sz="1600" i="1" smtClean="0">
                                      <a:latin typeface="Cambria Math" panose="02040503050406030204" pitchFamily="18" charset="0"/>
                                    </a:rPr>
                                  </m:ctrlPr>
                                </m:naryPr>
                                <m:sub>
                                  <m:r>
                                    <m:rPr>
                                      <m:brk m:alnAt="7"/>
                                    </m:rP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𝐶</m:t>
                                  </m:r>
                                </m:sub>
                                <m:sup/>
                                <m:e>
                                  <m:func>
                                    <m:funcPr>
                                      <m:ctrlPr>
                                        <a:rPr lang="fr-FR" sz="1600" b="0" i="1" smtClean="0">
                                          <a:latin typeface="Cambria Math" panose="02040503050406030204" pitchFamily="18" charset="0"/>
                                        </a:rPr>
                                      </m:ctrlPr>
                                    </m:funcPr>
                                    <m:fName>
                                      <m:r>
                                        <m:rPr>
                                          <m:sty m:val="p"/>
                                        </m:rPr>
                                        <a:rPr lang="fr-FR" sz="1600" b="0" i="0" smtClean="0">
                                          <a:latin typeface="Cambria Math" panose="02040503050406030204" pitchFamily="18" charset="0"/>
                                        </a:rPr>
                                        <m:t>min</m:t>
                                      </m:r>
                                    </m:fName>
                                    <m:e>
                                      <m:d>
                                        <m:dPr>
                                          <m:ctrlPr>
                                            <a:rPr lang="fr-FR" sz="1600" b="0" i="1" smtClean="0">
                                              <a:latin typeface="Cambria Math" panose="02040503050406030204" pitchFamily="18" charset="0"/>
                                            </a:rPr>
                                          </m:ctrlPr>
                                        </m:dPr>
                                        <m:e>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𝑐𝑎𝑛𝑑</m:t>
                                              </m:r>
                                              <m:r>
                                                <a:rPr lang="fr-FR" sz="1600" b="0" i="1" smtClean="0">
                                                  <a:latin typeface="Cambria Math" panose="02040503050406030204" pitchFamily="18" charset="0"/>
                                                </a:rPr>
                                                <m:t>_</m:t>
                                              </m:r>
                                              <m:r>
                                                <a:rPr lang="fr-FR" sz="1600" b="0" i="1" smtClean="0">
                                                  <a:latin typeface="Cambria Math" panose="02040503050406030204" pitchFamily="18" charset="0"/>
                                                </a:rPr>
                                                <m:t>𝑚𝑎𝑡𝑐h</m:t>
                                              </m:r>
                                            </m:sub>
                                            <m:sup>
                                              <m:r>
                                                <a:rPr lang="fr-FR" sz="1600" b="0" i="1" smtClean="0">
                                                  <a:latin typeface="Cambria Math" panose="02040503050406030204" pitchFamily="18" charset="0"/>
                                                </a:rPr>
                                                <m:t>𝑖</m:t>
                                              </m:r>
                                            </m:sup>
                                          </m:sSubSup>
                                          <m:r>
                                            <a:rPr lang="fr-FR" sz="1600" b="0" i="1" smtClean="0">
                                              <a:latin typeface="Cambria Math" panose="02040503050406030204" pitchFamily="18" charset="0"/>
                                            </a:rPr>
                                            <m:t>, </m:t>
                                          </m:r>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𝑟𝑒𝑓</m:t>
                                              </m:r>
                                            </m:sub>
                                            <m:sup>
                                              <m:r>
                                                <a:rPr lang="fr-FR" sz="1600" b="0" i="1" smtClean="0">
                                                  <a:latin typeface="Cambria Math" panose="02040503050406030204" pitchFamily="18" charset="0"/>
                                                </a:rPr>
                                                <m:t>𝑖</m:t>
                                              </m:r>
                                            </m:sup>
                                          </m:sSubSup>
                                        </m:e>
                                      </m:d>
                                    </m:e>
                                  </m:func>
                                </m:e>
                              </m:nary>
                            </m:e>
                          </m:nary>
                        </m:num>
                        <m:den>
                          <m:nary>
                            <m:naryPr>
                              <m:chr m:val="∑"/>
                              <m:supHide m:val="on"/>
                              <m:ctrlPr>
                                <a:rPr lang="fr-FR" sz="1600" b="0" i="1" smtClean="0">
                                  <a:latin typeface="Cambria Math" panose="02040503050406030204" pitchFamily="18" charset="0"/>
                                </a:rPr>
                              </m:ctrlPr>
                            </m:naryPr>
                            <m:sub>
                              <m:r>
                                <m:rPr>
                                  <m:brk m:alnAt="7"/>
                                </m:rPr>
                                <a:rPr lang="fr-FR" sz="1600" b="0" i="1" smtClean="0">
                                  <a:latin typeface="Cambria Math" panose="02040503050406030204" pitchFamily="18" charset="0"/>
                                </a:rPr>
                                <m:t>𝑐</m:t>
                              </m:r>
                              <m:r>
                                <a:rPr lang="fr-FR" sz="1600" b="0" i="1" smtClean="0">
                                  <a:latin typeface="Cambria Math" panose="02040503050406030204" pitchFamily="18" charset="0"/>
                                </a:rPr>
                                <m:t>∈</m:t>
                              </m:r>
                              <m:r>
                                <a:rPr lang="fr-FR" sz="1600" b="0" i="1" smtClean="0">
                                  <a:latin typeface="Cambria Math" panose="02040503050406030204" pitchFamily="18" charset="0"/>
                                </a:rPr>
                                <m:t>𝐶𝑎𝑛𝑑𝑖𝑑𝑎𝑡𝑒𝑠</m:t>
                              </m:r>
                            </m:sub>
                            <m:sup/>
                            <m:e>
                              <m:nary>
                                <m:naryPr>
                                  <m:chr m:val="∑"/>
                                  <m:supHide m:val="on"/>
                                  <m:ctrlPr>
                                    <a:rPr lang="fr-FR" sz="1600" b="0" i="1" smtClean="0">
                                      <a:latin typeface="Cambria Math" panose="02040503050406030204" pitchFamily="18" charset="0"/>
                                    </a:rPr>
                                  </m:ctrlPr>
                                </m:naryPr>
                                <m:sub>
                                  <m:r>
                                    <m:rPr>
                                      <m:brk m:alnAt="7"/>
                                    </m:rP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𝐶</m:t>
                                  </m:r>
                                </m:sub>
                                <m:sup/>
                                <m:e>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𝑐𝑎𝑛𝑑</m:t>
                                      </m:r>
                                    </m:sub>
                                    <m:sup>
                                      <m:r>
                                        <a:rPr lang="fr-FR" sz="1600" b="0" i="1" smtClean="0">
                                          <a:latin typeface="Cambria Math" panose="02040503050406030204" pitchFamily="18" charset="0"/>
                                        </a:rPr>
                                        <m:t>𝑖</m:t>
                                      </m:r>
                                    </m:sup>
                                  </m:sSubSup>
                                </m:e>
                              </m:nary>
                            </m:e>
                          </m:nary>
                        </m:den>
                      </m:f>
                    </m:oMath>
                  </m:oMathPara>
                </a14:m>
                <a:endParaRPr lang="en-GB" sz="1600" dirty="0"/>
              </a:p>
            </p:txBody>
          </p:sp>
        </mc:Choice>
        <mc:Fallback xmlns="">
          <p:sp>
            <p:nvSpPr>
              <p:cNvPr id="26" name="ZoneTexte 25">
                <a:extLst>
                  <a:ext uri="{FF2B5EF4-FFF2-40B4-BE49-F238E27FC236}">
                    <a16:creationId xmlns:a16="http://schemas.microsoft.com/office/drawing/2014/main" id="{CA05A031-054A-D8C8-EDBE-352B388D0BE6}"/>
                  </a:ext>
                </a:extLst>
              </p:cNvPr>
              <p:cNvSpPr txBox="1">
                <a:spLocks noRot="1" noChangeAspect="1" noMove="1" noResize="1" noEditPoints="1" noAdjustHandles="1" noChangeArrowheads="1" noChangeShapeType="1" noTextEdit="1"/>
              </p:cNvSpPr>
              <p:nvPr/>
            </p:nvSpPr>
            <p:spPr>
              <a:xfrm>
                <a:off x="2113533" y="4906098"/>
                <a:ext cx="4885248" cy="601447"/>
              </a:xfrm>
              <a:prstGeom prst="rect">
                <a:avLst/>
              </a:prstGeom>
              <a:blipFill>
                <a:blip r:embed="rId3"/>
                <a:stretch>
                  <a:fillRect l="-1036" t="-66667" b="-106250"/>
                </a:stretch>
              </a:blipFill>
            </p:spPr>
            <p:txBody>
              <a:bodyPr/>
              <a:lstStyle/>
              <a:p>
                <a:r>
                  <a:rPr lang="en-GB">
                    <a:noFill/>
                  </a:rPr>
                  <a:t> </a:t>
                </a:r>
              </a:p>
            </p:txBody>
          </p:sp>
        </mc:Fallback>
      </mc:AlternateContent>
      <p:cxnSp>
        <p:nvCxnSpPr>
          <p:cNvPr id="28" name="Connecteur droit avec flèche 27">
            <a:extLst>
              <a:ext uri="{FF2B5EF4-FFF2-40B4-BE49-F238E27FC236}">
                <a16:creationId xmlns:a16="http://schemas.microsoft.com/office/drawing/2014/main" id="{12ED8015-8962-99D0-963C-EEB9C58C576A}"/>
              </a:ext>
            </a:extLst>
          </p:cNvPr>
          <p:cNvCxnSpPr>
            <a:cxnSpLocks/>
          </p:cNvCxnSpPr>
          <p:nvPr/>
        </p:nvCxnSpPr>
        <p:spPr>
          <a:xfrm>
            <a:off x="2880852" y="4588922"/>
            <a:ext cx="973393" cy="435362"/>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36072D61-3DF4-FC5C-8344-D7590248EADD}"/>
              </a:ext>
            </a:extLst>
          </p:cNvPr>
          <p:cNvSpPr txBox="1"/>
          <p:nvPr/>
        </p:nvSpPr>
        <p:spPr>
          <a:xfrm>
            <a:off x="838199" y="4461964"/>
            <a:ext cx="2035277" cy="253916"/>
          </a:xfrm>
          <a:prstGeom prst="rect">
            <a:avLst/>
          </a:prstGeom>
          <a:noFill/>
        </p:spPr>
        <p:txBody>
          <a:bodyPr wrap="square" rtlCol="0">
            <a:spAutoFit/>
          </a:bodyPr>
          <a:lstStyle/>
          <a:p>
            <a:pPr algn="r"/>
            <a:r>
              <a:rPr lang="en-GB" sz="1050" dirty="0">
                <a:solidFill>
                  <a:schemeClr val="tx1">
                    <a:lumMod val="50000"/>
                    <a:lumOff val="50000"/>
                  </a:schemeClr>
                </a:solidFill>
              </a:rPr>
              <a:t>For every candidate sentence…</a:t>
            </a:r>
          </a:p>
        </p:txBody>
      </p:sp>
      <p:sp>
        <p:nvSpPr>
          <p:cNvPr id="33" name="ZoneTexte 32">
            <a:extLst>
              <a:ext uri="{FF2B5EF4-FFF2-40B4-BE49-F238E27FC236}">
                <a16:creationId xmlns:a16="http://schemas.microsoft.com/office/drawing/2014/main" id="{93DA5C99-29D8-4FA7-5615-69E6525C2E77}"/>
              </a:ext>
            </a:extLst>
          </p:cNvPr>
          <p:cNvSpPr txBox="1"/>
          <p:nvPr/>
        </p:nvSpPr>
        <p:spPr>
          <a:xfrm>
            <a:off x="7183728" y="4668756"/>
            <a:ext cx="2461718" cy="253916"/>
          </a:xfrm>
          <a:prstGeom prst="rect">
            <a:avLst/>
          </a:prstGeom>
          <a:noFill/>
        </p:spPr>
        <p:txBody>
          <a:bodyPr wrap="square" rtlCol="0">
            <a:spAutoFit/>
          </a:bodyPr>
          <a:lstStyle/>
          <a:p>
            <a:r>
              <a:rPr lang="en-GB" sz="1050" dirty="0">
                <a:solidFill>
                  <a:schemeClr val="tx1">
                    <a:lumMod val="50000"/>
                    <a:lumOff val="50000"/>
                  </a:schemeClr>
                </a:solidFill>
              </a:rPr>
              <a:t>Frequency of same </a:t>
            </a:r>
            <a:r>
              <a:rPr lang="en-GB" sz="1050" dirty="0" err="1">
                <a:solidFill>
                  <a:schemeClr val="tx1">
                    <a:lumMod val="50000"/>
                    <a:lumOff val="50000"/>
                  </a:schemeClr>
                </a:solidFill>
              </a:rPr>
              <a:t>i</a:t>
            </a:r>
            <a:r>
              <a:rPr lang="en-GB" sz="1050" dirty="0">
                <a:solidFill>
                  <a:schemeClr val="tx1">
                    <a:lumMod val="50000"/>
                    <a:lumOff val="50000"/>
                  </a:schemeClr>
                </a:solidFill>
              </a:rPr>
              <a:t>-gram in reference.</a:t>
            </a:r>
          </a:p>
        </p:txBody>
      </p:sp>
      <p:cxnSp>
        <p:nvCxnSpPr>
          <p:cNvPr id="34" name="Connecteur droit avec flèche 33">
            <a:extLst>
              <a:ext uri="{FF2B5EF4-FFF2-40B4-BE49-F238E27FC236}">
                <a16:creationId xmlns:a16="http://schemas.microsoft.com/office/drawing/2014/main" id="{4F77D2F4-AF33-AD5A-2B04-7E7F311CCC0B}"/>
              </a:ext>
            </a:extLst>
          </p:cNvPr>
          <p:cNvCxnSpPr>
            <a:cxnSpLocks/>
            <a:stCxn id="33" idx="1"/>
          </p:cNvCxnSpPr>
          <p:nvPr/>
        </p:nvCxnSpPr>
        <p:spPr>
          <a:xfrm flipH="1">
            <a:off x="6768000" y="4795714"/>
            <a:ext cx="415728" cy="22857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7" name="ZoneTexte 36">
            <a:extLst>
              <a:ext uri="{FF2B5EF4-FFF2-40B4-BE49-F238E27FC236}">
                <a16:creationId xmlns:a16="http://schemas.microsoft.com/office/drawing/2014/main" id="{E591DB71-FF46-4E86-1824-BC82FE370554}"/>
              </a:ext>
            </a:extLst>
          </p:cNvPr>
          <p:cNvSpPr txBox="1"/>
          <p:nvPr/>
        </p:nvSpPr>
        <p:spPr>
          <a:xfrm>
            <a:off x="3346868" y="4399284"/>
            <a:ext cx="2568007" cy="253916"/>
          </a:xfrm>
          <a:prstGeom prst="rect">
            <a:avLst/>
          </a:prstGeom>
          <a:noFill/>
        </p:spPr>
        <p:txBody>
          <a:bodyPr wrap="square" rtlCol="0">
            <a:spAutoFit/>
          </a:bodyPr>
          <a:lstStyle/>
          <a:p>
            <a:pPr algn="ctr"/>
            <a:r>
              <a:rPr lang="en-GB" sz="1050" dirty="0">
                <a:solidFill>
                  <a:schemeClr val="tx1">
                    <a:lumMod val="50000"/>
                    <a:lumOff val="50000"/>
                  </a:schemeClr>
                </a:solidFill>
              </a:rPr>
              <a:t>Frequency of same </a:t>
            </a:r>
            <a:r>
              <a:rPr lang="en-GB" sz="1050" dirty="0" err="1">
                <a:solidFill>
                  <a:schemeClr val="tx1">
                    <a:lumMod val="50000"/>
                    <a:lumOff val="50000"/>
                  </a:schemeClr>
                </a:solidFill>
              </a:rPr>
              <a:t>i</a:t>
            </a:r>
            <a:r>
              <a:rPr lang="en-GB" sz="1050" dirty="0">
                <a:solidFill>
                  <a:schemeClr val="tx1">
                    <a:lumMod val="50000"/>
                    <a:lumOff val="50000"/>
                  </a:schemeClr>
                </a:solidFill>
              </a:rPr>
              <a:t>-gram in reference.</a:t>
            </a:r>
          </a:p>
        </p:txBody>
      </p:sp>
      <p:cxnSp>
        <p:nvCxnSpPr>
          <p:cNvPr id="38" name="Connecteur droit avec flèche 37">
            <a:extLst>
              <a:ext uri="{FF2B5EF4-FFF2-40B4-BE49-F238E27FC236}">
                <a16:creationId xmlns:a16="http://schemas.microsoft.com/office/drawing/2014/main" id="{D7D3864F-6FCA-3B34-9D5D-AAEEDAE8AF55}"/>
              </a:ext>
            </a:extLst>
          </p:cNvPr>
          <p:cNvCxnSpPr>
            <a:cxnSpLocks/>
          </p:cNvCxnSpPr>
          <p:nvPr/>
        </p:nvCxnSpPr>
        <p:spPr>
          <a:xfrm>
            <a:off x="4621564" y="4633536"/>
            <a:ext cx="225613" cy="390748"/>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4" name="ZoneTexte 43">
            <a:extLst>
              <a:ext uri="{FF2B5EF4-FFF2-40B4-BE49-F238E27FC236}">
                <a16:creationId xmlns:a16="http://schemas.microsoft.com/office/drawing/2014/main" id="{F61E39E6-64DC-55BB-FB63-A668D86163A6}"/>
              </a:ext>
            </a:extLst>
          </p:cNvPr>
          <p:cNvSpPr txBox="1"/>
          <p:nvPr/>
        </p:nvSpPr>
        <p:spPr>
          <a:xfrm>
            <a:off x="6594341" y="4388850"/>
            <a:ext cx="3287078" cy="253916"/>
          </a:xfrm>
          <a:prstGeom prst="rect">
            <a:avLst/>
          </a:prstGeom>
          <a:noFill/>
        </p:spPr>
        <p:txBody>
          <a:bodyPr wrap="square" rtlCol="0">
            <a:spAutoFit/>
          </a:bodyPr>
          <a:lstStyle/>
          <a:p>
            <a:r>
              <a:rPr lang="en-GB" sz="1050" dirty="0">
                <a:solidFill>
                  <a:schemeClr val="tx1">
                    <a:lumMod val="50000"/>
                    <a:lumOff val="50000"/>
                  </a:schemeClr>
                </a:solidFill>
              </a:rPr>
              <a:t>Frequency of matching </a:t>
            </a:r>
            <a:r>
              <a:rPr lang="en-GB" sz="1050" dirty="0" err="1">
                <a:solidFill>
                  <a:schemeClr val="tx1">
                    <a:lumMod val="50000"/>
                    <a:lumOff val="50000"/>
                  </a:schemeClr>
                </a:solidFill>
              </a:rPr>
              <a:t>i</a:t>
            </a:r>
            <a:r>
              <a:rPr lang="en-GB" sz="1050" dirty="0">
                <a:solidFill>
                  <a:schemeClr val="tx1">
                    <a:lumMod val="50000"/>
                    <a:lumOff val="50000"/>
                  </a:schemeClr>
                </a:solidFill>
              </a:rPr>
              <a:t>-gram occurring in candidate.</a:t>
            </a:r>
          </a:p>
        </p:txBody>
      </p:sp>
      <p:cxnSp>
        <p:nvCxnSpPr>
          <p:cNvPr id="45" name="Connecteur droit avec flèche 44">
            <a:extLst>
              <a:ext uri="{FF2B5EF4-FFF2-40B4-BE49-F238E27FC236}">
                <a16:creationId xmlns:a16="http://schemas.microsoft.com/office/drawing/2014/main" id="{C2CC5E2C-0752-EE12-B0FD-AFD0A325665C}"/>
              </a:ext>
            </a:extLst>
          </p:cNvPr>
          <p:cNvCxnSpPr>
            <a:cxnSpLocks/>
          </p:cNvCxnSpPr>
          <p:nvPr/>
        </p:nvCxnSpPr>
        <p:spPr>
          <a:xfrm flipH="1">
            <a:off x="5686555" y="4598754"/>
            <a:ext cx="988972" cy="42553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A7CE2597-2EAD-3373-1F10-22D24236974B}"/>
              </a:ext>
            </a:extLst>
          </p:cNvPr>
          <p:cNvSpPr txBox="1"/>
          <p:nvPr/>
        </p:nvSpPr>
        <p:spPr>
          <a:xfrm>
            <a:off x="4174480" y="5770877"/>
            <a:ext cx="2461718" cy="253916"/>
          </a:xfrm>
          <a:prstGeom prst="rect">
            <a:avLst/>
          </a:prstGeom>
          <a:noFill/>
        </p:spPr>
        <p:txBody>
          <a:bodyPr wrap="square" rtlCol="0">
            <a:spAutoFit/>
          </a:bodyPr>
          <a:lstStyle/>
          <a:p>
            <a:r>
              <a:rPr lang="en-GB" sz="1050" dirty="0">
                <a:solidFill>
                  <a:schemeClr val="tx1">
                    <a:lumMod val="50000"/>
                    <a:lumOff val="50000"/>
                  </a:schemeClr>
                </a:solidFill>
              </a:rPr>
              <a:t>Number of </a:t>
            </a:r>
            <a:r>
              <a:rPr lang="en-GB" sz="1050" dirty="0" err="1">
                <a:solidFill>
                  <a:schemeClr val="tx1">
                    <a:lumMod val="50000"/>
                    <a:lumOff val="50000"/>
                  </a:schemeClr>
                </a:solidFill>
              </a:rPr>
              <a:t>i</a:t>
            </a:r>
            <a:r>
              <a:rPr lang="en-GB" sz="1050" dirty="0">
                <a:solidFill>
                  <a:schemeClr val="tx1">
                    <a:lumMod val="50000"/>
                    <a:lumOff val="50000"/>
                  </a:schemeClr>
                </a:solidFill>
              </a:rPr>
              <a:t>-grams in the candidates.</a:t>
            </a:r>
          </a:p>
        </p:txBody>
      </p:sp>
      <p:cxnSp>
        <p:nvCxnSpPr>
          <p:cNvPr id="7" name="Connecteur droit avec flèche 6">
            <a:extLst>
              <a:ext uri="{FF2B5EF4-FFF2-40B4-BE49-F238E27FC236}">
                <a16:creationId xmlns:a16="http://schemas.microsoft.com/office/drawing/2014/main" id="{9F13AE57-D841-52D2-AE9D-84367F95B36E}"/>
              </a:ext>
            </a:extLst>
          </p:cNvPr>
          <p:cNvCxnSpPr>
            <a:cxnSpLocks/>
          </p:cNvCxnSpPr>
          <p:nvPr/>
        </p:nvCxnSpPr>
        <p:spPr>
          <a:xfrm flipV="1">
            <a:off x="5055041" y="5576032"/>
            <a:ext cx="0" cy="171723"/>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004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A42C1-8F17-2469-6FBB-060E6BF6E6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6F9DC7-526D-481D-3E50-13A38597C7D8}"/>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8ECCA2F7-5387-88F6-D383-AE3E6453938F}"/>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9EA89353-B68C-5F30-A9B6-0922031FCFCD}"/>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NMT Evaluation with Bilingual Evaluation Understudy (</a:t>
            </a:r>
            <a:r>
              <a:rPr lang="en-GB" sz="2800" b="1" i="0" u="none" strike="noStrike" dirty="0">
                <a:solidFill>
                  <a:schemeClr val="accent4"/>
                </a:solidFill>
                <a:effectLst/>
                <a:latin typeface="ui-sans-serif"/>
              </a:rPr>
              <a:t>BLEU</a:t>
            </a:r>
            <a:r>
              <a:rPr lang="en-GB" sz="2800" b="1" i="0" u="none" strike="noStrike" dirty="0">
                <a:effectLst/>
                <a:latin typeface="ui-sans-serif"/>
              </a:rPr>
              <a:t>)</a:t>
            </a:r>
          </a:p>
        </p:txBody>
      </p:sp>
      <p:sp>
        <p:nvSpPr>
          <p:cNvPr id="3" name="ZoneTexte 2">
            <a:extLst>
              <a:ext uri="{FF2B5EF4-FFF2-40B4-BE49-F238E27FC236}">
                <a16:creationId xmlns:a16="http://schemas.microsoft.com/office/drawing/2014/main" id="{8E85CB4A-57F7-F78D-6BB5-D236E6E651F9}"/>
              </a:ext>
            </a:extLst>
          </p:cNvPr>
          <p:cNvSpPr txBox="1"/>
          <p:nvPr/>
        </p:nvSpPr>
        <p:spPr>
          <a:xfrm>
            <a:off x="859220" y="2044099"/>
            <a:ext cx="10515599" cy="457173"/>
          </a:xfrm>
          <a:prstGeom prst="rect">
            <a:avLst/>
          </a:prstGeom>
          <a:noFill/>
        </p:spPr>
        <p:txBody>
          <a:bodyPr wrap="square" rtlCol="0">
            <a:noAutofit/>
          </a:bodyPr>
          <a:lstStyle/>
          <a:p>
            <a:r>
              <a:rPr lang="en-GB" sz="1800" i="0" u="none" strike="noStrike" dirty="0">
                <a:effectLst/>
                <a:latin typeface="ui-sans-serif"/>
              </a:rPr>
              <a:t>Why is there a </a:t>
            </a:r>
            <a:r>
              <a:rPr lang="en-GB" sz="1800" i="0" u="none" strike="noStrike" dirty="0" err="1">
                <a:effectLst/>
                <a:latin typeface="ui-sans-serif"/>
              </a:rPr>
              <a:t>mininmum</a:t>
            </a:r>
            <a:r>
              <a:rPr lang="en-GB" sz="1800" i="0" u="none" strike="noStrike" dirty="0">
                <a:effectLst/>
                <a:latin typeface="ui-sans-serif"/>
              </a:rPr>
              <a:t> in the formula ?</a:t>
            </a:r>
            <a:endParaRPr lang="en-GB" dirty="0"/>
          </a:p>
        </p:txBody>
      </p: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9E1AD1D1-CDDC-3935-0635-D3A92904270E}"/>
                  </a:ext>
                </a:extLst>
              </p:cNvPr>
              <p:cNvSpPr txBox="1"/>
              <p:nvPr/>
            </p:nvSpPr>
            <p:spPr>
              <a:xfrm>
                <a:off x="2123769" y="4694072"/>
                <a:ext cx="3244645" cy="7502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fr-FR" sz="2000" b="0" i="1" smtClean="0">
                              <a:latin typeface="Cambria Math" panose="02040503050406030204" pitchFamily="18" charset="0"/>
                            </a:rPr>
                          </m:ctrlPr>
                        </m:fPr>
                        <m:num>
                          <m:func>
                            <m:funcPr>
                              <m:ctrlPr>
                                <a:rPr lang="fr-FR" sz="2000" i="1">
                                  <a:latin typeface="Cambria Math" panose="02040503050406030204" pitchFamily="18" charset="0"/>
                                </a:rPr>
                              </m:ctrlPr>
                            </m:funcPr>
                            <m:fName>
                              <m:r>
                                <m:rPr>
                                  <m:sty m:val="p"/>
                                </m:rPr>
                                <a:rPr lang="fr-FR" sz="2000">
                                  <a:latin typeface="Cambria Math" panose="02040503050406030204" pitchFamily="18" charset="0"/>
                                </a:rPr>
                                <m:t>min</m:t>
                              </m:r>
                            </m:fName>
                            <m:e>
                              <m:d>
                                <m:dPr>
                                  <m:ctrlPr>
                                    <a:rPr lang="fr-FR" sz="2000" i="1">
                                      <a:latin typeface="Cambria Math" panose="02040503050406030204" pitchFamily="18" charset="0"/>
                                    </a:rPr>
                                  </m:ctrlPr>
                                </m:dPr>
                                <m:e>
                                  <m:sSubSup>
                                    <m:sSubSupPr>
                                      <m:ctrlPr>
                                        <a:rPr lang="fr-FR" sz="2000" i="1">
                                          <a:latin typeface="Cambria Math" panose="02040503050406030204" pitchFamily="18" charset="0"/>
                                        </a:rPr>
                                      </m:ctrlPr>
                                    </m:sSubSupPr>
                                    <m:e>
                                      <m:r>
                                        <a:rPr lang="fr-FR" sz="2000" i="1">
                                          <a:latin typeface="Cambria Math" panose="02040503050406030204" pitchFamily="18" charset="0"/>
                                        </a:rPr>
                                        <m:t>𝑛</m:t>
                                      </m:r>
                                    </m:e>
                                    <m:sub>
                                      <m:r>
                                        <a:rPr lang="fr-FR" sz="2000" i="1">
                                          <a:latin typeface="Cambria Math" panose="02040503050406030204" pitchFamily="18" charset="0"/>
                                        </a:rPr>
                                        <m:t>𝑐𝑎𝑛𝑑</m:t>
                                      </m:r>
                                      <m:r>
                                        <a:rPr lang="fr-FR" sz="2000" i="1">
                                          <a:latin typeface="Cambria Math" panose="02040503050406030204" pitchFamily="18" charset="0"/>
                                        </a:rPr>
                                        <m:t>_</m:t>
                                      </m:r>
                                      <m:r>
                                        <a:rPr lang="fr-FR" sz="2000" i="1">
                                          <a:latin typeface="Cambria Math" panose="02040503050406030204" pitchFamily="18" charset="0"/>
                                        </a:rPr>
                                        <m:t>𝑚𝑎𝑡𝑐h</m:t>
                                      </m:r>
                                    </m:sub>
                                    <m:sup>
                                      <m:r>
                                        <a:rPr lang="fr-FR" sz="2000" i="1">
                                          <a:latin typeface="Cambria Math" panose="02040503050406030204" pitchFamily="18" charset="0"/>
                                        </a:rPr>
                                        <m:t>𝑖</m:t>
                                      </m:r>
                                    </m:sup>
                                  </m:sSubSup>
                                  <m:r>
                                    <a:rPr lang="fr-FR" sz="2000" i="1">
                                      <a:latin typeface="Cambria Math" panose="02040503050406030204" pitchFamily="18" charset="0"/>
                                    </a:rPr>
                                    <m:t>, </m:t>
                                  </m:r>
                                  <m:sSubSup>
                                    <m:sSubSupPr>
                                      <m:ctrlPr>
                                        <a:rPr lang="fr-FR" sz="2000" i="1">
                                          <a:latin typeface="Cambria Math" panose="02040503050406030204" pitchFamily="18" charset="0"/>
                                        </a:rPr>
                                      </m:ctrlPr>
                                    </m:sSubSupPr>
                                    <m:e>
                                      <m:r>
                                        <a:rPr lang="fr-FR" sz="2000" i="1">
                                          <a:latin typeface="Cambria Math" panose="02040503050406030204" pitchFamily="18" charset="0"/>
                                        </a:rPr>
                                        <m:t>𝑛</m:t>
                                      </m:r>
                                    </m:e>
                                    <m:sub>
                                      <m:r>
                                        <a:rPr lang="fr-FR" sz="2000" i="1">
                                          <a:latin typeface="Cambria Math" panose="02040503050406030204" pitchFamily="18" charset="0"/>
                                        </a:rPr>
                                        <m:t>𝑟𝑒𝑓</m:t>
                                      </m:r>
                                    </m:sub>
                                    <m:sup>
                                      <m:r>
                                        <a:rPr lang="fr-FR" sz="2000" i="1">
                                          <a:latin typeface="Cambria Math" panose="02040503050406030204" pitchFamily="18" charset="0"/>
                                        </a:rPr>
                                        <m:t>𝑖</m:t>
                                      </m:r>
                                    </m:sup>
                                  </m:sSubSup>
                                </m:e>
                              </m:d>
                            </m:e>
                          </m:func>
                        </m:num>
                        <m:den>
                          <m:sSubSup>
                            <m:sSubSupPr>
                              <m:ctrlPr>
                                <a:rPr lang="fr-FR" sz="2000" i="1">
                                  <a:latin typeface="Cambria Math" panose="02040503050406030204" pitchFamily="18" charset="0"/>
                                </a:rPr>
                              </m:ctrlPr>
                            </m:sSubSupPr>
                            <m:e>
                              <m:r>
                                <a:rPr lang="fr-FR" sz="2000" i="1">
                                  <a:latin typeface="Cambria Math" panose="02040503050406030204" pitchFamily="18" charset="0"/>
                                </a:rPr>
                                <m:t>𝑛</m:t>
                              </m:r>
                            </m:e>
                            <m:sub>
                              <m:r>
                                <a:rPr lang="fr-FR" sz="2000" i="1">
                                  <a:latin typeface="Cambria Math" panose="02040503050406030204" pitchFamily="18" charset="0"/>
                                </a:rPr>
                                <m:t>𝑐𝑎𝑛𝑑</m:t>
                              </m:r>
                            </m:sub>
                            <m:sup>
                              <m:r>
                                <a:rPr lang="fr-FR" sz="2000" i="1">
                                  <a:latin typeface="Cambria Math" panose="02040503050406030204" pitchFamily="18" charset="0"/>
                                </a:rPr>
                                <m:t>𝑖</m:t>
                              </m:r>
                            </m:sup>
                          </m:sSubSup>
                        </m:den>
                      </m:f>
                      <m:r>
                        <a:rPr lang="fr-FR" sz="2000" b="0" i="1" smtClean="0">
                          <a:latin typeface="Cambria Math" panose="02040503050406030204" pitchFamily="18" charset="0"/>
                        </a:rPr>
                        <m:t>=</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1</m:t>
                          </m:r>
                        </m:num>
                        <m:den>
                          <m:r>
                            <a:rPr lang="fr-FR" sz="2000" b="0" i="1" smtClean="0">
                              <a:latin typeface="Cambria Math" panose="02040503050406030204" pitchFamily="18" charset="0"/>
                            </a:rPr>
                            <m:t>7</m:t>
                          </m:r>
                        </m:den>
                      </m:f>
                    </m:oMath>
                  </m:oMathPara>
                </a14:m>
                <a:endParaRPr lang="fr-FR" sz="2000" b="0" dirty="0"/>
              </a:p>
            </p:txBody>
          </p:sp>
        </mc:Choice>
        <mc:Fallback xmlns="">
          <p:sp>
            <p:nvSpPr>
              <p:cNvPr id="26" name="ZoneTexte 25">
                <a:extLst>
                  <a:ext uri="{FF2B5EF4-FFF2-40B4-BE49-F238E27FC236}">
                    <a16:creationId xmlns:a16="http://schemas.microsoft.com/office/drawing/2014/main" id="{9E1AD1D1-CDDC-3935-0635-D3A92904270E}"/>
                  </a:ext>
                </a:extLst>
              </p:cNvPr>
              <p:cNvSpPr txBox="1">
                <a:spLocks noRot="1" noChangeAspect="1" noMove="1" noResize="1" noEditPoints="1" noAdjustHandles="1" noChangeArrowheads="1" noChangeShapeType="1" noTextEdit="1"/>
              </p:cNvSpPr>
              <p:nvPr/>
            </p:nvSpPr>
            <p:spPr>
              <a:xfrm>
                <a:off x="2123769" y="4694072"/>
                <a:ext cx="3244645" cy="750205"/>
              </a:xfrm>
              <a:prstGeom prst="rect">
                <a:avLst/>
              </a:prstGeom>
              <a:blipFill>
                <a:blip r:embed="rId2"/>
                <a:stretch>
                  <a:fillRect b="-10000"/>
                </a:stretch>
              </a:blipFill>
            </p:spPr>
            <p:txBody>
              <a:bodyPr/>
              <a:lstStyle/>
              <a:p>
                <a:r>
                  <a:rPr lang="en-GB">
                    <a:noFill/>
                  </a:rPr>
                  <a:t> </a:t>
                </a:r>
              </a:p>
            </p:txBody>
          </p:sp>
        </mc:Fallback>
      </mc:AlternateContent>
      <p:sp>
        <p:nvSpPr>
          <p:cNvPr id="8" name="ZoneTexte 7">
            <a:extLst>
              <a:ext uri="{FF2B5EF4-FFF2-40B4-BE49-F238E27FC236}">
                <a16:creationId xmlns:a16="http://schemas.microsoft.com/office/drawing/2014/main" id="{197D525D-8567-4444-09F2-4CED23CAA818}"/>
              </a:ext>
            </a:extLst>
          </p:cNvPr>
          <p:cNvSpPr txBox="1"/>
          <p:nvPr/>
        </p:nvSpPr>
        <p:spPr>
          <a:xfrm>
            <a:off x="838200" y="2758641"/>
            <a:ext cx="4294240" cy="365126"/>
          </a:xfrm>
          <a:prstGeom prst="rect">
            <a:avLst/>
          </a:prstGeom>
          <a:noFill/>
        </p:spPr>
        <p:txBody>
          <a:bodyPr wrap="square" rtlCol="0">
            <a:noAutofit/>
          </a:bodyPr>
          <a:lstStyle/>
          <a:p>
            <a:r>
              <a:rPr lang="en-GB" sz="1800" i="0" u="none" strike="noStrike" dirty="0">
                <a:effectLst/>
                <a:latin typeface="ui-sans-serif"/>
              </a:rPr>
              <a:t>My dog is dating the fire hydrant</a:t>
            </a:r>
            <a:endParaRPr lang="en-GB" dirty="0"/>
          </a:p>
        </p:txBody>
      </p:sp>
      <p:sp>
        <p:nvSpPr>
          <p:cNvPr id="9" name="ZoneTexte 8">
            <a:extLst>
              <a:ext uri="{FF2B5EF4-FFF2-40B4-BE49-F238E27FC236}">
                <a16:creationId xmlns:a16="http://schemas.microsoft.com/office/drawing/2014/main" id="{10C8E40B-95EF-1965-0644-CFCCEAB72410}"/>
              </a:ext>
            </a:extLst>
          </p:cNvPr>
          <p:cNvSpPr txBox="1"/>
          <p:nvPr/>
        </p:nvSpPr>
        <p:spPr>
          <a:xfrm>
            <a:off x="838199" y="3420245"/>
            <a:ext cx="4294240" cy="365126"/>
          </a:xfrm>
          <a:prstGeom prst="rect">
            <a:avLst/>
          </a:prstGeom>
          <a:noFill/>
        </p:spPr>
        <p:txBody>
          <a:bodyPr wrap="square" rtlCol="0">
            <a:noAutofit/>
          </a:bodyPr>
          <a:lstStyle/>
          <a:p>
            <a:r>
              <a:rPr lang="en-GB" sz="1800" i="0" u="none" strike="noStrike" dirty="0">
                <a:solidFill>
                  <a:schemeClr val="accent1"/>
                </a:solidFill>
                <a:effectLst/>
                <a:latin typeface="ui-sans-serif"/>
              </a:rPr>
              <a:t>dog dog dog dog dog dog dog</a:t>
            </a:r>
            <a:endParaRPr lang="en-GB" dirty="0">
              <a:solidFill>
                <a:schemeClr val="accent1"/>
              </a:solidFill>
            </a:endParaRPr>
          </a:p>
        </p:txBody>
      </p:sp>
      <p:sp>
        <p:nvSpPr>
          <p:cNvPr id="10" name="ZoneTexte 9">
            <a:extLst>
              <a:ext uri="{FF2B5EF4-FFF2-40B4-BE49-F238E27FC236}">
                <a16:creationId xmlns:a16="http://schemas.microsoft.com/office/drawing/2014/main" id="{CC9FAB13-10DA-01AD-6CB7-BA19BEE2E8C0}"/>
              </a:ext>
            </a:extLst>
          </p:cNvPr>
          <p:cNvSpPr txBox="1"/>
          <p:nvPr/>
        </p:nvSpPr>
        <p:spPr>
          <a:xfrm>
            <a:off x="4587976" y="3413535"/>
            <a:ext cx="4294240" cy="280187"/>
          </a:xfrm>
          <a:prstGeom prst="rect">
            <a:avLst/>
          </a:prstGeom>
          <a:noFill/>
        </p:spPr>
        <p:txBody>
          <a:bodyPr wrap="square" rtlCol="0">
            <a:noAutofit/>
          </a:bodyPr>
          <a:lstStyle/>
          <a:p>
            <a:r>
              <a:rPr lang="en-GB" sz="1800" b="1" i="0" u="none" strike="noStrike" dirty="0">
                <a:effectLst/>
                <a:latin typeface="ui-sans-serif"/>
              </a:rPr>
              <a:t>Candidate</a:t>
            </a:r>
            <a:r>
              <a:rPr lang="en-GB" sz="1800" i="0" u="none" strike="noStrike" dirty="0">
                <a:effectLst/>
                <a:latin typeface="ui-sans-serif"/>
              </a:rPr>
              <a:t> (machine translation)</a:t>
            </a:r>
            <a:endParaRPr lang="en-GB" dirty="0"/>
          </a:p>
        </p:txBody>
      </p:sp>
      <p:sp>
        <p:nvSpPr>
          <p:cNvPr id="12" name="Accolade fermante 11">
            <a:extLst>
              <a:ext uri="{FF2B5EF4-FFF2-40B4-BE49-F238E27FC236}">
                <a16:creationId xmlns:a16="http://schemas.microsoft.com/office/drawing/2014/main" id="{9AB387A1-3524-554F-3089-8A732D38F246}"/>
              </a:ext>
            </a:extLst>
          </p:cNvPr>
          <p:cNvSpPr/>
          <p:nvPr/>
        </p:nvSpPr>
        <p:spPr>
          <a:xfrm>
            <a:off x="4085301" y="3412772"/>
            <a:ext cx="511278" cy="44799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ZoneTexte 14">
            <a:extLst>
              <a:ext uri="{FF2B5EF4-FFF2-40B4-BE49-F238E27FC236}">
                <a16:creationId xmlns:a16="http://schemas.microsoft.com/office/drawing/2014/main" id="{ECBF0F91-DA80-FBCC-5949-63BA776839E4}"/>
              </a:ext>
            </a:extLst>
          </p:cNvPr>
          <p:cNvSpPr txBox="1"/>
          <p:nvPr/>
        </p:nvSpPr>
        <p:spPr>
          <a:xfrm>
            <a:off x="4583059" y="2748509"/>
            <a:ext cx="4294240" cy="252038"/>
          </a:xfrm>
          <a:prstGeom prst="rect">
            <a:avLst/>
          </a:prstGeom>
          <a:noFill/>
        </p:spPr>
        <p:txBody>
          <a:bodyPr wrap="square" rtlCol="0">
            <a:noAutofit/>
          </a:bodyPr>
          <a:lstStyle/>
          <a:p>
            <a:r>
              <a:rPr lang="en-GB" sz="1800" b="1" i="0" u="none" strike="noStrike" dirty="0">
                <a:effectLst/>
                <a:latin typeface="ui-sans-serif"/>
              </a:rPr>
              <a:t>Reference</a:t>
            </a:r>
            <a:r>
              <a:rPr lang="en-GB" sz="1800" i="0" u="none" strike="noStrike" dirty="0">
                <a:effectLst/>
                <a:latin typeface="ui-sans-serif"/>
              </a:rPr>
              <a:t> (human provided)</a:t>
            </a:r>
            <a:endParaRPr lang="en-GB" dirty="0"/>
          </a:p>
        </p:txBody>
      </p:sp>
      <p:sp>
        <p:nvSpPr>
          <p:cNvPr id="16" name="Accolade fermante 15">
            <a:extLst>
              <a:ext uri="{FF2B5EF4-FFF2-40B4-BE49-F238E27FC236}">
                <a16:creationId xmlns:a16="http://schemas.microsoft.com/office/drawing/2014/main" id="{98F01F94-0CEC-B5F6-7DCD-9579BD0C6AE7}"/>
              </a:ext>
            </a:extLst>
          </p:cNvPr>
          <p:cNvSpPr/>
          <p:nvPr/>
        </p:nvSpPr>
        <p:spPr>
          <a:xfrm>
            <a:off x="4080384" y="2764604"/>
            <a:ext cx="511278" cy="4029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7" name="ZoneTexte 16">
            <a:extLst>
              <a:ext uri="{FF2B5EF4-FFF2-40B4-BE49-F238E27FC236}">
                <a16:creationId xmlns:a16="http://schemas.microsoft.com/office/drawing/2014/main" id="{1D6B7047-818F-A050-6CAB-FDCCFBE13BE0}"/>
              </a:ext>
            </a:extLst>
          </p:cNvPr>
          <p:cNvSpPr txBox="1"/>
          <p:nvPr/>
        </p:nvSpPr>
        <p:spPr>
          <a:xfrm>
            <a:off x="4591662" y="2458741"/>
            <a:ext cx="1681671" cy="307777"/>
          </a:xfrm>
          <a:prstGeom prst="rect">
            <a:avLst/>
          </a:prstGeom>
          <a:noFill/>
        </p:spPr>
        <p:txBody>
          <a:bodyPr wrap="square" rtlCol="0">
            <a:spAutoFit/>
          </a:bodyPr>
          <a:lstStyle/>
          <a:p>
            <a:pPr algn="ctr"/>
            <a:r>
              <a:rPr lang="en-GB" sz="1400" dirty="0">
                <a:solidFill>
                  <a:schemeClr val="accent1"/>
                </a:solidFill>
              </a:rPr>
              <a:t>e.g. Unigrams</a:t>
            </a:r>
          </a:p>
        </p:txBody>
      </p:sp>
      <p:sp>
        <p:nvSpPr>
          <p:cNvPr id="18" name="ZoneTexte 17">
            <a:extLst>
              <a:ext uri="{FF2B5EF4-FFF2-40B4-BE49-F238E27FC236}">
                <a16:creationId xmlns:a16="http://schemas.microsoft.com/office/drawing/2014/main" id="{B443D827-3F47-C161-6A2D-4ADCCC772B77}"/>
              </a:ext>
            </a:extLst>
          </p:cNvPr>
          <p:cNvSpPr txBox="1"/>
          <p:nvPr/>
        </p:nvSpPr>
        <p:spPr>
          <a:xfrm>
            <a:off x="3013588" y="4095459"/>
            <a:ext cx="442452" cy="523220"/>
          </a:xfrm>
          <a:prstGeom prst="rect">
            <a:avLst/>
          </a:prstGeom>
          <a:noFill/>
        </p:spPr>
        <p:txBody>
          <a:bodyPr wrap="square" rtlCol="0">
            <a:spAutoFit/>
          </a:bodyPr>
          <a:lstStyle/>
          <a:p>
            <a:pPr algn="ctr"/>
            <a:r>
              <a:rPr lang="en-GB" sz="2800" b="1" dirty="0">
                <a:solidFill>
                  <a:schemeClr val="bg1">
                    <a:lumMod val="50000"/>
                  </a:schemeClr>
                </a:solidFill>
              </a:rPr>
              <a:t>7</a:t>
            </a:r>
          </a:p>
        </p:txBody>
      </p:sp>
      <p:sp>
        <p:nvSpPr>
          <p:cNvPr id="22" name="ZoneTexte 21">
            <a:extLst>
              <a:ext uri="{FF2B5EF4-FFF2-40B4-BE49-F238E27FC236}">
                <a16:creationId xmlns:a16="http://schemas.microsoft.com/office/drawing/2014/main" id="{F1407053-5DCD-E590-C5A3-D9C7CA2BBCE2}"/>
              </a:ext>
            </a:extLst>
          </p:cNvPr>
          <p:cNvSpPr txBox="1"/>
          <p:nvPr/>
        </p:nvSpPr>
        <p:spPr>
          <a:xfrm>
            <a:off x="4286862" y="4076289"/>
            <a:ext cx="442452" cy="523220"/>
          </a:xfrm>
          <a:prstGeom prst="rect">
            <a:avLst/>
          </a:prstGeom>
          <a:noFill/>
        </p:spPr>
        <p:txBody>
          <a:bodyPr wrap="square" rtlCol="0">
            <a:spAutoFit/>
          </a:bodyPr>
          <a:lstStyle/>
          <a:p>
            <a:pPr algn="ctr"/>
            <a:r>
              <a:rPr lang="en-GB" sz="2800" b="1" dirty="0">
                <a:solidFill>
                  <a:schemeClr val="bg1">
                    <a:lumMod val="50000"/>
                  </a:schemeClr>
                </a:solidFill>
              </a:rPr>
              <a:t>1</a:t>
            </a:r>
          </a:p>
        </p:txBody>
      </p:sp>
      <p:cxnSp>
        <p:nvCxnSpPr>
          <p:cNvPr id="25" name="Connecteur droit avec flèche 24">
            <a:extLst>
              <a:ext uri="{FF2B5EF4-FFF2-40B4-BE49-F238E27FC236}">
                <a16:creationId xmlns:a16="http://schemas.microsoft.com/office/drawing/2014/main" id="{3B45D04F-28B3-AE0E-04BE-A31C81A95D0D}"/>
              </a:ext>
            </a:extLst>
          </p:cNvPr>
          <p:cNvCxnSpPr>
            <a:cxnSpLocks/>
          </p:cNvCxnSpPr>
          <p:nvPr/>
        </p:nvCxnSpPr>
        <p:spPr>
          <a:xfrm>
            <a:off x="3234814" y="4513006"/>
            <a:ext cx="157316" cy="314633"/>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87A1635B-5549-BEE0-68A3-C9D9B1EFDA7C}"/>
              </a:ext>
            </a:extLst>
          </p:cNvPr>
          <p:cNvCxnSpPr>
            <a:cxnSpLocks/>
          </p:cNvCxnSpPr>
          <p:nvPr/>
        </p:nvCxnSpPr>
        <p:spPr>
          <a:xfrm>
            <a:off x="4503175" y="4513006"/>
            <a:ext cx="0" cy="311761"/>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F52440DA-2585-B05E-4BAB-6C54B90B5A90}"/>
              </a:ext>
            </a:extLst>
          </p:cNvPr>
          <p:cNvCxnSpPr>
            <a:cxnSpLocks/>
          </p:cNvCxnSpPr>
          <p:nvPr/>
        </p:nvCxnSpPr>
        <p:spPr>
          <a:xfrm flipV="1">
            <a:off x="2632589" y="5444277"/>
            <a:ext cx="602225" cy="21667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2" name="ZoneTexte 41">
            <a:extLst>
              <a:ext uri="{FF2B5EF4-FFF2-40B4-BE49-F238E27FC236}">
                <a16:creationId xmlns:a16="http://schemas.microsoft.com/office/drawing/2014/main" id="{A34762B3-2D24-7817-C61C-7C28BD9367D3}"/>
              </a:ext>
            </a:extLst>
          </p:cNvPr>
          <p:cNvSpPr txBox="1"/>
          <p:nvPr/>
        </p:nvSpPr>
        <p:spPr>
          <a:xfrm>
            <a:off x="2300750" y="5444277"/>
            <a:ext cx="442452" cy="523220"/>
          </a:xfrm>
          <a:prstGeom prst="rect">
            <a:avLst/>
          </a:prstGeom>
          <a:noFill/>
        </p:spPr>
        <p:txBody>
          <a:bodyPr wrap="square" rtlCol="0">
            <a:spAutoFit/>
          </a:bodyPr>
          <a:lstStyle/>
          <a:p>
            <a:pPr algn="ctr"/>
            <a:r>
              <a:rPr lang="en-GB" sz="2800" b="1" dirty="0">
                <a:solidFill>
                  <a:schemeClr val="bg1">
                    <a:lumMod val="50000"/>
                  </a:schemeClr>
                </a:solidFill>
              </a:rPr>
              <a:t>7</a:t>
            </a: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7E8C8E89-7B57-3807-2B1C-F46C96E2F51A}"/>
                  </a:ext>
                </a:extLst>
              </p:cNvPr>
              <p:cNvSpPr txBox="1"/>
              <p:nvPr/>
            </p:nvSpPr>
            <p:spPr>
              <a:xfrm>
                <a:off x="7438101" y="4690708"/>
                <a:ext cx="3244645" cy="72943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fr-FR" sz="2000" b="0" i="1" smtClean="0">
                              <a:latin typeface="Cambria Math" panose="02040503050406030204" pitchFamily="18" charset="0"/>
                            </a:rPr>
                          </m:ctrlPr>
                        </m:fPr>
                        <m:num>
                          <m:sSubSup>
                            <m:sSubSupPr>
                              <m:ctrlPr>
                                <a:rPr lang="fr-FR" sz="2000" b="0" i="1" smtClean="0">
                                  <a:latin typeface="Cambria Math" panose="02040503050406030204" pitchFamily="18" charset="0"/>
                                </a:rPr>
                              </m:ctrlPr>
                            </m:sSubSupPr>
                            <m:e>
                              <m:r>
                                <a:rPr lang="fr-FR" sz="2000" b="0" i="1" smtClean="0">
                                  <a:latin typeface="Cambria Math" panose="02040503050406030204" pitchFamily="18" charset="0"/>
                                </a:rPr>
                                <m:t>𝑛</m:t>
                              </m:r>
                            </m:e>
                            <m:sub>
                              <m:r>
                                <a:rPr lang="fr-FR" sz="2000" b="0" i="1" smtClean="0">
                                  <a:latin typeface="Cambria Math" panose="02040503050406030204" pitchFamily="18" charset="0"/>
                                </a:rPr>
                                <m:t>𝑐𝑎𝑛𝑑</m:t>
                              </m:r>
                              <m:r>
                                <a:rPr lang="fr-FR" sz="2000" b="0" i="1" smtClean="0">
                                  <a:latin typeface="Cambria Math" panose="02040503050406030204" pitchFamily="18" charset="0"/>
                                </a:rPr>
                                <m:t>_</m:t>
                              </m:r>
                              <m:r>
                                <a:rPr lang="fr-FR" sz="2000" b="0" i="1" smtClean="0">
                                  <a:latin typeface="Cambria Math" panose="02040503050406030204" pitchFamily="18" charset="0"/>
                                </a:rPr>
                                <m:t>𝑚𝑎𝑡𝑐h</m:t>
                              </m:r>
                            </m:sub>
                            <m:sup>
                              <m:r>
                                <a:rPr lang="fr-FR" sz="2000" b="0" i="1" smtClean="0">
                                  <a:latin typeface="Cambria Math" panose="02040503050406030204" pitchFamily="18" charset="0"/>
                                </a:rPr>
                                <m:t>𝑖</m:t>
                              </m:r>
                            </m:sup>
                          </m:sSubSup>
                        </m:num>
                        <m:den>
                          <m:sSubSup>
                            <m:sSubSupPr>
                              <m:ctrlPr>
                                <a:rPr lang="fr-FR" sz="2000" i="1">
                                  <a:latin typeface="Cambria Math" panose="02040503050406030204" pitchFamily="18" charset="0"/>
                                </a:rPr>
                              </m:ctrlPr>
                            </m:sSubSupPr>
                            <m:e>
                              <m:r>
                                <a:rPr lang="fr-FR" sz="2000" i="1">
                                  <a:latin typeface="Cambria Math" panose="02040503050406030204" pitchFamily="18" charset="0"/>
                                </a:rPr>
                                <m:t>𝑛</m:t>
                              </m:r>
                            </m:e>
                            <m:sub>
                              <m:r>
                                <a:rPr lang="fr-FR" sz="2000" i="1">
                                  <a:latin typeface="Cambria Math" panose="02040503050406030204" pitchFamily="18" charset="0"/>
                                </a:rPr>
                                <m:t>𝑐𝑎𝑛𝑑</m:t>
                              </m:r>
                            </m:sub>
                            <m:sup>
                              <m:r>
                                <a:rPr lang="fr-FR" sz="2000" i="1">
                                  <a:latin typeface="Cambria Math" panose="02040503050406030204" pitchFamily="18" charset="0"/>
                                </a:rPr>
                                <m:t>𝑖</m:t>
                              </m:r>
                            </m:sup>
                          </m:sSubSup>
                        </m:den>
                      </m:f>
                      <m:r>
                        <a:rPr lang="fr-FR" sz="2000" b="0" i="1" smtClean="0">
                          <a:latin typeface="Cambria Math" panose="02040503050406030204" pitchFamily="18" charset="0"/>
                        </a:rPr>
                        <m:t>=</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7</m:t>
                          </m:r>
                        </m:num>
                        <m:den>
                          <m:r>
                            <a:rPr lang="fr-FR" sz="2000" b="0" i="1" smtClean="0">
                              <a:latin typeface="Cambria Math" panose="02040503050406030204" pitchFamily="18" charset="0"/>
                            </a:rPr>
                            <m:t>7</m:t>
                          </m:r>
                        </m:den>
                      </m:f>
                    </m:oMath>
                  </m:oMathPara>
                </a14:m>
                <a:endParaRPr lang="fr-FR" sz="2000" b="0" dirty="0"/>
              </a:p>
            </p:txBody>
          </p:sp>
        </mc:Choice>
        <mc:Fallback xmlns="">
          <p:sp>
            <p:nvSpPr>
              <p:cNvPr id="43" name="ZoneTexte 42">
                <a:extLst>
                  <a:ext uri="{FF2B5EF4-FFF2-40B4-BE49-F238E27FC236}">
                    <a16:creationId xmlns:a16="http://schemas.microsoft.com/office/drawing/2014/main" id="{7E8C8E89-7B57-3807-2B1C-F46C96E2F51A}"/>
                  </a:ext>
                </a:extLst>
              </p:cNvPr>
              <p:cNvSpPr txBox="1">
                <a:spLocks noRot="1" noChangeAspect="1" noMove="1" noResize="1" noEditPoints="1" noAdjustHandles="1" noChangeArrowheads="1" noChangeShapeType="1" noTextEdit="1"/>
              </p:cNvSpPr>
              <p:nvPr/>
            </p:nvSpPr>
            <p:spPr>
              <a:xfrm>
                <a:off x="7438101" y="4690708"/>
                <a:ext cx="3244645" cy="729430"/>
              </a:xfrm>
              <a:prstGeom prst="rect">
                <a:avLst/>
              </a:prstGeom>
              <a:blipFill>
                <a:blip r:embed="rId3"/>
                <a:stretch>
                  <a:fillRect b="-10345"/>
                </a:stretch>
              </a:blipFill>
            </p:spPr>
            <p:txBody>
              <a:bodyPr/>
              <a:lstStyle/>
              <a:p>
                <a:r>
                  <a:rPr lang="en-GB">
                    <a:noFill/>
                  </a:rPr>
                  <a:t> </a:t>
                </a:r>
              </a:p>
            </p:txBody>
          </p:sp>
        </mc:Fallback>
      </mc:AlternateContent>
      <p:sp>
        <p:nvSpPr>
          <p:cNvPr id="46" name="ZoneTexte 45">
            <a:extLst>
              <a:ext uri="{FF2B5EF4-FFF2-40B4-BE49-F238E27FC236}">
                <a16:creationId xmlns:a16="http://schemas.microsoft.com/office/drawing/2014/main" id="{04434A0D-660B-AAF2-954B-E38026C12628}"/>
              </a:ext>
            </a:extLst>
          </p:cNvPr>
          <p:cNvSpPr txBox="1"/>
          <p:nvPr/>
        </p:nvSpPr>
        <p:spPr>
          <a:xfrm>
            <a:off x="8327920" y="4092095"/>
            <a:ext cx="442452" cy="523220"/>
          </a:xfrm>
          <a:prstGeom prst="rect">
            <a:avLst/>
          </a:prstGeom>
          <a:noFill/>
        </p:spPr>
        <p:txBody>
          <a:bodyPr wrap="square" rtlCol="0">
            <a:spAutoFit/>
          </a:bodyPr>
          <a:lstStyle/>
          <a:p>
            <a:pPr algn="ctr"/>
            <a:r>
              <a:rPr lang="en-GB" sz="2800" b="1" dirty="0">
                <a:solidFill>
                  <a:schemeClr val="bg1">
                    <a:lumMod val="50000"/>
                  </a:schemeClr>
                </a:solidFill>
              </a:rPr>
              <a:t>7</a:t>
            </a:r>
          </a:p>
        </p:txBody>
      </p:sp>
      <p:cxnSp>
        <p:nvCxnSpPr>
          <p:cNvPr id="48" name="Connecteur droit avec flèche 47">
            <a:extLst>
              <a:ext uri="{FF2B5EF4-FFF2-40B4-BE49-F238E27FC236}">
                <a16:creationId xmlns:a16="http://schemas.microsoft.com/office/drawing/2014/main" id="{B52EE3B5-4E70-EA59-65F6-2F00DA94860C}"/>
              </a:ext>
            </a:extLst>
          </p:cNvPr>
          <p:cNvCxnSpPr>
            <a:cxnSpLocks/>
          </p:cNvCxnSpPr>
          <p:nvPr/>
        </p:nvCxnSpPr>
        <p:spPr>
          <a:xfrm>
            <a:off x="8549146" y="4509642"/>
            <a:ext cx="157316" cy="314633"/>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0F34C077-0017-5B83-D845-84019C51EF22}"/>
              </a:ext>
            </a:extLst>
          </p:cNvPr>
          <p:cNvCxnSpPr>
            <a:cxnSpLocks/>
          </p:cNvCxnSpPr>
          <p:nvPr/>
        </p:nvCxnSpPr>
        <p:spPr>
          <a:xfrm flipV="1">
            <a:off x="7946921" y="5440913"/>
            <a:ext cx="602225" cy="21667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1" name="ZoneTexte 50">
            <a:extLst>
              <a:ext uri="{FF2B5EF4-FFF2-40B4-BE49-F238E27FC236}">
                <a16:creationId xmlns:a16="http://schemas.microsoft.com/office/drawing/2014/main" id="{CF19D863-09FE-5DE8-1456-C5D50B2E0285}"/>
              </a:ext>
            </a:extLst>
          </p:cNvPr>
          <p:cNvSpPr txBox="1"/>
          <p:nvPr/>
        </p:nvSpPr>
        <p:spPr>
          <a:xfrm>
            <a:off x="7615082" y="5440913"/>
            <a:ext cx="442452" cy="523220"/>
          </a:xfrm>
          <a:prstGeom prst="rect">
            <a:avLst/>
          </a:prstGeom>
          <a:noFill/>
        </p:spPr>
        <p:txBody>
          <a:bodyPr wrap="square" rtlCol="0">
            <a:spAutoFit/>
          </a:bodyPr>
          <a:lstStyle/>
          <a:p>
            <a:pPr algn="ctr"/>
            <a:r>
              <a:rPr lang="en-GB" sz="2800" b="1" dirty="0">
                <a:solidFill>
                  <a:schemeClr val="bg1">
                    <a:lumMod val="50000"/>
                  </a:schemeClr>
                </a:solidFill>
              </a:rPr>
              <a:t>7</a:t>
            </a:r>
          </a:p>
        </p:txBody>
      </p:sp>
      <p:sp>
        <p:nvSpPr>
          <p:cNvPr id="52" name="ZoneTexte 51">
            <a:extLst>
              <a:ext uri="{FF2B5EF4-FFF2-40B4-BE49-F238E27FC236}">
                <a16:creationId xmlns:a16="http://schemas.microsoft.com/office/drawing/2014/main" id="{2AA6E341-BFC4-749F-91C6-173AD23B2E76}"/>
              </a:ext>
            </a:extLst>
          </p:cNvPr>
          <p:cNvSpPr txBox="1"/>
          <p:nvPr/>
        </p:nvSpPr>
        <p:spPr>
          <a:xfrm>
            <a:off x="840305" y="3950496"/>
            <a:ext cx="1681671" cy="307777"/>
          </a:xfrm>
          <a:prstGeom prst="rect">
            <a:avLst/>
          </a:prstGeom>
          <a:noFill/>
          <a:ln>
            <a:solidFill>
              <a:schemeClr val="tx1">
                <a:lumMod val="50000"/>
                <a:lumOff val="50000"/>
              </a:schemeClr>
            </a:solidFill>
          </a:ln>
        </p:spPr>
        <p:txBody>
          <a:bodyPr wrap="square" rtlCol="0">
            <a:spAutoFit/>
          </a:bodyPr>
          <a:lstStyle/>
          <a:p>
            <a:pPr algn="ctr"/>
            <a:r>
              <a:rPr lang="en-GB" sz="1400" dirty="0">
                <a:solidFill>
                  <a:schemeClr val="accent1"/>
                </a:solidFill>
              </a:rPr>
              <a:t>With minimum:</a:t>
            </a:r>
          </a:p>
        </p:txBody>
      </p:sp>
      <p:sp>
        <p:nvSpPr>
          <p:cNvPr id="53" name="ZoneTexte 52">
            <a:extLst>
              <a:ext uri="{FF2B5EF4-FFF2-40B4-BE49-F238E27FC236}">
                <a16:creationId xmlns:a16="http://schemas.microsoft.com/office/drawing/2014/main" id="{BC77B0BD-707D-AB85-6D0F-91EBA3993066}"/>
              </a:ext>
            </a:extLst>
          </p:cNvPr>
          <p:cNvSpPr txBox="1"/>
          <p:nvPr/>
        </p:nvSpPr>
        <p:spPr>
          <a:xfrm>
            <a:off x="5928852" y="3955569"/>
            <a:ext cx="1873401" cy="307777"/>
          </a:xfrm>
          <a:prstGeom prst="rect">
            <a:avLst/>
          </a:prstGeom>
          <a:noFill/>
          <a:ln>
            <a:solidFill>
              <a:schemeClr val="tx1">
                <a:lumMod val="50000"/>
                <a:lumOff val="50000"/>
              </a:schemeClr>
            </a:solidFill>
          </a:ln>
        </p:spPr>
        <p:txBody>
          <a:bodyPr wrap="square" rtlCol="0">
            <a:spAutoFit/>
          </a:bodyPr>
          <a:lstStyle/>
          <a:p>
            <a:pPr algn="ctr"/>
            <a:r>
              <a:rPr lang="en-GB" sz="1400" dirty="0">
                <a:solidFill>
                  <a:schemeClr val="accent1"/>
                </a:solidFill>
              </a:rPr>
              <a:t>Without minimum:</a:t>
            </a:r>
          </a:p>
        </p:txBody>
      </p:sp>
    </p:spTree>
    <p:extLst>
      <p:ext uri="{BB962C8B-B14F-4D97-AF65-F5344CB8AC3E}">
        <p14:creationId xmlns:p14="http://schemas.microsoft.com/office/powerpoint/2010/main" val="1120164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623B8-F42A-DA13-D1E1-638C05B36E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A60FFEE2-83F4-F890-6C59-6D7CB52B3F58}"/>
                  </a:ext>
                </a:extLst>
              </p:cNvPr>
              <p:cNvSpPr txBox="1"/>
              <p:nvPr/>
            </p:nvSpPr>
            <p:spPr>
              <a:xfrm>
                <a:off x="2139727" y="2960356"/>
                <a:ext cx="5414902" cy="6626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𝑠𝑐𝑜𝑟</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𝐵𝐿𝐸𝑈</m:t>
                          </m:r>
                        </m:sub>
                      </m:sSub>
                      <m:r>
                        <a:rPr lang="fr-FR" sz="1600" b="0" i="1" smtClean="0">
                          <a:latin typeface="Cambria Math" panose="02040503050406030204" pitchFamily="18" charset="0"/>
                        </a:rPr>
                        <m:t>=</m:t>
                      </m:r>
                      <m:func>
                        <m:funcPr>
                          <m:ctrlPr>
                            <a:rPr lang="fr-FR" sz="1600" b="0" i="1" smtClean="0">
                              <a:latin typeface="Cambria Math" panose="02040503050406030204" pitchFamily="18" charset="0"/>
                            </a:rPr>
                          </m:ctrlPr>
                        </m:funcPr>
                        <m:fName>
                          <m:r>
                            <m:rPr>
                              <m:sty m:val="p"/>
                            </m:rPr>
                            <a:rPr lang="fr-FR" sz="1600" b="0" i="0" smtClean="0">
                              <a:latin typeface="Cambria Math" panose="02040503050406030204" pitchFamily="18" charset="0"/>
                            </a:rPr>
                            <m:t>min</m:t>
                          </m:r>
                        </m:fName>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1,</m:t>
                              </m:r>
                              <m:func>
                                <m:funcPr>
                                  <m:ctrlPr>
                                    <a:rPr lang="fr-FR" sz="1600" b="0" i="1" smtClean="0">
                                      <a:latin typeface="Cambria Math" panose="02040503050406030204" pitchFamily="18" charset="0"/>
                                    </a:rPr>
                                  </m:ctrlPr>
                                </m:funcPr>
                                <m:fName>
                                  <m:r>
                                    <a:rPr lang="fr-FR" sz="1600" b="0" i="0" smtClean="0">
                                      <a:latin typeface="Cambria Math" panose="02040503050406030204" pitchFamily="18" charset="0"/>
                                    </a:rPr>
                                    <m:t> </m:t>
                                  </m:r>
                                  <m:r>
                                    <m:rPr>
                                      <m:sty m:val="p"/>
                                    </m:rPr>
                                    <a:rPr lang="fr-FR" sz="1600" b="0" i="0" smtClean="0">
                                      <a:latin typeface="Cambria Math" panose="02040503050406030204" pitchFamily="18" charset="0"/>
                                    </a:rPr>
                                    <m:t>exp</m:t>
                                  </m:r>
                                </m:fName>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1−</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𝑟𝑒𝑓𝑒𝑟𝑒𝑛𝑐</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𝑙𝑒𝑛</m:t>
                                              </m:r>
                                            </m:sub>
                                          </m:sSub>
                                        </m:num>
                                        <m:den>
                                          <m:r>
                                            <a:rPr lang="fr-FR" sz="1600" b="0" i="1" smtClean="0">
                                              <a:latin typeface="Cambria Math" panose="02040503050406030204" pitchFamily="18" charset="0"/>
                                            </a:rPr>
                                            <m:t>𝑐𝑎𝑛𝑑𝑖𝑑𝑎𝑡</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𝑒</m:t>
                                              </m:r>
                                            </m:e>
                                            <m:sub>
                                              <m:r>
                                                <a:rPr lang="fr-FR" sz="1600" b="0" i="1" smtClean="0">
                                                  <a:latin typeface="Cambria Math" panose="02040503050406030204" pitchFamily="18" charset="0"/>
                                                </a:rPr>
                                                <m:t>𝑙𝑒𝑛</m:t>
                                              </m:r>
                                            </m:sub>
                                          </m:sSub>
                                        </m:den>
                                      </m:f>
                                    </m:e>
                                  </m:d>
                                </m:e>
                              </m:func>
                            </m:e>
                          </m:d>
                          <m:r>
                            <a:rPr lang="fr-FR" sz="1600" b="0" i="1" smtClean="0">
                              <a:latin typeface="Cambria Math" panose="02040503050406030204" pitchFamily="18" charset="0"/>
                            </a:rPr>
                            <m:t>×</m:t>
                          </m:r>
                        </m:e>
                      </m:func>
                      <m:sSup>
                        <m:sSupPr>
                          <m:ctrlPr>
                            <a:rPr lang="fr-FR" sz="1600" b="0" i="1" smtClean="0">
                              <a:latin typeface="Cambria Math" panose="02040503050406030204" pitchFamily="18" charset="0"/>
                            </a:rPr>
                          </m:ctrlPr>
                        </m:sSupPr>
                        <m:e>
                          <m:d>
                            <m:dPr>
                              <m:ctrlPr>
                                <a:rPr lang="fr-FR" sz="1600" b="0" i="1" smtClean="0">
                                  <a:latin typeface="Cambria Math" panose="02040503050406030204" pitchFamily="18" charset="0"/>
                                </a:rPr>
                              </m:ctrlPr>
                            </m:dPr>
                            <m:e>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𝑖</m:t>
                                  </m:r>
                                  <m:r>
                                    <a:rPr lang="fr-FR" sz="1600" b="0" i="1" smtClean="0">
                                      <a:latin typeface="Cambria Math" panose="02040503050406030204" pitchFamily="18" charset="0"/>
                                    </a:rPr>
                                    <m:t>=1</m:t>
                                  </m:r>
                                </m:sub>
                                <m:sup>
                                  <m:r>
                                    <a:rPr lang="fr-FR" sz="1600" b="0" i="1" smtClean="0">
                                      <a:latin typeface="Cambria Math" panose="02040503050406030204" pitchFamily="18" charset="0"/>
                                    </a:rPr>
                                    <m:t>4</m:t>
                                  </m:r>
                                </m:sup>
                                <m:e>
                                  <m:r>
                                    <a:rPr lang="fr-FR" sz="1600" b="0" i="1" smtClean="0">
                                      <a:latin typeface="Cambria Math" panose="02040503050406030204" pitchFamily="18" charset="0"/>
                                    </a:rPr>
                                    <m:t>𝑝𝑟𝑒𝑐𝑖𝑠𝑖𝑜</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𝑛</m:t>
                                      </m:r>
                                    </m:e>
                                    <m:sub>
                                      <m:r>
                                        <a:rPr lang="fr-FR" sz="1600" b="0" i="1" smtClean="0">
                                          <a:latin typeface="Cambria Math" panose="02040503050406030204" pitchFamily="18" charset="0"/>
                                        </a:rPr>
                                        <m:t>𝑖</m:t>
                                      </m:r>
                                    </m:sub>
                                  </m:sSub>
                                </m:e>
                              </m:nary>
                            </m:e>
                          </m:d>
                        </m:e>
                        <m:sup>
                          <m:r>
                            <a:rPr lang="fr-FR" sz="1600" b="0" i="1" smtClean="0">
                              <a:latin typeface="Cambria Math" panose="02040503050406030204" pitchFamily="18" charset="0"/>
                            </a:rPr>
                            <m:t>1/4</m:t>
                          </m:r>
                        </m:sup>
                      </m:sSup>
                    </m:oMath>
                  </m:oMathPara>
                </a14:m>
                <a:endParaRPr lang="en-GB" sz="1600" dirty="0"/>
              </a:p>
            </p:txBody>
          </p:sp>
        </mc:Choice>
        <mc:Fallback xmlns="">
          <p:sp>
            <p:nvSpPr>
              <p:cNvPr id="11" name="ZoneTexte 10">
                <a:extLst>
                  <a:ext uri="{FF2B5EF4-FFF2-40B4-BE49-F238E27FC236}">
                    <a16:creationId xmlns:a16="http://schemas.microsoft.com/office/drawing/2014/main" id="{A60FFEE2-83F4-F890-6C59-6D7CB52B3F58}"/>
                  </a:ext>
                </a:extLst>
              </p:cNvPr>
              <p:cNvSpPr txBox="1">
                <a:spLocks noRot="1" noChangeAspect="1" noMove="1" noResize="1" noEditPoints="1" noAdjustHandles="1" noChangeArrowheads="1" noChangeShapeType="1" noTextEdit="1"/>
              </p:cNvSpPr>
              <p:nvPr/>
            </p:nvSpPr>
            <p:spPr>
              <a:xfrm>
                <a:off x="2139727" y="2960356"/>
                <a:ext cx="5414902" cy="662630"/>
              </a:xfrm>
              <a:prstGeom prst="rect">
                <a:avLst/>
              </a:prstGeom>
              <a:blipFill>
                <a:blip r:embed="rId2"/>
                <a:stretch>
                  <a:fillRect l="-937" t="-113208" r="-11475" b="-200000"/>
                </a:stretch>
              </a:blipFill>
            </p:spPr>
            <p:txBody>
              <a:bodyPr/>
              <a:lstStyle/>
              <a:p>
                <a:r>
                  <a:rPr lang="en-GB">
                    <a:noFill/>
                  </a:rPr>
                  <a:t> </a:t>
                </a:r>
              </a:p>
            </p:txBody>
          </p:sp>
        </mc:Fallback>
      </mc:AlternateContent>
      <p:sp>
        <p:nvSpPr>
          <p:cNvPr id="13" name="Accolade ouvrante 12">
            <a:extLst>
              <a:ext uri="{FF2B5EF4-FFF2-40B4-BE49-F238E27FC236}">
                <a16:creationId xmlns:a16="http://schemas.microsoft.com/office/drawing/2014/main" id="{D7D20CA3-6BDC-4831-6397-C69D7BAEA495}"/>
              </a:ext>
            </a:extLst>
          </p:cNvPr>
          <p:cNvSpPr/>
          <p:nvPr/>
        </p:nvSpPr>
        <p:spPr>
          <a:xfrm rot="16200000">
            <a:off x="4455032" y="2507233"/>
            <a:ext cx="241520" cy="2624338"/>
          </a:xfrm>
          <a:prstGeom prst="lef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a:solidFill>
                <a:schemeClr val="tx1">
                  <a:lumMod val="50000"/>
                  <a:lumOff val="50000"/>
                </a:schemeClr>
              </a:solidFill>
            </a:endParaRPr>
          </a:p>
        </p:txBody>
      </p:sp>
      <p:sp>
        <p:nvSpPr>
          <p:cNvPr id="14" name="Accolade ouvrante 13">
            <a:extLst>
              <a:ext uri="{FF2B5EF4-FFF2-40B4-BE49-F238E27FC236}">
                <a16:creationId xmlns:a16="http://schemas.microsoft.com/office/drawing/2014/main" id="{9386CF8C-2DFE-E9AC-7E75-25FF67AB5564}"/>
              </a:ext>
            </a:extLst>
          </p:cNvPr>
          <p:cNvSpPr/>
          <p:nvPr/>
        </p:nvSpPr>
        <p:spPr>
          <a:xfrm rot="16200000">
            <a:off x="6878020" y="2934989"/>
            <a:ext cx="241520" cy="1759130"/>
          </a:xfrm>
          <a:prstGeom prst="lef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dirty="0"/>
          </a:p>
        </p:txBody>
      </p:sp>
      <p:sp>
        <p:nvSpPr>
          <p:cNvPr id="19" name="ZoneTexte 18">
            <a:extLst>
              <a:ext uri="{FF2B5EF4-FFF2-40B4-BE49-F238E27FC236}">
                <a16:creationId xmlns:a16="http://schemas.microsoft.com/office/drawing/2014/main" id="{17EBB442-8801-98F4-E03A-BB10AEB4D0B6}"/>
              </a:ext>
            </a:extLst>
          </p:cNvPr>
          <p:cNvSpPr txBox="1"/>
          <p:nvPr/>
        </p:nvSpPr>
        <p:spPr>
          <a:xfrm>
            <a:off x="3731264" y="3967964"/>
            <a:ext cx="1681671" cy="253916"/>
          </a:xfrm>
          <a:prstGeom prst="rect">
            <a:avLst/>
          </a:prstGeom>
          <a:noFill/>
        </p:spPr>
        <p:txBody>
          <a:bodyPr wrap="square" rtlCol="0">
            <a:spAutoFit/>
          </a:bodyPr>
          <a:lstStyle/>
          <a:p>
            <a:pPr algn="ctr"/>
            <a:r>
              <a:rPr lang="en-GB" sz="1050" dirty="0">
                <a:solidFill>
                  <a:schemeClr val="tx1">
                    <a:lumMod val="50000"/>
                    <a:lumOff val="50000"/>
                  </a:schemeClr>
                </a:solidFill>
              </a:rPr>
              <a:t>Brevity Penalty</a:t>
            </a:r>
          </a:p>
        </p:txBody>
      </p:sp>
      <p:sp>
        <p:nvSpPr>
          <p:cNvPr id="20" name="ZoneTexte 19">
            <a:extLst>
              <a:ext uri="{FF2B5EF4-FFF2-40B4-BE49-F238E27FC236}">
                <a16:creationId xmlns:a16="http://schemas.microsoft.com/office/drawing/2014/main" id="{5FFEBE55-0296-557F-BEA4-FCFE563433F7}"/>
              </a:ext>
            </a:extLst>
          </p:cNvPr>
          <p:cNvSpPr txBox="1"/>
          <p:nvPr/>
        </p:nvSpPr>
        <p:spPr>
          <a:xfrm>
            <a:off x="6172303" y="3967964"/>
            <a:ext cx="1681671" cy="261610"/>
          </a:xfrm>
          <a:prstGeom prst="rect">
            <a:avLst/>
          </a:prstGeom>
          <a:noFill/>
        </p:spPr>
        <p:txBody>
          <a:bodyPr wrap="square" rtlCol="0">
            <a:spAutoFit/>
          </a:bodyPr>
          <a:lstStyle/>
          <a:p>
            <a:pPr algn="ctr"/>
            <a:r>
              <a:rPr lang="en-GB" sz="1100" dirty="0">
                <a:solidFill>
                  <a:schemeClr val="tx1">
                    <a:lumMod val="50000"/>
                    <a:lumOff val="50000"/>
                  </a:schemeClr>
                </a:solidFill>
              </a:rPr>
              <a:t>N-gram overlap</a:t>
            </a:r>
          </a:p>
        </p:txBody>
      </p:sp>
      <p:cxnSp>
        <p:nvCxnSpPr>
          <p:cNvPr id="23" name="Connecteur droit avec flèche 22">
            <a:extLst>
              <a:ext uri="{FF2B5EF4-FFF2-40B4-BE49-F238E27FC236}">
                <a16:creationId xmlns:a16="http://schemas.microsoft.com/office/drawing/2014/main" id="{E1E490EA-E5ED-0B7D-AF34-26F2EE0270D2}"/>
              </a:ext>
            </a:extLst>
          </p:cNvPr>
          <p:cNvCxnSpPr>
            <a:cxnSpLocks/>
            <a:stCxn id="21" idx="1"/>
          </p:cNvCxnSpPr>
          <p:nvPr/>
        </p:nvCxnSpPr>
        <p:spPr>
          <a:xfrm flipH="1">
            <a:off x="6768000" y="2660880"/>
            <a:ext cx="1449902" cy="41304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A6E0BA07-7159-0E3C-E0CB-293EB29D9E85}"/>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1FED7421-3587-ADB2-7251-B6FC7C850C90}"/>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544DE314-A315-4EBF-0249-8FBD521DB15D}"/>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NMT Evaluation with Bilingual Evaluation Understudy (</a:t>
            </a:r>
            <a:r>
              <a:rPr lang="en-GB" sz="2800" b="1" i="0" u="none" strike="noStrike" dirty="0">
                <a:solidFill>
                  <a:schemeClr val="accent4"/>
                </a:solidFill>
                <a:effectLst/>
                <a:latin typeface="ui-sans-serif"/>
              </a:rPr>
              <a:t>BLEU</a:t>
            </a:r>
            <a:r>
              <a:rPr lang="en-GB" sz="2800" b="1" i="0" u="none" strike="noStrike" dirty="0">
                <a:effectLst/>
                <a:latin typeface="ui-sans-serif"/>
              </a:rPr>
              <a:t>)</a:t>
            </a:r>
          </a:p>
        </p:txBody>
      </p:sp>
      <p:sp>
        <p:nvSpPr>
          <p:cNvPr id="3" name="ZoneTexte 2">
            <a:extLst>
              <a:ext uri="{FF2B5EF4-FFF2-40B4-BE49-F238E27FC236}">
                <a16:creationId xmlns:a16="http://schemas.microsoft.com/office/drawing/2014/main" id="{499FA736-2AB0-FAFA-09ED-91D77C84DE7A}"/>
              </a:ext>
            </a:extLst>
          </p:cNvPr>
          <p:cNvSpPr txBox="1"/>
          <p:nvPr/>
        </p:nvSpPr>
        <p:spPr>
          <a:xfrm>
            <a:off x="859220" y="2044099"/>
            <a:ext cx="10713348" cy="457173"/>
          </a:xfrm>
          <a:prstGeom prst="rect">
            <a:avLst/>
          </a:prstGeom>
          <a:noFill/>
        </p:spPr>
        <p:txBody>
          <a:bodyPr wrap="square" rtlCol="0">
            <a:noAutofit/>
          </a:bodyPr>
          <a:lstStyle/>
          <a:p>
            <a:r>
              <a:rPr lang="en-GB" sz="1800" b="1" i="0" u="none" strike="noStrike" dirty="0">
                <a:effectLst/>
                <a:latin typeface="ui-sans-serif"/>
              </a:rPr>
              <a:t>Brevity Penalty </a:t>
            </a:r>
            <a:r>
              <a:rPr lang="en-GB" sz="1800" i="0" u="none" strike="noStrike" dirty="0">
                <a:effectLst/>
                <a:latin typeface="ui-sans-serif"/>
              </a:rPr>
              <a:t>is there to penalize candidate translations which are short relative to the reference translations.  </a:t>
            </a:r>
            <a:endParaRPr lang="en-GB" dirty="0"/>
          </a:p>
        </p:txBody>
      </p:sp>
      <p:sp>
        <p:nvSpPr>
          <p:cNvPr id="21" name="ZoneTexte 20">
            <a:extLst>
              <a:ext uri="{FF2B5EF4-FFF2-40B4-BE49-F238E27FC236}">
                <a16:creationId xmlns:a16="http://schemas.microsoft.com/office/drawing/2014/main" id="{AA009A21-7084-D437-F573-BF965869818C}"/>
              </a:ext>
            </a:extLst>
          </p:cNvPr>
          <p:cNvSpPr txBox="1"/>
          <p:nvPr/>
        </p:nvSpPr>
        <p:spPr>
          <a:xfrm>
            <a:off x="8217902" y="2533922"/>
            <a:ext cx="2035277" cy="253916"/>
          </a:xfrm>
          <a:prstGeom prst="rect">
            <a:avLst/>
          </a:prstGeom>
          <a:noFill/>
        </p:spPr>
        <p:txBody>
          <a:bodyPr wrap="square" rtlCol="0">
            <a:spAutoFit/>
          </a:bodyPr>
          <a:lstStyle/>
          <a:p>
            <a:pPr algn="ctr"/>
            <a:r>
              <a:rPr lang="en-GB" sz="1050" dirty="0">
                <a:solidFill>
                  <a:schemeClr val="tx1">
                    <a:lumMod val="50000"/>
                    <a:lumOff val="50000"/>
                  </a:schemeClr>
                </a:solidFill>
              </a:rPr>
              <a:t>1-gram, 2-gram, 3-gram, 4-gram</a:t>
            </a:r>
          </a:p>
        </p:txBody>
      </p:sp>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1574E506-1FBF-CFAD-F6B3-86E1C8AF7468}"/>
                  </a:ext>
                </a:extLst>
              </p:cNvPr>
              <p:cNvSpPr txBox="1"/>
              <p:nvPr/>
            </p:nvSpPr>
            <p:spPr>
              <a:xfrm>
                <a:off x="2113533" y="4906098"/>
                <a:ext cx="4885248"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𝑝𝑟𝑒𝑐𝑖𝑠𝑖𝑜</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𝑛</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nary>
                            <m:naryPr>
                              <m:chr m:val="∑"/>
                              <m:supHide m:val="on"/>
                              <m:ctrlPr>
                                <a:rPr lang="fr-FR" sz="1600" i="1">
                                  <a:latin typeface="Cambria Math" panose="02040503050406030204" pitchFamily="18" charset="0"/>
                                </a:rPr>
                              </m:ctrlPr>
                            </m:naryPr>
                            <m:sub>
                              <m:r>
                                <m:rPr>
                                  <m:brk m:alnAt="7"/>
                                </m:rPr>
                                <a:rPr lang="fr-FR" sz="1600" i="1">
                                  <a:latin typeface="Cambria Math" panose="02040503050406030204" pitchFamily="18" charset="0"/>
                                </a:rPr>
                                <m:t>𝐶</m:t>
                              </m:r>
                              <m:r>
                                <a:rPr lang="fr-FR" sz="1600" i="1">
                                  <a:latin typeface="Cambria Math" panose="02040503050406030204" pitchFamily="18" charset="0"/>
                                </a:rPr>
                                <m:t>∈</m:t>
                              </m:r>
                              <m:r>
                                <a:rPr lang="fr-FR" sz="1600" i="1">
                                  <a:latin typeface="Cambria Math" panose="02040503050406030204" pitchFamily="18" charset="0"/>
                                </a:rPr>
                                <m:t>𝐶𝑎𝑛𝑑𝑖𝑑𝑎𝑡𝑒𝑠</m:t>
                              </m:r>
                            </m:sub>
                            <m:sup/>
                            <m:e>
                              <m:nary>
                                <m:naryPr>
                                  <m:chr m:val="∑"/>
                                  <m:supHide m:val="on"/>
                                  <m:ctrlPr>
                                    <a:rPr lang="fr-FR" sz="1600" i="1" smtClean="0">
                                      <a:latin typeface="Cambria Math" panose="02040503050406030204" pitchFamily="18" charset="0"/>
                                    </a:rPr>
                                  </m:ctrlPr>
                                </m:naryPr>
                                <m:sub>
                                  <m:r>
                                    <m:rPr>
                                      <m:brk m:alnAt="7"/>
                                    </m:rP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𝐶</m:t>
                                  </m:r>
                                </m:sub>
                                <m:sup/>
                                <m:e>
                                  <m:func>
                                    <m:funcPr>
                                      <m:ctrlPr>
                                        <a:rPr lang="fr-FR" sz="1600" b="0" i="1" smtClean="0">
                                          <a:latin typeface="Cambria Math" panose="02040503050406030204" pitchFamily="18" charset="0"/>
                                        </a:rPr>
                                      </m:ctrlPr>
                                    </m:funcPr>
                                    <m:fName>
                                      <m:r>
                                        <m:rPr>
                                          <m:sty m:val="p"/>
                                        </m:rPr>
                                        <a:rPr lang="fr-FR" sz="1600" b="0" i="0" smtClean="0">
                                          <a:latin typeface="Cambria Math" panose="02040503050406030204" pitchFamily="18" charset="0"/>
                                        </a:rPr>
                                        <m:t>min</m:t>
                                      </m:r>
                                    </m:fName>
                                    <m:e>
                                      <m:d>
                                        <m:dPr>
                                          <m:ctrlPr>
                                            <a:rPr lang="fr-FR" sz="1600" b="0" i="1" smtClean="0">
                                              <a:latin typeface="Cambria Math" panose="02040503050406030204" pitchFamily="18" charset="0"/>
                                            </a:rPr>
                                          </m:ctrlPr>
                                        </m:dPr>
                                        <m:e>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𝑐𝑎𝑛𝑑</m:t>
                                              </m:r>
                                              <m:r>
                                                <a:rPr lang="fr-FR" sz="1600" b="0" i="1" smtClean="0">
                                                  <a:latin typeface="Cambria Math" panose="02040503050406030204" pitchFamily="18" charset="0"/>
                                                </a:rPr>
                                                <m:t>_</m:t>
                                              </m:r>
                                              <m:r>
                                                <a:rPr lang="fr-FR" sz="1600" b="0" i="1" smtClean="0">
                                                  <a:latin typeface="Cambria Math" panose="02040503050406030204" pitchFamily="18" charset="0"/>
                                                </a:rPr>
                                                <m:t>𝑚𝑎𝑡𝑐h</m:t>
                                              </m:r>
                                            </m:sub>
                                            <m:sup>
                                              <m:r>
                                                <a:rPr lang="fr-FR" sz="1600" b="0" i="1" smtClean="0">
                                                  <a:latin typeface="Cambria Math" panose="02040503050406030204" pitchFamily="18" charset="0"/>
                                                </a:rPr>
                                                <m:t>𝑖</m:t>
                                              </m:r>
                                            </m:sup>
                                          </m:sSubSup>
                                          <m:r>
                                            <a:rPr lang="fr-FR" sz="1600" b="0" i="1" smtClean="0">
                                              <a:latin typeface="Cambria Math" panose="02040503050406030204" pitchFamily="18" charset="0"/>
                                            </a:rPr>
                                            <m:t>, </m:t>
                                          </m:r>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𝑟𝑒𝑓</m:t>
                                              </m:r>
                                            </m:sub>
                                            <m:sup>
                                              <m:r>
                                                <a:rPr lang="fr-FR" sz="1600" b="0" i="1" smtClean="0">
                                                  <a:latin typeface="Cambria Math" panose="02040503050406030204" pitchFamily="18" charset="0"/>
                                                </a:rPr>
                                                <m:t>𝑖</m:t>
                                              </m:r>
                                            </m:sup>
                                          </m:sSubSup>
                                        </m:e>
                                      </m:d>
                                    </m:e>
                                  </m:func>
                                </m:e>
                              </m:nary>
                            </m:e>
                          </m:nary>
                        </m:num>
                        <m:den>
                          <m:nary>
                            <m:naryPr>
                              <m:chr m:val="∑"/>
                              <m:supHide m:val="on"/>
                              <m:ctrlPr>
                                <a:rPr lang="fr-FR" sz="1600" b="0" i="1" smtClean="0">
                                  <a:latin typeface="Cambria Math" panose="02040503050406030204" pitchFamily="18" charset="0"/>
                                </a:rPr>
                              </m:ctrlPr>
                            </m:naryPr>
                            <m:sub>
                              <m:r>
                                <m:rPr>
                                  <m:brk m:alnAt="7"/>
                                </m:rPr>
                                <a:rPr lang="fr-FR" sz="1600" b="0" i="1" smtClean="0">
                                  <a:latin typeface="Cambria Math" panose="02040503050406030204" pitchFamily="18" charset="0"/>
                                </a:rPr>
                                <m:t>𝑐</m:t>
                              </m:r>
                              <m:r>
                                <a:rPr lang="fr-FR" sz="1600" b="0" i="1" smtClean="0">
                                  <a:latin typeface="Cambria Math" panose="02040503050406030204" pitchFamily="18" charset="0"/>
                                </a:rPr>
                                <m:t>∈</m:t>
                              </m:r>
                              <m:r>
                                <a:rPr lang="fr-FR" sz="1600" b="0" i="1" smtClean="0">
                                  <a:latin typeface="Cambria Math" panose="02040503050406030204" pitchFamily="18" charset="0"/>
                                </a:rPr>
                                <m:t>𝐶𝑎𝑛𝑑𝑖𝑑𝑎𝑡𝑒𝑠</m:t>
                              </m:r>
                            </m:sub>
                            <m:sup/>
                            <m:e>
                              <m:nary>
                                <m:naryPr>
                                  <m:chr m:val="∑"/>
                                  <m:supHide m:val="on"/>
                                  <m:ctrlPr>
                                    <a:rPr lang="fr-FR" sz="1600" b="0" i="1" smtClean="0">
                                      <a:latin typeface="Cambria Math" panose="02040503050406030204" pitchFamily="18" charset="0"/>
                                    </a:rPr>
                                  </m:ctrlPr>
                                </m:naryPr>
                                <m:sub>
                                  <m:r>
                                    <m:rPr>
                                      <m:brk m:alnAt="7"/>
                                    </m:rP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𝐶</m:t>
                                  </m:r>
                                </m:sub>
                                <m:sup/>
                                <m:e>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𝑛</m:t>
                                      </m:r>
                                    </m:e>
                                    <m:sub>
                                      <m:r>
                                        <a:rPr lang="fr-FR" sz="1600" b="0" i="1" smtClean="0">
                                          <a:latin typeface="Cambria Math" panose="02040503050406030204" pitchFamily="18" charset="0"/>
                                        </a:rPr>
                                        <m:t>𝑐𝑎𝑛𝑑</m:t>
                                      </m:r>
                                    </m:sub>
                                    <m:sup>
                                      <m:r>
                                        <a:rPr lang="fr-FR" sz="1600" b="0" i="1" smtClean="0">
                                          <a:latin typeface="Cambria Math" panose="02040503050406030204" pitchFamily="18" charset="0"/>
                                        </a:rPr>
                                        <m:t>𝑖</m:t>
                                      </m:r>
                                    </m:sup>
                                  </m:sSubSup>
                                </m:e>
                              </m:nary>
                            </m:e>
                          </m:nary>
                        </m:den>
                      </m:f>
                    </m:oMath>
                  </m:oMathPara>
                </a14:m>
                <a:endParaRPr lang="en-GB" sz="1600" dirty="0"/>
              </a:p>
            </p:txBody>
          </p:sp>
        </mc:Choice>
        <mc:Fallback xmlns="">
          <p:sp>
            <p:nvSpPr>
              <p:cNvPr id="26" name="ZoneTexte 25">
                <a:extLst>
                  <a:ext uri="{FF2B5EF4-FFF2-40B4-BE49-F238E27FC236}">
                    <a16:creationId xmlns:a16="http://schemas.microsoft.com/office/drawing/2014/main" id="{1574E506-1FBF-CFAD-F6B3-86E1C8AF7468}"/>
                  </a:ext>
                </a:extLst>
              </p:cNvPr>
              <p:cNvSpPr txBox="1">
                <a:spLocks noRot="1" noChangeAspect="1" noMove="1" noResize="1" noEditPoints="1" noAdjustHandles="1" noChangeArrowheads="1" noChangeShapeType="1" noTextEdit="1"/>
              </p:cNvSpPr>
              <p:nvPr/>
            </p:nvSpPr>
            <p:spPr>
              <a:xfrm>
                <a:off x="2113533" y="4906098"/>
                <a:ext cx="4885248" cy="601447"/>
              </a:xfrm>
              <a:prstGeom prst="rect">
                <a:avLst/>
              </a:prstGeom>
              <a:blipFill>
                <a:blip r:embed="rId3"/>
                <a:stretch>
                  <a:fillRect l="-1036" t="-66667" b="-106250"/>
                </a:stretch>
              </a:blipFill>
            </p:spPr>
            <p:txBody>
              <a:bodyPr/>
              <a:lstStyle/>
              <a:p>
                <a:r>
                  <a:rPr lang="en-GB">
                    <a:noFill/>
                  </a:rPr>
                  <a:t> </a:t>
                </a:r>
              </a:p>
            </p:txBody>
          </p:sp>
        </mc:Fallback>
      </mc:AlternateContent>
      <p:cxnSp>
        <p:nvCxnSpPr>
          <p:cNvPr id="28" name="Connecteur droit avec flèche 27">
            <a:extLst>
              <a:ext uri="{FF2B5EF4-FFF2-40B4-BE49-F238E27FC236}">
                <a16:creationId xmlns:a16="http://schemas.microsoft.com/office/drawing/2014/main" id="{B17E8ADC-0B58-6EFC-B5B4-4D2BF1918010}"/>
              </a:ext>
            </a:extLst>
          </p:cNvPr>
          <p:cNvCxnSpPr>
            <a:cxnSpLocks/>
          </p:cNvCxnSpPr>
          <p:nvPr/>
        </p:nvCxnSpPr>
        <p:spPr>
          <a:xfrm>
            <a:off x="2880852" y="4588922"/>
            <a:ext cx="973393" cy="435362"/>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EB119A0D-C2B1-51A8-3CA0-A98A8EE4AF3F}"/>
              </a:ext>
            </a:extLst>
          </p:cNvPr>
          <p:cNvSpPr txBox="1"/>
          <p:nvPr/>
        </p:nvSpPr>
        <p:spPr>
          <a:xfrm>
            <a:off x="838199" y="4461964"/>
            <a:ext cx="2035277" cy="253916"/>
          </a:xfrm>
          <a:prstGeom prst="rect">
            <a:avLst/>
          </a:prstGeom>
          <a:noFill/>
        </p:spPr>
        <p:txBody>
          <a:bodyPr wrap="square" rtlCol="0">
            <a:spAutoFit/>
          </a:bodyPr>
          <a:lstStyle/>
          <a:p>
            <a:pPr algn="r"/>
            <a:r>
              <a:rPr lang="en-GB" sz="1050" dirty="0">
                <a:solidFill>
                  <a:schemeClr val="tx1">
                    <a:lumMod val="50000"/>
                    <a:lumOff val="50000"/>
                  </a:schemeClr>
                </a:solidFill>
              </a:rPr>
              <a:t>For every candidate sentence…</a:t>
            </a:r>
          </a:p>
        </p:txBody>
      </p:sp>
      <p:sp>
        <p:nvSpPr>
          <p:cNvPr id="33" name="ZoneTexte 32">
            <a:extLst>
              <a:ext uri="{FF2B5EF4-FFF2-40B4-BE49-F238E27FC236}">
                <a16:creationId xmlns:a16="http://schemas.microsoft.com/office/drawing/2014/main" id="{638AB8FE-A715-738C-565B-AB72F1971890}"/>
              </a:ext>
            </a:extLst>
          </p:cNvPr>
          <p:cNvSpPr txBox="1"/>
          <p:nvPr/>
        </p:nvSpPr>
        <p:spPr>
          <a:xfrm>
            <a:off x="7183728" y="4668756"/>
            <a:ext cx="2461718" cy="253916"/>
          </a:xfrm>
          <a:prstGeom prst="rect">
            <a:avLst/>
          </a:prstGeom>
          <a:noFill/>
        </p:spPr>
        <p:txBody>
          <a:bodyPr wrap="square" rtlCol="0">
            <a:spAutoFit/>
          </a:bodyPr>
          <a:lstStyle/>
          <a:p>
            <a:r>
              <a:rPr lang="en-GB" sz="1050" dirty="0">
                <a:solidFill>
                  <a:schemeClr val="tx1">
                    <a:lumMod val="50000"/>
                    <a:lumOff val="50000"/>
                  </a:schemeClr>
                </a:solidFill>
              </a:rPr>
              <a:t>Frequency of same </a:t>
            </a:r>
            <a:r>
              <a:rPr lang="en-GB" sz="1050" dirty="0" err="1">
                <a:solidFill>
                  <a:schemeClr val="tx1">
                    <a:lumMod val="50000"/>
                    <a:lumOff val="50000"/>
                  </a:schemeClr>
                </a:solidFill>
              </a:rPr>
              <a:t>i</a:t>
            </a:r>
            <a:r>
              <a:rPr lang="en-GB" sz="1050" dirty="0">
                <a:solidFill>
                  <a:schemeClr val="tx1">
                    <a:lumMod val="50000"/>
                    <a:lumOff val="50000"/>
                  </a:schemeClr>
                </a:solidFill>
              </a:rPr>
              <a:t>-gram in reference.</a:t>
            </a:r>
          </a:p>
        </p:txBody>
      </p:sp>
      <p:cxnSp>
        <p:nvCxnSpPr>
          <p:cNvPr id="34" name="Connecteur droit avec flèche 33">
            <a:extLst>
              <a:ext uri="{FF2B5EF4-FFF2-40B4-BE49-F238E27FC236}">
                <a16:creationId xmlns:a16="http://schemas.microsoft.com/office/drawing/2014/main" id="{6B2BFCEE-7CBA-57A5-F69C-299EE79E5275}"/>
              </a:ext>
            </a:extLst>
          </p:cNvPr>
          <p:cNvCxnSpPr>
            <a:cxnSpLocks/>
            <a:stCxn id="33" idx="1"/>
          </p:cNvCxnSpPr>
          <p:nvPr/>
        </p:nvCxnSpPr>
        <p:spPr>
          <a:xfrm flipH="1">
            <a:off x="6768000" y="4795714"/>
            <a:ext cx="415728" cy="22857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7" name="ZoneTexte 36">
            <a:extLst>
              <a:ext uri="{FF2B5EF4-FFF2-40B4-BE49-F238E27FC236}">
                <a16:creationId xmlns:a16="http://schemas.microsoft.com/office/drawing/2014/main" id="{0B1E9CB8-DAD1-0047-467D-16F95A5F777C}"/>
              </a:ext>
            </a:extLst>
          </p:cNvPr>
          <p:cNvSpPr txBox="1"/>
          <p:nvPr/>
        </p:nvSpPr>
        <p:spPr>
          <a:xfrm>
            <a:off x="3346868" y="4399284"/>
            <a:ext cx="2568007" cy="253916"/>
          </a:xfrm>
          <a:prstGeom prst="rect">
            <a:avLst/>
          </a:prstGeom>
          <a:noFill/>
        </p:spPr>
        <p:txBody>
          <a:bodyPr wrap="square" rtlCol="0">
            <a:spAutoFit/>
          </a:bodyPr>
          <a:lstStyle/>
          <a:p>
            <a:pPr algn="ctr"/>
            <a:r>
              <a:rPr lang="en-GB" sz="1050" dirty="0">
                <a:solidFill>
                  <a:schemeClr val="tx1">
                    <a:lumMod val="50000"/>
                    <a:lumOff val="50000"/>
                  </a:schemeClr>
                </a:solidFill>
              </a:rPr>
              <a:t>Frequency of same </a:t>
            </a:r>
            <a:r>
              <a:rPr lang="en-GB" sz="1050" dirty="0" err="1">
                <a:solidFill>
                  <a:schemeClr val="tx1">
                    <a:lumMod val="50000"/>
                    <a:lumOff val="50000"/>
                  </a:schemeClr>
                </a:solidFill>
              </a:rPr>
              <a:t>i</a:t>
            </a:r>
            <a:r>
              <a:rPr lang="en-GB" sz="1050" dirty="0">
                <a:solidFill>
                  <a:schemeClr val="tx1">
                    <a:lumMod val="50000"/>
                    <a:lumOff val="50000"/>
                  </a:schemeClr>
                </a:solidFill>
              </a:rPr>
              <a:t>-gram in reference.</a:t>
            </a:r>
          </a:p>
        </p:txBody>
      </p:sp>
      <p:cxnSp>
        <p:nvCxnSpPr>
          <p:cNvPr id="38" name="Connecteur droit avec flèche 37">
            <a:extLst>
              <a:ext uri="{FF2B5EF4-FFF2-40B4-BE49-F238E27FC236}">
                <a16:creationId xmlns:a16="http://schemas.microsoft.com/office/drawing/2014/main" id="{EF94FAE4-0679-2639-503E-EE4C437A91DF}"/>
              </a:ext>
            </a:extLst>
          </p:cNvPr>
          <p:cNvCxnSpPr>
            <a:cxnSpLocks/>
          </p:cNvCxnSpPr>
          <p:nvPr/>
        </p:nvCxnSpPr>
        <p:spPr>
          <a:xfrm>
            <a:off x="4621564" y="4633536"/>
            <a:ext cx="225613" cy="390748"/>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4" name="ZoneTexte 43">
            <a:extLst>
              <a:ext uri="{FF2B5EF4-FFF2-40B4-BE49-F238E27FC236}">
                <a16:creationId xmlns:a16="http://schemas.microsoft.com/office/drawing/2014/main" id="{4698BA5F-4AA9-A7FA-E397-C5959BAC191B}"/>
              </a:ext>
            </a:extLst>
          </p:cNvPr>
          <p:cNvSpPr txBox="1"/>
          <p:nvPr/>
        </p:nvSpPr>
        <p:spPr>
          <a:xfrm>
            <a:off x="6594341" y="4388850"/>
            <a:ext cx="3287078" cy="253916"/>
          </a:xfrm>
          <a:prstGeom prst="rect">
            <a:avLst/>
          </a:prstGeom>
          <a:noFill/>
        </p:spPr>
        <p:txBody>
          <a:bodyPr wrap="square" rtlCol="0">
            <a:spAutoFit/>
          </a:bodyPr>
          <a:lstStyle/>
          <a:p>
            <a:r>
              <a:rPr lang="en-GB" sz="1050" dirty="0">
                <a:solidFill>
                  <a:schemeClr val="tx1">
                    <a:lumMod val="50000"/>
                    <a:lumOff val="50000"/>
                  </a:schemeClr>
                </a:solidFill>
              </a:rPr>
              <a:t>Frequency of matching </a:t>
            </a:r>
            <a:r>
              <a:rPr lang="en-GB" sz="1050" dirty="0" err="1">
                <a:solidFill>
                  <a:schemeClr val="tx1">
                    <a:lumMod val="50000"/>
                    <a:lumOff val="50000"/>
                  </a:schemeClr>
                </a:solidFill>
              </a:rPr>
              <a:t>i</a:t>
            </a:r>
            <a:r>
              <a:rPr lang="en-GB" sz="1050" dirty="0">
                <a:solidFill>
                  <a:schemeClr val="tx1">
                    <a:lumMod val="50000"/>
                    <a:lumOff val="50000"/>
                  </a:schemeClr>
                </a:solidFill>
              </a:rPr>
              <a:t>-gram occurring in candidate.</a:t>
            </a:r>
          </a:p>
        </p:txBody>
      </p:sp>
      <p:cxnSp>
        <p:nvCxnSpPr>
          <p:cNvPr id="45" name="Connecteur droit avec flèche 44">
            <a:extLst>
              <a:ext uri="{FF2B5EF4-FFF2-40B4-BE49-F238E27FC236}">
                <a16:creationId xmlns:a16="http://schemas.microsoft.com/office/drawing/2014/main" id="{C45963CC-7DA8-D10C-CF4C-D08574F21330}"/>
              </a:ext>
            </a:extLst>
          </p:cNvPr>
          <p:cNvCxnSpPr>
            <a:cxnSpLocks/>
          </p:cNvCxnSpPr>
          <p:nvPr/>
        </p:nvCxnSpPr>
        <p:spPr>
          <a:xfrm flipH="1">
            <a:off x="5686555" y="4598754"/>
            <a:ext cx="988972" cy="425530"/>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ABAA7723-5FD4-81A6-FF4C-B23FBDA9AD30}"/>
              </a:ext>
            </a:extLst>
          </p:cNvPr>
          <p:cNvSpPr txBox="1"/>
          <p:nvPr/>
        </p:nvSpPr>
        <p:spPr>
          <a:xfrm>
            <a:off x="4174480" y="5770877"/>
            <a:ext cx="2461718" cy="253916"/>
          </a:xfrm>
          <a:prstGeom prst="rect">
            <a:avLst/>
          </a:prstGeom>
          <a:noFill/>
        </p:spPr>
        <p:txBody>
          <a:bodyPr wrap="square" rtlCol="0">
            <a:spAutoFit/>
          </a:bodyPr>
          <a:lstStyle/>
          <a:p>
            <a:r>
              <a:rPr lang="en-GB" sz="1050" dirty="0">
                <a:solidFill>
                  <a:schemeClr val="tx1">
                    <a:lumMod val="50000"/>
                    <a:lumOff val="50000"/>
                  </a:schemeClr>
                </a:solidFill>
              </a:rPr>
              <a:t>Number of </a:t>
            </a:r>
            <a:r>
              <a:rPr lang="en-GB" sz="1050" dirty="0" err="1">
                <a:solidFill>
                  <a:schemeClr val="tx1">
                    <a:lumMod val="50000"/>
                    <a:lumOff val="50000"/>
                  </a:schemeClr>
                </a:solidFill>
              </a:rPr>
              <a:t>i</a:t>
            </a:r>
            <a:r>
              <a:rPr lang="en-GB" sz="1050" dirty="0">
                <a:solidFill>
                  <a:schemeClr val="tx1">
                    <a:lumMod val="50000"/>
                    <a:lumOff val="50000"/>
                  </a:schemeClr>
                </a:solidFill>
              </a:rPr>
              <a:t>-grams in the candidates.</a:t>
            </a:r>
          </a:p>
        </p:txBody>
      </p:sp>
      <p:cxnSp>
        <p:nvCxnSpPr>
          <p:cNvPr id="7" name="Connecteur droit avec flèche 6">
            <a:extLst>
              <a:ext uri="{FF2B5EF4-FFF2-40B4-BE49-F238E27FC236}">
                <a16:creationId xmlns:a16="http://schemas.microsoft.com/office/drawing/2014/main" id="{029F4470-2BBF-03C2-4FD9-737298403055}"/>
              </a:ext>
            </a:extLst>
          </p:cNvPr>
          <p:cNvCxnSpPr>
            <a:cxnSpLocks/>
          </p:cNvCxnSpPr>
          <p:nvPr/>
        </p:nvCxnSpPr>
        <p:spPr>
          <a:xfrm flipV="1">
            <a:off x="5055041" y="5576032"/>
            <a:ext cx="0" cy="171723"/>
          </a:xfrm>
          <a:prstGeom prst="straightConnector1">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6916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4BDB-81EF-FE9D-0820-429375CEF4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CBFF29-3A2F-8AA2-93C1-8AFC29580B17}"/>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F7635B09-55D6-AC06-C81D-5D298EA545EC}"/>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6E071B43-E5A0-ECE3-202A-92ED26CE03E8}"/>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BLEU Shortcomings</a:t>
            </a:r>
          </a:p>
        </p:txBody>
      </p:sp>
      <p:sp>
        <p:nvSpPr>
          <p:cNvPr id="3" name="ZoneTexte 2">
            <a:extLst>
              <a:ext uri="{FF2B5EF4-FFF2-40B4-BE49-F238E27FC236}">
                <a16:creationId xmlns:a16="http://schemas.microsoft.com/office/drawing/2014/main" id="{C1BECBF1-80C3-358B-6110-F0FE6557B00D}"/>
              </a:ext>
            </a:extLst>
          </p:cNvPr>
          <p:cNvSpPr txBox="1"/>
          <p:nvPr/>
        </p:nvSpPr>
        <p:spPr>
          <a:xfrm>
            <a:off x="859220" y="2044099"/>
            <a:ext cx="11155799" cy="3756933"/>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GB" b="1" i="0" u="none" strike="noStrike" dirty="0">
                <a:solidFill>
                  <a:srgbClr val="C00000"/>
                </a:solidFill>
                <a:effectLst/>
                <a:latin typeface="ui-sans-serif"/>
              </a:rPr>
              <a:t>Doesn</a:t>
            </a:r>
            <a:r>
              <a:rPr lang="en-GB" b="1" dirty="0">
                <a:solidFill>
                  <a:srgbClr val="C00000"/>
                </a:solidFill>
                <a:latin typeface="ui-sans-serif"/>
              </a:rPr>
              <a:t>’t take word meaning into account.</a:t>
            </a:r>
          </a:p>
          <a:p>
            <a:pPr>
              <a:lnSpc>
                <a:spcPct val="150000"/>
              </a:lnSpc>
            </a:pPr>
            <a:r>
              <a:rPr lang="en-GB" dirty="0">
                <a:latin typeface="ui-sans-serif"/>
              </a:rPr>
              <a:t>A candidate translation can be adequate and fluent but share no n-grams with the reference translations because it uses different words in which case the BLEU score will be low</a:t>
            </a:r>
            <a:endParaRPr lang="en-GB" sz="1600" dirty="0">
              <a:latin typeface="ui-sans-serif"/>
            </a:endParaRPr>
          </a:p>
          <a:p>
            <a:pPr marL="285750" indent="-285750">
              <a:lnSpc>
                <a:spcPct val="150000"/>
              </a:lnSpc>
              <a:buFont typeface="Arial" panose="020B0604020202020204" pitchFamily="34" charset="0"/>
              <a:buChar char="•"/>
            </a:pPr>
            <a:r>
              <a:rPr lang="en-GB" b="1" dirty="0">
                <a:solidFill>
                  <a:srgbClr val="C00000"/>
                </a:solidFill>
                <a:latin typeface="ui-sans-serif"/>
              </a:rPr>
              <a:t>Doesn’t take word order into account.</a:t>
            </a:r>
          </a:p>
          <a:p>
            <a:pPr>
              <a:lnSpc>
                <a:spcPct val="150000"/>
              </a:lnSpc>
            </a:pPr>
            <a:r>
              <a:rPr lang="en-GB" dirty="0">
                <a:latin typeface="ui-sans-serif"/>
              </a:rPr>
              <a:t>So, it’s possible to have a good BLEU score despite the n-grams being out-of-order.</a:t>
            </a:r>
          </a:p>
          <a:p>
            <a:pPr>
              <a:lnSpc>
                <a:spcPct val="150000"/>
              </a:lnSpc>
            </a:pPr>
            <a:endParaRPr lang="en-GB" dirty="0">
              <a:latin typeface="ui-sans-serif"/>
            </a:endParaRPr>
          </a:p>
          <a:p>
            <a:pPr>
              <a:lnSpc>
                <a:spcPct val="150000"/>
              </a:lnSpc>
            </a:pPr>
            <a:r>
              <a:rPr lang="en-GB" b="1" dirty="0">
                <a:latin typeface="ui-sans-serif"/>
              </a:rPr>
              <a:t>That’s being said, it’s probably the most popular automated way to measure translation system performance.</a:t>
            </a:r>
            <a:endParaRPr lang="en-GB" sz="1600" b="1" dirty="0">
              <a:latin typeface="ui-sans-serif"/>
            </a:endParaRPr>
          </a:p>
        </p:txBody>
      </p:sp>
    </p:spTree>
    <p:extLst>
      <p:ext uri="{BB962C8B-B14F-4D97-AF65-F5344CB8AC3E}">
        <p14:creationId xmlns:p14="http://schemas.microsoft.com/office/powerpoint/2010/main" val="304199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CA70-5091-0F5A-32D1-131B73A144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EB849A-319F-8BD4-6C9E-B9C36993C8E2}"/>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6C3DFCA2-9E6F-8220-960B-63034C218ACC}"/>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5BB0B69E-0457-8340-5116-D30060C4633B}"/>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The </a:t>
            </a:r>
            <a:r>
              <a:rPr lang="en-GB" sz="2800" b="1" i="0" u="none" strike="noStrike" dirty="0">
                <a:solidFill>
                  <a:schemeClr val="accent2"/>
                </a:solidFill>
                <a:effectLst/>
                <a:latin typeface="ui-sans-serif"/>
              </a:rPr>
              <a:t>Information Bottleneck</a:t>
            </a:r>
          </a:p>
        </p:txBody>
      </p:sp>
      <p:sp>
        <p:nvSpPr>
          <p:cNvPr id="3" name="ZoneTexte 2">
            <a:extLst>
              <a:ext uri="{FF2B5EF4-FFF2-40B4-BE49-F238E27FC236}">
                <a16:creationId xmlns:a16="http://schemas.microsoft.com/office/drawing/2014/main" id="{549A1A4A-E090-93DB-BD57-BE9A44D6689F}"/>
              </a:ext>
            </a:extLst>
          </p:cNvPr>
          <p:cNvSpPr txBox="1"/>
          <p:nvPr/>
        </p:nvSpPr>
        <p:spPr>
          <a:xfrm>
            <a:off x="859220" y="2044100"/>
            <a:ext cx="11155799" cy="2443818"/>
          </a:xfrm>
          <a:prstGeom prst="rect">
            <a:avLst/>
          </a:prstGeom>
          <a:noFill/>
        </p:spPr>
        <p:txBody>
          <a:bodyPr wrap="square" rtlCol="0">
            <a:noAutofit/>
          </a:bodyPr>
          <a:lstStyle/>
          <a:p>
            <a:pPr>
              <a:lnSpc>
                <a:spcPct val="150000"/>
              </a:lnSpc>
            </a:pPr>
            <a:r>
              <a:rPr lang="en-GB" sz="1400" dirty="0">
                <a:latin typeface="Aptos" panose="020B0004020202020204" pitchFamily="34" charset="0"/>
              </a:rPr>
              <a:t>A critical </a:t>
            </a:r>
            <a:r>
              <a:rPr lang="en-GB" sz="1400" b="1" dirty="0">
                <a:latin typeface="Aptos" panose="020B0004020202020204" pitchFamily="34" charset="0"/>
              </a:rPr>
              <a:t>weakness</a:t>
            </a:r>
            <a:r>
              <a:rPr lang="en-GB" sz="1400" dirty="0">
                <a:latin typeface="Aptos" panose="020B0004020202020204" pitchFamily="34" charset="0"/>
              </a:rPr>
              <a:t> remains in the RNNs based Seq2Seq model and that's from </a:t>
            </a:r>
            <a:r>
              <a:rPr lang="en-GB" sz="1400" b="1" dirty="0">
                <a:latin typeface="Aptos" panose="020B0004020202020204" pitchFamily="34" charset="0"/>
              </a:rPr>
              <a:t>the transition from encoding to decoding</a:t>
            </a:r>
            <a:r>
              <a:rPr lang="en-GB" sz="1400" dirty="0">
                <a:latin typeface="Aptos" panose="020B0004020202020204" pitchFamily="34" charset="0"/>
              </a:rPr>
              <a:t>.</a:t>
            </a:r>
          </a:p>
          <a:p>
            <a:pPr>
              <a:lnSpc>
                <a:spcPct val="150000"/>
              </a:lnSpc>
            </a:pPr>
            <a:r>
              <a:rPr lang="en-GB" sz="1400" dirty="0">
                <a:latin typeface="Aptos" panose="020B0004020202020204" pitchFamily="34" charset="0"/>
              </a:rPr>
              <a:t>What the encoder must do is compress the entire source sequence into a single fixed length vector.</a:t>
            </a:r>
          </a:p>
          <a:p>
            <a:pPr>
              <a:lnSpc>
                <a:spcPct val="150000"/>
              </a:lnSpc>
            </a:pPr>
            <a:r>
              <a:rPr lang="en-GB" sz="1400" dirty="0">
                <a:latin typeface="Aptos" panose="020B0004020202020204" pitchFamily="34" charset="0"/>
              </a:rPr>
              <a:t>This vector must somehow carry information about complex phrase structures and long-distance relationships between words.</a:t>
            </a:r>
          </a:p>
          <a:p>
            <a:pPr>
              <a:lnSpc>
                <a:spcPct val="150000"/>
              </a:lnSpc>
            </a:pPr>
            <a:r>
              <a:rPr lang="en-GB" sz="1400" dirty="0">
                <a:latin typeface="Aptos" panose="020B0004020202020204" pitchFamily="34" charset="0"/>
              </a:rPr>
              <a:t>There's so much the model can do when it's forced to cram all this information into a lower dimension.</a:t>
            </a:r>
          </a:p>
          <a:p>
            <a:pPr>
              <a:lnSpc>
                <a:spcPct val="150000"/>
              </a:lnSpc>
            </a:pPr>
            <a:r>
              <a:rPr lang="en-GB" sz="1400" dirty="0">
                <a:latin typeface="Aptos" panose="020B0004020202020204" pitchFamily="34" charset="0"/>
              </a:rPr>
              <a:t>This leads to an </a:t>
            </a:r>
            <a:r>
              <a:rPr lang="en-GB" sz="1400" b="1" dirty="0">
                <a:latin typeface="Aptos" panose="020B0004020202020204" pitchFamily="34" charset="0"/>
              </a:rPr>
              <a:t>information bottleneck</a:t>
            </a:r>
            <a:r>
              <a:rPr lang="en-GB" sz="1400" dirty="0">
                <a:latin typeface="Aptos" panose="020B0004020202020204" pitchFamily="34" charset="0"/>
              </a:rPr>
              <a:t>.</a:t>
            </a:r>
          </a:p>
          <a:p>
            <a:pPr>
              <a:lnSpc>
                <a:spcPct val="150000"/>
              </a:lnSpc>
            </a:pPr>
            <a:r>
              <a:rPr lang="en-GB" sz="1400" dirty="0">
                <a:latin typeface="Aptos" panose="020B0004020202020204" pitchFamily="34" charset="0"/>
              </a:rPr>
              <a:t>And while using architectures such as LSTMs can help when the sequences are still short, model's performance drops dramatically as the sequences get longer because the vector carries more information about the later parts of the sequences than the earlier parts.</a:t>
            </a:r>
          </a:p>
        </p:txBody>
      </p:sp>
      <p:grpSp>
        <p:nvGrpSpPr>
          <p:cNvPr id="6" name="Groupe 5">
            <a:extLst>
              <a:ext uri="{FF2B5EF4-FFF2-40B4-BE49-F238E27FC236}">
                <a16:creationId xmlns:a16="http://schemas.microsoft.com/office/drawing/2014/main" id="{61B6C051-F1D2-6D91-9836-DA7BB86BD567}"/>
              </a:ext>
            </a:extLst>
          </p:cNvPr>
          <p:cNvGrpSpPr/>
          <p:nvPr/>
        </p:nvGrpSpPr>
        <p:grpSpPr>
          <a:xfrm>
            <a:off x="7430813" y="489021"/>
            <a:ext cx="3350317" cy="1404094"/>
            <a:chOff x="2271496" y="2840241"/>
            <a:chExt cx="7248394" cy="3297799"/>
          </a:xfrm>
        </p:grpSpPr>
        <p:sp>
          <p:nvSpPr>
            <p:cNvPr id="7" name="Rectangle : coins arrondis 6">
              <a:extLst>
                <a:ext uri="{FF2B5EF4-FFF2-40B4-BE49-F238E27FC236}">
                  <a16:creationId xmlns:a16="http://schemas.microsoft.com/office/drawing/2014/main" id="{29E6884A-9E93-2D90-96B3-9B291F237A30}"/>
                </a:ext>
              </a:extLst>
            </p:cNvPr>
            <p:cNvSpPr/>
            <p:nvPr/>
          </p:nvSpPr>
          <p:spPr>
            <a:xfrm>
              <a:off x="2271496" y="2840241"/>
              <a:ext cx="7248394" cy="3297799"/>
            </a:xfrm>
            <a:prstGeom prst="roundRect">
              <a:avLst/>
            </a:prstGeom>
            <a:solidFill>
              <a:srgbClr val="FFFF00">
                <a:alpha val="26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dirty="0">
                <a:ln w="6350">
                  <a:solidFill>
                    <a:schemeClr val="tx1"/>
                  </a:solidFill>
                </a:ln>
              </a:endParaRP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B5C472CB-3ADF-B8F5-54F3-62F6E171BB7E}"/>
                    </a:ext>
                  </a:extLst>
                </p:cNvPr>
                <p:cNvSpPr txBox="1"/>
                <p:nvPr/>
              </p:nvSpPr>
              <p:spPr>
                <a:xfrm>
                  <a:off x="3947850" y="4475975"/>
                  <a:ext cx="271253" cy="21686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600" b="0" i="1" smtClean="0">
                                <a:latin typeface="Cambria Math" panose="02040503050406030204" pitchFamily="18" charset="0"/>
                              </a:rPr>
                            </m:ctrlPr>
                          </m:sSubPr>
                          <m:e>
                            <m:r>
                              <a:rPr lang="fr-FR" sz="600" b="0" i="1" smtClean="0">
                                <a:latin typeface="Cambria Math" panose="02040503050406030204" pitchFamily="18" charset="0"/>
                              </a:rPr>
                              <m:t>𝑋</m:t>
                            </m:r>
                          </m:e>
                          <m:sub>
                            <m:r>
                              <a:rPr lang="fr-FR" sz="600" b="0" i="1" smtClean="0">
                                <a:latin typeface="Cambria Math" panose="02040503050406030204" pitchFamily="18" charset="0"/>
                              </a:rPr>
                              <m:t>𝑡</m:t>
                            </m:r>
                            <m:r>
                              <a:rPr lang="fr-FR" sz="600" b="0" i="1" smtClean="0">
                                <a:latin typeface="Cambria Math" panose="02040503050406030204" pitchFamily="18" charset="0"/>
                              </a:rPr>
                              <m:t>=1</m:t>
                            </m:r>
                          </m:sub>
                        </m:sSub>
                      </m:oMath>
                    </m:oMathPara>
                  </a14:m>
                  <a:endParaRPr lang="en-GB" sz="600" dirty="0"/>
                </a:p>
              </p:txBody>
            </p:sp>
          </mc:Choice>
          <mc:Fallback xmlns="">
            <p:sp>
              <p:nvSpPr>
                <p:cNvPr id="8" name="ZoneTexte 7">
                  <a:extLst>
                    <a:ext uri="{FF2B5EF4-FFF2-40B4-BE49-F238E27FC236}">
                      <a16:creationId xmlns:a16="http://schemas.microsoft.com/office/drawing/2014/main" id="{B5C472CB-3ADF-B8F5-54F3-62F6E171BB7E}"/>
                    </a:ext>
                  </a:extLst>
                </p:cNvPr>
                <p:cNvSpPr txBox="1">
                  <a:spLocks noRot="1" noChangeAspect="1" noMove="1" noResize="1" noEditPoints="1" noAdjustHandles="1" noChangeArrowheads="1" noChangeShapeType="1" noTextEdit="1"/>
                </p:cNvSpPr>
                <p:nvPr/>
              </p:nvSpPr>
              <p:spPr>
                <a:xfrm>
                  <a:off x="3947850" y="4475975"/>
                  <a:ext cx="271253" cy="216863"/>
                </a:xfrm>
                <a:prstGeom prst="rect">
                  <a:avLst/>
                </a:prstGeom>
                <a:blipFill>
                  <a:blip r:embed="rId3"/>
                  <a:stretch>
                    <a:fillRect l="-27273" r="-27273" b="-25000"/>
                  </a:stretch>
                </a:blipFill>
              </p:spPr>
              <p:txBody>
                <a:bodyPr/>
                <a:lstStyle/>
                <a:p>
                  <a:r>
                    <a:rPr lang="en-GB">
                      <a:noFill/>
                    </a:rPr>
                    <a:t> </a:t>
                  </a:r>
                </a:p>
              </p:txBody>
            </p:sp>
          </mc:Fallback>
        </mc:AlternateContent>
        <p:sp>
          <p:nvSpPr>
            <p:cNvPr id="9" name="Rectangle : coins arrondis 8">
              <a:extLst>
                <a:ext uri="{FF2B5EF4-FFF2-40B4-BE49-F238E27FC236}">
                  <a16:creationId xmlns:a16="http://schemas.microsoft.com/office/drawing/2014/main" id="{4180086F-0C4C-B22F-129A-07142BB16037}"/>
                </a:ext>
              </a:extLst>
            </p:cNvPr>
            <p:cNvSpPr/>
            <p:nvPr/>
          </p:nvSpPr>
          <p:spPr>
            <a:xfrm>
              <a:off x="3902509" y="3764324"/>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0" name="Connecteur droit avec flèche 9">
              <a:extLst>
                <a:ext uri="{FF2B5EF4-FFF2-40B4-BE49-F238E27FC236}">
                  <a16:creationId xmlns:a16="http://schemas.microsoft.com/office/drawing/2014/main" id="{57A80819-3066-7D3D-6ECF-AE3D58A9A57E}"/>
                </a:ext>
              </a:extLst>
            </p:cNvPr>
            <p:cNvCxnSpPr>
              <a:cxnSpLocks/>
              <a:stCxn id="8" idx="0"/>
              <a:endCxn id="9" idx="2"/>
            </p:cNvCxnSpPr>
            <p:nvPr/>
          </p:nvCxnSpPr>
          <p:spPr>
            <a:xfrm flipH="1" flipV="1">
              <a:off x="4080946" y="4278821"/>
              <a:ext cx="2531" cy="1971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634BCC4-E3AE-2B32-B9DA-869EB638DC34}"/>
                    </a:ext>
                  </a:extLst>
                </p:cNvPr>
                <p:cNvSpPr txBox="1"/>
                <p:nvPr/>
              </p:nvSpPr>
              <p:spPr>
                <a:xfrm>
                  <a:off x="4761516" y="4480090"/>
                  <a:ext cx="271253" cy="21686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fr-FR" sz="600" b="0" i="1" smtClean="0">
                                <a:latin typeface="Cambria Math" panose="02040503050406030204" pitchFamily="18" charset="0"/>
                              </a:rPr>
                            </m:ctrlPr>
                          </m:sSubPr>
                          <m:e>
                            <m:r>
                              <a:rPr lang="fr-FR" sz="600" b="0" i="1" smtClean="0">
                                <a:latin typeface="Cambria Math" panose="02040503050406030204" pitchFamily="18" charset="0"/>
                              </a:rPr>
                              <m:t>𝑋</m:t>
                            </m:r>
                          </m:e>
                          <m:sub>
                            <m:r>
                              <a:rPr lang="fr-FR" sz="600" b="0" i="1" smtClean="0">
                                <a:latin typeface="Cambria Math" panose="02040503050406030204" pitchFamily="18" charset="0"/>
                              </a:rPr>
                              <m:t>𝑡</m:t>
                            </m:r>
                            <m:r>
                              <a:rPr lang="fr-FR" sz="600" b="0" i="1" smtClean="0">
                                <a:latin typeface="Cambria Math" panose="02040503050406030204" pitchFamily="18" charset="0"/>
                              </a:rPr>
                              <m:t>=2</m:t>
                            </m:r>
                          </m:sub>
                        </m:sSub>
                      </m:oMath>
                    </m:oMathPara>
                  </a14:m>
                  <a:endParaRPr lang="en-GB" sz="600" dirty="0"/>
                </a:p>
              </p:txBody>
            </p:sp>
          </mc:Choice>
          <mc:Fallback xmlns="">
            <p:sp>
              <p:nvSpPr>
                <p:cNvPr id="11" name="ZoneTexte 10">
                  <a:extLst>
                    <a:ext uri="{FF2B5EF4-FFF2-40B4-BE49-F238E27FC236}">
                      <a16:creationId xmlns:a16="http://schemas.microsoft.com/office/drawing/2014/main" id="{1634BCC4-E3AE-2B32-B9DA-869EB638DC34}"/>
                    </a:ext>
                  </a:extLst>
                </p:cNvPr>
                <p:cNvSpPr txBox="1">
                  <a:spLocks noRot="1" noChangeAspect="1" noMove="1" noResize="1" noEditPoints="1" noAdjustHandles="1" noChangeArrowheads="1" noChangeShapeType="1" noTextEdit="1"/>
                </p:cNvSpPr>
                <p:nvPr/>
              </p:nvSpPr>
              <p:spPr>
                <a:xfrm>
                  <a:off x="4761516" y="4480090"/>
                  <a:ext cx="271253" cy="216863"/>
                </a:xfrm>
                <a:prstGeom prst="rect">
                  <a:avLst/>
                </a:prstGeom>
                <a:blipFill>
                  <a:blip r:embed="rId4"/>
                  <a:stretch>
                    <a:fillRect l="-18182" r="-27273" b="-25000"/>
                  </a:stretch>
                </a:blipFill>
              </p:spPr>
              <p:txBody>
                <a:bodyPr/>
                <a:lstStyle/>
                <a:p>
                  <a:r>
                    <a:rPr lang="en-GB">
                      <a:noFill/>
                    </a:rPr>
                    <a:t> </a:t>
                  </a:r>
                </a:p>
              </p:txBody>
            </p:sp>
          </mc:Fallback>
        </mc:AlternateContent>
        <p:sp>
          <p:nvSpPr>
            <p:cNvPr id="12" name="Rectangle : coins arrondis 11">
              <a:extLst>
                <a:ext uri="{FF2B5EF4-FFF2-40B4-BE49-F238E27FC236}">
                  <a16:creationId xmlns:a16="http://schemas.microsoft.com/office/drawing/2014/main" id="{3473DAA1-E74D-94B7-2D92-17EC7DEF6B08}"/>
                </a:ext>
              </a:extLst>
            </p:cNvPr>
            <p:cNvSpPr/>
            <p:nvPr/>
          </p:nvSpPr>
          <p:spPr>
            <a:xfrm>
              <a:off x="4716176" y="3768439"/>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3" name="Connecteur droit avec flèche 12">
              <a:extLst>
                <a:ext uri="{FF2B5EF4-FFF2-40B4-BE49-F238E27FC236}">
                  <a16:creationId xmlns:a16="http://schemas.microsoft.com/office/drawing/2014/main" id="{67FD6F39-7E01-8D66-1DD1-3E8411B9B1FF}"/>
                </a:ext>
              </a:extLst>
            </p:cNvPr>
            <p:cNvCxnSpPr>
              <a:cxnSpLocks/>
              <a:stCxn id="11" idx="0"/>
              <a:endCxn id="12" idx="2"/>
            </p:cNvCxnSpPr>
            <p:nvPr/>
          </p:nvCxnSpPr>
          <p:spPr>
            <a:xfrm flipH="1" flipV="1">
              <a:off x="4894613" y="4282936"/>
              <a:ext cx="2531" cy="1971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14" name="Rectangle : coins arrondis 13">
              <a:extLst>
                <a:ext uri="{FF2B5EF4-FFF2-40B4-BE49-F238E27FC236}">
                  <a16:creationId xmlns:a16="http://schemas.microsoft.com/office/drawing/2014/main" id="{0B14EB3B-5E4C-5156-A347-E54DE0198768}"/>
                </a:ext>
              </a:extLst>
            </p:cNvPr>
            <p:cNvSpPr/>
            <p:nvPr/>
          </p:nvSpPr>
          <p:spPr>
            <a:xfrm>
              <a:off x="5529843" y="3772555"/>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5" name="Rectangle : coins arrondis 14">
              <a:extLst>
                <a:ext uri="{FF2B5EF4-FFF2-40B4-BE49-F238E27FC236}">
                  <a16:creationId xmlns:a16="http://schemas.microsoft.com/office/drawing/2014/main" id="{DD3777DE-773E-3E90-ECB3-876157E728A3}"/>
                </a:ext>
              </a:extLst>
            </p:cNvPr>
            <p:cNvSpPr/>
            <p:nvPr/>
          </p:nvSpPr>
          <p:spPr>
            <a:xfrm>
              <a:off x="6335725" y="3776671"/>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6" name="Connecteur droit avec flèche 15">
              <a:extLst>
                <a:ext uri="{FF2B5EF4-FFF2-40B4-BE49-F238E27FC236}">
                  <a16:creationId xmlns:a16="http://schemas.microsoft.com/office/drawing/2014/main" id="{4B4B0154-C34B-4308-571D-84DE865BA728}"/>
                </a:ext>
              </a:extLst>
            </p:cNvPr>
            <p:cNvCxnSpPr>
              <a:stCxn id="9" idx="3"/>
              <a:endCxn id="12" idx="1"/>
            </p:cNvCxnSpPr>
            <p:nvPr/>
          </p:nvCxnSpPr>
          <p:spPr>
            <a:xfrm>
              <a:off x="4259380" y="4021571"/>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A17235E7-438A-9BD1-308F-D8889099E81D}"/>
                </a:ext>
              </a:extLst>
            </p:cNvPr>
            <p:cNvCxnSpPr/>
            <p:nvPr/>
          </p:nvCxnSpPr>
          <p:spPr>
            <a:xfrm>
              <a:off x="5073047" y="4033920"/>
              <a:ext cx="456795" cy="4116"/>
            </a:xfrm>
            <a:prstGeom prst="straightConnector1">
              <a:avLst/>
            </a:prstGeom>
            <a:noFill/>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00CB1520-57B3-5A16-37BA-E8BCC947ED58}"/>
                </a:ext>
              </a:extLst>
            </p:cNvPr>
            <p:cNvCxnSpPr/>
            <p:nvPr/>
          </p:nvCxnSpPr>
          <p:spPr>
            <a:xfrm>
              <a:off x="5884499" y="4033920"/>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EA741C67-7701-B933-23BF-E0612926BB68}"/>
                    </a:ext>
                  </a:extLst>
                </p:cNvPr>
                <p:cNvSpPr txBox="1"/>
                <p:nvPr/>
              </p:nvSpPr>
              <p:spPr>
                <a:xfrm>
                  <a:off x="5496852" y="3187262"/>
                  <a:ext cx="341538" cy="2168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600" b="0" i="1" smtClean="0">
                                <a:latin typeface="Cambria Math" panose="02040503050406030204" pitchFamily="18" charset="0"/>
                              </a:rPr>
                            </m:ctrlPr>
                          </m:sSubPr>
                          <m:e>
                            <m:acc>
                              <m:accPr>
                                <m:chr m:val="̂"/>
                                <m:ctrlPr>
                                  <a:rPr lang="fr-FR" sz="600" b="0" i="1" smtClean="0">
                                    <a:latin typeface="Cambria Math" panose="02040503050406030204" pitchFamily="18" charset="0"/>
                                  </a:rPr>
                                </m:ctrlPr>
                              </m:accPr>
                              <m:e>
                                <m:r>
                                  <a:rPr lang="fr-FR" sz="600" b="0" i="1" smtClean="0">
                                    <a:latin typeface="Cambria Math" panose="02040503050406030204" pitchFamily="18" charset="0"/>
                                  </a:rPr>
                                  <m:t>𝑦</m:t>
                                </m:r>
                              </m:e>
                            </m:acc>
                          </m:e>
                          <m:sub>
                            <m:r>
                              <a:rPr lang="fr-FR" sz="600" b="0" i="1" smtClean="0">
                                <a:latin typeface="Cambria Math" panose="02040503050406030204" pitchFamily="18" charset="0"/>
                              </a:rPr>
                              <m:t>𝑡</m:t>
                            </m:r>
                            <m:r>
                              <a:rPr lang="fr-FR" sz="600" b="0" i="1" smtClean="0">
                                <a:latin typeface="Cambria Math" panose="02040503050406030204" pitchFamily="18" charset="0"/>
                              </a:rPr>
                              <m:t>=1</m:t>
                            </m:r>
                          </m:sub>
                        </m:sSub>
                      </m:oMath>
                    </m:oMathPara>
                  </a14:m>
                  <a:endParaRPr lang="en-GB" sz="600" dirty="0"/>
                </a:p>
              </p:txBody>
            </p:sp>
          </mc:Choice>
          <mc:Fallback xmlns="">
            <p:sp>
              <p:nvSpPr>
                <p:cNvPr id="19" name="ZoneTexte 18">
                  <a:extLst>
                    <a:ext uri="{FF2B5EF4-FFF2-40B4-BE49-F238E27FC236}">
                      <a16:creationId xmlns:a16="http://schemas.microsoft.com/office/drawing/2014/main" id="{EA741C67-7701-B933-23BF-E0612926BB68}"/>
                    </a:ext>
                  </a:extLst>
                </p:cNvPr>
                <p:cNvSpPr txBox="1">
                  <a:spLocks noRot="1" noChangeAspect="1" noMove="1" noResize="1" noEditPoints="1" noAdjustHandles="1" noChangeArrowheads="1" noChangeShapeType="1" noTextEdit="1"/>
                </p:cNvSpPr>
                <p:nvPr/>
              </p:nvSpPr>
              <p:spPr>
                <a:xfrm>
                  <a:off x="5496852" y="3187262"/>
                  <a:ext cx="341538" cy="216863"/>
                </a:xfrm>
                <a:prstGeom prst="rect">
                  <a:avLst/>
                </a:prstGeom>
                <a:blipFill>
                  <a:blip r:embed="rId5"/>
                  <a:stretch>
                    <a:fillRect l="-15385" r="-7692" b="-222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3D28ED5B-63BF-F44F-538A-6577249ABBD5}"/>
                    </a:ext>
                  </a:extLst>
                </p:cNvPr>
                <p:cNvSpPr txBox="1"/>
                <p:nvPr/>
              </p:nvSpPr>
              <p:spPr>
                <a:xfrm>
                  <a:off x="6303286" y="3218539"/>
                  <a:ext cx="341538" cy="2168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600" b="0" i="1" smtClean="0">
                                <a:latin typeface="Cambria Math" panose="02040503050406030204" pitchFamily="18" charset="0"/>
                              </a:rPr>
                            </m:ctrlPr>
                          </m:sSubPr>
                          <m:e>
                            <m:acc>
                              <m:accPr>
                                <m:chr m:val="̂"/>
                                <m:ctrlPr>
                                  <a:rPr lang="fr-FR" sz="600" b="0" i="1" smtClean="0">
                                    <a:latin typeface="Cambria Math" panose="02040503050406030204" pitchFamily="18" charset="0"/>
                                  </a:rPr>
                                </m:ctrlPr>
                              </m:accPr>
                              <m:e>
                                <m:r>
                                  <a:rPr lang="fr-FR" sz="600" b="0" i="1" smtClean="0">
                                    <a:latin typeface="Cambria Math" panose="02040503050406030204" pitchFamily="18" charset="0"/>
                                  </a:rPr>
                                  <m:t>𝑦</m:t>
                                </m:r>
                              </m:e>
                            </m:acc>
                          </m:e>
                          <m:sub>
                            <m:r>
                              <a:rPr lang="fr-FR" sz="600" b="0" i="1" smtClean="0">
                                <a:latin typeface="Cambria Math" panose="02040503050406030204" pitchFamily="18" charset="0"/>
                              </a:rPr>
                              <m:t>𝑡</m:t>
                            </m:r>
                            <m:r>
                              <a:rPr lang="fr-FR" sz="600" b="0" i="1" smtClean="0">
                                <a:latin typeface="Cambria Math" panose="02040503050406030204" pitchFamily="18" charset="0"/>
                              </a:rPr>
                              <m:t>=2</m:t>
                            </m:r>
                          </m:sub>
                        </m:sSub>
                      </m:oMath>
                    </m:oMathPara>
                  </a14:m>
                  <a:endParaRPr lang="en-GB" sz="600" dirty="0"/>
                </a:p>
              </p:txBody>
            </p:sp>
          </mc:Choice>
          <mc:Fallback xmlns="">
            <p:sp>
              <p:nvSpPr>
                <p:cNvPr id="20" name="ZoneTexte 19">
                  <a:extLst>
                    <a:ext uri="{FF2B5EF4-FFF2-40B4-BE49-F238E27FC236}">
                      <a16:creationId xmlns:a16="http://schemas.microsoft.com/office/drawing/2014/main" id="{3D28ED5B-63BF-F44F-538A-6577249ABBD5}"/>
                    </a:ext>
                  </a:extLst>
                </p:cNvPr>
                <p:cNvSpPr txBox="1">
                  <a:spLocks noRot="1" noChangeAspect="1" noMove="1" noResize="1" noEditPoints="1" noAdjustHandles="1" noChangeArrowheads="1" noChangeShapeType="1" noTextEdit="1"/>
                </p:cNvSpPr>
                <p:nvPr/>
              </p:nvSpPr>
              <p:spPr>
                <a:xfrm>
                  <a:off x="6303286" y="3218539"/>
                  <a:ext cx="341538" cy="216863"/>
                </a:xfrm>
                <a:prstGeom prst="rect">
                  <a:avLst/>
                </a:prstGeom>
                <a:blipFill>
                  <a:blip r:embed="rId6"/>
                  <a:stretch>
                    <a:fillRect l="-15385" t="-12500" b="-25000"/>
                  </a:stretch>
                </a:blipFill>
              </p:spPr>
              <p:txBody>
                <a:bodyPr/>
                <a:lstStyle/>
                <a:p>
                  <a:r>
                    <a:rPr lang="en-GB">
                      <a:noFill/>
                    </a:rPr>
                    <a:t> </a:t>
                  </a:r>
                </a:p>
              </p:txBody>
            </p:sp>
          </mc:Fallback>
        </mc:AlternateContent>
        <p:cxnSp>
          <p:nvCxnSpPr>
            <p:cNvPr id="21" name="Connecteur droit avec flèche 20">
              <a:extLst>
                <a:ext uri="{FF2B5EF4-FFF2-40B4-BE49-F238E27FC236}">
                  <a16:creationId xmlns:a16="http://schemas.microsoft.com/office/drawing/2014/main" id="{23C607BF-3AEE-9F81-0908-DCFE064B4132}"/>
                </a:ext>
              </a:extLst>
            </p:cNvPr>
            <p:cNvCxnSpPr>
              <a:cxnSpLocks/>
              <a:stCxn id="14" idx="0"/>
              <a:endCxn id="19" idx="2"/>
            </p:cNvCxnSpPr>
            <p:nvPr/>
          </p:nvCxnSpPr>
          <p:spPr>
            <a:xfrm flipH="1" flipV="1">
              <a:off x="5667621" y="3404124"/>
              <a:ext cx="40659" cy="36843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395A6F91-FF47-A952-C34A-A3A2E52688E6}"/>
                </a:ext>
              </a:extLst>
            </p:cNvPr>
            <p:cNvCxnSpPr>
              <a:cxnSpLocks/>
              <a:stCxn id="15" idx="0"/>
              <a:endCxn id="20" idx="2"/>
            </p:cNvCxnSpPr>
            <p:nvPr/>
          </p:nvCxnSpPr>
          <p:spPr>
            <a:xfrm flipH="1" flipV="1">
              <a:off x="6474055" y="3435402"/>
              <a:ext cx="40107" cy="34126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3" name="Rectangle : coins arrondis 22">
              <a:extLst>
                <a:ext uri="{FF2B5EF4-FFF2-40B4-BE49-F238E27FC236}">
                  <a16:creationId xmlns:a16="http://schemas.microsoft.com/office/drawing/2014/main" id="{40F05FCD-A66F-E61D-A87D-845D088EEA8A}"/>
                </a:ext>
              </a:extLst>
            </p:cNvPr>
            <p:cNvSpPr/>
            <p:nvPr/>
          </p:nvSpPr>
          <p:spPr>
            <a:xfrm>
              <a:off x="7147974" y="3785448"/>
              <a:ext cx="356872" cy="514496"/>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24" name="Connecteur droit avec flèche 23">
              <a:extLst>
                <a:ext uri="{FF2B5EF4-FFF2-40B4-BE49-F238E27FC236}">
                  <a16:creationId xmlns:a16="http://schemas.microsoft.com/office/drawing/2014/main" id="{43A161D3-61AD-7736-4513-76C68657733D}"/>
                </a:ext>
              </a:extLst>
            </p:cNvPr>
            <p:cNvCxnSpPr/>
            <p:nvPr/>
          </p:nvCxnSpPr>
          <p:spPr>
            <a:xfrm>
              <a:off x="6696748" y="4042697"/>
              <a:ext cx="456795" cy="4116"/>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DEAF6323-9EE4-32F6-C22D-35E2FA47A02B}"/>
                    </a:ext>
                  </a:extLst>
                </p:cNvPr>
                <p:cNvSpPr txBox="1"/>
                <p:nvPr/>
              </p:nvSpPr>
              <p:spPr>
                <a:xfrm>
                  <a:off x="7115535" y="3240016"/>
                  <a:ext cx="341538" cy="2168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600" b="0" i="1" smtClean="0">
                                <a:latin typeface="Cambria Math" panose="02040503050406030204" pitchFamily="18" charset="0"/>
                              </a:rPr>
                            </m:ctrlPr>
                          </m:sSubPr>
                          <m:e>
                            <m:acc>
                              <m:accPr>
                                <m:chr m:val="̂"/>
                                <m:ctrlPr>
                                  <a:rPr lang="fr-FR" sz="600" b="0" i="1" smtClean="0">
                                    <a:latin typeface="Cambria Math" panose="02040503050406030204" pitchFamily="18" charset="0"/>
                                  </a:rPr>
                                </m:ctrlPr>
                              </m:accPr>
                              <m:e>
                                <m:r>
                                  <a:rPr lang="fr-FR" sz="600" b="0" i="1" smtClean="0">
                                    <a:latin typeface="Cambria Math" panose="02040503050406030204" pitchFamily="18" charset="0"/>
                                  </a:rPr>
                                  <m:t>𝑦</m:t>
                                </m:r>
                              </m:e>
                            </m:acc>
                          </m:e>
                          <m:sub>
                            <m:r>
                              <a:rPr lang="fr-FR" sz="600" b="0" i="1" smtClean="0">
                                <a:latin typeface="Cambria Math" panose="02040503050406030204" pitchFamily="18" charset="0"/>
                              </a:rPr>
                              <m:t>𝑡</m:t>
                            </m:r>
                            <m:r>
                              <a:rPr lang="fr-FR" sz="600" b="0" i="1" smtClean="0">
                                <a:latin typeface="Cambria Math" panose="02040503050406030204" pitchFamily="18" charset="0"/>
                              </a:rPr>
                              <m:t>=3</m:t>
                            </m:r>
                          </m:sub>
                        </m:sSub>
                      </m:oMath>
                    </m:oMathPara>
                  </a14:m>
                  <a:endParaRPr lang="en-GB" sz="600" dirty="0"/>
                </a:p>
              </p:txBody>
            </p:sp>
          </mc:Choice>
          <mc:Fallback xmlns="">
            <p:sp>
              <p:nvSpPr>
                <p:cNvPr id="25" name="ZoneTexte 24">
                  <a:extLst>
                    <a:ext uri="{FF2B5EF4-FFF2-40B4-BE49-F238E27FC236}">
                      <a16:creationId xmlns:a16="http://schemas.microsoft.com/office/drawing/2014/main" id="{DEAF6323-9EE4-32F6-C22D-35E2FA47A02B}"/>
                    </a:ext>
                  </a:extLst>
                </p:cNvPr>
                <p:cNvSpPr txBox="1">
                  <a:spLocks noRot="1" noChangeAspect="1" noMove="1" noResize="1" noEditPoints="1" noAdjustHandles="1" noChangeArrowheads="1" noChangeShapeType="1" noTextEdit="1"/>
                </p:cNvSpPr>
                <p:nvPr/>
              </p:nvSpPr>
              <p:spPr>
                <a:xfrm>
                  <a:off x="7115535" y="3240016"/>
                  <a:ext cx="341538" cy="216863"/>
                </a:xfrm>
                <a:prstGeom prst="rect">
                  <a:avLst/>
                </a:prstGeom>
                <a:blipFill>
                  <a:blip r:embed="rId7"/>
                  <a:stretch>
                    <a:fillRect l="-15385" r="-7692" b="-11111"/>
                  </a:stretch>
                </a:blipFill>
              </p:spPr>
              <p:txBody>
                <a:bodyPr/>
                <a:lstStyle/>
                <a:p>
                  <a:r>
                    <a:rPr lang="en-GB">
                      <a:noFill/>
                    </a:rPr>
                    <a:t> </a:t>
                  </a:r>
                </a:p>
              </p:txBody>
            </p:sp>
          </mc:Fallback>
        </mc:AlternateContent>
        <p:cxnSp>
          <p:nvCxnSpPr>
            <p:cNvPr id="26" name="Connecteur droit avec flèche 25">
              <a:extLst>
                <a:ext uri="{FF2B5EF4-FFF2-40B4-BE49-F238E27FC236}">
                  <a16:creationId xmlns:a16="http://schemas.microsoft.com/office/drawing/2014/main" id="{FB2AAEA6-A5A1-9830-F520-02F01B4CB1C4}"/>
                </a:ext>
              </a:extLst>
            </p:cNvPr>
            <p:cNvCxnSpPr>
              <a:cxnSpLocks/>
              <a:stCxn id="23" idx="0"/>
              <a:endCxn id="25" idx="2"/>
            </p:cNvCxnSpPr>
            <p:nvPr/>
          </p:nvCxnSpPr>
          <p:spPr>
            <a:xfrm flipH="1" flipV="1">
              <a:off x="7286304" y="3456878"/>
              <a:ext cx="40107" cy="32856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27" name="Rectangle : coins arrondis 26">
              <a:extLst>
                <a:ext uri="{FF2B5EF4-FFF2-40B4-BE49-F238E27FC236}">
                  <a16:creationId xmlns:a16="http://schemas.microsoft.com/office/drawing/2014/main" id="{41E113A9-77C9-3DB0-1D40-CA58FF2C4ECE}"/>
                </a:ext>
              </a:extLst>
            </p:cNvPr>
            <p:cNvSpPr/>
            <p:nvPr/>
          </p:nvSpPr>
          <p:spPr>
            <a:xfrm>
              <a:off x="3226676" y="3626069"/>
              <a:ext cx="2112579" cy="1375632"/>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ZoneTexte 27">
              <a:extLst>
                <a:ext uri="{FF2B5EF4-FFF2-40B4-BE49-F238E27FC236}">
                  <a16:creationId xmlns:a16="http://schemas.microsoft.com/office/drawing/2014/main" id="{0A3AFE6F-0113-062B-B138-5CC664A0C3FF}"/>
                </a:ext>
              </a:extLst>
            </p:cNvPr>
            <p:cNvSpPr txBox="1"/>
            <p:nvPr/>
          </p:nvSpPr>
          <p:spPr>
            <a:xfrm>
              <a:off x="3517699" y="4722892"/>
              <a:ext cx="1608522" cy="325293"/>
            </a:xfrm>
            <a:prstGeom prst="rect">
              <a:avLst/>
            </a:prstGeom>
            <a:noFill/>
            <a:ln w="12700">
              <a:noFill/>
            </a:ln>
          </p:spPr>
          <p:txBody>
            <a:bodyPr wrap="square" rtlCol="0">
              <a:spAutoFit/>
            </a:bodyPr>
            <a:lstStyle/>
            <a:p>
              <a:pPr algn="ctr"/>
              <a:r>
                <a:rPr lang="en-GB" sz="300" dirty="0"/>
                <a:t>Source / Input Sequence</a:t>
              </a:r>
            </a:p>
          </p:txBody>
        </p:sp>
        <p:sp>
          <p:nvSpPr>
            <p:cNvPr id="29" name="ZoneTexte 28">
              <a:extLst>
                <a:ext uri="{FF2B5EF4-FFF2-40B4-BE49-F238E27FC236}">
                  <a16:creationId xmlns:a16="http://schemas.microsoft.com/office/drawing/2014/main" id="{DBBA3430-5FA7-B086-FED1-F23C9C0FE8F6}"/>
                </a:ext>
              </a:extLst>
            </p:cNvPr>
            <p:cNvSpPr txBox="1"/>
            <p:nvPr/>
          </p:nvSpPr>
          <p:spPr>
            <a:xfrm>
              <a:off x="3517699" y="5004886"/>
              <a:ext cx="1608522" cy="542155"/>
            </a:xfrm>
            <a:prstGeom prst="rect">
              <a:avLst/>
            </a:prstGeom>
            <a:noFill/>
            <a:ln w="12700">
              <a:noFill/>
            </a:ln>
          </p:spPr>
          <p:txBody>
            <a:bodyPr wrap="square" rtlCol="0">
              <a:spAutoFit/>
            </a:bodyPr>
            <a:lstStyle/>
            <a:p>
              <a:pPr algn="ctr"/>
              <a:r>
                <a:rPr lang="en-GB" sz="900" b="1" dirty="0">
                  <a:solidFill>
                    <a:schemeClr val="accent1"/>
                  </a:solidFill>
                </a:rPr>
                <a:t>Encoder</a:t>
              </a:r>
            </a:p>
          </p:txBody>
        </p:sp>
        <p:sp>
          <p:nvSpPr>
            <p:cNvPr id="30" name="ZoneTexte 29">
              <a:extLst>
                <a:ext uri="{FF2B5EF4-FFF2-40B4-BE49-F238E27FC236}">
                  <a16:creationId xmlns:a16="http://schemas.microsoft.com/office/drawing/2014/main" id="{91808B22-6DAE-6AFD-28FB-8AB69E8D99D2}"/>
                </a:ext>
              </a:extLst>
            </p:cNvPr>
            <p:cNvSpPr txBox="1"/>
            <p:nvPr/>
          </p:nvSpPr>
          <p:spPr>
            <a:xfrm>
              <a:off x="5770908" y="2959952"/>
              <a:ext cx="1608522" cy="325293"/>
            </a:xfrm>
            <a:prstGeom prst="rect">
              <a:avLst/>
            </a:prstGeom>
            <a:noFill/>
            <a:ln w="12700">
              <a:noFill/>
            </a:ln>
          </p:spPr>
          <p:txBody>
            <a:bodyPr wrap="square" rtlCol="0">
              <a:spAutoFit/>
            </a:bodyPr>
            <a:lstStyle/>
            <a:p>
              <a:pPr algn="ctr"/>
              <a:r>
                <a:rPr lang="en-GB" sz="300" dirty="0"/>
                <a:t>Target / Output Sequence</a:t>
              </a:r>
            </a:p>
          </p:txBody>
        </p:sp>
        <p:sp>
          <p:nvSpPr>
            <p:cNvPr id="31" name="Rectangle : coins arrondis 30">
              <a:extLst>
                <a:ext uri="{FF2B5EF4-FFF2-40B4-BE49-F238E27FC236}">
                  <a16:creationId xmlns:a16="http://schemas.microsoft.com/office/drawing/2014/main" id="{CA9EC6A6-5E6D-9C8C-0CCA-9C0620250EAC}"/>
                </a:ext>
              </a:extLst>
            </p:cNvPr>
            <p:cNvSpPr/>
            <p:nvPr/>
          </p:nvSpPr>
          <p:spPr>
            <a:xfrm>
              <a:off x="5392267" y="2879322"/>
              <a:ext cx="2557933" cy="1614486"/>
            </a:xfrm>
            <a:prstGeom prst="round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ZoneTexte 31">
              <a:extLst>
                <a:ext uri="{FF2B5EF4-FFF2-40B4-BE49-F238E27FC236}">
                  <a16:creationId xmlns:a16="http://schemas.microsoft.com/office/drawing/2014/main" id="{46911797-91B0-2BA1-B927-D9C912B4E511}"/>
                </a:ext>
              </a:extLst>
            </p:cNvPr>
            <p:cNvSpPr txBox="1"/>
            <p:nvPr/>
          </p:nvSpPr>
          <p:spPr>
            <a:xfrm>
              <a:off x="5732227" y="4512702"/>
              <a:ext cx="1608522" cy="542155"/>
            </a:xfrm>
            <a:prstGeom prst="rect">
              <a:avLst/>
            </a:prstGeom>
            <a:noFill/>
            <a:ln w="12700">
              <a:noFill/>
            </a:ln>
          </p:spPr>
          <p:txBody>
            <a:bodyPr wrap="square" rtlCol="0">
              <a:spAutoFit/>
            </a:bodyPr>
            <a:lstStyle/>
            <a:p>
              <a:pPr algn="ctr"/>
              <a:r>
                <a:rPr lang="en-GB" sz="900" b="1" dirty="0">
                  <a:solidFill>
                    <a:schemeClr val="accent1"/>
                  </a:solidFill>
                </a:rPr>
                <a:t>Decoder</a:t>
              </a:r>
            </a:p>
          </p:txBody>
        </p:sp>
        <p:cxnSp>
          <p:nvCxnSpPr>
            <p:cNvPr id="33" name="Connecteur droit 32">
              <a:extLst>
                <a:ext uri="{FF2B5EF4-FFF2-40B4-BE49-F238E27FC236}">
                  <a16:creationId xmlns:a16="http://schemas.microsoft.com/office/drawing/2014/main" id="{12ACABE5-7C0F-B1FF-94EB-3EF72DE4C4CD}"/>
                </a:ext>
              </a:extLst>
            </p:cNvPr>
            <p:cNvCxnSpPr>
              <a:cxnSpLocks/>
              <a:endCxn id="9" idx="1"/>
            </p:cNvCxnSpPr>
            <p:nvPr/>
          </p:nvCxnSpPr>
          <p:spPr>
            <a:xfrm>
              <a:off x="3445714" y="4021571"/>
              <a:ext cx="456795"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4" name="Connecteur droit 33">
              <a:extLst>
                <a:ext uri="{FF2B5EF4-FFF2-40B4-BE49-F238E27FC236}">
                  <a16:creationId xmlns:a16="http://schemas.microsoft.com/office/drawing/2014/main" id="{80D3FD4D-24C8-0996-1DCF-D322027656F2}"/>
                </a:ext>
              </a:extLst>
            </p:cNvPr>
            <p:cNvCxnSpPr>
              <a:cxnSpLocks/>
              <a:stCxn id="23" idx="3"/>
            </p:cNvCxnSpPr>
            <p:nvPr/>
          </p:nvCxnSpPr>
          <p:spPr>
            <a:xfrm flipV="1">
              <a:off x="7504846" y="4038036"/>
              <a:ext cx="360000" cy="4660"/>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cxnSp>
        <p:nvCxnSpPr>
          <p:cNvPr id="39" name="Connecteur en arc 38">
            <a:extLst>
              <a:ext uri="{FF2B5EF4-FFF2-40B4-BE49-F238E27FC236}">
                <a16:creationId xmlns:a16="http://schemas.microsoft.com/office/drawing/2014/main" id="{EAE7EC75-B566-F617-BF50-F7A28D81CE1C}"/>
              </a:ext>
            </a:extLst>
          </p:cNvPr>
          <p:cNvCxnSpPr>
            <a:cxnSpLocks/>
          </p:cNvCxnSpPr>
          <p:nvPr/>
        </p:nvCxnSpPr>
        <p:spPr>
          <a:xfrm flipV="1">
            <a:off x="5153890" y="1088741"/>
            <a:ext cx="3681033" cy="776664"/>
          </a:xfrm>
          <a:prstGeom prst="curvedConnector3">
            <a:avLst>
              <a:gd name="adj1" fmla="val 106210"/>
            </a:avLst>
          </a:prstGeom>
          <a:ln w="952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4289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3284A-AD1E-F950-E1D8-180C9DC781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308747-D1B4-A63E-699E-A6CF78E4A241}"/>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AA01C0E7-5F42-A137-23E5-24A20A02E385}"/>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5582FF59-BE6A-37FE-1CE0-A3966EA8DAA1}"/>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Introduction to Attention</a:t>
            </a:r>
            <a:endParaRPr lang="en-GB" sz="2800" b="1" i="0" u="none" strike="noStrike" dirty="0">
              <a:solidFill>
                <a:schemeClr val="accent2"/>
              </a:solidFill>
              <a:effectLst/>
              <a:latin typeface="ui-sans-serif"/>
            </a:endParaRPr>
          </a:p>
        </p:txBody>
      </p:sp>
      <p:sp>
        <p:nvSpPr>
          <p:cNvPr id="3" name="ZoneTexte 2">
            <a:extLst>
              <a:ext uri="{FF2B5EF4-FFF2-40B4-BE49-F238E27FC236}">
                <a16:creationId xmlns:a16="http://schemas.microsoft.com/office/drawing/2014/main" id="{4C245A85-B02E-EE70-1180-70C882442CC4}"/>
              </a:ext>
            </a:extLst>
          </p:cNvPr>
          <p:cNvSpPr txBox="1"/>
          <p:nvPr/>
        </p:nvSpPr>
        <p:spPr>
          <a:xfrm>
            <a:off x="859220" y="2044100"/>
            <a:ext cx="11217166" cy="2191570"/>
          </a:xfrm>
          <a:prstGeom prst="rect">
            <a:avLst/>
          </a:prstGeom>
          <a:noFill/>
        </p:spPr>
        <p:txBody>
          <a:bodyPr wrap="square" rtlCol="0">
            <a:noAutofit/>
          </a:bodyPr>
          <a:lstStyle/>
          <a:p>
            <a:pPr>
              <a:lnSpc>
                <a:spcPct val="150000"/>
              </a:lnSpc>
            </a:pPr>
            <a:r>
              <a:rPr lang="en-GB" sz="1400" dirty="0">
                <a:latin typeface="Aptos" panose="020B0004020202020204" pitchFamily="34" charset="0"/>
              </a:rPr>
              <a:t>Intuitively when we as humans transform a sequence into another sequence this is not how we do it. </a:t>
            </a:r>
          </a:p>
          <a:p>
            <a:pPr>
              <a:lnSpc>
                <a:spcPct val="150000"/>
              </a:lnSpc>
            </a:pPr>
            <a:r>
              <a:rPr lang="en-GB" sz="1400" dirty="0">
                <a:latin typeface="Aptos" panose="020B0004020202020204" pitchFamily="34" charset="0"/>
              </a:rPr>
              <a:t>When transforming a sequence ourselves (e.g. summarization), we are constantly referring to source sequence...</a:t>
            </a:r>
          </a:p>
          <a:p>
            <a:pPr>
              <a:lnSpc>
                <a:spcPct val="150000"/>
              </a:lnSpc>
            </a:pPr>
            <a:r>
              <a:rPr lang="en-GB" sz="1400" dirty="0">
                <a:latin typeface="Aptos" panose="020B0004020202020204" pitchFamily="34" charset="0"/>
              </a:rPr>
              <a:t>A human translator often refers to the source sequence while translating. </a:t>
            </a:r>
          </a:p>
          <a:p>
            <a:pPr>
              <a:lnSpc>
                <a:spcPct val="150000"/>
              </a:lnSpc>
            </a:pPr>
            <a:r>
              <a:rPr lang="en-GB" sz="1400" dirty="0">
                <a:latin typeface="Aptos" panose="020B0004020202020204" pitchFamily="34" charset="0"/>
              </a:rPr>
              <a:t>If we were to summarize a document, we would certainly keep looking back at the source document to extract and paraphrase the key passages.</a:t>
            </a:r>
          </a:p>
          <a:p>
            <a:pPr>
              <a:lnSpc>
                <a:spcPct val="150000"/>
              </a:lnSpc>
            </a:pPr>
            <a:r>
              <a:rPr lang="en-GB" sz="1400" dirty="0">
                <a:latin typeface="Aptos" panose="020B0004020202020204" pitchFamily="34" charset="0"/>
              </a:rPr>
              <a:t>What we do is focus on certain parts of the input, depending on where we are generating the output.</a:t>
            </a:r>
          </a:p>
          <a:p>
            <a:pPr>
              <a:lnSpc>
                <a:spcPct val="150000"/>
              </a:lnSpc>
            </a:pPr>
            <a:r>
              <a:rPr lang="en-GB" sz="1400" dirty="0">
                <a:latin typeface="Aptos" panose="020B0004020202020204" pitchFamily="34" charset="0"/>
              </a:rPr>
              <a:t>This is where a powerful mechanism called </a:t>
            </a:r>
            <a:r>
              <a:rPr lang="en-GB" sz="1400" b="1" dirty="0">
                <a:latin typeface="Aptos" panose="020B0004020202020204" pitchFamily="34" charset="0"/>
              </a:rPr>
              <a:t>attention</a:t>
            </a:r>
            <a:r>
              <a:rPr lang="en-GB" sz="1400" dirty="0">
                <a:latin typeface="Aptos" panose="020B0004020202020204" pitchFamily="34" charset="0"/>
              </a:rPr>
              <a:t> comes in.</a:t>
            </a:r>
          </a:p>
        </p:txBody>
      </p:sp>
      <p:grpSp>
        <p:nvGrpSpPr>
          <p:cNvPr id="38" name="Groupe 37">
            <a:extLst>
              <a:ext uri="{FF2B5EF4-FFF2-40B4-BE49-F238E27FC236}">
                <a16:creationId xmlns:a16="http://schemas.microsoft.com/office/drawing/2014/main" id="{1AA3862D-0EDF-55C4-041F-4FBB662C9040}"/>
              </a:ext>
            </a:extLst>
          </p:cNvPr>
          <p:cNvGrpSpPr/>
          <p:nvPr/>
        </p:nvGrpSpPr>
        <p:grpSpPr>
          <a:xfrm>
            <a:off x="6096000" y="4628941"/>
            <a:ext cx="4416514" cy="1552045"/>
            <a:chOff x="2979709" y="4934090"/>
            <a:chExt cx="3555385" cy="1155231"/>
          </a:xfrm>
        </p:grpSpPr>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D0A8D8D1-D9DE-A605-E8FE-4626A230096F}"/>
                    </a:ext>
                  </a:extLst>
                </p:cNvPr>
                <p:cNvSpPr txBox="1"/>
                <p:nvPr/>
              </p:nvSpPr>
              <p:spPr>
                <a:xfrm>
                  <a:off x="4029041"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39" name="ZoneTexte 38">
                  <a:extLst>
                    <a:ext uri="{FF2B5EF4-FFF2-40B4-BE49-F238E27FC236}">
                      <a16:creationId xmlns:a16="http://schemas.microsoft.com/office/drawing/2014/main" id="{D0A8D8D1-D9DE-A605-E8FE-4626A230096F}"/>
                    </a:ext>
                  </a:extLst>
                </p:cNvPr>
                <p:cNvSpPr txBox="1">
                  <a:spLocks noRot="1" noChangeAspect="1" noMove="1" noResize="1" noEditPoints="1" noAdjustHandles="1" noChangeArrowheads="1" noChangeShapeType="1" noTextEdit="1"/>
                </p:cNvSpPr>
                <p:nvPr/>
              </p:nvSpPr>
              <p:spPr>
                <a:xfrm>
                  <a:off x="4029041" y="5996988"/>
                  <a:ext cx="143160" cy="92333"/>
                </a:xfrm>
                <a:prstGeom prst="rect">
                  <a:avLst/>
                </a:prstGeom>
                <a:blipFill>
                  <a:blip r:embed="rId3"/>
                  <a:stretch>
                    <a:fillRect/>
                  </a:stretch>
                </a:blipFill>
              </p:spPr>
              <p:txBody>
                <a:bodyPr/>
                <a:lstStyle/>
                <a:p>
                  <a:r>
                    <a:rPr lang="en-GB">
                      <a:noFill/>
                    </a:rPr>
                    <a:t> </a:t>
                  </a:r>
                </a:p>
              </p:txBody>
            </p:sp>
          </mc:Fallback>
        </mc:AlternateContent>
        <p:sp>
          <p:nvSpPr>
            <p:cNvPr id="40" name="Rectangle : coins arrondis 39">
              <a:extLst>
                <a:ext uri="{FF2B5EF4-FFF2-40B4-BE49-F238E27FC236}">
                  <a16:creationId xmlns:a16="http://schemas.microsoft.com/office/drawing/2014/main" id="{331C3C0E-13B3-10A5-F34A-5DEE7C0CD070}"/>
                </a:ext>
              </a:extLst>
            </p:cNvPr>
            <p:cNvSpPr/>
            <p:nvPr/>
          </p:nvSpPr>
          <p:spPr>
            <a:xfrm>
              <a:off x="4005112" y="5501482"/>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1" name="Connecteur droit avec flèche 40">
              <a:extLst>
                <a:ext uri="{FF2B5EF4-FFF2-40B4-BE49-F238E27FC236}">
                  <a16:creationId xmlns:a16="http://schemas.microsoft.com/office/drawing/2014/main" id="{B3439C5D-15A3-34E4-AB63-F93BB0B44BF3}"/>
                </a:ext>
              </a:extLst>
            </p:cNvPr>
            <p:cNvCxnSpPr>
              <a:cxnSpLocks/>
              <a:stCxn id="39" idx="0"/>
              <a:endCxn id="40" idx="2"/>
            </p:cNvCxnSpPr>
            <p:nvPr/>
          </p:nvCxnSpPr>
          <p:spPr>
            <a:xfrm flipH="1" flipV="1">
              <a:off x="4099287" y="5839120"/>
              <a:ext cx="1334" cy="15786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DEEC13DE-A3E5-1E5A-82B5-B762E76EDCFE}"/>
                    </a:ext>
                  </a:extLst>
                </p:cNvPr>
                <p:cNvSpPr txBox="1"/>
                <p:nvPr/>
              </p:nvSpPr>
              <p:spPr>
                <a:xfrm>
                  <a:off x="4458476"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42" name="ZoneTexte 41">
                  <a:extLst>
                    <a:ext uri="{FF2B5EF4-FFF2-40B4-BE49-F238E27FC236}">
                      <a16:creationId xmlns:a16="http://schemas.microsoft.com/office/drawing/2014/main" id="{DEEC13DE-A3E5-1E5A-82B5-B762E76EDCFE}"/>
                    </a:ext>
                  </a:extLst>
                </p:cNvPr>
                <p:cNvSpPr txBox="1">
                  <a:spLocks noRot="1" noChangeAspect="1" noMove="1" noResize="1" noEditPoints="1" noAdjustHandles="1" noChangeArrowheads="1" noChangeShapeType="1" noTextEdit="1"/>
                </p:cNvSpPr>
                <p:nvPr/>
              </p:nvSpPr>
              <p:spPr>
                <a:xfrm>
                  <a:off x="4458476" y="5996988"/>
                  <a:ext cx="143160" cy="92333"/>
                </a:xfrm>
                <a:prstGeom prst="rect">
                  <a:avLst/>
                </a:prstGeom>
                <a:blipFill>
                  <a:blip r:embed="rId4"/>
                  <a:stretch>
                    <a:fillRect l="-13333" r="-13333"/>
                  </a:stretch>
                </a:blipFill>
              </p:spPr>
              <p:txBody>
                <a:bodyPr/>
                <a:lstStyle/>
                <a:p>
                  <a:r>
                    <a:rPr lang="en-GB">
                      <a:noFill/>
                    </a:rPr>
                    <a:t> </a:t>
                  </a:r>
                </a:p>
              </p:txBody>
            </p:sp>
          </mc:Fallback>
        </mc:AlternateContent>
        <p:sp>
          <p:nvSpPr>
            <p:cNvPr id="43" name="Rectangle : coins arrondis 42">
              <a:extLst>
                <a:ext uri="{FF2B5EF4-FFF2-40B4-BE49-F238E27FC236}">
                  <a16:creationId xmlns:a16="http://schemas.microsoft.com/office/drawing/2014/main" id="{9EC07B85-D4DB-727A-65C1-BC7693460FE9}"/>
                </a:ext>
              </a:extLst>
            </p:cNvPr>
            <p:cNvSpPr/>
            <p:nvPr/>
          </p:nvSpPr>
          <p:spPr>
            <a:xfrm>
              <a:off x="4434547" y="5504183"/>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4" name="Connecteur droit avec flèche 43">
              <a:extLst>
                <a:ext uri="{FF2B5EF4-FFF2-40B4-BE49-F238E27FC236}">
                  <a16:creationId xmlns:a16="http://schemas.microsoft.com/office/drawing/2014/main" id="{BAC5D2FC-6565-EF63-AFF1-55560585DB3E}"/>
                </a:ext>
              </a:extLst>
            </p:cNvPr>
            <p:cNvCxnSpPr>
              <a:cxnSpLocks/>
              <a:stCxn id="42" idx="0"/>
              <a:endCxn id="43" idx="2"/>
            </p:cNvCxnSpPr>
            <p:nvPr/>
          </p:nvCxnSpPr>
          <p:spPr>
            <a:xfrm flipH="1" flipV="1">
              <a:off x="4528722" y="5841821"/>
              <a:ext cx="1334" cy="155167"/>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45" name="Rectangle : coins arrondis 44">
              <a:extLst>
                <a:ext uri="{FF2B5EF4-FFF2-40B4-BE49-F238E27FC236}">
                  <a16:creationId xmlns:a16="http://schemas.microsoft.com/office/drawing/2014/main" id="{FC8C9B2B-C23A-77E7-F38C-FEBBB2F59F30}"/>
                </a:ext>
              </a:extLst>
            </p:cNvPr>
            <p:cNvSpPr/>
            <p:nvPr/>
          </p:nvSpPr>
          <p:spPr>
            <a:xfrm>
              <a:off x="4863982" y="5506884"/>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46" name="Rectangle : coins arrondis 45">
              <a:extLst>
                <a:ext uri="{FF2B5EF4-FFF2-40B4-BE49-F238E27FC236}">
                  <a16:creationId xmlns:a16="http://schemas.microsoft.com/office/drawing/2014/main" id="{30CD534A-0684-41DE-7956-921B35D87F95}"/>
                </a:ext>
              </a:extLst>
            </p:cNvPr>
            <p:cNvSpPr/>
            <p:nvPr/>
          </p:nvSpPr>
          <p:spPr>
            <a:xfrm>
              <a:off x="5289308" y="5509585"/>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7" name="Connecteur droit avec flèche 46">
              <a:extLst>
                <a:ext uri="{FF2B5EF4-FFF2-40B4-BE49-F238E27FC236}">
                  <a16:creationId xmlns:a16="http://schemas.microsoft.com/office/drawing/2014/main" id="{07ECF3AB-E369-18B6-706D-293D577F75F3}"/>
                </a:ext>
              </a:extLst>
            </p:cNvPr>
            <p:cNvCxnSpPr>
              <a:stCxn id="40" idx="3"/>
              <a:endCxn id="43" idx="1"/>
            </p:cNvCxnSpPr>
            <p:nvPr/>
          </p:nvCxnSpPr>
          <p:spPr>
            <a:xfrm>
              <a:off x="4193460" y="5670300"/>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1230AE2D-F953-1D13-3A9A-A0CF7C02AC44}"/>
                </a:ext>
              </a:extLst>
            </p:cNvPr>
            <p:cNvCxnSpPr/>
            <p:nvPr/>
          </p:nvCxnSpPr>
          <p:spPr>
            <a:xfrm>
              <a:off x="4622895" y="5678404"/>
              <a:ext cx="241086" cy="2701"/>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985AFD0F-F598-AFAC-5FF5-0E11862E4172}"/>
                </a:ext>
              </a:extLst>
            </p:cNvPr>
            <p:cNvCxnSpPr/>
            <p:nvPr/>
          </p:nvCxnSpPr>
          <p:spPr>
            <a:xfrm>
              <a:off x="5051161" y="5678404"/>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FAFD4A8C-84E0-C9E6-CDE0-81DE92564234}"/>
                    </a:ext>
                  </a:extLst>
                </p:cNvPr>
                <p:cNvSpPr txBox="1"/>
                <p:nvPr/>
              </p:nvSpPr>
              <p:spPr>
                <a:xfrm>
                  <a:off x="4826731" y="5258476"/>
                  <a:ext cx="336695" cy="92333"/>
                </a:xfrm>
                <a:prstGeom prst="rect">
                  <a:avLst/>
                </a:prstGeom>
                <a:noFill/>
              </p:spPr>
              <p:txBody>
                <a:bodyPr wrap="none" lIns="0" tIns="0" rIns="0" bIns="0" rtlCol="0">
                  <a:spAutoFit/>
                </a:bodyPr>
                <a:lstStyle/>
                <a:p>
                  <a14:m>
                    <m:oMath xmlns:m="http://schemas.openxmlformats.org/officeDocument/2006/math">
                      <m:r>
                        <a:rPr lang="fr-FR" sz="600" b="0" i="1" smtClean="0">
                          <a:latin typeface="Cambria Math" panose="02040503050406030204" pitchFamily="18" charset="0"/>
                        </a:rPr>
                        <m:t>𝑙𝑒𝑚𝑒𝑢𝑟</m:t>
                      </m:r>
                    </m:oMath>
                  </a14:m>
                  <a:r>
                    <a:rPr lang="en-GB" sz="600" b="0" dirty="0"/>
                    <a:t>ült</a:t>
                  </a:r>
                  <a:endParaRPr lang="fr-FR" sz="600" b="0" dirty="0"/>
                </a:p>
              </p:txBody>
            </p:sp>
          </mc:Choice>
          <mc:Fallback xmlns="">
            <p:sp>
              <p:nvSpPr>
                <p:cNvPr id="50" name="ZoneTexte 49">
                  <a:extLst>
                    <a:ext uri="{FF2B5EF4-FFF2-40B4-BE49-F238E27FC236}">
                      <a16:creationId xmlns:a16="http://schemas.microsoft.com/office/drawing/2014/main" id="{FAFD4A8C-84E0-C9E6-CDE0-81DE92564234}"/>
                    </a:ext>
                  </a:extLst>
                </p:cNvPr>
                <p:cNvSpPr txBox="1">
                  <a:spLocks noRot="1" noChangeAspect="1" noMove="1" noResize="1" noEditPoints="1" noAdjustHandles="1" noChangeArrowheads="1" noChangeShapeType="1" noTextEdit="1"/>
                </p:cNvSpPr>
                <p:nvPr/>
              </p:nvSpPr>
              <p:spPr>
                <a:xfrm>
                  <a:off x="4826731" y="5258476"/>
                  <a:ext cx="336695" cy="92333"/>
                </a:xfrm>
                <a:prstGeom prst="rect">
                  <a:avLst/>
                </a:prstGeom>
                <a:blipFill>
                  <a:blip r:embed="rId5"/>
                  <a:stretch>
                    <a:fillRect l="-5882" t="-18182"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07EF8D5B-C65E-81B1-9074-2D8A21252D84}"/>
                    </a:ext>
                  </a:extLst>
                </p:cNvPr>
                <p:cNvSpPr txBox="1"/>
                <p:nvPr/>
              </p:nvSpPr>
              <p:spPr>
                <a:xfrm>
                  <a:off x="5338751" y="5258476"/>
                  <a:ext cx="97527"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𝑎𝑧</m:t>
                        </m:r>
                      </m:oMath>
                    </m:oMathPara>
                  </a14:m>
                  <a:endParaRPr lang="en-GB" sz="600" dirty="0"/>
                </a:p>
              </p:txBody>
            </p:sp>
          </mc:Choice>
          <mc:Fallback xmlns="">
            <p:sp>
              <p:nvSpPr>
                <p:cNvPr id="51" name="ZoneTexte 50">
                  <a:extLst>
                    <a:ext uri="{FF2B5EF4-FFF2-40B4-BE49-F238E27FC236}">
                      <a16:creationId xmlns:a16="http://schemas.microsoft.com/office/drawing/2014/main" id="{07EF8D5B-C65E-81B1-9074-2D8A21252D84}"/>
                    </a:ext>
                  </a:extLst>
                </p:cNvPr>
                <p:cNvSpPr txBox="1">
                  <a:spLocks noRot="1" noChangeAspect="1" noMove="1" noResize="1" noEditPoints="1" noAdjustHandles="1" noChangeArrowheads="1" noChangeShapeType="1" noTextEdit="1"/>
                </p:cNvSpPr>
                <p:nvPr/>
              </p:nvSpPr>
              <p:spPr>
                <a:xfrm>
                  <a:off x="5338751" y="5258476"/>
                  <a:ext cx="97527" cy="92333"/>
                </a:xfrm>
                <a:prstGeom prst="rect">
                  <a:avLst/>
                </a:prstGeom>
                <a:blipFill>
                  <a:blip r:embed="rId6"/>
                  <a:stretch>
                    <a:fillRect/>
                  </a:stretch>
                </a:blipFill>
              </p:spPr>
              <p:txBody>
                <a:bodyPr/>
                <a:lstStyle/>
                <a:p>
                  <a:r>
                    <a:rPr lang="en-GB">
                      <a:noFill/>
                    </a:rPr>
                    <a:t> </a:t>
                  </a:r>
                </a:p>
              </p:txBody>
            </p:sp>
          </mc:Fallback>
        </mc:AlternateContent>
        <p:sp>
          <p:nvSpPr>
            <p:cNvPr id="52" name="Rectangle : coins arrondis 51">
              <a:extLst>
                <a:ext uri="{FF2B5EF4-FFF2-40B4-BE49-F238E27FC236}">
                  <a16:creationId xmlns:a16="http://schemas.microsoft.com/office/drawing/2014/main" id="{09326882-C494-8317-843D-7ABBAF38FD71}"/>
                </a:ext>
              </a:extLst>
            </p:cNvPr>
            <p:cNvSpPr/>
            <p:nvPr/>
          </p:nvSpPr>
          <p:spPr>
            <a:xfrm>
              <a:off x="5717995" y="5515345"/>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53" name="Connecteur droit avec flèche 52">
              <a:extLst>
                <a:ext uri="{FF2B5EF4-FFF2-40B4-BE49-F238E27FC236}">
                  <a16:creationId xmlns:a16="http://schemas.microsoft.com/office/drawing/2014/main" id="{A1AF1FC3-7382-4010-A9FA-37A2485A58BF}"/>
                </a:ext>
              </a:extLst>
            </p:cNvPr>
            <p:cNvCxnSpPr/>
            <p:nvPr/>
          </p:nvCxnSpPr>
          <p:spPr>
            <a:xfrm>
              <a:off x="5479848" y="5684164"/>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BF787875-4726-69CD-56D2-7B29FF3FEF06}"/>
                    </a:ext>
                  </a:extLst>
                </p:cNvPr>
                <p:cNvSpPr txBox="1"/>
                <p:nvPr/>
              </p:nvSpPr>
              <p:spPr>
                <a:xfrm>
                  <a:off x="5595479" y="5258476"/>
                  <a:ext cx="468141"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𝑎𝑘𝑘𝑢𝑚𝑢𝑙</m:t>
                        </m:r>
                        <m:r>
                          <a:rPr lang="fr-FR" sz="600" b="0" i="1" smtClean="0">
                            <a:latin typeface="Cambria Math" panose="02040503050406030204" pitchFamily="18" charset="0"/>
                          </a:rPr>
                          <m:t>à</m:t>
                        </m:r>
                        <m:r>
                          <a:rPr lang="fr-FR" sz="600" b="0" i="1" smtClean="0">
                            <a:latin typeface="Cambria Math" panose="02040503050406030204" pitchFamily="18" charset="0"/>
                          </a:rPr>
                          <m:t>𝑡𝑜𝑟</m:t>
                        </m:r>
                      </m:oMath>
                    </m:oMathPara>
                  </a14:m>
                  <a:endParaRPr lang="en-GB" sz="600" dirty="0"/>
                </a:p>
              </p:txBody>
            </p:sp>
          </mc:Choice>
          <mc:Fallback xmlns="">
            <p:sp>
              <p:nvSpPr>
                <p:cNvPr id="54" name="ZoneTexte 53">
                  <a:extLst>
                    <a:ext uri="{FF2B5EF4-FFF2-40B4-BE49-F238E27FC236}">
                      <a16:creationId xmlns:a16="http://schemas.microsoft.com/office/drawing/2014/main" id="{BF787875-4726-69CD-56D2-7B29FF3FEF06}"/>
                    </a:ext>
                  </a:extLst>
                </p:cNvPr>
                <p:cNvSpPr txBox="1">
                  <a:spLocks noRot="1" noChangeAspect="1" noMove="1" noResize="1" noEditPoints="1" noAdjustHandles="1" noChangeArrowheads="1" noChangeShapeType="1" noTextEdit="1"/>
                </p:cNvSpPr>
                <p:nvPr/>
              </p:nvSpPr>
              <p:spPr>
                <a:xfrm>
                  <a:off x="5595479" y="5258476"/>
                  <a:ext cx="468141" cy="92333"/>
                </a:xfrm>
                <a:prstGeom prst="rect">
                  <a:avLst/>
                </a:prstGeom>
                <a:blipFill>
                  <a:blip r:embed="rId7"/>
                  <a:stretch>
                    <a:fillRect/>
                  </a:stretch>
                </a:blipFill>
              </p:spPr>
              <p:txBody>
                <a:bodyPr/>
                <a:lstStyle/>
                <a:p>
                  <a:r>
                    <a:rPr lang="en-GB">
                      <a:noFill/>
                    </a:rPr>
                    <a:t> </a:t>
                  </a:r>
                </a:p>
              </p:txBody>
            </p:sp>
          </mc:Fallback>
        </mc:AlternateContent>
        <p:sp>
          <p:nvSpPr>
            <p:cNvPr id="55" name="Rectangle : coins arrondis 54">
              <a:extLst>
                <a:ext uri="{FF2B5EF4-FFF2-40B4-BE49-F238E27FC236}">
                  <a16:creationId xmlns:a16="http://schemas.microsoft.com/office/drawing/2014/main" id="{36E5FBA2-ECEA-6DCB-3B4A-C2FD31F80056}"/>
                </a:ext>
              </a:extLst>
            </p:cNvPr>
            <p:cNvSpPr/>
            <p:nvPr/>
          </p:nvSpPr>
          <p:spPr>
            <a:xfrm>
              <a:off x="3142536" y="549803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56" name="Connecteur droit avec flèche 55">
              <a:extLst>
                <a:ext uri="{FF2B5EF4-FFF2-40B4-BE49-F238E27FC236}">
                  <a16:creationId xmlns:a16="http://schemas.microsoft.com/office/drawing/2014/main" id="{08322864-08A5-ABB5-2702-4133C719C2E3}"/>
                </a:ext>
              </a:extLst>
            </p:cNvPr>
            <p:cNvCxnSpPr>
              <a:cxnSpLocks/>
              <a:endCxn id="55" idx="2"/>
            </p:cNvCxnSpPr>
            <p:nvPr/>
          </p:nvCxnSpPr>
          <p:spPr>
            <a:xfrm flipH="1" flipV="1">
              <a:off x="3236711" y="5835675"/>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57" name="Rectangle : coins arrondis 56">
              <a:extLst>
                <a:ext uri="{FF2B5EF4-FFF2-40B4-BE49-F238E27FC236}">
                  <a16:creationId xmlns:a16="http://schemas.microsoft.com/office/drawing/2014/main" id="{603405B1-A9EE-720F-ECDC-87303A0CE76D}"/>
                </a:ext>
              </a:extLst>
            </p:cNvPr>
            <p:cNvSpPr/>
            <p:nvPr/>
          </p:nvSpPr>
          <p:spPr>
            <a:xfrm>
              <a:off x="3571971" y="550073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58" name="Connecteur droit avec flèche 57">
              <a:extLst>
                <a:ext uri="{FF2B5EF4-FFF2-40B4-BE49-F238E27FC236}">
                  <a16:creationId xmlns:a16="http://schemas.microsoft.com/office/drawing/2014/main" id="{7BEC6B92-5AE1-9DBD-69A8-958B39FD3ACA}"/>
                </a:ext>
              </a:extLst>
            </p:cNvPr>
            <p:cNvCxnSpPr>
              <a:cxnSpLocks/>
              <a:endCxn id="57" idx="2"/>
            </p:cNvCxnSpPr>
            <p:nvPr/>
          </p:nvCxnSpPr>
          <p:spPr>
            <a:xfrm flipH="1" flipV="1">
              <a:off x="3666146" y="5838375"/>
              <a:ext cx="1336" cy="9941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59" name="Connecteur droit avec flèche 58">
              <a:extLst>
                <a:ext uri="{FF2B5EF4-FFF2-40B4-BE49-F238E27FC236}">
                  <a16:creationId xmlns:a16="http://schemas.microsoft.com/office/drawing/2014/main" id="{E1F4C296-5181-7DDD-6EDD-1101C03C0C59}"/>
                </a:ext>
              </a:extLst>
            </p:cNvPr>
            <p:cNvCxnSpPr>
              <a:stCxn id="55" idx="3"/>
              <a:endCxn id="57" idx="1"/>
            </p:cNvCxnSpPr>
            <p:nvPr/>
          </p:nvCxnSpPr>
          <p:spPr>
            <a:xfrm>
              <a:off x="3330885" y="5666855"/>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51CF4F35-80FE-B149-8DDD-F1C0C771E1BC}"/>
                </a:ext>
              </a:extLst>
            </p:cNvPr>
            <p:cNvCxnSpPr>
              <a:cxnSpLocks/>
              <a:endCxn id="40" idx="1"/>
            </p:cNvCxnSpPr>
            <p:nvPr/>
          </p:nvCxnSpPr>
          <p:spPr>
            <a:xfrm flipV="1">
              <a:off x="3760320" y="5670301"/>
              <a:ext cx="244792" cy="4658"/>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ZoneTexte 60">
                  <a:extLst>
                    <a:ext uri="{FF2B5EF4-FFF2-40B4-BE49-F238E27FC236}">
                      <a16:creationId xmlns:a16="http://schemas.microsoft.com/office/drawing/2014/main" id="{78D6AA2F-0940-6164-14E5-0D8F1CC98815}"/>
                    </a:ext>
                  </a:extLst>
                </p:cNvPr>
                <p:cNvSpPr txBox="1"/>
                <p:nvPr/>
              </p:nvSpPr>
              <p:spPr>
                <a:xfrm>
                  <a:off x="3165131"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61" name="ZoneTexte 60">
                  <a:extLst>
                    <a:ext uri="{FF2B5EF4-FFF2-40B4-BE49-F238E27FC236}">
                      <a16:creationId xmlns:a16="http://schemas.microsoft.com/office/drawing/2014/main" id="{78D6AA2F-0940-6164-14E5-0D8F1CC98815}"/>
                    </a:ext>
                  </a:extLst>
                </p:cNvPr>
                <p:cNvSpPr txBox="1">
                  <a:spLocks noRot="1" noChangeAspect="1" noMove="1" noResize="1" noEditPoints="1" noAdjustHandles="1" noChangeArrowheads="1" noChangeShapeType="1" noTextEdit="1"/>
                </p:cNvSpPr>
                <p:nvPr/>
              </p:nvSpPr>
              <p:spPr>
                <a:xfrm>
                  <a:off x="3165131" y="5996988"/>
                  <a:ext cx="143160" cy="92333"/>
                </a:xfrm>
                <a:prstGeom prst="rect">
                  <a:avLst/>
                </a:prstGeom>
                <a:blipFill>
                  <a:blip r:embed="rId8"/>
                  <a:stretch>
                    <a:fillRect l="-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5479B822-72CB-BA0D-AED6-3387D648761E}"/>
                    </a:ext>
                  </a:extLst>
                </p:cNvPr>
                <p:cNvSpPr txBox="1"/>
                <p:nvPr/>
              </p:nvSpPr>
              <p:spPr>
                <a:xfrm>
                  <a:off x="3587300"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62" name="ZoneTexte 61">
                  <a:extLst>
                    <a:ext uri="{FF2B5EF4-FFF2-40B4-BE49-F238E27FC236}">
                      <a16:creationId xmlns:a16="http://schemas.microsoft.com/office/drawing/2014/main" id="{5479B822-72CB-BA0D-AED6-3387D648761E}"/>
                    </a:ext>
                  </a:extLst>
                </p:cNvPr>
                <p:cNvSpPr txBox="1">
                  <a:spLocks noRot="1" noChangeAspect="1" noMove="1" noResize="1" noEditPoints="1" noAdjustHandles="1" noChangeArrowheads="1" noChangeShapeType="1" noTextEdit="1"/>
                </p:cNvSpPr>
                <p:nvPr/>
              </p:nvSpPr>
              <p:spPr>
                <a:xfrm>
                  <a:off x="3587300" y="5996988"/>
                  <a:ext cx="143160" cy="92333"/>
                </a:xfrm>
                <a:prstGeom prst="rect">
                  <a:avLst/>
                </a:prstGeom>
                <a:blipFill>
                  <a:blip r:embed="rId9"/>
                  <a:stretch>
                    <a:fillRect l="-20000" r="-60000" b="-20000"/>
                  </a:stretch>
                </a:blipFill>
              </p:spPr>
              <p:txBody>
                <a:bodyPr/>
                <a:lstStyle/>
                <a:p>
                  <a:r>
                    <a:rPr lang="en-GB">
                      <a:noFill/>
                    </a:rPr>
                    <a:t> </a:t>
                  </a:r>
                </a:p>
              </p:txBody>
            </p:sp>
          </mc:Fallback>
        </mc:AlternateContent>
        <p:cxnSp>
          <p:nvCxnSpPr>
            <p:cNvPr id="63" name="Connecteur droit avec flèche 62">
              <a:extLst>
                <a:ext uri="{FF2B5EF4-FFF2-40B4-BE49-F238E27FC236}">
                  <a16:creationId xmlns:a16="http://schemas.microsoft.com/office/drawing/2014/main" id="{21592893-E8E3-73EF-ECED-07314AD748CB}"/>
                </a:ext>
              </a:extLst>
            </p:cNvPr>
            <p:cNvCxnSpPr>
              <a:cxnSpLocks/>
              <a:stCxn id="55" idx="0"/>
            </p:cNvCxnSpPr>
            <p:nvPr/>
          </p:nvCxnSpPr>
          <p:spPr>
            <a:xfrm flipV="1">
              <a:off x="3236711" y="5325044"/>
              <a:ext cx="0" cy="172993"/>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666FDC8B-0ADF-0F5C-E7E1-DB33A99A449A}"/>
                </a:ext>
              </a:extLst>
            </p:cNvPr>
            <p:cNvCxnSpPr>
              <a:cxnSpLocks/>
              <a:stCxn id="57" idx="0"/>
            </p:cNvCxnSpPr>
            <p:nvPr/>
          </p:nvCxnSpPr>
          <p:spPr>
            <a:xfrm flipV="1">
              <a:off x="3666146" y="5325044"/>
              <a:ext cx="0" cy="17569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5" name="Connecteur droit avec flèche 64">
              <a:extLst>
                <a:ext uri="{FF2B5EF4-FFF2-40B4-BE49-F238E27FC236}">
                  <a16:creationId xmlns:a16="http://schemas.microsoft.com/office/drawing/2014/main" id="{2307A0FE-EC65-ACB2-92B9-BF097D01D04F}"/>
                </a:ext>
              </a:extLst>
            </p:cNvPr>
            <p:cNvCxnSpPr>
              <a:cxnSpLocks/>
              <a:stCxn id="40" idx="0"/>
            </p:cNvCxnSpPr>
            <p:nvPr/>
          </p:nvCxnSpPr>
          <p:spPr>
            <a:xfrm flipV="1">
              <a:off x="4099286" y="5310127"/>
              <a:ext cx="2098" cy="1913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6" name="Connecteur droit avec flèche 65">
              <a:extLst>
                <a:ext uri="{FF2B5EF4-FFF2-40B4-BE49-F238E27FC236}">
                  <a16:creationId xmlns:a16="http://schemas.microsoft.com/office/drawing/2014/main" id="{4AA08FDB-2637-E8DD-4979-C93B60C3690E}"/>
                </a:ext>
              </a:extLst>
            </p:cNvPr>
            <p:cNvCxnSpPr>
              <a:cxnSpLocks/>
              <a:stCxn id="43" idx="0"/>
            </p:cNvCxnSpPr>
            <p:nvPr/>
          </p:nvCxnSpPr>
          <p:spPr>
            <a:xfrm flipV="1">
              <a:off x="4528721" y="5325044"/>
              <a:ext cx="2369" cy="17913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pic>
          <p:nvPicPr>
            <p:cNvPr id="67" name="Graphique 66" descr="Ordures contour">
              <a:extLst>
                <a:ext uri="{FF2B5EF4-FFF2-40B4-BE49-F238E27FC236}">
                  <a16:creationId xmlns:a16="http://schemas.microsoft.com/office/drawing/2014/main" id="{CA208E61-54C2-DE6B-32D9-2E885F6F7D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06120" y="4947884"/>
              <a:ext cx="271539" cy="337638"/>
            </a:xfrm>
            <a:prstGeom prst="rect">
              <a:avLst/>
            </a:prstGeom>
          </p:spPr>
        </p:pic>
        <p:pic>
          <p:nvPicPr>
            <p:cNvPr id="68" name="Graphique 67" descr="Ordures contour">
              <a:extLst>
                <a:ext uri="{FF2B5EF4-FFF2-40B4-BE49-F238E27FC236}">
                  <a16:creationId xmlns:a16="http://schemas.microsoft.com/office/drawing/2014/main" id="{89E25192-59C8-532B-E8FD-C54B9CBC6FB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40795" y="4947884"/>
              <a:ext cx="244762" cy="337638"/>
            </a:xfrm>
            <a:prstGeom prst="rect">
              <a:avLst/>
            </a:prstGeom>
          </p:spPr>
        </p:pic>
        <p:pic>
          <p:nvPicPr>
            <p:cNvPr id="69" name="Graphique 68" descr="Ordures contour">
              <a:extLst>
                <a:ext uri="{FF2B5EF4-FFF2-40B4-BE49-F238E27FC236}">
                  <a16:creationId xmlns:a16="http://schemas.microsoft.com/office/drawing/2014/main" id="{708369CB-0002-625D-96A3-D2C30A8415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78085" y="4934090"/>
              <a:ext cx="244762" cy="337638"/>
            </a:xfrm>
            <a:prstGeom prst="rect">
              <a:avLst/>
            </a:prstGeom>
          </p:spPr>
        </p:pic>
        <p:pic>
          <p:nvPicPr>
            <p:cNvPr id="70" name="Graphique 69" descr="Ordures contour">
              <a:extLst>
                <a:ext uri="{FF2B5EF4-FFF2-40B4-BE49-F238E27FC236}">
                  <a16:creationId xmlns:a16="http://schemas.microsoft.com/office/drawing/2014/main" id="{34AEAC3F-0436-63E2-88ED-8FE921B1775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4932" y="4947884"/>
              <a:ext cx="244762" cy="337638"/>
            </a:xfrm>
            <a:prstGeom prst="rect">
              <a:avLst/>
            </a:prstGeom>
          </p:spPr>
        </p:pic>
        <p:cxnSp>
          <p:nvCxnSpPr>
            <p:cNvPr id="71" name="Connecteur droit avec flèche 70">
              <a:extLst>
                <a:ext uri="{FF2B5EF4-FFF2-40B4-BE49-F238E27FC236}">
                  <a16:creationId xmlns:a16="http://schemas.microsoft.com/office/drawing/2014/main" id="{A19A0F95-4ED8-B2D8-B5A5-3AF6E981FFF8}"/>
                </a:ext>
              </a:extLst>
            </p:cNvPr>
            <p:cNvCxnSpPr>
              <a:cxnSpLocks/>
            </p:cNvCxnSpPr>
            <p:nvPr/>
          </p:nvCxnSpPr>
          <p:spPr>
            <a:xfrm flipH="1" flipV="1">
              <a:off x="4954729" y="5865757"/>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72" name="ZoneTexte 71">
              <a:extLst>
                <a:ext uri="{FF2B5EF4-FFF2-40B4-BE49-F238E27FC236}">
                  <a16:creationId xmlns:a16="http://schemas.microsoft.com/office/drawing/2014/main" id="{0B57EF50-55C6-6F09-5F32-02F4EF4AD1EA}"/>
                </a:ext>
              </a:extLst>
            </p:cNvPr>
            <p:cNvSpPr txBox="1"/>
            <p:nvPr/>
          </p:nvSpPr>
          <p:spPr>
            <a:xfrm>
              <a:off x="4833506" y="5996988"/>
              <a:ext cx="276659" cy="92333"/>
            </a:xfrm>
            <a:prstGeom prst="rect">
              <a:avLst/>
            </a:prstGeom>
            <a:noFill/>
          </p:spPr>
          <p:txBody>
            <a:bodyPr wrap="square" lIns="0" tIns="0" rIns="0" bIns="0" rtlCol="0" anchor="ctr">
              <a:spAutoFit/>
            </a:bodyPr>
            <a:lstStyle/>
            <a:p>
              <a:r>
                <a:rPr lang="en-GB" sz="600" dirty="0"/>
                <a:t>&lt;start&gt;</a:t>
              </a:r>
            </a:p>
          </p:txBody>
        </p:sp>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AE6D39AA-CA85-199B-DEA0-84FBE1E0A099}"/>
                    </a:ext>
                  </a:extLst>
                </p:cNvPr>
                <p:cNvSpPr txBox="1"/>
                <p:nvPr/>
              </p:nvSpPr>
              <p:spPr>
                <a:xfrm>
                  <a:off x="5227126" y="5996988"/>
                  <a:ext cx="336695" cy="92333"/>
                </a:xfrm>
                <a:prstGeom prst="rect">
                  <a:avLst/>
                </a:prstGeom>
                <a:noFill/>
              </p:spPr>
              <p:txBody>
                <a:bodyPr wrap="none" lIns="0" tIns="0" rIns="0" bIns="0" rtlCol="0">
                  <a:spAutoFit/>
                </a:bodyPr>
                <a:lstStyle/>
                <a:p>
                  <a14:m>
                    <m:oMath xmlns:m="http://schemas.openxmlformats.org/officeDocument/2006/math">
                      <m:r>
                        <a:rPr lang="fr-FR" sz="600" b="0" i="1" smtClean="0">
                          <a:latin typeface="Cambria Math" panose="02040503050406030204" pitchFamily="18" charset="0"/>
                        </a:rPr>
                        <m:t>𝑙𝑒𝑚𝑒𝑢𝑟</m:t>
                      </m:r>
                    </m:oMath>
                  </a14:m>
                  <a:r>
                    <a:rPr lang="en-GB" sz="600" b="0" dirty="0"/>
                    <a:t>ült</a:t>
                  </a:r>
                  <a:endParaRPr lang="fr-FR" sz="600" b="0" dirty="0"/>
                </a:p>
              </p:txBody>
            </p:sp>
          </mc:Choice>
          <mc:Fallback xmlns="">
            <p:sp>
              <p:nvSpPr>
                <p:cNvPr id="73" name="ZoneTexte 72">
                  <a:extLst>
                    <a:ext uri="{FF2B5EF4-FFF2-40B4-BE49-F238E27FC236}">
                      <a16:creationId xmlns:a16="http://schemas.microsoft.com/office/drawing/2014/main" id="{AE6D39AA-CA85-199B-DEA0-84FBE1E0A099}"/>
                    </a:ext>
                  </a:extLst>
                </p:cNvPr>
                <p:cNvSpPr txBox="1">
                  <a:spLocks noRot="1" noChangeAspect="1" noMove="1" noResize="1" noEditPoints="1" noAdjustHandles="1" noChangeArrowheads="1" noChangeShapeType="1" noTextEdit="1"/>
                </p:cNvSpPr>
                <p:nvPr/>
              </p:nvSpPr>
              <p:spPr>
                <a:xfrm>
                  <a:off x="5227126" y="5996988"/>
                  <a:ext cx="336695" cy="92333"/>
                </a:xfrm>
                <a:prstGeom prst="rect">
                  <a:avLst/>
                </a:prstGeom>
                <a:blipFill>
                  <a:blip r:embed="rId12"/>
                  <a:stretch>
                    <a:fillRect l="-5882" t="-30000" b="-20000"/>
                  </a:stretch>
                </a:blipFill>
              </p:spPr>
              <p:txBody>
                <a:bodyPr/>
                <a:lstStyle/>
                <a:p>
                  <a:r>
                    <a:rPr lang="en-GB">
                      <a:noFill/>
                    </a:rPr>
                    <a:t> </a:t>
                  </a:r>
                </a:p>
              </p:txBody>
            </p:sp>
          </mc:Fallback>
        </mc:AlternateContent>
        <p:cxnSp>
          <p:nvCxnSpPr>
            <p:cNvPr id="74" name="Connecteur en arc 73">
              <a:extLst>
                <a:ext uri="{FF2B5EF4-FFF2-40B4-BE49-F238E27FC236}">
                  <a16:creationId xmlns:a16="http://schemas.microsoft.com/office/drawing/2014/main" id="{27D28C07-BD8A-1369-FC91-FE179A462CE3}"/>
                </a:ext>
              </a:extLst>
            </p:cNvPr>
            <p:cNvCxnSpPr>
              <a:cxnSpLocks/>
            </p:cNvCxnSpPr>
            <p:nvPr/>
          </p:nvCxnSpPr>
          <p:spPr>
            <a:xfrm>
              <a:off x="5017905" y="5342433"/>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CCD3CC89-7B3F-A48E-EB67-34EF3DA1967C}"/>
                    </a:ext>
                  </a:extLst>
                </p:cNvPr>
                <p:cNvSpPr txBox="1"/>
                <p:nvPr/>
              </p:nvSpPr>
              <p:spPr>
                <a:xfrm>
                  <a:off x="5774198" y="5996988"/>
                  <a:ext cx="65954"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𝑎𝑧</m:t>
                        </m:r>
                      </m:oMath>
                    </m:oMathPara>
                  </a14:m>
                  <a:endParaRPr lang="en-GB" sz="600" dirty="0"/>
                </a:p>
              </p:txBody>
            </p:sp>
          </mc:Choice>
          <mc:Fallback xmlns="">
            <p:sp>
              <p:nvSpPr>
                <p:cNvPr id="75" name="ZoneTexte 74">
                  <a:extLst>
                    <a:ext uri="{FF2B5EF4-FFF2-40B4-BE49-F238E27FC236}">
                      <a16:creationId xmlns:a16="http://schemas.microsoft.com/office/drawing/2014/main" id="{CCD3CC89-7B3F-A48E-EB67-34EF3DA1967C}"/>
                    </a:ext>
                  </a:extLst>
                </p:cNvPr>
                <p:cNvSpPr txBox="1">
                  <a:spLocks noRot="1" noChangeAspect="1" noMove="1" noResize="1" noEditPoints="1" noAdjustHandles="1" noChangeArrowheads="1" noChangeShapeType="1" noTextEdit="1"/>
                </p:cNvSpPr>
                <p:nvPr/>
              </p:nvSpPr>
              <p:spPr>
                <a:xfrm>
                  <a:off x="5774198" y="5996988"/>
                  <a:ext cx="65954" cy="92333"/>
                </a:xfrm>
                <a:prstGeom prst="rect">
                  <a:avLst/>
                </a:prstGeom>
                <a:blipFill>
                  <a:blip r:embed="rId13"/>
                  <a:stretch>
                    <a:fillRect l="-28571" r="-28571"/>
                  </a:stretch>
                </a:blipFill>
              </p:spPr>
              <p:txBody>
                <a:bodyPr/>
                <a:lstStyle/>
                <a:p>
                  <a:r>
                    <a:rPr lang="en-GB">
                      <a:noFill/>
                    </a:rPr>
                    <a:t> </a:t>
                  </a:r>
                </a:p>
              </p:txBody>
            </p:sp>
          </mc:Fallback>
        </mc:AlternateContent>
        <p:cxnSp>
          <p:nvCxnSpPr>
            <p:cNvPr id="76" name="Connecteur droit avec flèche 75">
              <a:extLst>
                <a:ext uri="{FF2B5EF4-FFF2-40B4-BE49-F238E27FC236}">
                  <a16:creationId xmlns:a16="http://schemas.microsoft.com/office/drawing/2014/main" id="{9D2EA2A9-9BD8-4022-A74A-065A7902358F}"/>
                </a:ext>
              </a:extLst>
            </p:cNvPr>
            <p:cNvCxnSpPr>
              <a:cxnSpLocks/>
            </p:cNvCxnSpPr>
            <p:nvPr/>
          </p:nvCxnSpPr>
          <p:spPr>
            <a:xfrm flipH="1" flipV="1">
              <a:off x="5390178" y="5876104"/>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77" name="Connecteur droit avec flèche 76">
              <a:extLst>
                <a:ext uri="{FF2B5EF4-FFF2-40B4-BE49-F238E27FC236}">
                  <a16:creationId xmlns:a16="http://schemas.microsoft.com/office/drawing/2014/main" id="{A0495D04-E5B4-1A50-89A7-A950AEB80850}"/>
                </a:ext>
              </a:extLst>
            </p:cNvPr>
            <p:cNvCxnSpPr>
              <a:cxnSpLocks/>
              <a:endCxn id="52" idx="2"/>
            </p:cNvCxnSpPr>
            <p:nvPr/>
          </p:nvCxnSpPr>
          <p:spPr>
            <a:xfrm flipH="1" flipV="1">
              <a:off x="5812170" y="5852983"/>
              <a:ext cx="3697" cy="1190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78" name="Rectangle : coins arrondis 77">
              <a:extLst>
                <a:ext uri="{FF2B5EF4-FFF2-40B4-BE49-F238E27FC236}">
                  <a16:creationId xmlns:a16="http://schemas.microsoft.com/office/drawing/2014/main" id="{6822B006-64A7-3685-B830-02646A76D3C6}"/>
                </a:ext>
              </a:extLst>
            </p:cNvPr>
            <p:cNvSpPr/>
            <p:nvPr/>
          </p:nvSpPr>
          <p:spPr>
            <a:xfrm>
              <a:off x="6197823" y="551879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9" name="Connecteur droit avec flèche 78">
              <a:extLst>
                <a:ext uri="{FF2B5EF4-FFF2-40B4-BE49-F238E27FC236}">
                  <a16:creationId xmlns:a16="http://schemas.microsoft.com/office/drawing/2014/main" id="{253F672D-E47B-E6A0-4079-1C871A6493D9}"/>
                </a:ext>
              </a:extLst>
            </p:cNvPr>
            <p:cNvCxnSpPr>
              <a:cxnSpLocks/>
              <a:stCxn id="52" idx="3"/>
              <a:endCxn id="78" idx="1"/>
            </p:cNvCxnSpPr>
            <p:nvPr/>
          </p:nvCxnSpPr>
          <p:spPr>
            <a:xfrm>
              <a:off x="5906344" y="5684164"/>
              <a:ext cx="291478" cy="3452"/>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BB14D5D2-4724-DACF-E05B-87A14C7117A6}"/>
                    </a:ext>
                  </a:extLst>
                </p:cNvPr>
                <p:cNvSpPr txBox="1"/>
                <p:nvPr/>
              </p:nvSpPr>
              <p:spPr>
                <a:xfrm>
                  <a:off x="6189254" y="5258476"/>
                  <a:ext cx="224420"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600" dirty="0"/>
                          <m:t>&lt;</m:t>
                        </m:r>
                        <m:r>
                          <m:rPr>
                            <m:nor/>
                          </m:rPr>
                          <a:rPr lang="fr-FR" sz="600" b="0" i="0" dirty="0" smtClean="0"/>
                          <m:t>end</m:t>
                        </m:r>
                        <m:r>
                          <m:rPr>
                            <m:nor/>
                          </m:rPr>
                          <a:rPr lang="en-GB" sz="600" dirty="0"/>
                          <m:t>&gt;</m:t>
                        </m:r>
                      </m:oMath>
                    </m:oMathPara>
                  </a14:m>
                  <a:endParaRPr lang="en-GB" sz="600" dirty="0"/>
                </a:p>
              </p:txBody>
            </p:sp>
          </mc:Choice>
          <mc:Fallback xmlns="">
            <p:sp>
              <p:nvSpPr>
                <p:cNvPr id="80" name="ZoneTexte 79">
                  <a:extLst>
                    <a:ext uri="{FF2B5EF4-FFF2-40B4-BE49-F238E27FC236}">
                      <a16:creationId xmlns:a16="http://schemas.microsoft.com/office/drawing/2014/main" id="{BB14D5D2-4724-DACF-E05B-87A14C7117A6}"/>
                    </a:ext>
                  </a:extLst>
                </p:cNvPr>
                <p:cNvSpPr txBox="1">
                  <a:spLocks noRot="1" noChangeAspect="1" noMove="1" noResize="1" noEditPoints="1" noAdjustHandles="1" noChangeArrowheads="1" noChangeShapeType="1" noTextEdit="1"/>
                </p:cNvSpPr>
                <p:nvPr/>
              </p:nvSpPr>
              <p:spPr>
                <a:xfrm>
                  <a:off x="6189254" y="5258476"/>
                  <a:ext cx="224420" cy="92333"/>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BFBE9010-20A6-3D01-07BB-B7ACE5E65392}"/>
                    </a:ext>
                  </a:extLst>
                </p:cNvPr>
                <p:cNvSpPr txBox="1"/>
                <p:nvPr/>
              </p:nvSpPr>
              <p:spPr>
                <a:xfrm>
                  <a:off x="6099482" y="5996988"/>
                  <a:ext cx="435612"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600" i="1">
                            <a:latin typeface="Cambria Math" panose="02040503050406030204" pitchFamily="18" charset="0"/>
                          </a:rPr>
                          <m:t>𝑎𝑘𝑘𝑢𝑚𝑢𝑙</m:t>
                        </m:r>
                        <m:r>
                          <a:rPr lang="fr-FR" sz="600" i="1">
                            <a:latin typeface="Cambria Math" panose="02040503050406030204" pitchFamily="18" charset="0"/>
                          </a:rPr>
                          <m:t>à</m:t>
                        </m:r>
                        <m:r>
                          <a:rPr lang="fr-FR" sz="600" i="1">
                            <a:latin typeface="Cambria Math" panose="02040503050406030204" pitchFamily="18" charset="0"/>
                          </a:rPr>
                          <m:t>𝑡𝑜𝑟</m:t>
                        </m:r>
                      </m:oMath>
                    </m:oMathPara>
                  </a14:m>
                  <a:endParaRPr lang="en-GB" sz="600" dirty="0"/>
                </a:p>
              </p:txBody>
            </p:sp>
          </mc:Choice>
          <mc:Fallback xmlns="">
            <p:sp>
              <p:nvSpPr>
                <p:cNvPr id="81" name="ZoneTexte 80">
                  <a:extLst>
                    <a:ext uri="{FF2B5EF4-FFF2-40B4-BE49-F238E27FC236}">
                      <a16:creationId xmlns:a16="http://schemas.microsoft.com/office/drawing/2014/main" id="{BFBE9010-20A6-3D01-07BB-B7ACE5E65392}"/>
                    </a:ext>
                  </a:extLst>
                </p:cNvPr>
                <p:cNvSpPr txBox="1">
                  <a:spLocks noRot="1" noChangeAspect="1" noMove="1" noResize="1" noEditPoints="1" noAdjustHandles="1" noChangeArrowheads="1" noChangeShapeType="1" noTextEdit="1"/>
                </p:cNvSpPr>
                <p:nvPr/>
              </p:nvSpPr>
              <p:spPr>
                <a:xfrm>
                  <a:off x="6099482" y="5996988"/>
                  <a:ext cx="435612" cy="92333"/>
                </a:xfrm>
                <a:prstGeom prst="rect">
                  <a:avLst/>
                </a:prstGeom>
                <a:blipFill>
                  <a:blip r:embed="rId15"/>
                  <a:stretch>
                    <a:fillRect/>
                  </a:stretch>
                </a:blipFill>
              </p:spPr>
              <p:txBody>
                <a:bodyPr/>
                <a:lstStyle/>
                <a:p>
                  <a:r>
                    <a:rPr lang="en-GB">
                      <a:noFill/>
                    </a:rPr>
                    <a:t> </a:t>
                  </a:r>
                </a:p>
              </p:txBody>
            </p:sp>
          </mc:Fallback>
        </mc:AlternateContent>
        <p:cxnSp>
          <p:nvCxnSpPr>
            <p:cNvPr id="82" name="Connecteur droit avec flèche 81">
              <a:extLst>
                <a:ext uri="{FF2B5EF4-FFF2-40B4-BE49-F238E27FC236}">
                  <a16:creationId xmlns:a16="http://schemas.microsoft.com/office/drawing/2014/main" id="{4B5D3651-337E-5E6E-0745-8F53D8AAC506}"/>
                </a:ext>
              </a:extLst>
            </p:cNvPr>
            <p:cNvCxnSpPr>
              <a:cxnSpLocks/>
              <a:endCxn id="78" idx="2"/>
            </p:cNvCxnSpPr>
            <p:nvPr/>
          </p:nvCxnSpPr>
          <p:spPr>
            <a:xfrm flipH="1" flipV="1">
              <a:off x="6291997" y="5856434"/>
              <a:ext cx="3697" cy="1190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pic>
          <p:nvPicPr>
            <p:cNvPr id="83" name="Graphique 82" descr="Fermer avec un remplissage uni">
              <a:extLst>
                <a:ext uri="{FF2B5EF4-FFF2-40B4-BE49-F238E27FC236}">
                  <a16:creationId xmlns:a16="http://schemas.microsoft.com/office/drawing/2014/main" id="{77DAC211-4986-1720-9C1D-88C186CEF73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59101" y="5003794"/>
              <a:ext cx="336944" cy="336944"/>
            </a:xfrm>
            <a:prstGeom prst="rect">
              <a:avLst/>
            </a:prstGeom>
          </p:spPr>
        </p:pic>
        <p:pic>
          <p:nvPicPr>
            <p:cNvPr id="84" name="Graphique 83" descr="Fermer avec un remplissage uni">
              <a:extLst>
                <a:ext uri="{FF2B5EF4-FFF2-40B4-BE49-F238E27FC236}">
                  <a16:creationId xmlns:a16="http://schemas.microsoft.com/office/drawing/2014/main" id="{7189804E-1E9A-FE61-E1C6-B4D622CB0F4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953577" y="5003794"/>
              <a:ext cx="336944" cy="336944"/>
            </a:xfrm>
            <a:prstGeom prst="rect">
              <a:avLst/>
            </a:prstGeom>
          </p:spPr>
        </p:pic>
        <p:pic>
          <p:nvPicPr>
            <p:cNvPr id="85" name="Graphique 84" descr="Fermer avec un remplissage uni">
              <a:extLst>
                <a:ext uri="{FF2B5EF4-FFF2-40B4-BE49-F238E27FC236}">
                  <a16:creationId xmlns:a16="http://schemas.microsoft.com/office/drawing/2014/main" id="{4A31F498-5B2B-DDE2-2BC4-F140D381F00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489891" y="5003794"/>
              <a:ext cx="336944" cy="336944"/>
            </a:xfrm>
            <a:prstGeom prst="rect">
              <a:avLst/>
            </a:prstGeom>
          </p:spPr>
        </p:pic>
        <p:pic>
          <p:nvPicPr>
            <p:cNvPr id="86" name="Graphique 85" descr="Fermer avec un remplissage uni">
              <a:extLst>
                <a:ext uri="{FF2B5EF4-FFF2-40B4-BE49-F238E27FC236}">
                  <a16:creationId xmlns:a16="http://schemas.microsoft.com/office/drawing/2014/main" id="{D9D5BB84-A570-6BB2-4D5F-31B2C265891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075247" y="5003794"/>
              <a:ext cx="336944" cy="336944"/>
            </a:xfrm>
            <a:prstGeom prst="rect">
              <a:avLst/>
            </a:prstGeom>
          </p:spPr>
        </p:pic>
        <p:sp>
          <p:nvSpPr>
            <p:cNvPr id="87" name="Accolade fermante 86">
              <a:extLst>
                <a:ext uri="{FF2B5EF4-FFF2-40B4-BE49-F238E27FC236}">
                  <a16:creationId xmlns:a16="http://schemas.microsoft.com/office/drawing/2014/main" id="{D37C2F4C-D65F-DF71-42CE-65C55EC953BF}"/>
                </a:ext>
              </a:extLst>
            </p:cNvPr>
            <p:cNvSpPr/>
            <p:nvPr/>
          </p:nvSpPr>
          <p:spPr>
            <a:xfrm rot="16200000">
              <a:off x="3706550" y="4418441"/>
              <a:ext cx="321276" cy="1774958"/>
            </a:xfrm>
            <a:prstGeom prst="righ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88" name="Connecteur droit avec flèche 87">
              <a:extLst>
                <a:ext uri="{FF2B5EF4-FFF2-40B4-BE49-F238E27FC236}">
                  <a16:creationId xmlns:a16="http://schemas.microsoft.com/office/drawing/2014/main" id="{CBFC7FB6-D413-BB92-C97B-608414318B10}"/>
                </a:ext>
              </a:extLst>
            </p:cNvPr>
            <p:cNvCxnSpPr>
              <a:cxnSpLocks/>
            </p:cNvCxnSpPr>
            <p:nvPr/>
          </p:nvCxnSpPr>
          <p:spPr>
            <a:xfrm flipV="1">
              <a:off x="4995495" y="5329160"/>
              <a:ext cx="0" cy="172993"/>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89" name="Connecteur droit avec flèche 88">
              <a:extLst>
                <a:ext uri="{FF2B5EF4-FFF2-40B4-BE49-F238E27FC236}">
                  <a16:creationId xmlns:a16="http://schemas.microsoft.com/office/drawing/2014/main" id="{81ADB819-D05B-761D-2D46-E647E3152C5D}"/>
                </a:ext>
              </a:extLst>
            </p:cNvPr>
            <p:cNvCxnSpPr>
              <a:cxnSpLocks/>
            </p:cNvCxnSpPr>
            <p:nvPr/>
          </p:nvCxnSpPr>
          <p:spPr>
            <a:xfrm flipV="1">
              <a:off x="5424930" y="5329160"/>
              <a:ext cx="0" cy="17569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90" name="Connecteur droit avec flèche 89">
              <a:extLst>
                <a:ext uri="{FF2B5EF4-FFF2-40B4-BE49-F238E27FC236}">
                  <a16:creationId xmlns:a16="http://schemas.microsoft.com/office/drawing/2014/main" id="{D17BA77E-FD11-2EB4-EBB0-06CD675F2C2C}"/>
                </a:ext>
              </a:extLst>
            </p:cNvPr>
            <p:cNvCxnSpPr>
              <a:cxnSpLocks/>
            </p:cNvCxnSpPr>
            <p:nvPr/>
          </p:nvCxnSpPr>
          <p:spPr>
            <a:xfrm flipV="1">
              <a:off x="5858070" y="5314243"/>
              <a:ext cx="2098" cy="1913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91" name="Connecteur droit avec flèche 90">
              <a:extLst>
                <a:ext uri="{FF2B5EF4-FFF2-40B4-BE49-F238E27FC236}">
                  <a16:creationId xmlns:a16="http://schemas.microsoft.com/office/drawing/2014/main" id="{F2AF6B70-BF5F-C670-E886-E24DF69B18FA}"/>
                </a:ext>
              </a:extLst>
            </p:cNvPr>
            <p:cNvCxnSpPr>
              <a:cxnSpLocks/>
            </p:cNvCxnSpPr>
            <p:nvPr/>
          </p:nvCxnSpPr>
          <p:spPr>
            <a:xfrm flipV="1">
              <a:off x="6287505" y="5329160"/>
              <a:ext cx="2369" cy="17913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92" name="Connecteur en arc 91">
              <a:extLst>
                <a:ext uri="{FF2B5EF4-FFF2-40B4-BE49-F238E27FC236}">
                  <a16:creationId xmlns:a16="http://schemas.microsoft.com/office/drawing/2014/main" id="{C214F36E-3CBD-C4CB-7A2C-F4A95F8D75A5}"/>
                </a:ext>
              </a:extLst>
            </p:cNvPr>
            <p:cNvCxnSpPr>
              <a:cxnSpLocks/>
            </p:cNvCxnSpPr>
            <p:nvPr/>
          </p:nvCxnSpPr>
          <p:spPr>
            <a:xfrm>
              <a:off x="5458572" y="5354255"/>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3" name="Connecteur en arc 92">
              <a:extLst>
                <a:ext uri="{FF2B5EF4-FFF2-40B4-BE49-F238E27FC236}">
                  <a16:creationId xmlns:a16="http://schemas.microsoft.com/office/drawing/2014/main" id="{C1D7FCED-4743-B502-39D7-74EDC22C70DB}"/>
                </a:ext>
              </a:extLst>
            </p:cNvPr>
            <p:cNvCxnSpPr>
              <a:cxnSpLocks/>
            </p:cNvCxnSpPr>
            <p:nvPr/>
          </p:nvCxnSpPr>
          <p:spPr>
            <a:xfrm>
              <a:off x="5920552" y="5357945"/>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Connecteur en arc 93">
              <a:extLst>
                <a:ext uri="{FF2B5EF4-FFF2-40B4-BE49-F238E27FC236}">
                  <a16:creationId xmlns:a16="http://schemas.microsoft.com/office/drawing/2014/main" id="{2F037F61-6406-FB59-7139-E12C2E3B7DA3}"/>
                </a:ext>
              </a:extLst>
            </p:cNvPr>
            <p:cNvCxnSpPr>
              <a:cxnSpLocks/>
              <a:stCxn id="45" idx="0"/>
              <a:endCxn id="87" idx="1"/>
            </p:cNvCxnSpPr>
            <p:nvPr/>
          </p:nvCxnSpPr>
          <p:spPr>
            <a:xfrm rot="16200000" flipV="1">
              <a:off x="4231872" y="4780598"/>
              <a:ext cx="361602" cy="1090969"/>
            </a:xfrm>
            <a:prstGeom prst="curvedConnector5">
              <a:avLst>
                <a:gd name="adj1" fmla="val 167343"/>
                <a:gd name="adj2" fmla="val 48187"/>
                <a:gd name="adj3" fmla="val 166937"/>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95" name="Connecteur en arc 94">
              <a:extLst>
                <a:ext uri="{FF2B5EF4-FFF2-40B4-BE49-F238E27FC236}">
                  <a16:creationId xmlns:a16="http://schemas.microsoft.com/office/drawing/2014/main" id="{1429E75D-F461-3C0D-DC05-9A3709B5C38A}"/>
                </a:ext>
              </a:extLst>
            </p:cNvPr>
            <p:cNvCxnSpPr>
              <a:cxnSpLocks/>
              <a:stCxn id="46" idx="0"/>
              <a:endCxn id="87" idx="1"/>
            </p:cNvCxnSpPr>
            <p:nvPr/>
          </p:nvCxnSpPr>
          <p:spPr>
            <a:xfrm rot="16200000" flipV="1">
              <a:off x="4443185" y="4569286"/>
              <a:ext cx="364303" cy="1516295"/>
            </a:xfrm>
            <a:prstGeom prst="curvedConnector5">
              <a:avLst>
                <a:gd name="adj1" fmla="val 62750"/>
                <a:gd name="adj2" fmla="val 38940"/>
                <a:gd name="adj3" fmla="val 166441"/>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96" name="Connecteur en arc 95">
              <a:extLst>
                <a:ext uri="{FF2B5EF4-FFF2-40B4-BE49-F238E27FC236}">
                  <a16:creationId xmlns:a16="http://schemas.microsoft.com/office/drawing/2014/main" id="{54F39FE2-296A-9755-676F-98E6B68A3DD2}"/>
                </a:ext>
              </a:extLst>
            </p:cNvPr>
            <p:cNvCxnSpPr>
              <a:cxnSpLocks/>
              <a:stCxn id="52" idx="0"/>
              <a:endCxn id="87" idx="1"/>
            </p:cNvCxnSpPr>
            <p:nvPr/>
          </p:nvCxnSpPr>
          <p:spPr>
            <a:xfrm rot="16200000" flipV="1">
              <a:off x="4654648" y="4357823"/>
              <a:ext cx="370063" cy="1944982"/>
            </a:xfrm>
            <a:prstGeom prst="curvedConnector5">
              <a:avLst>
                <a:gd name="adj1" fmla="val 61773"/>
                <a:gd name="adj2" fmla="val 24439"/>
                <a:gd name="adj3" fmla="val 214462"/>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97" name="Connecteur en arc 96">
              <a:extLst>
                <a:ext uri="{FF2B5EF4-FFF2-40B4-BE49-F238E27FC236}">
                  <a16:creationId xmlns:a16="http://schemas.microsoft.com/office/drawing/2014/main" id="{88337834-9301-B2E1-0BFB-B8FBDDD0C534}"/>
                </a:ext>
              </a:extLst>
            </p:cNvPr>
            <p:cNvCxnSpPr>
              <a:cxnSpLocks/>
              <a:stCxn id="78" idx="0"/>
              <a:endCxn id="87" idx="1"/>
            </p:cNvCxnSpPr>
            <p:nvPr/>
          </p:nvCxnSpPr>
          <p:spPr>
            <a:xfrm rot="16200000" flipV="1">
              <a:off x="4892836" y="4119635"/>
              <a:ext cx="373515" cy="2424810"/>
            </a:xfrm>
            <a:prstGeom prst="curvedConnector5">
              <a:avLst>
                <a:gd name="adj1" fmla="val 61202"/>
                <a:gd name="adj2" fmla="val 48630"/>
                <a:gd name="adj3" fmla="val 195403"/>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grpSp>
      <p:sp>
        <p:nvSpPr>
          <p:cNvPr id="98" name="ZoneTexte 97">
            <a:extLst>
              <a:ext uri="{FF2B5EF4-FFF2-40B4-BE49-F238E27FC236}">
                <a16:creationId xmlns:a16="http://schemas.microsoft.com/office/drawing/2014/main" id="{3F06CC7A-5FB7-945D-687C-A899721E1587}"/>
              </a:ext>
            </a:extLst>
          </p:cNvPr>
          <p:cNvSpPr txBox="1"/>
          <p:nvPr/>
        </p:nvSpPr>
        <p:spPr>
          <a:xfrm>
            <a:off x="6792983" y="3877361"/>
            <a:ext cx="3242801" cy="374862"/>
          </a:xfrm>
          <a:prstGeom prst="rect">
            <a:avLst/>
          </a:prstGeom>
          <a:noFill/>
        </p:spPr>
        <p:txBody>
          <a:bodyPr wrap="square" rtlCol="0">
            <a:spAutoFit/>
          </a:bodyPr>
          <a:lstStyle/>
          <a:p>
            <a:pPr algn="ctr"/>
            <a:r>
              <a:rPr lang="en-GB" b="1" dirty="0"/>
              <a:t>Attention Mechanism</a:t>
            </a:r>
          </a:p>
        </p:txBody>
      </p:sp>
      <p:sp>
        <p:nvSpPr>
          <p:cNvPr id="99" name="ZoneTexte 98">
            <a:extLst>
              <a:ext uri="{FF2B5EF4-FFF2-40B4-BE49-F238E27FC236}">
                <a16:creationId xmlns:a16="http://schemas.microsoft.com/office/drawing/2014/main" id="{9F2872D0-04D6-3C0C-5D39-A9344459CC59}"/>
              </a:ext>
            </a:extLst>
          </p:cNvPr>
          <p:cNvSpPr txBox="1"/>
          <p:nvPr/>
        </p:nvSpPr>
        <p:spPr>
          <a:xfrm>
            <a:off x="4495619" y="4203503"/>
            <a:ext cx="3242801" cy="461665"/>
          </a:xfrm>
          <a:prstGeom prst="rect">
            <a:avLst/>
          </a:prstGeom>
          <a:noFill/>
        </p:spPr>
        <p:txBody>
          <a:bodyPr wrap="square" rtlCol="0">
            <a:spAutoFit/>
          </a:bodyPr>
          <a:lstStyle/>
          <a:p>
            <a:r>
              <a:rPr lang="en-GB" sz="1200" b="1" dirty="0">
                <a:solidFill>
                  <a:srgbClr val="00B050"/>
                </a:solidFill>
              </a:rPr>
              <a:t>At each decoding timestep, the decoder accesses the encoder’s hidden states</a:t>
            </a:r>
          </a:p>
        </p:txBody>
      </p:sp>
      <p:sp>
        <p:nvSpPr>
          <p:cNvPr id="6" name="ZoneTexte 5">
            <a:extLst>
              <a:ext uri="{FF2B5EF4-FFF2-40B4-BE49-F238E27FC236}">
                <a16:creationId xmlns:a16="http://schemas.microsoft.com/office/drawing/2014/main" id="{EB38EF95-8353-89A6-6066-4CF0A25456EC}"/>
              </a:ext>
            </a:extLst>
          </p:cNvPr>
          <p:cNvSpPr txBox="1"/>
          <p:nvPr/>
        </p:nvSpPr>
        <p:spPr>
          <a:xfrm>
            <a:off x="9026412" y="6293829"/>
            <a:ext cx="2774196" cy="461665"/>
          </a:xfrm>
          <a:prstGeom prst="rect">
            <a:avLst/>
          </a:prstGeom>
          <a:noFill/>
        </p:spPr>
        <p:txBody>
          <a:bodyPr wrap="square" rtlCol="0">
            <a:spAutoFit/>
          </a:bodyPr>
          <a:lstStyle/>
          <a:p>
            <a:r>
              <a:rPr lang="en-GB" sz="1200" b="1" dirty="0">
                <a:solidFill>
                  <a:srgbClr val="00B050"/>
                </a:solidFill>
              </a:rPr>
              <a:t>The model learns which part of the input to focus on at each time step.</a:t>
            </a:r>
          </a:p>
        </p:txBody>
      </p:sp>
    </p:spTree>
    <p:extLst>
      <p:ext uri="{BB962C8B-B14F-4D97-AF65-F5344CB8AC3E}">
        <p14:creationId xmlns:p14="http://schemas.microsoft.com/office/powerpoint/2010/main" val="426716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974A-F05A-F8CE-B66B-00EBE7D5D9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2158EB-D16B-FE01-8876-E42EF2FAC84A}"/>
              </a:ext>
            </a:extLst>
          </p:cNvPr>
          <p:cNvSpPr>
            <a:spLocks noGrp="1"/>
          </p:cNvSpPr>
          <p:nvPr>
            <p:ph type="title"/>
          </p:nvPr>
        </p:nvSpPr>
        <p:spPr/>
        <p:txBody>
          <a:bodyPr/>
          <a:lstStyle/>
          <a:p>
            <a:r>
              <a:rPr lang="en-GB" noProof="0" dirty="0"/>
              <a:t>Seq2Seq</a:t>
            </a:r>
            <a:endParaRPr lang="en-GB" dirty="0"/>
          </a:p>
        </p:txBody>
      </p:sp>
      <p:sp>
        <p:nvSpPr>
          <p:cNvPr id="4" name="Espace réservé du pied de page 3">
            <a:extLst>
              <a:ext uri="{FF2B5EF4-FFF2-40B4-BE49-F238E27FC236}">
                <a16:creationId xmlns:a16="http://schemas.microsoft.com/office/drawing/2014/main" id="{98D92970-E036-F107-F98A-C117F34CED3A}"/>
              </a:ext>
            </a:extLst>
          </p:cNvPr>
          <p:cNvSpPr>
            <a:spLocks noGrp="1"/>
          </p:cNvSpPr>
          <p:nvPr>
            <p:ph type="ftr" sz="quarter" idx="11"/>
          </p:nvPr>
        </p:nvSpPr>
        <p:spPr>
          <a:xfrm>
            <a:off x="3499945" y="6356350"/>
            <a:ext cx="5234151" cy="365125"/>
          </a:xfrm>
        </p:spPr>
        <p:txBody>
          <a:bodyPr/>
          <a:lstStyle/>
          <a:p>
            <a:r>
              <a:rPr lang="en-GB" dirty="0"/>
              <a:t>Seq2Seq. Author: David Thébault (based on NLPDemystified.org)</a:t>
            </a:r>
          </a:p>
        </p:txBody>
      </p:sp>
      <p:sp>
        <p:nvSpPr>
          <p:cNvPr id="5" name="ZoneTexte 4">
            <a:extLst>
              <a:ext uri="{FF2B5EF4-FFF2-40B4-BE49-F238E27FC236}">
                <a16:creationId xmlns:a16="http://schemas.microsoft.com/office/drawing/2014/main" id="{867D1AC9-3E23-6AA3-4677-7BF6E41FDDD9}"/>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Introduction to Attention</a:t>
            </a:r>
            <a:endParaRPr lang="en-GB" sz="2800" b="1" i="0" u="none" strike="noStrike" dirty="0">
              <a:solidFill>
                <a:schemeClr val="accent2"/>
              </a:solidFill>
              <a:effectLst/>
              <a:latin typeface="ui-sans-serif"/>
            </a:endParaRPr>
          </a:p>
        </p:txBody>
      </p:sp>
      <p:sp>
        <p:nvSpPr>
          <p:cNvPr id="3" name="ZoneTexte 2">
            <a:extLst>
              <a:ext uri="{FF2B5EF4-FFF2-40B4-BE49-F238E27FC236}">
                <a16:creationId xmlns:a16="http://schemas.microsoft.com/office/drawing/2014/main" id="{2D2333E2-1E83-569B-ECD6-1417B570C76F}"/>
              </a:ext>
            </a:extLst>
          </p:cNvPr>
          <p:cNvSpPr txBox="1"/>
          <p:nvPr/>
        </p:nvSpPr>
        <p:spPr>
          <a:xfrm>
            <a:off x="859220" y="2044099"/>
            <a:ext cx="11217166" cy="1735237"/>
          </a:xfrm>
          <a:prstGeom prst="rect">
            <a:avLst/>
          </a:prstGeom>
          <a:noFill/>
        </p:spPr>
        <p:txBody>
          <a:bodyPr wrap="square" rtlCol="0">
            <a:noAutofit/>
          </a:bodyPr>
          <a:lstStyle/>
          <a:p>
            <a:pPr>
              <a:lnSpc>
                <a:spcPct val="150000"/>
              </a:lnSpc>
            </a:pPr>
            <a:r>
              <a:rPr lang="en-GB" sz="1400" dirty="0">
                <a:latin typeface="Aptos" panose="020B0004020202020204" pitchFamily="34" charset="0"/>
              </a:rPr>
              <a:t>Rather than throwing away the encoder's hidden states and forcing all available information into a single vector, </a:t>
            </a:r>
          </a:p>
          <a:p>
            <a:pPr>
              <a:lnSpc>
                <a:spcPct val="150000"/>
              </a:lnSpc>
            </a:pPr>
            <a:r>
              <a:rPr lang="en-GB" sz="1400" dirty="0">
                <a:latin typeface="Aptos" panose="020B0004020202020204" pitchFamily="34" charset="0"/>
              </a:rPr>
              <a:t>instead at each decoding time step, give the decoder access to the encoder's hidden states.</a:t>
            </a:r>
          </a:p>
          <a:p>
            <a:pPr>
              <a:lnSpc>
                <a:spcPct val="150000"/>
              </a:lnSpc>
            </a:pPr>
            <a:r>
              <a:rPr lang="en-GB" sz="1400" dirty="0">
                <a:latin typeface="Aptos" panose="020B0004020202020204" pitchFamily="34" charset="0"/>
              </a:rPr>
              <a:t>In other words, let the decoder looks back at the source and learn at each time step which part of the input to focus on.</a:t>
            </a:r>
          </a:p>
          <a:p>
            <a:pPr>
              <a:lnSpc>
                <a:spcPct val="150000"/>
              </a:lnSpc>
            </a:pPr>
            <a:r>
              <a:rPr lang="en-GB" sz="1400" dirty="0">
                <a:latin typeface="Aptos" panose="020B0004020202020204" pitchFamily="34" charset="0"/>
              </a:rPr>
              <a:t>In a way NN have a bit of implicit attention built into them by a design. </a:t>
            </a:r>
          </a:p>
          <a:p>
            <a:pPr>
              <a:lnSpc>
                <a:spcPct val="150000"/>
              </a:lnSpc>
            </a:pPr>
            <a:r>
              <a:rPr lang="en-GB" sz="1400" dirty="0">
                <a:latin typeface="Aptos" panose="020B0004020202020204" pitchFamily="34" charset="0"/>
              </a:rPr>
              <a:t>Through iterations, NN learn what to give greater weight to and what to give less weight to.</a:t>
            </a:r>
          </a:p>
          <a:p>
            <a:pPr>
              <a:lnSpc>
                <a:spcPct val="150000"/>
              </a:lnSpc>
            </a:pPr>
            <a:r>
              <a:rPr lang="en-GB" sz="1400" dirty="0">
                <a:latin typeface="Aptos" panose="020B0004020202020204" pitchFamily="34" charset="0"/>
              </a:rPr>
              <a:t>In contrast the attention mechanism here is deliberate and explicit.</a:t>
            </a:r>
          </a:p>
          <a:p>
            <a:pPr>
              <a:lnSpc>
                <a:spcPct val="150000"/>
              </a:lnSpc>
            </a:pPr>
            <a:endParaRPr lang="en-GB" sz="1400" dirty="0">
              <a:latin typeface="Aptos" panose="020B0004020202020204" pitchFamily="34" charset="0"/>
            </a:endParaRPr>
          </a:p>
          <a:p>
            <a:pPr>
              <a:lnSpc>
                <a:spcPct val="150000"/>
              </a:lnSpc>
            </a:pPr>
            <a:r>
              <a:rPr lang="en-GB" sz="1400" dirty="0">
                <a:latin typeface="Aptos" panose="020B0004020202020204" pitchFamily="34" charset="0"/>
              </a:rPr>
              <a:t>We’ll see how it works !</a:t>
            </a:r>
          </a:p>
        </p:txBody>
      </p:sp>
      <p:grpSp>
        <p:nvGrpSpPr>
          <p:cNvPr id="149" name="Groupe 148">
            <a:extLst>
              <a:ext uri="{FF2B5EF4-FFF2-40B4-BE49-F238E27FC236}">
                <a16:creationId xmlns:a16="http://schemas.microsoft.com/office/drawing/2014/main" id="{E257AB9E-4923-22D7-64C5-9E329A3C02C3}"/>
              </a:ext>
            </a:extLst>
          </p:cNvPr>
          <p:cNvGrpSpPr/>
          <p:nvPr/>
        </p:nvGrpSpPr>
        <p:grpSpPr>
          <a:xfrm>
            <a:off x="6096000" y="4628941"/>
            <a:ext cx="4416514" cy="1552045"/>
            <a:chOff x="2979709" y="4934090"/>
            <a:chExt cx="3555385" cy="1155231"/>
          </a:xfrm>
        </p:grpSpPr>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C223CBF3-A015-5B39-5521-379EB854AF4F}"/>
                    </a:ext>
                  </a:extLst>
                </p:cNvPr>
                <p:cNvSpPr txBox="1"/>
                <p:nvPr/>
              </p:nvSpPr>
              <p:spPr>
                <a:xfrm>
                  <a:off x="4029041"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39" name="ZoneTexte 38">
                  <a:extLst>
                    <a:ext uri="{FF2B5EF4-FFF2-40B4-BE49-F238E27FC236}">
                      <a16:creationId xmlns:a16="http://schemas.microsoft.com/office/drawing/2014/main" id="{C223CBF3-A015-5B39-5521-379EB854AF4F}"/>
                    </a:ext>
                  </a:extLst>
                </p:cNvPr>
                <p:cNvSpPr txBox="1">
                  <a:spLocks noRot="1" noChangeAspect="1" noMove="1" noResize="1" noEditPoints="1" noAdjustHandles="1" noChangeArrowheads="1" noChangeShapeType="1" noTextEdit="1"/>
                </p:cNvSpPr>
                <p:nvPr/>
              </p:nvSpPr>
              <p:spPr>
                <a:xfrm>
                  <a:off x="4029041" y="5996988"/>
                  <a:ext cx="143160" cy="92333"/>
                </a:xfrm>
                <a:prstGeom prst="rect">
                  <a:avLst/>
                </a:prstGeom>
                <a:blipFill>
                  <a:blip r:embed="rId3"/>
                  <a:stretch>
                    <a:fillRect/>
                  </a:stretch>
                </a:blipFill>
              </p:spPr>
              <p:txBody>
                <a:bodyPr/>
                <a:lstStyle/>
                <a:p>
                  <a:r>
                    <a:rPr lang="en-GB">
                      <a:noFill/>
                    </a:rPr>
                    <a:t> </a:t>
                  </a:r>
                </a:p>
              </p:txBody>
            </p:sp>
          </mc:Fallback>
        </mc:AlternateContent>
        <p:sp>
          <p:nvSpPr>
            <p:cNvPr id="40" name="Rectangle : coins arrondis 39">
              <a:extLst>
                <a:ext uri="{FF2B5EF4-FFF2-40B4-BE49-F238E27FC236}">
                  <a16:creationId xmlns:a16="http://schemas.microsoft.com/office/drawing/2014/main" id="{B82E1851-7F8D-1576-1A7D-94D86478D921}"/>
                </a:ext>
              </a:extLst>
            </p:cNvPr>
            <p:cNvSpPr/>
            <p:nvPr/>
          </p:nvSpPr>
          <p:spPr>
            <a:xfrm>
              <a:off x="4005112" y="5501482"/>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1" name="Connecteur droit avec flèche 40">
              <a:extLst>
                <a:ext uri="{FF2B5EF4-FFF2-40B4-BE49-F238E27FC236}">
                  <a16:creationId xmlns:a16="http://schemas.microsoft.com/office/drawing/2014/main" id="{BAD96938-1617-1C29-6BA5-4B86D5C0039F}"/>
                </a:ext>
              </a:extLst>
            </p:cNvPr>
            <p:cNvCxnSpPr>
              <a:cxnSpLocks/>
              <a:stCxn id="39" idx="0"/>
              <a:endCxn id="40" idx="2"/>
            </p:cNvCxnSpPr>
            <p:nvPr/>
          </p:nvCxnSpPr>
          <p:spPr>
            <a:xfrm flipH="1" flipV="1">
              <a:off x="4099287" y="5839120"/>
              <a:ext cx="1334" cy="15786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010A032F-0C2C-252C-5D2D-D63583FF14E1}"/>
                    </a:ext>
                  </a:extLst>
                </p:cNvPr>
                <p:cNvSpPr txBox="1"/>
                <p:nvPr/>
              </p:nvSpPr>
              <p:spPr>
                <a:xfrm>
                  <a:off x="4458476"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42" name="ZoneTexte 41">
                  <a:extLst>
                    <a:ext uri="{FF2B5EF4-FFF2-40B4-BE49-F238E27FC236}">
                      <a16:creationId xmlns:a16="http://schemas.microsoft.com/office/drawing/2014/main" id="{010A032F-0C2C-252C-5D2D-D63583FF14E1}"/>
                    </a:ext>
                  </a:extLst>
                </p:cNvPr>
                <p:cNvSpPr txBox="1">
                  <a:spLocks noRot="1" noChangeAspect="1" noMove="1" noResize="1" noEditPoints="1" noAdjustHandles="1" noChangeArrowheads="1" noChangeShapeType="1" noTextEdit="1"/>
                </p:cNvSpPr>
                <p:nvPr/>
              </p:nvSpPr>
              <p:spPr>
                <a:xfrm>
                  <a:off x="4458476" y="5996988"/>
                  <a:ext cx="143160" cy="92333"/>
                </a:xfrm>
                <a:prstGeom prst="rect">
                  <a:avLst/>
                </a:prstGeom>
                <a:blipFill>
                  <a:blip r:embed="rId4"/>
                  <a:stretch>
                    <a:fillRect l="-13333" r="-13333"/>
                  </a:stretch>
                </a:blipFill>
              </p:spPr>
              <p:txBody>
                <a:bodyPr/>
                <a:lstStyle/>
                <a:p>
                  <a:r>
                    <a:rPr lang="en-GB">
                      <a:noFill/>
                    </a:rPr>
                    <a:t> </a:t>
                  </a:r>
                </a:p>
              </p:txBody>
            </p:sp>
          </mc:Fallback>
        </mc:AlternateContent>
        <p:sp>
          <p:nvSpPr>
            <p:cNvPr id="43" name="Rectangle : coins arrondis 42">
              <a:extLst>
                <a:ext uri="{FF2B5EF4-FFF2-40B4-BE49-F238E27FC236}">
                  <a16:creationId xmlns:a16="http://schemas.microsoft.com/office/drawing/2014/main" id="{C843C7DE-FCD3-A9DF-EFA9-DF293AC58D84}"/>
                </a:ext>
              </a:extLst>
            </p:cNvPr>
            <p:cNvSpPr/>
            <p:nvPr/>
          </p:nvSpPr>
          <p:spPr>
            <a:xfrm>
              <a:off x="4434547" y="5504183"/>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4" name="Connecteur droit avec flèche 43">
              <a:extLst>
                <a:ext uri="{FF2B5EF4-FFF2-40B4-BE49-F238E27FC236}">
                  <a16:creationId xmlns:a16="http://schemas.microsoft.com/office/drawing/2014/main" id="{C70612E5-955E-61C9-CCB5-A59D34EB53C8}"/>
                </a:ext>
              </a:extLst>
            </p:cNvPr>
            <p:cNvCxnSpPr>
              <a:cxnSpLocks/>
              <a:stCxn id="42" idx="0"/>
              <a:endCxn id="43" idx="2"/>
            </p:cNvCxnSpPr>
            <p:nvPr/>
          </p:nvCxnSpPr>
          <p:spPr>
            <a:xfrm flipH="1" flipV="1">
              <a:off x="4528722" y="5841821"/>
              <a:ext cx="1334" cy="155167"/>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45" name="Rectangle : coins arrondis 44">
              <a:extLst>
                <a:ext uri="{FF2B5EF4-FFF2-40B4-BE49-F238E27FC236}">
                  <a16:creationId xmlns:a16="http://schemas.microsoft.com/office/drawing/2014/main" id="{65783C85-EB24-D569-D5FD-9E3171CA240F}"/>
                </a:ext>
              </a:extLst>
            </p:cNvPr>
            <p:cNvSpPr/>
            <p:nvPr/>
          </p:nvSpPr>
          <p:spPr>
            <a:xfrm>
              <a:off x="4863982" y="5506884"/>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46" name="Rectangle : coins arrondis 45">
              <a:extLst>
                <a:ext uri="{FF2B5EF4-FFF2-40B4-BE49-F238E27FC236}">
                  <a16:creationId xmlns:a16="http://schemas.microsoft.com/office/drawing/2014/main" id="{F04E67B6-1149-98E5-C2DF-7EF44EE5F35C}"/>
                </a:ext>
              </a:extLst>
            </p:cNvPr>
            <p:cNvSpPr/>
            <p:nvPr/>
          </p:nvSpPr>
          <p:spPr>
            <a:xfrm>
              <a:off x="5289308" y="5509585"/>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7" name="Connecteur droit avec flèche 46">
              <a:extLst>
                <a:ext uri="{FF2B5EF4-FFF2-40B4-BE49-F238E27FC236}">
                  <a16:creationId xmlns:a16="http://schemas.microsoft.com/office/drawing/2014/main" id="{6704406E-7E48-FD2D-C51F-F019B6382F8B}"/>
                </a:ext>
              </a:extLst>
            </p:cNvPr>
            <p:cNvCxnSpPr>
              <a:stCxn id="40" idx="3"/>
              <a:endCxn id="43" idx="1"/>
            </p:cNvCxnSpPr>
            <p:nvPr/>
          </p:nvCxnSpPr>
          <p:spPr>
            <a:xfrm>
              <a:off x="4193460" y="5670300"/>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86E48938-1661-A91B-A56C-2D17D0D7778A}"/>
                </a:ext>
              </a:extLst>
            </p:cNvPr>
            <p:cNvCxnSpPr/>
            <p:nvPr/>
          </p:nvCxnSpPr>
          <p:spPr>
            <a:xfrm>
              <a:off x="4622895" y="5678404"/>
              <a:ext cx="241086" cy="2701"/>
            </a:xfrm>
            <a:prstGeom prst="straightConnector1">
              <a:avLst/>
            </a:prstGeom>
            <a:noFill/>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62CF7CF4-6D9F-F465-9E5F-14CA495E72C2}"/>
                </a:ext>
              </a:extLst>
            </p:cNvPr>
            <p:cNvCxnSpPr/>
            <p:nvPr/>
          </p:nvCxnSpPr>
          <p:spPr>
            <a:xfrm>
              <a:off x="5051161" y="5678404"/>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DADB6D08-8643-239B-CCED-FA217CC8D470}"/>
                    </a:ext>
                  </a:extLst>
                </p:cNvPr>
                <p:cNvSpPr txBox="1"/>
                <p:nvPr/>
              </p:nvSpPr>
              <p:spPr>
                <a:xfrm>
                  <a:off x="4826731" y="5258476"/>
                  <a:ext cx="336695" cy="92333"/>
                </a:xfrm>
                <a:prstGeom prst="rect">
                  <a:avLst/>
                </a:prstGeom>
                <a:noFill/>
              </p:spPr>
              <p:txBody>
                <a:bodyPr wrap="none" lIns="0" tIns="0" rIns="0" bIns="0" rtlCol="0">
                  <a:spAutoFit/>
                </a:bodyPr>
                <a:lstStyle/>
                <a:p>
                  <a14:m>
                    <m:oMath xmlns:m="http://schemas.openxmlformats.org/officeDocument/2006/math">
                      <m:r>
                        <a:rPr lang="fr-FR" sz="600" b="0" i="1" smtClean="0">
                          <a:latin typeface="Cambria Math" panose="02040503050406030204" pitchFamily="18" charset="0"/>
                        </a:rPr>
                        <m:t>𝑙𝑒𝑚𝑒𝑢𝑟</m:t>
                      </m:r>
                    </m:oMath>
                  </a14:m>
                  <a:r>
                    <a:rPr lang="en-GB" sz="600" b="0" dirty="0"/>
                    <a:t>ült</a:t>
                  </a:r>
                  <a:endParaRPr lang="fr-FR" sz="600" b="0" dirty="0"/>
                </a:p>
              </p:txBody>
            </p:sp>
          </mc:Choice>
          <mc:Fallback xmlns="">
            <p:sp>
              <p:nvSpPr>
                <p:cNvPr id="50" name="ZoneTexte 49">
                  <a:extLst>
                    <a:ext uri="{FF2B5EF4-FFF2-40B4-BE49-F238E27FC236}">
                      <a16:creationId xmlns:a16="http://schemas.microsoft.com/office/drawing/2014/main" id="{DADB6D08-8643-239B-CCED-FA217CC8D470}"/>
                    </a:ext>
                  </a:extLst>
                </p:cNvPr>
                <p:cNvSpPr txBox="1">
                  <a:spLocks noRot="1" noChangeAspect="1" noMove="1" noResize="1" noEditPoints="1" noAdjustHandles="1" noChangeArrowheads="1" noChangeShapeType="1" noTextEdit="1"/>
                </p:cNvSpPr>
                <p:nvPr/>
              </p:nvSpPr>
              <p:spPr>
                <a:xfrm>
                  <a:off x="4826731" y="5258476"/>
                  <a:ext cx="336695" cy="92333"/>
                </a:xfrm>
                <a:prstGeom prst="rect">
                  <a:avLst/>
                </a:prstGeom>
                <a:blipFill>
                  <a:blip r:embed="rId5"/>
                  <a:stretch>
                    <a:fillRect l="-5882" t="-18182"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1AF3ED5E-2FBE-59A1-0B1C-76F389491378}"/>
                    </a:ext>
                  </a:extLst>
                </p:cNvPr>
                <p:cNvSpPr txBox="1"/>
                <p:nvPr/>
              </p:nvSpPr>
              <p:spPr>
                <a:xfrm>
                  <a:off x="5338751" y="5258476"/>
                  <a:ext cx="97527"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𝑎𝑧</m:t>
                        </m:r>
                      </m:oMath>
                    </m:oMathPara>
                  </a14:m>
                  <a:endParaRPr lang="en-GB" sz="600" dirty="0"/>
                </a:p>
              </p:txBody>
            </p:sp>
          </mc:Choice>
          <mc:Fallback xmlns="">
            <p:sp>
              <p:nvSpPr>
                <p:cNvPr id="51" name="ZoneTexte 50">
                  <a:extLst>
                    <a:ext uri="{FF2B5EF4-FFF2-40B4-BE49-F238E27FC236}">
                      <a16:creationId xmlns:a16="http://schemas.microsoft.com/office/drawing/2014/main" id="{1AF3ED5E-2FBE-59A1-0B1C-76F389491378}"/>
                    </a:ext>
                  </a:extLst>
                </p:cNvPr>
                <p:cNvSpPr txBox="1">
                  <a:spLocks noRot="1" noChangeAspect="1" noMove="1" noResize="1" noEditPoints="1" noAdjustHandles="1" noChangeArrowheads="1" noChangeShapeType="1" noTextEdit="1"/>
                </p:cNvSpPr>
                <p:nvPr/>
              </p:nvSpPr>
              <p:spPr>
                <a:xfrm>
                  <a:off x="5338751" y="5258476"/>
                  <a:ext cx="97527" cy="92333"/>
                </a:xfrm>
                <a:prstGeom prst="rect">
                  <a:avLst/>
                </a:prstGeom>
                <a:blipFill>
                  <a:blip r:embed="rId6"/>
                  <a:stretch>
                    <a:fillRect/>
                  </a:stretch>
                </a:blipFill>
              </p:spPr>
              <p:txBody>
                <a:bodyPr/>
                <a:lstStyle/>
                <a:p>
                  <a:r>
                    <a:rPr lang="en-GB">
                      <a:noFill/>
                    </a:rPr>
                    <a:t> </a:t>
                  </a:r>
                </a:p>
              </p:txBody>
            </p:sp>
          </mc:Fallback>
        </mc:AlternateContent>
        <p:sp>
          <p:nvSpPr>
            <p:cNvPr id="54" name="Rectangle : coins arrondis 53">
              <a:extLst>
                <a:ext uri="{FF2B5EF4-FFF2-40B4-BE49-F238E27FC236}">
                  <a16:creationId xmlns:a16="http://schemas.microsoft.com/office/drawing/2014/main" id="{A44B59C6-78C1-BB89-7AEF-290D44D77D48}"/>
                </a:ext>
              </a:extLst>
            </p:cNvPr>
            <p:cNvSpPr/>
            <p:nvPr/>
          </p:nvSpPr>
          <p:spPr>
            <a:xfrm>
              <a:off x="5717995" y="5515345"/>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55" name="Connecteur droit avec flèche 54">
              <a:extLst>
                <a:ext uri="{FF2B5EF4-FFF2-40B4-BE49-F238E27FC236}">
                  <a16:creationId xmlns:a16="http://schemas.microsoft.com/office/drawing/2014/main" id="{DCE9B2EF-503A-6C42-6837-27D1035595A2}"/>
                </a:ext>
              </a:extLst>
            </p:cNvPr>
            <p:cNvCxnSpPr/>
            <p:nvPr/>
          </p:nvCxnSpPr>
          <p:spPr>
            <a:xfrm>
              <a:off x="5479848" y="5684164"/>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6" name="ZoneTexte 55">
                  <a:extLst>
                    <a:ext uri="{FF2B5EF4-FFF2-40B4-BE49-F238E27FC236}">
                      <a16:creationId xmlns:a16="http://schemas.microsoft.com/office/drawing/2014/main" id="{FCD55BA4-7B87-76C2-ED02-882980294344}"/>
                    </a:ext>
                  </a:extLst>
                </p:cNvPr>
                <p:cNvSpPr txBox="1"/>
                <p:nvPr/>
              </p:nvSpPr>
              <p:spPr>
                <a:xfrm>
                  <a:off x="5595479" y="5258476"/>
                  <a:ext cx="468141"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𝑎𝑘𝑘𝑢𝑚𝑢𝑙</m:t>
                        </m:r>
                        <m:r>
                          <a:rPr lang="fr-FR" sz="600" b="0" i="1" smtClean="0">
                            <a:latin typeface="Cambria Math" panose="02040503050406030204" pitchFamily="18" charset="0"/>
                          </a:rPr>
                          <m:t>à</m:t>
                        </m:r>
                        <m:r>
                          <a:rPr lang="fr-FR" sz="600" b="0" i="1" smtClean="0">
                            <a:latin typeface="Cambria Math" panose="02040503050406030204" pitchFamily="18" charset="0"/>
                          </a:rPr>
                          <m:t>𝑡𝑜𝑟</m:t>
                        </m:r>
                      </m:oMath>
                    </m:oMathPara>
                  </a14:m>
                  <a:endParaRPr lang="en-GB" sz="600" dirty="0"/>
                </a:p>
              </p:txBody>
            </p:sp>
          </mc:Choice>
          <mc:Fallback xmlns="">
            <p:sp>
              <p:nvSpPr>
                <p:cNvPr id="56" name="ZoneTexte 55">
                  <a:extLst>
                    <a:ext uri="{FF2B5EF4-FFF2-40B4-BE49-F238E27FC236}">
                      <a16:creationId xmlns:a16="http://schemas.microsoft.com/office/drawing/2014/main" id="{FCD55BA4-7B87-76C2-ED02-882980294344}"/>
                    </a:ext>
                  </a:extLst>
                </p:cNvPr>
                <p:cNvSpPr txBox="1">
                  <a:spLocks noRot="1" noChangeAspect="1" noMove="1" noResize="1" noEditPoints="1" noAdjustHandles="1" noChangeArrowheads="1" noChangeShapeType="1" noTextEdit="1"/>
                </p:cNvSpPr>
                <p:nvPr/>
              </p:nvSpPr>
              <p:spPr>
                <a:xfrm>
                  <a:off x="5595479" y="5258476"/>
                  <a:ext cx="468141" cy="92333"/>
                </a:xfrm>
                <a:prstGeom prst="rect">
                  <a:avLst/>
                </a:prstGeom>
                <a:blipFill>
                  <a:blip r:embed="rId7"/>
                  <a:stretch>
                    <a:fillRect/>
                  </a:stretch>
                </a:blipFill>
              </p:spPr>
              <p:txBody>
                <a:bodyPr/>
                <a:lstStyle/>
                <a:p>
                  <a:r>
                    <a:rPr lang="en-GB">
                      <a:noFill/>
                    </a:rPr>
                    <a:t> </a:t>
                  </a:r>
                </a:p>
              </p:txBody>
            </p:sp>
          </mc:Fallback>
        </mc:AlternateContent>
        <p:sp>
          <p:nvSpPr>
            <p:cNvPr id="59" name="Rectangle : coins arrondis 58">
              <a:extLst>
                <a:ext uri="{FF2B5EF4-FFF2-40B4-BE49-F238E27FC236}">
                  <a16:creationId xmlns:a16="http://schemas.microsoft.com/office/drawing/2014/main" id="{205C43E7-4366-07D3-444B-34F8CA543C7F}"/>
                </a:ext>
              </a:extLst>
            </p:cNvPr>
            <p:cNvSpPr/>
            <p:nvPr/>
          </p:nvSpPr>
          <p:spPr>
            <a:xfrm>
              <a:off x="3142536" y="549803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60" name="Connecteur droit avec flèche 59">
              <a:extLst>
                <a:ext uri="{FF2B5EF4-FFF2-40B4-BE49-F238E27FC236}">
                  <a16:creationId xmlns:a16="http://schemas.microsoft.com/office/drawing/2014/main" id="{2773764A-495D-92A0-1A94-F9984CB928A1}"/>
                </a:ext>
              </a:extLst>
            </p:cNvPr>
            <p:cNvCxnSpPr>
              <a:cxnSpLocks/>
              <a:endCxn id="59" idx="2"/>
            </p:cNvCxnSpPr>
            <p:nvPr/>
          </p:nvCxnSpPr>
          <p:spPr>
            <a:xfrm flipH="1" flipV="1">
              <a:off x="3236711" y="5835675"/>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61" name="Rectangle : coins arrondis 60">
              <a:extLst>
                <a:ext uri="{FF2B5EF4-FFF2-40B4-BE49-F238E27FC236}">
                  <a16:creationId xmlns:a16="http://schemas.microsoft.com/office/drawing/2014/main" id="{D2847446-3536-1C40-1F97-A24DDDACD9EA}"/>
                </a:ext>
              </a:extLst>
            </p:cNvPr>
            <p:cNvSpPr/>
            <p:nvPr/>
          </p:nvSpPr>
          <p:spPr>
            <a:xfrm>
              <a:off x="3571971" y="550073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62" name="Connecteur droit avec flèche 61">
              <a:extLst>
                <a:ext uri="{FF2B5EF4-FFF2-40B4-BE49-F238E27FC236}">
                  <a16:creationId xmlns:a16="http://schemas.microsoft.com/office/drawing/2014/main" id="{0C2DE91D-7B1B-8D75-0D75-0423E17000AC}"/>
                </a:ext>
              </a:extLst>
            </p:cNvPr>
            <p:cNvCxnSpPr>
              <a:cxnSpLocks/>
              <a:endCxn id="61" idx="2"/>
            </p:cNvCxnSpPr>
            <p:nvPr/>
          </p:nvCxnSpPr>
          <p:spPr>
            <a:xfrm flipH="1" flipV="1">
              <a:off x="3666146" y="5838375"/>
              <a:ext cx="1336" cy="9941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3" name="Connecteur droit avec flèche 62">
              <a:extLst>
                <a:ext uri="{FF2B5EF4-FFF2-40B4-BE49-F238E27FC236}">
                  <a16:creationId xmlns:a16="http://schemas.microsoft.com/office/drawing/2014/main" id="{754432F4-0B9D-B6D2-FAB9-A5C92DC726F1}"/>
                </a:ext>
              </a:extLst>
            </p:cNvPr>
            <p:cNvCxnSpPr>
              <a:stCxn id="59" idx="3"/>
              <a:endCxn id="61" idx="1"/>
            </p:cNvCxnSpPr>
            <p:nvPr/>
          </p:nvCxnSpPr>
          <p:spPr>
            <a:xfrm>
              <a:off x="3330885" y="5666855"/>
              <a:ext cx="241086" cy="2701"/>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009B799E-B521-DEE4-4AB3-5408ACE274AE}"/>
                </a:ext>
              </a:extLst>
            </p:cNvPr>
            <p:cNvCxnSpPr>
              <a:cxnSpLocks/>
              <a:endCxn id="40" idx="1"/>
            </p:cNvCxnSpPr>
            <p:nvPr/>
          </p:nvCxnSpPr>
          <p:spPr>
            <a:xfrm flipV="1">
              <a:off x="3760320" y="5670301"/>
              <a:ext cx="244792" cy="4658"/>
            </a:xfrm>
            <a:prstGeom prst="straightConnector1">
              <a:avLst/>
            </a:prstGeom>
            <a:noFill/>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ZoneTexte 64">
                  <a:extLst>
                    <a:ext uri="{FF2B5EF4-FFF2-40B4-BE49-F238E27FC236}">
                      <a16:creationId xmlns:a16="http://schemas.microsoft.com/office/drawing/2014/main" id="{93F0BF97-3A25-9E02-766B-A3AA964E42DE}"/>
                    </a:ext>
                  </a:extLst>
                </p:cNvPr>
                <p:cNvSpPr txBox="1"/>
                <p:nvPr/>
              </p:nvSpPr>
              <p:spPr>
                <a:xfrm>
                  <a:off x="3165131"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65" name="ZoneTexte 64">
                  <a:extLst>
                    <a:ext uri="{FF2B5EF4-FFF2-40B4-BE49-F238E27FC236}">
                      <a16:creationId xmlns:a16="http://schemas.microsoft.com/office/drawing/2014/main" id="{93F0BF97-3A25-9E02-766B-A3AA964E42DE}"/>
                    </a:ext>
                  </a:extLst>
                </p:cNvPr>
                <p:cNvSpPr txBox="1">
                  <a:spLocks noRot="1" noChangeAspect="1" noMove="1" noResize="1" noEditPoints="1" noAdjustHandles="1" noChangeArrowheads="1" noChangeShapeType="1" noTextEdit="1"/>
                </p:cNvSpPr>
                <p:nvPr/>
              </p:nvSpPr>
              <p:spPr>
                <a:xfrm>
                  <a:off x="3165131" y="5996988"/>
                  <a:ext cx="143160" cy="92333"/>
                </a:xfrm>
                <a:prstGeom prst="rect">
                  <a:avLst/>
                </a:prstGeom>
                <a:blipFill>
                  <a:blip r:embed="rId8"/>
                  <a:stretch>
                    <a:fillRect l="-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EBDC8F07-DCA7-FC52-B234-1F4E0F75F7B6}"/>
                    </a:ext>
                  </a:extLst>
                </p:cNvPr>
                <p:cNvSpPr txBox="1"/>
                <p:nvPr/>
              </p:nvSpPr>
              <p:spPr>
                <a:xfrm>
                  <a:off x="3587300" y="5996988"/>
                  <a:ext cx="143160" cy="92333"/>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66" name="ZoneTexte 65">
                  <a:extLst>
                    <a:ext uri="{FF2B5EF4-FFF2-40B4-BE49-F238E27FC236}">
                      <a16:creationId xmlns:a16="http://schemas.microsoft.com/office/drawing/2014/main" id="{EBDC8F07-DCA7-FC52-B234-1F4E0F75F7B6}"/>
                    </a:ext>
                  </a:extLst>
                </p:cNvPr>
                <p:cNvSpPr txBox="1">
                  <a:spLocks noRot="1" noChangeAspect="1" noMove="1" noResize="1" noEditPoints="1" noAdjustHandles="1" noChangeArrowheads="1" noChangeShapeType="1" noTextEdit="1"/>
                </p:cNvSpPr>
                <p:nvPr/>
              </p:nvSpPr>
              <p:spPr>
                <a:xfrm>
                  <a:off x="3587300" y="5996988"/>
                  <a:ext cx="143160" cy="92333"/>
                </a:xfrm>
                <a:prstGeom prst="rect">
                  <a:avLst/>
                </a:prstGeom>
                <a:blipFill>
                  <a:blip r:embed="rId9"/>
                  <a:stretch>
                    <a:fillRect l="-20000" r="-60000" b="-20000"/>
                  </a:stretch>
                </a:blipFill>
              </p:spPr>
              <p:txBody>
                <a:bodyPr/>
                <a:lstStyle/>
                <a:p>
                  <a:r>
                    <a:rPr lang="en-GB">
                      <a:noFill/>
                    </a:rPr>
                    <a:t> </a:t>
                  </a:r>
                </a:p>
              </p:txBody>
            </p:sp>
          </mc:Fallback>
        </mc:AlternateContent>
        <p:cxnSp>
          <p:nvCxnSpPr>
            <p:cNvPr id="67" name="Connecteur droit avec flèche 66">
              <a:extLst>
                <a:ext uri="{FF2B5EF4-FFF2-40B4-BE49-F238E27FC236}">
                  <a16:creationId xmlns:a16="http://schemas.microsoft.com/office/drawing/2014/main" id="{BECE18BB-B847-8F66-BF3C-1578B38BCA64}"/>
                </a:ext>
              </a:extLst>
            </p:cNvPr>
            <p:cNvCxnSpPr>
              <a:cxnSpLocks/>
              <a:stCxn id="59" idx="0"/>
            </p:cNvCxnSpPr>
            <p:nvPr/>
          </p:nvCxnSpPr>
          <p:spPr>
            <a:xfrm flipV="1">
              <a:off x="3236711" y="5325044"/>
              <a:ext cx="0" cy="172993"/>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8" name="Connecteur droit avec flèche 67">
              <a:extLst>
                <a:ext uri="{FF2B5EF4-FFF2-40B4-BE49-F238E27FC236}">
                  <a16:creationId xmlns:a16="http://schemas.microsoft.com/office/drawing/2014/main" id="{C4B0D369-FF82-9DE4-C4A4-A5CFB8BC5CF2}"/>
                </a:ext>
              </a:extLst>
            </p:cNvPr>
            <p:cNvCxnSpPr>
              <a:cxnSpLocks/>
              <a:stCxn id="61" idx="0"/>
            </p:cNvCxnSpPr>
            <p:nvPr/>
          </p:nvCxnSpPr>
          <p:spPr>
            <a:xfrm flipV="1">
              <a:off x="3666146" y="5325044"/>
              <a:ext cx="0" cy="17569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69" name="Connecteur droit avec flèche 68">
              <a:extLst>
                <a:ext uri="{FF2B5EF4-FFF2-40B4-BE49-F238E27FC236}">
                  <a16:creationId xmlns:a16="http://schemas.microsoft.com/office/drawing/2014/main" id="{3E7F94E7-3A09-56AE-0C46-5C6E3CF5252D}"/>
                </a:ext>
              </a:extLst>
            </p:cNvPr>
            <p:cNvCxnSpPr>
              <a:cxnSpLocks/>
              <a:stCxn id="40" idx="0"/>
            </p:cNvCxnSpPr>
            <p:nvPr/>
          </p:nvCxnSpPr>
          <p:spPr>
            <a:xfrm flipV="1">
              <a:off x="4099286" y="5310127"/>
              <a:ext cx="2098" cy="1913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70" name="Connecteur droit avec flèche 69">
              <a:extLst>
                <a:ext uri="{FF2B5EF4-FFF2-40B4-BE49-F238E27FC236}">
                  <a16:creationId xmlns:a16="http://schemas.microsoft.com/office/drawing/2014/main" id="{D163B4AE-073A-8DAB-84E5-0AC2C76FDB16}"/>
                </a:ext>
              </a:extLst>
            </p:cNvPr>
            <p:cNvCxnSpPr>
              <a:cxnSpLocks/>
              <a:stCxn id="43" idx="0"/>
            </p:cNvCxnSpPr>
            <p:nvPr/>
          </p:nvCxnSpPr>
          <p:spPr>
            <a:xfrm flipV="1">
              <a:off x="4528721" y="5325044"/>
              <a:ext cx="2369" cy="17913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pic>
          <p:nvPicPr>
            <p:cNvPr id="71" name="Graphique 70" descr="Ordures contour">
              <a:extLst>
                <a:ext uri="{FF2B5EF4-FFF2-40B4-BE49-F238E27FC236}">
                  <a16:creationId xmlns:a16="http://schemas.microsoft.com/office/drawing/2014/main" id="{635F848F-B00F-F190-9E1A-03661A54620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06120" y="4947884"/>
              <a:ext cx="271539" cy="337638"/>
            </a:xfrm>
            <a:prstGeom prst="rect">
              <a:avLst/>
            </a:prstGeom>
          </p:spPr>
        </p:pic>
        <p:pic>
          <p:nvPicPr>
            <p:cNvPr id="72" name="Graphique 71" descr="Ordures contour">
              <a:extLst>
                <a:ext uri="{FF2B5EF4-FFF2-40B4-BE49-F238E27FC236}">
                  <a16:creationId xmlns:a16="http://schemas.microsoft.com/office/drawing/2014/main" id="{9D61AE4B-7E5C-DBD2-13C1-ADD83ADFFE3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40795" y="4947884"/>
              <a:ext cx="244762" cy="337638"/>
            </a:xfrm>
            <a:prstGeom prst="rect">
              <a:avLst/>
            </a:prstGeom>
          </p:spPr>
        </p:pic>
        <p:pic>
          <p:nvPicPr>
            <p:cNvPr id="73" name="Graphique 72" descr="Ordures contour">
              <a:extLst>
                <a:ext uri="{FF2B5EF4-FFF2-40B4-BE49-F238E27FC236}">
                  <a16:creationId xmlns:a16="http://schemas.microsoft.com/office/drawing/2014/main" id="{CAC6D31D-CB84-CCAF-8684-E3163FC97CA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78085" y="4934090"/>
              <a:ext cx="244762" cy="337638"/>
            </a:xfrm>
            <a:prstGeom prst="rect">
              <a:avLst/>
            </a:prstGeom>
          </p:spPr>
        </p:pic>
        <p:pic>
          <p:nvPicPr>
            <p:cNvPr id="74" name="Graphique 73" descr="Ordures contour">
              <a:extLst>
                <a:ext uri="{FF2B5EF4-FFF2-40B4-BE49-F238E27FC236}">
                  <a16:creationId xmlns:a16="http://schemas.microsoft.com/office/drawing/2014/main" id="{D4E400FE-C6E5-9F95-1508-DE34F461471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4932" y="4947884"/>
              <a:ext cx="244762" cy="337638"/>
            </a:xfrm>
            <a:prstGeom prst="rect">
              <a:avLst/>
            </a:prstGeom>
          </p:spPr>
        </p:pic>
        <p:cxnSp>
          <p:nvCxnSpPr>
            <p:cNvPr id="75" name="Connecteur droit avec flèche 74">
              <a:extLst>
                <a:ext uri="{FF2B5EF4-FFF2-40B4-BE49-F238E27FC236}">
                  <a16:creationId xmlns:a16="http://schemas.microsoft.com/office/drawing/2014/main" id="{70DE6F0A-E189-841B-F271-483E242E145D}"/>
                </a:ext>
              </a:extLst>
            </p:cNvPr>
            <p:cNvCxnSpPr>
              <a:cxnSpLocks/>
            </p:cNvCxnSpPr>
            <p:nvPr/>
          </p:nvCxnSpPr>
          <p:spPr>
            <a:xfrm flipH="1" flipV="1">
              <a:off x="4954729" y="5865757"/>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76" name="ZoneTexte 75">
              <a:extLst>
                <a:ext uri="{FF2B5EF4-FFF2-40B4-BE49-F238E27FC236}">
                  <a16:creationId xmlns:a16="http://schemas.microsoft.com/office/drawing/2014/main" id="{7B390C5F-394A-B7EA-0756-5D96E1732B9D}"/>
                </a:ext>
              </a:extLst>
            </p:cNvPr>
            <p:cNvSpPr txBox="1"/>
            <p:nvPr/>
          </p:nvSpPr>
          <p:spPr>
            <a:xfrm>
              <a:off x="4833506" y="5996988"/>
              <a:ext cx="276659" cy="92333"/>
            </a:xfrm>
            <a:prstGeom prst="rect">
              <a:avLst/>
            </a:prstGeom>
            <a:noFill/>
          </p:spPr>
          <p:txBody>
            <a:bodyPr wrap="square" lIns="0" tIns="0" rIns="0" bIns="0" rtlCol="0" anchor="ctr">
              <a:spAutoFit/>
            </a:bodyPr>
            <a:lstStyle/>
            <a:p>
              <a:r>
                <a:rPr lang="en-GB" sz="600" dirty="0"/>
                <a:t>&lt;start&gt;</a:t>
              </a:r>
            </a:p>
          </p:txBody>
        </p:sp>
        <mc:AlternateContent xmlns:mc="http://schemas.openxmlformats.org/markup-compatibility/2006" xmlns:a14="http://schemas.microsoft.com/office/drawing/2010/main">
          <mc:Choice Requires="a14">
            <p:sp>
              <p:nvSpPr>
                <p:cNvPr id="77" name="ZoneTexte 76">
                  <a:extLst>
                    <a:ext uri="{FF2B5EF4-FFF2-40B4-BE49-F238E27FC236}">
                      <a16:creationId xmlns:a16="http://schemas.microsoft.com/office/drawing/2014/main" id="{3C93637F-7F0F-CCBB-0272-4D18693E7AFB}"/>
                    </a:ext>
                  </a:extLst>
                </p:cNvPr>
                <p:cNvSpPr txBox="1"/>
                <p:nvPr/>
              </p:nvSpPr>
              <p:spPr>
                <a:xfrm>
                  <a:off x="5227126" y="5996988"/>
                  <a:ext cx="336695" cy="92333"/>
                </a:xfrm>
                <a:prstGeom prst="rect">
                  <a:avLst/>
                </a:prstGeom>
                <a:noFill/>
              </p:spPr>
              <p:txBody>
                <a:bodyPr wrap="none" lIns="0" tIns="0" rIns="0" bIns="0" rtlCol="0">
                  <a:spAutoFit/>
                </a:bodyPr>
                <a:lstStyle/>
                <a:p>
                  <a14:m>
                    <m:oMath xmlns:m="http://schemas.openxmlformats.org/officeDocument/2006/math">
                      <m:r>
                        <a:rPr lang="fr-FR" sz="600" b="0" i="1" smtClean="0">
                          <a:latin typeface="Cambria Math" panose="02040503050406030204" pitchFamily="18" charset="0"/>
                        </a:rPr>
                        <m:t>𝑙𝑒𝑚𝑒𝑢𝑟</m:t>
                      </m:r>
                    </m:oMath>
                  </a14:m>
                  <a:r>
                    <a:rPr lang="en-GB" sz="600" b="0" dirty="0"/>
                    <a:t>ült</a:t>
                  </a:r>
                  <a:endParaRPr lang="fr-FR" sz="600" b="0" dirty="0"/>
                </a:p>
              </p:txBody>
            </p:sp>
          </mc:Choice>
          <mc:Fallback xmlns="">
            <p:sp>
              <p:nvSpPr>
                <p:cNvPr id="77" name="ZoneTexte 76">
                  <a:extLst>
                    <a:ext uri="{FF2B5EF4-FFF2-40B4-BE49-F238E27FC236}">
                      <a16:creationId xmlns:a16="http://schemas.microsoft.com/office/drawing/2014/main" id="{3C93637F-7F0F-CCBB-0272-4D18693E7AFB}"/>
                    </a:ext>
                  </a:extLst>
                </p:cNvPr>
                <p:cNvSpPr txBox="1">
                  <a:spLocks noRot="1" noChangeAspect="1" noMove="1" noResize="1" noEditPoints="1" noAdjustHandles="1" noChangeArrowheads="1" noChangeShapeType="1" noTextEdit="1"/>
                </p:cNvSpPr>
                <p:nvPr/>
              </p:nvSpPr>
              <p:spPr>
                <a:xfrm>
                  <a:off x="5227126" y="5996988"/>
                  <a:ext cx="336695" cy="92333"/>
                </a:xfrm>
                <a:prstGeom prst="rect">
                  <a:avLst/>
                </a:prstGeom>
                <a:blipFill>
                  <a:blip r:embed="rId12"/>
                  <a:stretch>
                    <a:fillRect l="-5882" t="-30000" b="-20000"/>
                  </a:stretch>
                </a:blipFill>
              </p:spPr>
              <p:txBody>
                <a:bodyPr/>
                <a:lstStyle/>
                <a:p>
                  <a:r>
                    <a:rPr lang="en-GB">
                      <a:noFill/>
                    </a:rPr>
                    <a:t> </a:t>
                  </a:r>
                </a:p>
              </p:txBody>
            </p:sp>
          </mc:Fallback>
        </mc:AlternateContent>
        <p:cxnSp>
          <p:nvCxnSpPr>
            <p:cNvPr id="78" name="Connecteur en arc 77">
              <a:extLst>
                <a:ext uri="{FF2B5EF4-FFF2-40B4-BE49-F238E27FC236}">
                  <a16:creationId xmlns:a16="http://schemas.microsoft.com/office/drawing/2014/main" id="{1CA7CE83-F313-88FA-AE3E-8E0729D885D8}"/>
                </a:ext>
              </a:extLst>
            </p:cNvPr>
            <p:cNvCxnSpPr>
              <a:cxnSpLocks/>
            </p:cNvCxnSpPr>
            <p:nvPr/>
          </p:nvCxnSpPr>
          <p:spPr>
            <a:xfrm>
              <a:off x="5017905" y="5342433"/>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9" name="ZoneTexte 78">
                  <a:extLst>
                    <a:ext uri="{FF2B5EF4-FFF2-40B4-BE49-F238E27FC236}">
                      <a16:creationId xmlns:a16="http://schemas.microsoft.com/office/drawing/2014/main" id="{CCF44D09-5FCD-B320-F052-FDC9D3B83B5C}"/>
                    </a:ext>
                  </a:extLst>
                </p:cNvPr>
                <p:cNvSpPr txBox="1"/>
                <p:nvPr/>
              </p:nvSpPr>
              <p:spPr>
                <a:xfrm>
                  <a:off x="5774198" y="5996988"/>
                  <a:ext cx="65954"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𝑎𝑧</m:t>
                        </m:r>
                      </m:oMath>
                    </m:oMathPara>
                  </a14:m>
                  <a:endParaRPr lang="en-GB" sz="600" dirty="0"/>
                </a:p>
              </p:txBody>
            </p:sp>
          </mc:Choice>
          <mc:Fallback xmlns="">
            <p:sp>
              <p:nvSpPr>
                <p:cNvPr id="79" name="ZoneTexte 78">
                  <a:extLst>
                    <a:ext uri="{FF2B5EF4-FFF2-40B4-BE49-F238E27FC236}">
                      <a16:creationId xmlns:a16="http://schemas.microsoft.com/office/drawing/2014/main" id="{CCF44D09-5FCD-B320-F052-FDC9D3B83B5C}"/>
                    </a:ext>
                  </a:extLst>
                </p:cNvPr>
                <p:cNvSpPr txBox="1">
                  <a:spLocks noRot="1" noChangeAspect="1" noMove="1" noResize="1" noEditPoints="1" noAdjustHandles="1" noChangeArrowheads="1" noChangeShapeType="1" noTextEdit="1"/>
                </p:cNvSpPr>
                <p:nvPr/>
              </p:nvSpPr>
              <p:spPr>
                <a:xfrm>
                  <a:off x="5774198" y="5996988"/>
                  <a:ext cx="65954" cy="92333"/>
                </a:xfrm>
                <a:prstGeom prst="rect">
                  <a:avLst/>
                </a:prstGeom>
                <a:blipFill>
                  <a:blip r:embed="rId13"/>
                  <a:stretch>
                    <a:fillRect l="-28571" r="-28571"/>
                  </a:stretch>
                </a:blipFill>
              </p:spPr>
              <p:txBody>
                <a:bodyPr/>
                <a:lstStyle/>
                <a:p>
                  <a:r>
                    <a:rPr lang="en-GB">
                      <a:noFill/>
                    </a:rPr>
                    <a:t> </a:t>
                  </a:r>
                </a:p>
              </p:txBody>
            </p:sp>
          </mc:Fallback>
        </mc:AlternateContent>
        <p:cxnSp>
          <p:nvCxnSpPr>
            <p:cNvPr id="80" name="Connecteur droit avec flèche 79">
              <a:extLst>
                <a:ext uri="{FF2B5EF4-FFF2-40B4-BE49-F238E27FC236}">
                  <a16:creationId xmlns:a16="http://schemas.microsoft.com/office/drawing/2014/main" id="{075295F3-177E-7AE7-9477-2F9E0365FC40}"/>
                </a:ext>
              </a:extLst>
            </p:cNvPr>
            <p:cNvCxnSpPr>
              <a:cxnSpLocks/>
            </p:cNvCxnSpPr>
            <p:nvPr/>
          </p:nvCxnSpPr>
          <p:spPr>
            <a:xfrm flipH="1" flipV="1">
              <a:off x="5390178" y="5876104"/>
              <a:ext cx="1335" cy="9941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81" name="Connecteur droit avec flèche 80">
              <a:extLst>
                <a:ext uri="{FF2B5EF4-FFF2-40B4-BE49-F238E27FC236}">
                  <a16:creationId xmlns:a16="http://schemas.microsoft.com/office/drawing/2014/main" id="{E06FAFBC-7B76-1D09-0F85-7E3FE990829C}"/>
                </a:ext>
              </a:extLst>
            </p:cNvPr>
            <p:cNvCxnSpPr>
              <a:cxnSpLocks/>
              <a:endCxn id="54" idx="2"/>
            </p:cNvCxnSpPr>
            <p:nvPr/>
          </p:nvCxnSpPr>
          <p:spPr>
            <a:xfrm flipH="1" flipV="1">
              <a:off x="5812170" y="5852983"/>
              <a:ext cx="3697" cy="1190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sp>
          <p:nvSpPr>
            <p:cNvPr id="83" name="Rectangle : coins arrondis 82">
              <a:extLst>
                <a:ext uri="{FF2B5EF4-FFF2-40B4-BE49-F238E27FC236}">
                  <a16:creationId xmlns:a16="http://schemas.microsoft.com/office/drawing/2014/main" id="{5B277713-2E3F-4106-41D6-1C9E578EF511}"/>
                </a:ext>
              </a:extLst>
            </p:cNvPr>
            <p:cNvSpPr/>
            <p:nvPr/>
          </p:nvSpPr>
          <p:spPr>
            <a:xfrm>
              <a:off x="6197823" y="5518797"/>
              <a:ext cx="188349" cy="33763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84" name="Connecteur droit avec flèche 83">
              <a:extLst>
                <a:ext uri="{FF2B5EF4-FFF2-40B4-BE49-F238E27FC236}">
                  <a16:creationId xmlns:a16="http://schemas.microsoft.com/office/drawing/2014/main" id="{AF953B2C-E170-09AE-1CCC-ABD92EAB0796}"/>
                </a:ext>
              </a:extLst>
            </p:cNvPr>
            <p:cNvCxnSpPr>
              <a:cxnSpLocks/>
              <a:stCxn id="54" idx="3"/>
              <a:endCxn id="83" idx="1"/>
            </p:cNvCxnSpPr>
            <p:nvPr/>
          </p:nvCxnSpPr>
          <p:spPr>
            <a:xfrm>
              <a:off x="5906344" y="5684164"/>
              <a:ext cx="291478" cy="3452"/>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C9FB1D08-1F27-CBA0-61D5-68A723736825}"/>
                    </a:ext>
                  </a:extLst>
                </p:cNvPr>
                <p:cNvSpPr txBox="1"/>
                <p:nvPr/>
              </p:nvSpPr>
              <p:spPr>
                <a:xfrm>
                  <a:off x="6189254" y="5258476"/>
                  <a:ext cx="224420" cy="92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600" dirty="0"/>
                          <m:t>&lt;</m:t>
                        </m:r>
                        <m:r>
                          <m:rPr>
                            <m:nor/>
                          </m:rPr>
                          <a:rPr lang="fr-FR" sz="600" b="0" i="0" dirty="0" smtClean="0"/>
                          <m:t>end</m:t>
                        </m:r>
                        <m:r>
                          <m:rPr>
                            <m:nor/>
                          </m:rPr>
                          <a:rPr lang="en-GB" sz="600" dirty="0"/>
                          <m:t>&gt;</m:t>
                        </m:r>
                      </m:oMath>
                    </m:oMathPara>
                  </a14:m>
                  <a:endParaRPr lang="en-GB" sz="600" dirty="0"/>
                </a:p>
              </p:txBody>
            </p:sp>
          </mc:Choice>
          <mc:Fallback xmlns="">
            <p:sp>
              <p:nvSpPr>
                <p:cNvPr id="85" name="ZoneTexte 84">
                  <a:extLst>
                    <a:ext uri="{FF2B5EF4-FFF2-40B4-BE49-F238E27FC236}">
                      <a16:creationId xmlns:a16="http://schemas.microsoft.com/office/drawing/2014/main" id="{C9FB1D08-1F27-CBA0-61D5-68A723736825}"/>
                    </a:ext>
                  </a:extLst>
                </p:cNvPr>
                <p:cNvSpPr txBox="1">
                  <a:spLocks noRot="1" noChangeAspect="1" noMove="1" noResize="1" noEditPoints="1" noAdjustHandles="1" noChangeArrowheads="1" noChangeShapeType="1" noTextEdit="1"/>
                </p:cNvSpPr>
                <p:nvPr/>
              </p:nvSpPr>
              <p:spPr>
                <a:xfrm>
                  <a:off x="6189254" y="5258476"/>
                  <a:ext cx="224420" cy="92333"/>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ZoneTexte 86">
                  <a:extLst>
                    <a:ext uri="{FF2B5EF4-FFF2-40B4-BE49-F238E27FC236}">
                      <a16:creationId xmlns:a16="http://schemas.microsoft.com/office/drawing/2014/main" id="{605323D6-C3A0-9FFE-F2E4-BBD28B28F111}"/>
                    </a:ext>
                  </a:extLst>
                </p:cNvPr>
                <p:cNvSpPr txBox="1"/>
                <p:nvPr/>
              </p:nvSpPr>
              <p:spPr>
                <a:xfrm>
                  <a:off x="6099482" y="5996988"/>
                  <a:ext cx="435612" cy="923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600" i="1">
                            <a:latin typeface="Cambria Math" panose="02040503050406030204" pitchFamily="18" charset="0"/>
                          </a:rPr>
                          <m:t>𝑎𝑘𝑘𝑢𝑚𝑢𝑙</m:t>
                        </m:r>
                        <m:r>
                          <a:rPr lang="fr-FR" sz="600" i="1">
                            <a:latin typeface="Cambria Math" panose="02040503050406030204" pitchFamily="18" charset="0"/>
                          </a:rPr>
                          <m:t>à</m:t>
                        </m:r>
                        <m:r>
                          <a:rPr lang="fr-FR" sz="600" i="1">
                            <a:latin typeface="Cambria Math" panose="02040503050406030204" pitchFamily="18" charset="0"/>
                          </a:rPr>
                          <m:t>𝑡𝑜𝑟</m:t>
                        </m:r>
                      </m:oMath>
                    </m:oMathPara>
                  </a14:m>
                  <a:endParaRPr lang="en-GB" sz="600" dirty="0"/>
                </a:p>
              </p:txBody>
            </p:sp>
          </mc:Choice>
          <mc:Fallback xmlns="">
            <p:sp>
              <p:nvSpPr>
                <p:cNvPr id="87" name="ZoneTexte 86">
                  <a:extLst>
                    <a:ext uri="{FF2B5EF4-FFF2-40B4-BE49-F238E27FC236}">
                      <a16:creationId xmlns:a16="http://schemas.microsoft.com/office/drawing/2014/main" id="{605323D6-C3A0-9FFE-F2E4-BBD28B28F111}"/>
                    </a:ext>
                  </a:extLst>
                </p:cNvPr>
                <p:cNvSpPr txBox="1">
                  <a:spLocks noRot="1" noChangeAspect="1" noMove="1" noResize="1" noEditPoints="1" noAdjustHandles="1" noChangeArrowheads="1" noChangeShapeType="1" noTextEdit="1"/>
                </p:cNvSpPr>
                <p:nvPr/>
              </p:nvSpPr>
              <p:spPr>
                <a:xfrm>
                  <a:off x="6099482" y="5996988"/>
                  <a:ext cx="435612" cy="92333"/>
                </a:xfrm>
                <a:prstGeom prst="rect">
                  <a:avLst/>
                </a:prstGeom>
                <a:blipFill>
                  <a:blip r:embed="rId15"/>
                  <a:stretch>
                    <a:fillRect/>
                  </a:stretch>
                </a:blipFill>
              </p:spPr>
              <p:txBody>
                <a:bodyPr/>
                <a:lstStyle/>
                <a:p>
                  <a:r>
                    <a:rPr lang="en-GB">
                      <a:noFill/>
                    </a:rPr>
                    <a:t> </a:t>
                  </a:r>
                </a:p>
              </p:txBody>
            </p:sp>
          </mc:Fallback>
        </mc:AlternateContent>
        <p:cxnSp>
          <p:nvCxnSpPr>
            <p:cNvPr id="88" name="Connecteur droit avec flèche 87">
              <a:extLst>
                <a:ext uri="{FF2B5EF4-FFF2-40B4-BE49-F238E27FC236}">
                  <a16:creationId xmlns:a16="http://schemas.microsoft.com/office/drawing/2014/main" id="{CF2C42D4-25C9-97AC-5903-D8A7429A3692}"/>
                </a:ext>
              </a:extLst>
            </p:cNvPr>
            <p:cNvCxnSpPr>
              <a:cxnSpLocks/>
              <a:endCxn id="83" idx="2"/>
            </p:cNvCxnSpPr>
            <p:nvPr/>
          </p:nvCxnSpPr>
          <p:spPr>
            <a:xfrm flipH="1" flipV="1">
              <a:off x="6291997" y="5856434"/>
              <a:ext cx="3697" cy="119088"/>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pic>
          <p:nvPicPr>
            <p:cNvPr id="93" name="Graphique 92" descr="Fermer avec un remplissage uni">
              <a:extLst>
                <a:ext uri="{FF2B5EF4-FFF2-40B4-BE49-F238E27FC236}">
                  <a16:creationId xmlns:a16="http://schemas.microsoft.com/office/drawing/2014/main" id="{9657DA17-22A8-38C3-776A-7E653F87565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59101" y="5003794"/>
              <a:ext cx="336944" cy="336944"/>
            </a:xfrm>
            <a:prstGeom prst="rect">
              <a:avLst/>
            </a:prstGeom>
          </p:spPr>
        </p:pic>
        <p:pic>
          <p:nvPicPr>
            <p:cNvPr id="94" name="Graphique 93" descr="Fermer avec un remplissage uni">
              <a:extLst>
                <a:ext uri="{FF2B5EF4-FFF2-40B4-BE49-F238E27FC236}">
                  <a16:creationId xmlns:a16="http://schemas.microsoft.com/office/drawing/2014/main" id="{83CADBE1-39E9-F28D-7276-EA08A71D96C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953577" y="5003794"/>
              <a:ext cx="336944" cy="336944"/>
            </a:xfrm>
            <a:prstGeom prst="rect">
              <a:avLst/>
            </a:prstGeom>
          </p:spPr>
        </p:pic>
        <p:pic>
          <p:nvPicPr>
            <p:cNvPr id="95" name="Graphique 94" descr="Fermer avec un remplissage uni">
              <a:extLst>
                <a:ext uri="{FF2B5EF4-FFF2-40B4-BE49-F238E27FC236}">
                  <a16:creationId xmlns:a16="http://schemas.microsoft.com/office/drawing/2014/main" id="{41E487A6-9897-3521-D819-AF5534D7740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489891" y="5003794"/>
              <a:ext cx="336944" cy="336944"/>
            </a:xfrm>
            <a:prstGeom prst="rect">
              <a:avLst/>
            </a:prstGeom>
          </p:spPr>
        </p:pic>
        <p:pic>
          <p:nvPicPr>
            <p:cNvPr id="96" name="Graphique 95" descr="Fermer avec un remplissage uni">
              <a:extLst>
                <a:ext uri="{FF2B5EF4-FFF2-40B4-BE49-F238E27FC236}">
                  <a16:creationId xmlns:a16="http://schemas.microsoft.com/office/drawing/2014/main" id="{56268E7D-414B-3786-2669-E52497485C3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075247" y="5003794"/>
              <a:ext cx="336944" cy="336944"/>
            </a:xfrm>
            <a:prstGeom prst="rect">
              <a:avLst/>
            </a:prstGeom>
          </p:spPr>
        </p:pic>
        <p:sp>
          <p:nvSpPr>
            <p:cNvPr id="100" name="Accolade fermante 99">
              <a:extLst>
                <a:ext uri="{FF2B5EF4-FFF2-40B4-BE49-F238E27FC236}">
                  <a16:creationId xmlns:a16="http://schemas.microsoft.com/office/drawing/2014/main" id="{797A6AE3-0A44-5782-1C51-0860A02CDD51}"/>
                </a:ext>
              </a:extLst>
            </p:cNvPr>
            <p:cNvSpPr/>
            <p:nvPr/>
          </p:nvSpPr>
          <p:spPr>
            <a:xfrm rot="16200000">
              <a:off x="3706550" y="4418441"/>
              <a:ext cx="321276" cy="1774958"/>
            </a:xfrm>
            <a:prstGeom prst="righ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104" name="Connecteur droit avec flèche 103">
              <a:extLst>
                <a:ext uri="{FF2B5EF4-FFF2-40B4-BE49-F238E27FC236}">
                  <a16:creationId xmlns:a16="http://schemas.microsoft.com/office/drawing/2014/main" id="{C20C2F47-7356-8A70-DC62-469626A96536}"/>
                </a:ext>
              </a:extLst>
            </p:cNvPr>
            <p:cNvCxnSpPr>
              <a:cxnSpLocks/>
            </p:cNvCxnSpPr>
            <p:nvPr/>
          </p:nvCxnSpPr>
          <p:spPr>
            <a:xfrm flipV="1">
              <a:off x="4995495" y="5329160"/>
              <a:ext cx="0" cy="172993"/>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05" name="Connecteur droit avec flèche 104">
              <a:extLst>
                <a:ext uri="{FF2B5EF4-FFF2-40B4-BE49-F238E27FC236}">
                  <a16:creationId xmlns:a16="http://schemas.microsoft.com/office/drawing/2014/main" id="{333CFD59-184B-23D8-DF2D-C03A5E8724BD}"/>
                </a:ext>
              </a:extLst>
            </p:cNvPr>
            <p:cNvCxnSpPr>
              <a:cxnSpLocks/>
            </p:cNvCxnSpPr>
            <p:nvPr/>
          </p:nvCxnSpPr>
          <p:spPr>
            <a:xfrm flipV="1">
              <a:off x="5424930" y="5329160"/>
              <a:ext cx="0" cy="175694"/>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eur droit avec flèche 105">
              <a:extLst>
                <a:ext uri="{FF2B5EF4-FFF2-40B4-BE49-F238E27FC236}">
                  <a16:creationId xmlns:a16="http://schemas.microsoft.com/office/drawing/2014/main" id="{25C98845-7F1E-9084-4B5B-2B2CB7647EE3}"/>
                </a:ext>
              </a:extLst>
            </p:cNvPr>
            <p:cNvCxnSpPr>
              <a:cxnSpLocks/>
            </p:cNvCxnSpPr>
            <p:nvPr/>
          </p:nvCxnSpPr>
          <p:spPr>
            <a:xfrm flipV="1">
              <a:off x="5858070" y="5314243"/>
              <a:ext cx="2098" cy="191355"/>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BA303F73-37BD-A049-86E2-9598539DA400}"/>
                </a:ext>
              </a:extLst>
            </p:cNvPr>
            <p:cNvCxnSpPr>
              <a:cxnSpLocks/>
            </p:cNvCxnSpPr>
            <p:nvPr/>
          </p:nvCxnSpPr>
          <p:spPr>
            <a:xfrm flipV="1">
              <a:off x="6287505" y="5329160"/>
              <a:ext cx="2369" cy="179139"/>
            </a:xfrm>
            <a:prstGeom prst="straightConnector1">
              <a:avLst/>
            </a:prstGeom>
            <a:noFill/>
            <a:ln>
              <a:tailEnd type="triangle"/>
            </a:ln>
          </p:spPr>
          <p:style>
            <a:lnRef idx="2">
              <a:schemeClr val="accent1"/>
            </a:lnRef>
            <a:fillRef idx="0">
              <a:schemeClr val="accent1"/>
            </a:fillRef>
            <a:effectRef idx="1">
              <a:schemeClr val="accent1"/>
            </a:effectRef>
            <a:fontRef idx="minor">
              <a:schemeClr val="tx1"/>
            </a:fontRef>
          </p:style>
        </p:cxnSp>
        <p:cxnSp>
          <p:nvCxnSpPr>
            <p:cNvPr id="110" name="Connecteur en arc 109">
              <a:extLst>
                <a:ext uri="{FF2B5EF4-FFF2-40B4-BE49-F238E27FC236}">
                  <a16:creationId xmlns:a16="http://schemas.microsoft.com/office/drawing/2014/main" id="{E012E68A-5E7D-7EE2-FB88-8C4A76A682CA}"/>
                </a:ext>
              </a:extLst>
            </p:cNvPr>
            <p:cNvCxnSpPr>
              <a:cxnSpLocks/>
            </p:cNvCxnSpPr>
            <p:nvPr/>
          </p:nvCxnSpPr>
          <p:spPr>
            <a:xfrm>
              <a:off x="5458572" y="5354255"/>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1" name="Connecteur en arc 110">
              <a:extLst>
                <a:ext uri="{FF2B5EF4-FFF2-40B4-BE49-F238E27FC236}">
                  <a16:creationId xmlns:a16="http://schemas.microsoft.com/office/drawing/2014/main" id="{3835A362-3795-7612-4E39-E1CBDA92CF33}"/>
                </a:ext>
              </a:extLst>
            </p:cNvPr>
            <p:cNvCxnSpPr>
              <a:cxnSpLocks/>
            </p:cNvCxnSpPr>
            <p:nvPr/>
          </p:nvCxnSpPr>
          <p:spPr>
            <a:xfrm>
              <a:off x="5920552" y="5357945"/>
              <a:ext cx="246292" cy="540000"/>
            </a:xfrm>
            <a:prstGeom prst="curvedConnector3">
              <a:avLst>
                <a:gd name="adj1" fmla="val 50000"/>
              </a:avLst>
            </a:prstGeom>
            <a:ln w="12700" cap="flat" cmpd="sng" algn="ctr">
              <a:solidFill>
                <a:schemeClr val="accent2">
                  <a:alpha val="4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3" name="Connecteur en arc 112">
              <a:extLst>
                <a:ext uri="{FF2B5EF4-FFF2-40B4-BE49-F238E27FC236}">
                  <a16:creationId xmlns:a16="http://schemas.microsoft.com/office/drawing/2014/main" id="{122EEC09-9181-B896-EFE0-619BB319AF59}"/>
                </a:ext>
              </a:extLst>
            </p:cNvPr>
            <p:cNvCxnSpPr>
              <a:cxnSpLocks/>
              <a:stCxn id="45" idx="0"/>
              <a:endCxn id="100" idx="1"/>
            </p:cNvCxnSpPr>
            <p:nvPr/>
          </p:nvCxnSpPr>
          <p:spPr>
            <a:xfrm rot="16200000" flipV="1">
              <a:off x="4231872" y="4780598"/>
              <a:ext cx="361602" cy="1090969"/>
            </a:xfrm>
            <a:prstGeom prst="curvedConnector5">
              <a:avLst>
                <a:gd name="adj1" fmla="val 167343"/>
                <a:gd name="adj2" fmla="val 48187"/>
                <a:gd name="adj3" fmla="val 166937"/>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en arc 116">
              <a:extLst>
                <a:ext uri="{FF2B5EF4-FFF2-40B4-BE49-F238E27FC236}">
                  <a16:creationId xmlns:a16="http://schemas.microsoft.com/office/drawing/2014/main" id="{82C0FDCA-77E3-58C1-B306-30874DD5868A}"/>
                </a:ext>
              </a:extLst>
            </p:cNvPr>
            <p:cNvCxnSpPr>
              <a:cxnSpLocks/>
              <a:stCxn id="46" idx="0"/>
              <a:endCxn id="100" idx="1"/>
            </p:cNvCxnSpPr>
            <p:nvPr/>
          </p:nvCxnSpPr>
          <p:spPr>
            <a:xfrm rot="16200000" flipV="1">
              <a:off x="4443185" y="4569286"/>
              <a:ext cx="364303" cy="1516295"/>
            </a:xfrm>
            <a:prstGeom prst="curvedConnector5">
              <a:avLst>
                <a:gd name="adj1" fmla="val 62750"/>
                <a:gd name="adj2" fmla="val 38940"/>
                <a:gd name="adj3" fmla="val 166441"/>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22" name="Connecteur en arc 121">
              <a:extLst>
                <a:ext uri="{FF2B5EF4-FFF2-40B4-BE49-F238E27FC236}">
                  <a16:creationId xmlns:a16="http://schemas.microsoft.com/office/drawing/2014/main" id="{F8F6F3FC-5196-704E-DCC9-2465429EC279}"/>
                </a:ext>
              </a:extLst>
            </p:cNvPr>
            <p:cNvCxnSpPr>
              <a:cxnSpLocks/>
              <a:stCxn id="54" idx="0"/>
              <a:endCxn id="100" idx="1"/>
            </p:cNvCxnSpPr>
            <p:nvPr/>
          </p:nvCxnSpPr>
          <p:spPr>
            <a:xfrm rot="16200000" flipV="1">
              <a:off x="4654648" y="4357823"/>
              <a:ext cx="370063" cy="1944982"/>
            </a:xfrm>
            <a:prstGeom prst="curvedConnector5">
              <a:avLst>
                <a:gd name="adj1" fmla="val 61773"/>
                <a:gd name="adj2" fmla="val 24439"/>
                <a:gd name="adj3" fmla="val 214462"/>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27" name="Connecteur en arc 126">
              <a:extLst>
                <a:ext uri="{FF2B5EF4-FFF2-40B4-BE49-F238E27FC236}">
                  <a16:creationId xmlns:a16="http://schemas.microsoft.com/office/drawing/2014/main" id="{4EB2C836-E71D-FA4E-A502-F25EB0E8F208}"/>
                </a:ext>
              </a:extLst>
            </p:cNvPr>
            <p:cNvCxnSpPr>
              <a:cxnSpLocks/>
              <a:stCxn id="83" idx="0"/>
              <a:endCxn id="100" idx="1"/>
            </p:cNvCxnSpPr>
            <p:nvPr/>
          </p:nvCxnSpPr>
          <p:spPr>
            <a:xfrm rot="16200000" flipV="1">
              <a:off x="4892836" y="4119635"/>
              <a:ext cx="373515" cy="2424810"/>
            </a:xfrm>
            <a:prstGeom prst="curvedConnector5">
              <a:avLst>
                <a:gd name="adj1" fmla="val 61202"/>
                <a:gd name="adj2" fmla="val 48630"/>
                <a:gd name="adj3" fmla="val 195403"/>
              </a:avLst>
            </a:prstGeom>
            <a:ln>
              <a:solidFill>
                <a:srgbClr val="00B050"/>
              </a:solidFill>
              <a:prstDash val="solid"/>
              <a:tailEnd type="triangle"/>
            </a:ln>
          </p:spPr>
          <p:style>
            <a:lnRef idx="2">
              <a:schemeClr val="accent1"/>
            </a:lnRef>
            <a:fillRef idx="0">
              <a:schemeClr val="accent1"/>
            </a:fillRef>
            <a:effectRef idx="1">
              <a:schemeClr val="accent1"/>
            </a:effectRef>
            <a:fontRef idx="minor">
              <a:schemeClr val="tx1"/>
            </a:fontRef>
          </p:style>
        </p:cxnSp>
      </p:grpSp>
      <p:sp>
        <p:nvSpPr>
          <p:cNvPr id="150" name="ZoneTexte 149">
            <a:extLst>
              <a:ext uri="{FF2B5EF4-FFF2-40B4-BE49-F238E27FC236}">
                <a16:creationId xmlns:a16="http://schemas.microsoft.com/office/drawing/2014/main" id="{F3D3B887-DF92-6BEC-DEFF-DB7CAC1D602D}"/>
              </a:ext>
            </a:extLst>
          </p:cNvPr>
          <p:cNvSpPr txBox="1"/>
          <p:nvPr/>
        </p:nvSpPr>
        <p:spPr>
          <a:xfrm>
            <a:off x="6792983" y="3877361"/>
            <a:ext cx="3242801" cy="374862"/>
          </a:xfrm>
          <a:prstGeom prst="rect">
            <a:avLst/>
          </a:prstGeom>
          <a:noFill/>
        </p:spPr>
        <p:txBody>
          <a:bodyPr wrap="square" rtlCol="0">
            <a:spAutoFit/>
          </a:bodyPr>
          <a:lstStyle/>
          <a:p>
            <a:pPr algn="ctr"/>
            <a:r>
              <a:rPr lang="en-GB" b="1" dirty="0"/>
              <a:t>Attention Mechanism</a:t>
            </a:r>
          </a:p>
        </p:txBody>
      </p:sp>
      <p:sp>
        <p:nvSpPr>
          <p:cNvPr id="151" name="ZoneTexte 150">
            <a:extLst>
              <a:ext uri="{FF2B5EF4-FFF2-40B4-BE49-F238E27FC236}">
                <a16:creationId xmlns:a16="http://schemas.microsoft.com/office/drawing/2014/main" id="{F6B179BE-26A1-1518-E242-B3145C2DD103}"/>
              </a:ext>
            </a:extLst>
          </p:cNvPr>
          <p:cNvSpPr txBox="1"/>
          <p:nvPr/>
        </p:nvSpPr>
        <p:spPr>
          <a:xfrm>
            <a:off x="4495619" y="4203503"/>
            <a:ext cx="3242801" cy="461665"/>
          </a:xfrm>
          <a:prstGeom prst="rect">
            <a:avLst/>
          </a:prstGeom>
          <a:noFill/>
        </p:spPr>
        <p:txBody>
          <a:bodyPr wrap="square" rtlCol="0">
            <a:spAutoFit/>
          </a:bodyPr>
          <a:lstStyle/>
          <a:p>
            <a:r>
              <a:rPr lang="en-GB" sz="1200" b="1" dirty="0">
                <a:solidFill>
                  <a:srgbClr val="00B050"/>
                </a:solidFill>
              </a:rPr>
              <a:t>At each decoding timestep, the decoder accesses the encoder’s hidden states</a:t>
            </a:r>
          </a:p>
        </p:txBody>
      </p:sp>
      <p:sp>
        <p:nvSpPr>
          <p:cNvPr id="6" name="ZoneTexte 5">
            <a:extLst>
              <a:ext uri="{FF2B5EF4-FFF2-40B4-BE49-F238E27FC236}">
                <a16:creationId xmlns:a16="http://schemas.microsoft.com/office/drawing/2014/main" id="{C1FE4795-83E6-51E4-7145-A51AAA4DE15F}"/>
              </a:ext>
            </a:extLst>
          </p:cNvPr>
          <p:cNvSpPr txBox="1"/>
          <p:nvPr/>
        </p:nvSpPr>
        <p:spPr>
          <a:xfrm>
            <a:off x="9026412" y="6293829"/>
            <a:ext cx="2774196" cy="461665"/>
          </a:xfrm>
          <a:prstGeom prst="rect">
            <a:avLst/>
          </a:prstGeom>
          <a:noFill/>
        </p:spPr>
        <p:txBody>
          <a:bodyPr wrap="square" rtlCol="0">
            <a:spAutoFit/>
          </a:bodyPr>
          <a:lstStyle/>
          <a:p>
            <a:r>
              <a:rPr lang="en-GB" sz="1200" b="1" dirty="0">
                <a:solidFill>
                  <a:srgbClr val="00B050"/>
                </a:solidFill>
              </a:rPr>
              <a:t>The model learns which part of the input to focus on at each time step.</a:t>
            </a:r>
          </a:p>
        </p:txBody>
      </p:sp>
    </p:spTree>
    <p:extLst>
      <p:ext uri="{BB962C8B-B14F-4D97-AF65-F5344CB8AC3E}">
        <p14:creationId xmlns:p14="http://schemas.microsoft.com/office/powerpoint/2010/main" val="165923995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43387</TotalTime>
  <Words>2812</Words>
  <Application>Microsoft Macintosh PowerPoint</Application>
  <PresentationFormat>Grand écran</PresentationFormat>
  <Paragraphs>480</Paragraphs>
  <Slides>21</Slides>
  <Notes>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21</vt:i4>
      </vt:variant>
    </vt:vector>
  </HeadingPairs>
  <TitlesOfParts>
    <vt:vector size="29" baseType="lpstr">
      <vt:lpstr>-webkit-standard</vt:lpstr>
      <vt:lpstr>Aptos</vt:lpstr>
      <vt:lpstr>Aptos Display</vt:lpstr>
      <vt:lpstr>Arial</vt:lpstr>
      <vt:lpstr>Cambria Math</vt:lpstr>
      <vt:lpstr>Monaco</vt:lpstr>
      <vt:lpstr>ui-sans-serif</vt:lpstr>
      <vt:lpstr>Thème Office</vt:lpstr>
      <vt:lpstr>Sequence to Sequence (Seq2Seq)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lpstr>Seq2Seq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316</cp:revision>
  <dcterms:created xsi:type="dcterms:W3CDTF">2024-12-16T21:11:27Z</dcterms:created>
  <dcterms:modified xsi:type="dcterms:W3CDTF">2025-02-16T15:04:06Z</dcterms:modified>
</cp:coreProperties>
</file>