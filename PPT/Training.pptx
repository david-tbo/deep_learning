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345" r:id="rId3"/>
    <p:sldId id="346" r:id="rId4"/>
    <p:sldId id="347" r:id="rId5"/>
    <p:sldId id="338" r:id="rId6"/>
    <p:sldId id="348" r:id="rId7"/>
    <p:sldId id="349" r:id="rId8"/>
    <p:sldId id="350" r:id="rId9"/>
    <p:sldId id="340" r:id="rId10"/>
    <p:sldId id="353" r:id="rId11"/>
    <p:sldId id="354" r:id="rId12"/>
    <p:sldId id="341" r:id="rId13"/>
    <p:sldId id="352" r:id="rId14"/>
    <p:sldId id="342" r:id="rId15"/>
    <p:sldId id="343" r:id="rId16"/>
    <p:sldId id="35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7"/>
    <p:restoredTop sz="83140"/>
  </p:normalViewPr>
  <p:slideViewPr>
    <p:cSldViewPr snapToGrid="0">
      <p:cViewPr varScale="1">
        <p:scale>
          <a:sx n="85" d="100"/>
          <a:sy n="85" d="100"/>
        </p:scale>
        <p:origin x="9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C11F8-E0B1-1048-90C9-7B5C3CB594D7}" type="datetimeFigureOut">
              <a:rPr lang="fr-FR" smtClean="0"/>
              <a:t>18/01/2025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20620-1C2C-7043-8B38-691BB5666C4A}" type="slidenum">
              <a:rPr lang="fr-FR" smtClean="0"/>
              <a:t>‹N°›</a:t>
            </a:fld>
            <a:endParaRPr lang="fr-FR"/>
          </a:p>
        </p:txBody>
      </p:sp>
    </p:spTree>
    <p:extLst>
      <p:ext uri="{BB962C8B-B14F-4D97-AF65-F5344CB8AC3E}">
        <p14:creationId xmlns:p14="http://schemas.microsoft.com/office/powerpoint/2010/main" val="91512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9</a:t>
            </a:fld>
            <a:endParaRPr lang="fr-FR"/>
          </a:p>
        </p:txBody>
      </p:sp>
    </p:spTree>
    <p:extLst>
      <p:ext uri="{BB962C8B-B14F-4D97-AF65-F5344CB8AC3E}">
        <p14:creationId xmlns:p14="http://schemas.microsoft.com/office/powerpoint/2010/main" val="3343839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664DA-2888-A374-C8A9-74AFD8CF9E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FE8950-B95E-AF40-6D0F-38C2BFA155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A0F2BD-11A7-8176-EEFB-3896199BAEB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29CAD5C-9497-0E55-20D2-470B210DC901}"/>
              </a:ext>
            </a:extLst>
          </p:cNvPr>
          <p:cNvSpPr>
            <a:spLocks noGrp="1"/>
          </p:cNvSpPr>
          <p:nvPr>
            <p:ph type="sldNum" sz="quarter" idx="5"/>
          </p:nvPr>
        </p:nvSpPr>
        <p:spPr/>
        <p:txBody>
          <a:bodyPr/>
          <a:lstStyle/>
          <a:p>
            <a:fld id="{BFE20620-1C2C-7043-8B38-691BB5666C4A}" type="slidenum">
              <a:rPr lang="fr-FR" smtClean="0"/>
              <a:t>10</a:t>
            </a:fld>
            <a:endParaRPr lang="fr-FR"/>
          </a:p>
        </p:txBody>
      </p:sp>
    </p:spTree>
    <p:extLst>
      <p:ext uri="{BB962C8B-B14F-4D97-AF65-F5344CB8AC3E}">
        <p14:creationId xmlns:p14="http://schemas.microsoft.com/office/powerpoint/2010/main" val="4068840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A99DD-A384-AFF1-CE38-FB7F618892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107B19D-392D-2E41-8709-E09BCEF5D89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D2AFE5-979C-BC3E-0522-EF60AB09CF3F}"/>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A9E671B-7FCB-A6FD-0714-181F1680B498}"/>
              </a:ext>
            </a:extLst>
          </p:cNvPr>
          <p:cNvSpPr>
            <a:spLocks noGrp="1"/>
          </p:cNvSpPr>
          <p:nvPr>
            <p:ph type="sldNum" sz="quarter" idx="5"/>
          </p:nvPr>
        </p:nvSpPr>
        <p:spPr/>
        <p:txBody>
          <a:bodyPr/>
          <a:lstStyle/>
          <a:p>
            <a:fld id="{BFE20620-1C2C-7043-8B38-691BB5666C4A}" type="slidenum">
              <a:rPr lang="fr-FR" smtClean="0"/>
              <a:t>11</a:t>
            </a:fld>
            <a:endParaRPr lang="fr-FR"/>
          </a:p>
        </p:txBody>
      </p:sp>
    </p:spTree>
    <p:extLst>
      <p:ext uri="{BB962C8B-B14F-4D97-AF65-F5344CB8AC3E}">
        <p14:creationId xmlns:p14="http://schemas.microsoft.com/office/powerpoint/2010/main" val="3492303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a:t>On models such as transformers that have millions, </a:t>
            </a:r>
            <a:r>
              <a:rPr lang="en-GB" dirty="0" err="1"/>
              <a:t>trillioins</a:t>
            </a:r>
            <a:r>
              <a:rPr lang="en-GB" dirty="0"/>
              <a:t> of weights, regularization will not have much effect.</a:t>
            </a:r>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12</a:t>
            </a:fld>
            <a:endParaRPr lang="fr-FR"/>
          </a:p>
        </p:txBody>
      </p:sp>
    </p:spTree>
    <p:extLst>
      <p:ext uri="{BB962C8B-B14F-4D97-AF65-F5344CB8AC3E}">
        <p14:creationId xmlns:p14="http://schemas.microsoft.com/office/powerpoint/2010/main" val="2598259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7B59-37A8-41B7-26D9-29F8D1611A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88E1B1-6937-E964-8D67-CD7217B189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E8ED3F4-59F7-EB03-867C-123EF3819863}"/>
              </a:ext>
            </a:extLst>
          </p:cNvPr>
          <p:cNvSpPr>
            <a:spLocks noGrp="1"/>
          </p:cNvSpPr>
          <p:nvPr>
            <p:ph type="body" idx="1"/>
          </p:nvPr>
        </p:nvSpPr>
        <p:spPr/>
        <p:txBody>
          <a:bodyPr/>
          <a:lstStyle/>
          <a:p>
            <a:r>
              <a:rPr lang="en-GB" dirty="0"/>
              <a:t>On models such as transformers that have millions, </a:t>
            </a:r>
            <a:r>
              <a:rPr lang="en-GB" dirty="0" err="1"/>
              <a:t>trillioins</a:t>
            </a:r>
            <a:r>
              <a:rPr lang="en-GB" dirty="0"/>
              <a:t> of weights, regularization will not have much effect.</a:t>
            </a:r>
          </a:p>
        </p:txBody>
      </p:sp>
      <p:sp>
        <p:nvSpPr>
          <p:cNvPr id="4" name="Espace réservé du numéro de diapositive 3">
            <a:extLst>
              <a:ext uri="{FF2B5EF4-FFF2-40B4-BE49-F238E27FC236}">
                <a16:creationId xmlns:a16="http://schemas.microsoft.com/office/drawing/2014/main" id="{7AD24C17-147C-35C2-EC88-24D26A7C4544}"/>
              </a:ext>
            </a:extLst>
          </p:cNvPr>
          <p:cNvSpPr>
            <a:spLocks noGrp="1"/>
          </p:cNvSpPr>
          <p:nvPr>
            <p:ph type="sldNum" sz="quarter" idx="5"/>
          </p:nvPr>
        </p:nvSpPr>
        <p:spPr/>
        <p:txBody>
          <a:bodyPr/>
          <a:lstStyle/>
          <a:p>
            <a:fld id="{BFE20620-1C2C-7043-8B38-691BB5666C4A}" type="slidenum">
              <a:rPr lang="fr-FR" smtClean="0"/>
              <a:t>13</a:t>
            </a:fld>
            <a:endParaRPr lang="fr-FR"/>
          </a:p>
        </p:txBody>
      </p:sp>
    </p:spTree>
    <p:extLst>
      <p:ext uri="{BB962C8B-B14F-4D97-AF65-F5344CB8AC3E}">
        <p14:creationId xmlns:p14="http://schemas.microsoft.com/office/powerpoint/2010/main" val="1847680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14</a:t>
            </a:fld>
            <a:endParaRPr lang="fr-FR"/>
          </a:p>
        </p:txBody>
      </p:sp>
    </p:spTree>
    <p:extLst>
      <p:ext uri="{BB962C8B-B14F-4D97-AF65-F5344CB8AC3E}">
        <p14:creationId xmlns:p14="http://schemas.microsoft.com/office/powerpoint/2010/main" val="1263262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D599-80DB-92F5-481E-2E52707045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AD321D-283B-082B-0E39-DB9C8A7B509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9F89CCE-495D-49E5-8049-B854B98D92A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AA2D86D-E701-003D-4B7D-B90FF9D0CFC2}"/>
              </a:ext>
            </a:extLst>
          </p:cNvPr>
          <p:cNvSpPr>
            <a:spLocks noGrp="1"/>
          </p:cNvSpPr>
          <p:nvPr>
            <p:ph type="sldNum" sz="quarter" idx="5"/>
          </p:nvPr>
        </p:nvSpPr>
        <p:spPr/>
        <p:txBody>
          <a:bodyPr/>
          <a:lstStyle/>
          <a:p>
            <a:fld id="{BFE20620-1C2C-7043-8B38-691BB5666C4A}" type="slidenum">
              <a:rPr lang="fr-FR" smtClean="0"/>
              <a:t>15</a:t>
            </a:fld>
            <a:endParaRPr lang="fr-FR"/>
          </a:p>
        </p:txBody>
      </p:sp>
    </p:spTree>
    <p:extLst>
      <p:ext uri="{BB962C8B-B14F-4D97-AF65-F5344CB8AC3E}">
        <p14:creationId xmlns:p14="http://schemas.microsoft.com/office/powerpoint/2010/main" val="2641054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4A8B7-0EF8-F24A-19D7-ADCA9C203F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D7C052-F180-B3AA-CD40-DD78DA38B6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755F10D-E3CE-612B-3941-8BDFC83BD89D}"/>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07FA24F-3D8F-9B26-FAD6-C0CAEFD490EA}"/>
              </a:ext>
            </a:extLst>
          </p:cNvPr>
          <p:cNvSpPr>
            <a:spLocks noGrp="1"/>
          </p:cNvSpPr>
          <p:nvPr>
            <p:ph type="sldNum" sz="quarter" idx="5"/>
          </p:nvPr>
        </p:nvSpPr>
        <p:spPr/>
        <p:txBody>
          <a:bodyPr/>
          <a:lstStyle/>
          <a:p>
            <a:fld id="{BFE20620-1C2C-7043-8B38-691BB5666C4A}" type="slidenum">
              <a:rPr lang="fr-FR" smtClean="0"/>
              <a:t>16</a:t>
            </a:fld>
            <a:endParaRPr lang="fr-FR"/>
          </a:p>
        </p:txBody>
      </p:sp>
    </p:spTree>
    <p:extLst>
      <p:ext uri="{BB962C8B-B14F-4D97-AF65-F5344CB8AC3E}">
        <p14:creationId xmlns:p14="http://schemas.microsoft.com/office/powerpoint/2010/main" val="1388827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D944E-353A-0969-8365-64AFFDD9768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E19466A-6247-FECF-30AA-500646B63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98E1E11-47E1-4869-4830-5DB7EF20BC43}"/>
              </a:ext>
            </a:extLst>
          </p:cNvPr>
          <p:cNvSpPr>
            <a:spLocks noGrp="1"/>
          </p:cNvSpPr>
          <p:nvPr>
            <p:ph type="dt" sz="half" idx="10"/>
          </p:nvPr>
        </p:nvSpPr>
        <p:spPr/>
        <p:txBody>
          <a:bodyPr/>
          <a:lstStyle/>
          <a:p>
            <a:fld id="{0E7A9A57-8E37-F14B-9391-4F149BA7D9BA}" type="datetime1">
              <a:rPr lang="fr-FR" smtClean="0"/>
              <a:t>18/01/2025</a:t>
            </a:fld>
            <a:endParaRPr lang="fr-FR"/>
          </a:p>
        </p:txBody>
      </p:sp>
      <p:sp>
        <p:nvSpPr>
          <p:cNvPr id="5" name="Espace réservé du pied de page 4">
            <a:extLst>
              <a:ext uri="{FF2B5EF4-FFF2-40B4-BE49-F238E27FC236}">
                <a16:creationId xmlns:a16="http://schemas.microsoft.com/office/drawing/2014/main" id="{AF8785D3-A4ED-3A61-06C0-C72D3FA1F5E1}"/>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664B34F1-153B-B297-754F-5278D77EDF4D}"/>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00236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CCF12-4A30-A572-A485-1341AFE1D0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BB8CBBF-34B6-60C7-3F26-5CB8E4E6E79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6BB483D-5FDF-50CD-3EAE-DE68E0C30654}"/>
              </a:ext>
            </a:extLst>
          </p:cNvPr>
          <p:cNvSpPr>
            <a:spLocks noGrp="1"/>
          </p:cNvSpPr>
          <p:nvPr>
            <p:ph type="dt" sz="half" idx="10"/>
          </p:nvPr>
        </p:nvSpPr>
        <p:spPr/>
        <p:txBody>
          <a:bodyPr/>
          <a:lstStyle/>
          <a:p>
            <a:fld id="{A1EA49A2-9B73-244F-A354-A4440EC1356F}" type="datetime1">
              <a:rPr lang="fr-FR" smtClean="0"/>
              <a:t>18/01/2025</a:t>
            </a:fld>
            <a:endParaRPr lang="fr-FR"/>
          </a:p>
        </p:txBody>
      </p:sp>
      <p:sp>
        <p:nvSpPr>
          <p:cNvPr id="5" name="Espace réservé du pied de page 4">
            <a:extLst>
              <a:ext uri="{FF2B5EF4-FFF2-40B4-BE49-F238E27FC236}">
                <a16:creationId xmlns:a16="http://schemas.microsoft.com/office/drawing/2014/main" id="{C69175BE-5B47-E567-BE2A-3FC3718D1D57}"/>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B3C81F8A-8DBB-3AD1-3D19-BF416D02D10B}"/>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81281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14292C-AA07-015C-D693-769EEAC2ADD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7C12A38-25D8-13CE-5054-2567945029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317F5D-D504-B018-7C17-8A703D27FBDB}"/>
              </a:ext>
            </a:extLst>
          </p:cNvPr>
          <p:cNvSpPr>
            <a:spLocks noGrp="1"/>
          </p:cNvSpPr>
          <p:nvPr>
            <p:ph type="dt" sz="half" idx="10"/>
          </p:nvPr>
        </p:nvSpPr>
        <p:spPr/>
        <p:txBody>
          <a:bodyPr/>
          <a:lstStyle/>
          <a:p>
            <a:fld id="{B3197FAC-E7CB-F24B-9DE6-CF97B36979AA}" type="datetime1">
              <a:rPr lang="fr-FR" smtClean="0"/>
              <a:t>18/01/2025</a:t>
            </a:fld>
            <a:endParaRPr lang="fr-FR"/>
          </a:p>
        </p:txBody>
      </p:sp>
      <p:sp>
        <p:nvSpPr>
          <p:cNvPr id="5" name="Espace réservé du pied de page 4">
            <a:extLst>
              <a:ext uri="{FF2B5EF4-FFF2-40B4-BE49-F238E27FC236}">
                <a16:creationId xmlns:a16="http://schemas.microsoft.com/office/drawing/2014/main" id="{16882E33-4418-D261-0385-D55E9B832F68}"/>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05AEA5D8-EB94-39C7-1B75-550784795274}"/>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421119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2BADA7-B622-D365-B5E0-58D9757B7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F8DA9B-F3E3-B556-0B3A-3D98E72009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B4C417A-5EFA-4591-5379-5451D0181D6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94D19E-B1CA-6FFF-65EC-A53B5BF176BC}"/>
              </a:ext>
            </a:extLst>
          </p:cNvPr>
          <p:cNvSpPr>
            <a:spLocks noGrp="1"/>
          </p:cNvSpPr>
          <p:nvPr>
            <p:ph type="dt" sz="half" idx="10"/>
          </p:nvPr>
        </p:nvSpPr>
        <p:spPr/>
        <p:txBody>
          <a:bodyPr/>
          <a:lstStyle/>
          <a:p>
            <a:fld id="{4EF72703-6F55-B143-926D-33F29B68ED9D}" type="datetime1">
              <a:rPr lang="fr-FR" smtClean="0"/>
              <a:t>18/01/2025</a:t>
            </a:fld>
            <a:endParaRPr lang="fr-FR"/>
          </a:p>
        </p:txBody>
      </p:sp>
      <p:sp>
        <p:nvSpPr>
          <p:cNvPr id="6" name="Espace réservé du pied de page 5">
            <a:extLst>
              <a:ext uri="{FF2B5EF4-FFF2-40B4-BE49-F238E27FC236}">
                <a16:creationId xmlns:a16="http://schemas.microsoft.com/office/drawing/2014/main" id="{AC3F38DC-5472-A2CE-5659-212C5F89F4A2}"/>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31ED1353-EBAD-EF6D-897B-15787473150E}"/>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408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32CFB2-4EDC-1B32-9474-59E92AFBD5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30C631B-6547-2381-FAFC-18B43DB1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2BF280-771E-AB14-F18E-C8E55A4F7E8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C950A4D-5A94-0D96-24F3-4534B88CC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EC53D22-06BF-4724-6B30-30C4F96FCED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AEA263-C714-3EBD-DBC4-FC3537444D9E}"/>
              </a:ext>
            </a:extLst>
          </p:cNvPr>
          <p:cNvSpPr>
            <a:spLocks noGrp="1"/>
          </p:cNvSpPr>
          <p:nvPr>
            <p:ph type="dt" sz="half" idx="10"/>
          </p:nvPr>
        </p:nvSpPr>
        <p:spPr/>
        <p:txBody>
          <a:bodyPr/>
          <a:lstStyle/>
          <a:p>
            <a:fld id="{4F108BCD-D917-1C43-94A2-2AEB6486CFBD}" type="datetime1">
              <a:rPr lang="fr-FR" smtClean="0"/>
              <a:t>18/01/2025</a:t>
            </a:fld>
            <a:endParaRPr lang="fr-FR"/>
          </a:p>
        </p:txBody>
      </p:sp>
      <p:sp>
        <p:nvSpPr>
          <p:cNvPr id="8" name="Espace réservé du pied de page 7">
            <a:extLst>
              <a:ext uri="{FF2B5EF4-FFF2-40B4-BE49-F238E27FC236}">
                <a16:creationId xmlns:a16="http://schemas.microsoft.com/office/drawing/2014/main" id="{F78E8A6D-6498-7537-6C16-3284273714DE}"/>
              </a:ext>
            </a:extLst>
          </p:cNvPr>
          <p:cNvSpPr>
            <a:spLocks noGrp="1"/>
          </p:cNvSpPr>
          <p:nvPr>
            <p:ph type="ftr" sz="quarter" idx="11"/>
          </p:nvPr>
        </p:nvSpPr>
        <p:spPr/>
        <p:txBody>
          <a:bodyPr/>
          <a:lstStyle/>
          <a:p>
            <a:r>
              <a:rPr lang="fr-FR"/>
              <a:t>Introduction to Neural Networks. Author: David Thébault</a:t>
            </a:r>
          </a:p>
        </p:txBody>
      </p:sp>
      <p:sp>
        <p:nvSpPr>
          <p:cNvPr id="9" name="Espace réservé du numéro de diapositive 8">
            <a:extLst>
              <a:ext uri="{FF2B5EF4-FFF2-40B4-BE49-F238E27FC236}">
                <a16:creationId xmlns:a16="http://schemas.microsoft.com/office/drawing/2014/main" id="{1E993A8B-BC15-2168-EDCC-F5BAC4482F69}"/>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95599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CF2EC3-0FF3-DBDD-4A7D-C7802C69BF3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14410A0-E148-1688-7CC4-8240F8E8120F}"/>
              </a:ext>
            </a:extLst>
          </p:cNvPr>
          <p:cNvSpPr>
            <a:spLocks noGrp="1"/>
          </p:cNvSpPr>
          <p:nvPr>
            <p:ph type="dt" sz="half" idx="10"/>
          </p:nvPr>
        </p:nvSpPr>
        <p:spPr/>
        <p:txBody>
          <a:bodyPr/>
          <a:lstStyle/>
          <a:p>
            <a:fld id="{347E7109-0ECC-0349-BFDB-B5D769BB8687}" type="datetime1">
              <a:rPr lang="fr-FR" smtClean="0"/>
              <a:t>18/01/2025</a:t>
            </a:fld>
            <a:endParaRPr lang="fr-FR"/>
          </a:p>
        </p:txBody>
      </p:sp>
      <p:sp>
        <p:nvSpPr>
          <p:cNvPr id="4" name="Espace réservé du pied de page 3">
            <a:extLst>
              <a:ext uri="{FF2B5EF4-FFF2-40B4-BE49-F238E27FC236}">
                <a16:creationId xmlns:a16="http://schemas.microsoft.com/office/drawing/2014/main" id="{AC24F487-C1F8-D3BB-3FB1-755C6CE5B02E}"/>
              </a:ext>
            </a:extLst>
          </p:cNvPr>
          <p:cNvSpPr>
            <a:spLocks noGrp="1"/>
          </p:cNvSpPr>
          <p:nvPr>
            <p:ph type="ftr" sz="quarter" idx="11"/>
          </p:nvPr>
        </p:nvSpPr>
        <p:spPr/>
        <p:txBody>
          <a:bodyPr/>
          <a:lstStyle/>
          <a:p>
            <a:r>
              <a:rPr lang="fr-FR"/>
              <a:t>Introduction to Neural Networks. Author: David Thébault</a:t>
            </a:r>
          </a:p>
        </p:txBody>
      </p:sp>
      <p:sp>
        <p:nvSpPr>
          <p:cNvPr id="5" name="Espace réservé du numéro de diapositive 4">
            <a:extLst>
              <a:ext uri="{FF2B5EF4-FFF2-40B4-BE49-F238E27FC236}">
                <a16:creationId xmlns:a16="http://schemas.microsoft.com/office/drawing/2014/main" id="{381BBC3F-EF7F-9571-DA84-A577CDDD676C}"/>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3039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A94B32-7AD0-CDAF-5DAE-807FD7DE60EC}"/>
              </a:ext>
            </a:extLst>
          </p:cNvPr>
          <p:cNvSpPr>
            <a:spLocks noGrp="1"/>
          </p:cNvSpPr>
          <p:nvPr>
            <p:ph type="dt" sz="half" idx="10"/>
          </p:nvPr>
        </p:nvSpPr>
        <p:spPr/>
        <p:txBody>
          <a:bodyPr/>
          <a:lstStyle/>
          <a:p>
            <a:fld id="{C673679C-73FC-0C42-84CC-C9257621E710}" type="datetime1">
              <a:rPr lang="fr-FR" smtClean="0"/>
              <a:t>18/01/2025</a:t>
            </a:fld>
            <a:endParaRPr lang="fr-FR"/>
          </a:p>
        </p:txBody>
      </p:sp>
      <p:sp>
        <p:nvSpPr>
          <p:cNvPr id="3" name="Espace réservé du pied de page 2">
            <a:extLst>
              <a:ext uri="{FF2B5EF4-FFF2-40B4-BE49-F238E27FC236}">
                <a16:creationId xmlns:a16="http://schemas.microsoft.com/office/drawing/2014/main" id="{AD46D768-ABDD-B7F7-6060-5838229326ED}"/>
              </a:ext>
            </a:extLst>
          </p:cNvPr>
          <p:cNvSpPr>
            <a:spLocks noGrp="1"/>
          </p:cNvSpPr>
          <p:nvPr>
            <p:ph type="ftr" sz="quarter" idx="11"/>
          </p:nvPr>
        </p:nvSpPr>
        <p:spPr/>
        <p:txBody>
          <a:bodyPr/>
          <a:lstStyle/>
          <a:p>
            <a:r>
              <a:rPr lang="fr-FR"/>
              <a:t>Introduction to Neural Networks. Author: David Thébault</a:t>
            </a:r>
          </a:p>
        </p:txBody>
      </p:sp>
      <p:sp>
        <p:nvSpPr>
          <p:cNvPr id="4" name="Espace réservé du numéro de diapositive 3">
            <a:extLst>
              <a:ext uri="{FF2B5EF4-FFF2-40B4-BE49-F238E27FC236}">
                <a16:creationId xmlns:a16="http://schemas.microsoft.com/office/drawing/2014/main" id="{967483F6-D0AF-3FD6-A494-D8A94310469A}"/>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44864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55374-170B-730A-834D-823B49900BB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F4853C2-D86B-D6B2-8354-4795235FD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03D0BE-A7B9-5C35-5D2F-B6120D683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D7B273F-590C-812F-47EF-C01EC4BE5CBE}"/>
              </a:ext>
            </a:extLst>
          </p:cNvPr>
          <p:cNvSpPr>
            <a:spLocks noGrp="1"/>
          </p:cNvSpPr>
          <p:nvPr>
            <p:ph type="dt" sz="half" idx="10"/>
          </p:nvPr>
        </p:nvSpPr>
        <p:spPr/>
        <p:txBody>
          <a:bodyPr/>
          <a:lstStyle/>
          <a:p>
            <a:fld id="{CAA9CEEB-4EEE-3C40-B63B-27CAF1F2B31E}" type="datetime1">
              <a:rPr lang="fr-FR" smtClean="0"/>
              <a:t>18/01/2025</a:t>
            </a:fld>
            <a:endParaRPr lang="fr-FR"/>
          </a:p>
        </p:txBody>
      </p:sp>
      <p:sp>
        <p:nvSpPr>
          <p:cNvPr id="6" name="Espace réservé du pied de page 5">
            <a:extLst>
              <a:ext uri="{FF2B5EF4-FFF2-40B4-BE49-F238E27FC236}">
                <a16:creationId xmlns:a16="http://schemas.microsoft.com/office/drawing/2014/main" id="{FEBF2D89-354A-7EAE-4CA4-B4AA36E91C27}"/>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E95C16D4-AD7E-C52F-08C7-3F99D8082E85}"/>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7590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38FC8E-5CEA-E473-2D0D-069C473B0B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750C783-FA78-7CF7-99FB-A5C540D58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C5F634A-AAC7-3F15-CEAF-8ED06DD37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D670B7F-B72B-47AF-C46A-03F198EAE837}"/>
              </a:ext>
            </a:extLst>
          </p:cNvPr>
          <p:cNvSpPr>
            <a:spLocks noGrp="1"/>
          </p:cNvSpPr>
          <p:nvPr>
            <p:ph type="dt" sz="half" idx="10"/>
          </p:nvPr>
        </p:nvSpPr>
        <p:spPr/>
        <p:txBody>
          <a:bodyPr/>
          <a:lstStyle/>
          <a:p>
            <a:fld id="{6ADE32E7-F72F-5E4B-AFB6-6DCFEF0E5A5C}" type="datetime1">
              <a:rPr lang="fr-FR" smtClean="0"/>
              <a:t>18/01/2025</a:t>
            </a:fld>
            <a:endParaRPr lang="fr-FR"/>
          </a:p>
        </p:txBody>
      </p:sp>
      <p:sp>
        <p:nvSpPr>
          <p:cNvPr id="6" name="Espace réservé du pied de page 5">
            <a:extLst>
              <a:ext uri="{FF2B5EF4-FFF2-40B4-BE49-F238E27FC236}">
                <a16:creationId xmlns:a16="http://schemas.microsoft.com/office/drawing/2014/main" id="{11F21E70-9264-D182-C0B8-0803C6D03AAF}"/>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D2EB2BC4-64B8-9844-52CE-A4C1888C6608}"/>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05057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B3F7FA-9E3E-7353-A17B-5238435BD6C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51CD9A4-21FF-E3DE-190C-DDB4FBC517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4DC3D2-7217-81EA-D510-9956C788B51A}"/>
              </a:ext>
            </a:extLst>
          </p:cNvPr>
          <p:cNvSpPr>
            <a:spLocks noGrp="1"/>
          </p:cNvSpPr>
          <p:nvPr>
            <p:ph type="dt" sz="half" idx="10"/>
          </p:nvPr>
        </p:nvSpPr>
        <p:spPr/>
        <p:txBody>
          <a:bodyPr/>
          <a:lstStyle/>
          <a:p>
            <a:fld id="{23E4CF20-4019-B646-9CAE-26A8D5289551}" type="datetime1">
              <a:rPr lang="fr-FR" smtClean="0"/>
              <a:t>18/01/2025</a:t>
            </a:fld>
            <a:endParaRPr lang="fr-FR"/>
          </a:p>
        </p:txBody>
      </p:sp>
      <p:sp>
        <p:nvSpPr>
          <p:cNvPr id="5" name="Espace réservé du pied de page 4">
            <a:extLst>
              <a:ext uri="{FF2B5EF4-FFF2-40B4-BE49-F238E27FC236}">
                <a16:creationId xmlns:a16="http://schemas.microsoft.com/office/drawing/2014/main" id="{B28DFD9A-8C57-8D49-02B5-3D3A54ABEA43}"/>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F1662E7C-1983-97FD-50BA-E81CD54AEFB0}"/>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66379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F09321-1FF5-7B5A-4E46-9C7F94548E2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65DEB8-36CA-28AE-E38F-C79C2753FEB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7DD4A3-B9C8-9602-53C1-6A8A3671D67F}"/>
              </a:ext>
            </a:extLst>
          </p:cNvPr>
          <p:cNvSpPr>
            <a:spLocks noGrp="1"/>
          </p:cNvSpPr>
          <p:nvPr>
            <p:ph type="dt" sz="half" idx="10"/>
          </p:nvPr>
        </p:nvSpPr>
        <p:spPr/>
        <p:txBody>
          <a:bodyPr/>
          <a:lstStyle/>
          <a:p>
            <a:fld id="{2945B831-3BBF-0A4D-85D6-BE253C348633}" type="datetime1">
              <a:rPr lang="fr-FR" smtClean="0"/>
              <a:t>18/01/2025</a:t>
            </a:fld>
            <a:endParaRPr lang="fr-FR"/>
          </a:p>
        </p:txBody>
      </p:sp>
      <p:sp>
        <p:nvSpPr>
          <p:cNvPr id="5" name="Espace réservé du pied de page 4">
            <a:extLst>
              <a:ext uri="{FF2B5EF4-FFF2-40B4-BE49-F238E27FC236}">
                <a16:creationId xmlns:a16="http://schemas.microsoft.com/office/drawing/2014/main" id="{33D9502E-93B7-D647-56D4-AFBEA9BABB15}"/>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5069E17C-7EAD-F07C-5110-1E5BBB523DDF}"/>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121423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AADA400-D07F-8E6D-1537-426B596C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1F83CB2-4046-4F54-03D3-E1B814387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B55753-5C35-3CC7-D7B2-FBEB2079A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C77408-4A21-EE43-9C54-31672AA4B1A1}" type="datetime1">
              <a:rPr lang="fr-FR" smtClean="0"/>
              <a:t>18/01/2025</a:t>
            </a:fld>
            <a:endParaRPr lang="fr-FR"/>
          </a:p>
        </p:txBody>
      </p:sp>
      <p:sp>
        <p:nvSpPr>
          <p:cNvPr id="5" name="Espace réservé du pied de page 4">
            <a:extLst>
              <a:ext uri="{FF2B5EF4-FFF2-40B4-BE49-F238E27FC236}">
                <a16:creationId xmlns:a16="http://schemas.microsoft.com/office/drawing/2014/main" id="{EEF585E5-CA03-DD40-2278-8F72FC30D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E36FED89-57B1-F816-7CCC-8334F59D1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B432F1-B5B9-3C47-A455-7BB5A781DE30}" type="slidenum">
              <a:rPr lang="fr-FR" smtClean="0"/>
              <a:t>‹N°›</a:t>
            </a:fld>
            <a:endParaRPr lang="fr-FR"/>
          </a:p>
        </p:txBody>
      </p:sp>
    </p:spTree>
    <p:extLst>
      <p:ext uri="{BB962C8B-B14F-4D97-AF65-F5344CB8AC3E}">
        <p14:creationId xmlns:p14="http://schemas.microsoft.com/office/powerpoint/2010/main" val="2365953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lstStyle/>
          <a:p>
            <a:r>
              <a:rPr lang="fr-FR" dirty="0"/>
              <a:t>Introduction to </a:t>
            </a:r>
            <a:br>
              <a:rPr lang="fr-FR" dirty="0"/>
            </a:br>
            <a:r>
              <a:rPr lang="en-GB" noProof="0" dirty="0"/>
              <a:t>Neural Network </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p:txBody>
          <a:bodyPr/>
          <a:lstStyle/>
          <a:p>
            <a:r>
              <a:rPr lang="en-GB" noProof="0" dirty="0"/>
              <a:t>Introduction to Neural Networks. Author: David Thébault</a:t>
            </a:r>
          </a:p>
          <a:p>
            <a:r>
              <a:rPr lang="en-GB" noProof="0" dirty="0"/>
              <a:t>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9794-EFC8-E3C3-AD91-8AD189B477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80D370-0004-40F7-D6FC-2961CC43BB4A}"/>
              </a:ext>
            </a:extLst>
          </p:cNvPr>
          <p:cNvSpPr>
            <a:spLocks noGrp="1"/>
          </p:cNvSpPr>
          <p:nvPr>
            <p:ph type="title"/>
          </p:nvPr>
        </p:nvSpPr>
        <p:spPr/>
        <p:txBody>
          <a:bodyPr/>
          <a:lstStyle/>
          <a:p>
            <a:r>
              <a:rPr lang="en-GB" dirty="0"/>
              <a:t>Weights initialization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83FF0D30-48E1-9D94-F5A9-6B57ABB6C63C}"/>
                  </a:ext>
                </a:extLst>
              </p:cNvPr>
              <p:cNvSpPr>
                <a:spLocks noGrp="1"/>
              </p:cNvSpPr>
              <p:nvPr>
                <p:ph idx="1"/>
              </p:nvPr>
            </p:nvSpPr>
            <p:spPr>
              <a:xfrm>
                <a:off x="838199" y="1433740"/>
                <a:ext cx="10686143" cy="4922610"/>
              </a:xfrm>
            </p:spPr>
            <p:txBody>
              <a:bodyPr lIns="90000">
                <a:noAutofit/>
              </a:bodyPr>
              <a:lstStyle/>
              <a:p>
                <a:pPr marL="0" indent="0">
                  <a:buNone/>
                </a:pPr>
                <a:r>
                  <a:rPr lang="en-GB" sz="1200" noProof="0" dirty="0">
                    <a:effectLst/>
                  </a:rPr>
                  <a:t>At this stage, weights have been initialized to small random values between </a:t>
                </a:r>
                <a14:m>
                  <m:oMath xmlns:m="http://schemas.openxmlformats.org/officeDocument/2006/math">
                    <m:r>
                      <a:rPr lang="fr-FR" sz="1200" b="0" i="1" noProof="0" smtClean="0">
                        <a:effectLst/>
                        <a:latin typeface="Cambria Math" panose="02040503050406030204" pitchFamily="18" charset="0"/>
                      </a:rPr>
                      <m:t>−0.5</m:t>
                    </m:r>
                  </m:oMath>
                </a14:m>
                <a:r>
                  <a:rPr lang="en-GB" sz="1200" noProof="0" dirty="0">
                    <a:effectLst/>
                  </a:rPr>
                  <a:t> and </a:t>
                </a:r>
                <a14:m>
                  <m:oMath xmlns:m="http://schemas.openxmlformats.org/officeDocument/2006/math">
                    <m:r>
                      <a:rPr lang="fr-FR" sz="1200" i="1">
                        <a:latin typeface="Cambria Math" panose="02040503050406030204" pitchFamily="18" charset="0"/>
                      </a:rPr>
                      <m:t>0.5</m:t>
                    </m:r>
                  </m:oMath>
                </a14:m>
                <a:endParaRPr lang="en-GB" sz="1200" b="1" dirty="0"/>
              </a:p>
              <a:p>
                <a:pPr marL="0" indent="0">
                  <a:buNone/>
                </a:pPr>
                <a:r>
                  <a:rPr lang="en-GB" sz="1200" dirty="0"/>
                  <a:t>The power of the NN is to associate different inputs to different weights.</a:t>
                </a:r>
              </a:p>
              <a:p>
                <a:pPr marL="0" indent="0">
                  <a:buNone/>
                </a:pPr>
                <a:r>
                  <a:rPr lang="en-GB" sz="1200" dirty="0">
                    <a:effectLst/>
                  </a:rPr>
                  <a:t>If we initialize </a:t>
                </a:r>
                <a:r>
                  <a:rPr lang="en-GB" sz="1200" dirty="0"/>
                  <a:t>all the weights with a same value, we break this rule, and the signals propagated are the same.</a:t>
                </a:r>
              </a:p>
              <a:p>
                <a:pPr marL="0" indent="0">
                  <a:buNone/>
                </a:pPr>
                <a:r>
                  <a:rPr lang="en-GB" sz="1200" dirty="0"/>
                  <a:t>But can we do better than a random initialization ?</a:t>
                </a:r>
              </a:p>
              <a:p>
                <a:pPr marL="0" indent="0">
                  <a:buNone/>
                </a:pPr>
                <a:endParaRPr lang="en-GB" sz="1200" dirty="0"/>
              </a:p>
              <a:p>
                <a:pPr marL="0" indent="0">
                  <a:buNone/>
                </a:pPr>
                <a:endParaRPr lang="en-GB" sz="1200" dirty="0"/>
              </a:p>
            </p:txBody>
          </p:sp>
        </mc:Choice>
        <mc:Fallback xmlns="">
          <p:sp>
            <p:nvSpPr>
              <p:cNvPr id="3" name="Espace réservé du contenu 2">
                <a:extLst>
                  <a:ext uri="{FF2B5EF4-FFF2-40B4-BE49-F238E27FC236}">
                    <a16:creationId xmlns:a16="http://schemas.microsoft.com/office/drawing/2014/main" id="{83FF0D30-48E1-9D94-F5A9-6B57ABB6C63C}"/>
                  </a:ext>
                </a:extLst>
              </p:cNvPr>
              <p:cNvSpPr>
                <a:spLocks noGrp="1" noRot="1" noChangeAspect="1" noMove="1" noResize="1" noEditPoints="1" noAdjustHandles="1" noChangeArrowheads="1" noChangeShapeType="1" noTextEdit="1"/>
              </p:cNvSpPr>
              <p:nvPr>
                <p:ph idx="1"/>
              </p:nvPr>
            </p:nvSpPr>
            <p:spPr>
              <a:xfrm>
                <a:off x="838199" y="1433740"/>
                <a:ext cx="10686143" cy="4922610"/>
              </a:xfrm>
              <a:blipFill>
                <a:blip r:embed="rId2"/>
                <a:stretch>
                  <a:fillRect t="-257"/>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3F8BF3E1-3D4D-4E06-B843-3B1A50907417}"/>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A32E3AC1-51A6-B3FD-5842-13E2E77AB5B7}"/>
              </a:ext>
            </a:extLst>
          </p:cNvPr>
          <p:cNvSpPr txBox="1"/>
          <p:nvPr/>
        </p:nvSpPr>
        <p:spPr>
          <a:xfrm>
            <a:off x="3048000" y="3247382"/>
            <a:ext cx="6096000" cy="369332"/>
          </a:xfrm>
          <a:prstGeom prst="rect">
            <a:avLst/>
          </a:prstGeom>
          <a:noFill/>
        </p:spPr>
        <p:txBody>
          <a:bodyPr wrap="square">
            <a:spAutoFit/>
          </a:bodyPr>
          <a:lstStyle/>
          <a:p>
            <a:endParaRPr lang="en-GB" dirty="0"/>
          </a:p>
        </p:txBody>
      </p:sp>
    </p:spTree>
    <p:extLst>
      <p:ext uri="{BB962C8B-B14F-4D97-AF65-F5344CB8AC3E}">
        <p14:creationId xmlns:p14="http://schemas.microsoft.com/office/powerpoint/2010/main" val="394248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D6E00-93D6-64AC-295C-C37C5499C4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EE65804-FE9F-0A96-2B78-43506359AAF6}"/>
              </a:ext>
            </a:extLst>
          </p:cNvPr>
          <p:cNvSpPr>
            <a:spLocks noGrp="1"/>
          </p:cNvSpPr>
          <p:nvPr>
            <p:ph type="title"/>
          </p:nvPr>
        </p:nvSpPr>
        <p:spPr/>
        <p:txBody>
          <a:bodyPr/>
          <a:lstStyle/>
          <a:p>
            <a:r>
              <a:rPr lang="en-GB" dirty="0"/>
              <a:t>Weights initialization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79581E7F-F7FB-BBB4-36A7-E9B600A8B877}"/>
                  </a:ext>
                </a:extLst>
              </p:cNvPr>
              <p:cNvSpPr>
                <a:spLocks noGrp="1"/>
              </p:cNvSpPr>
              <p:nvPr>
                <p:ph idx="1"/>
              </p:nvPr>
            </p:nvSpPr>
            <p:spPr>
              <a:xfrm>
                <a:off x="838199" y="1433740"/>
                <a:ext cx="10686143" cy="4922610"/>
              </a:xfrm>
            </p:spPr>
            <p:txBody>
              <a:bodyPr lIns="90000">
                <a:noAutofit/>
              </a:bodyPr>
              <a:lstStyle/>
              <a:p>
                <a:pPr marL="0" indent="0">
                  <a:lnSpc>
                    <a:spcPct val="150000"/>
                  </a:lnSpc>
                  <a:buNone/>
                </a:pPr>
                <a:r>
                  <a:rPr lang="en-GB" sz="2000" b="1" dirty="0"/>
                  <a:t>Xavier (Glorot) Initialization</a:t>
                </a:r>
              </a:p>
              <a:p>
                <a:pPr marL="0" indent="0">
                  <a:lnSpc>
                    <a:spcPct val="150000"/>
                  </a:lnSpc>
                  <a:buNone/>
                </a:pPr>
                <a:r>
                  <a:rPr lang="en-GB" sz="1200" dirty="0"/>
                  <a:t>It aims to maintain the variance of signals across the layers of the neural network and scale the range of the weights based on the number of connections. </a:t>
                </a:r>
              </a:p>
              <a:p>
                <a:pPr marL="0" indent="0">
                  <a:lnSpc>
                    <a:spcPct val="150000"/>
                  </a:lnSpc>
                  <a:buNone/>
                </a:pPr>
                <a:r>
                  <a:rPr lang="en-GB" sz="1200" dirty="0"/>
                  <a:t>The more connections, the smaller the weights. The formula for initializing the weights depends on the "fan in" and "fan out":</a:t>
                </a:r>
              </a:p>
              <a:p>
                <a:pPr marL="0" indent="0">
                  <a:lnSpc>
                    <a:spcPct val="150000"/>
                  </a:lnSpc>
                  <a:buNone/>
                </a:pPr>
                <a:r>
                  <a:rPr lang="en-GB" sz="1200" dirty="0"/>
                  <a:t>Suppose we have a layer with 10 neurons that receives inputs from 5 neurons in the previous layer and sends outputs to 8 neurons in the next layer: Fan in 5 (number of incoming connections), Fan out : 8 (number of outgoing connections)</a:t>
                </a:r>
              </a:p>
              <a:p>
                <a:pPr marL="0" indent="0">
                  <a:lnSpc>
                    <a:spcPct val="150000"/>
                  </a:lnSpc>
                  <a:buNone/>
                </a:pPr>
                <a:r>
                  <a:rPr lang="en-GB" sz="1200" dirty="0"/>
                  <a:t>Keeping this bound helps to avoid large magnitude sums which could lead to vanishing or exploding gradients. There are two variants:</a:t>
                </a:r>
              </a:p>
              <a:p>
                <a:pPr>
                  <a:lnSpc>
                    <a:spcPct val="150000"/>
                  </a:lnSpc>
                </a:pPr>
                <a:r>
                  <a:rPr lang="en-GB" sz="1200" dirty="0"/>
                  <a:t>Uniform: </a:t>
                </a:r>
                <a14:m>
                  <m:oMath xmlns:m="http://schemas.openxmlformats.org/officeDocument/2006/math">
                    <m:r>
                      <a:rPr lang="fr-FR" sz="1200" b="0" i="0" smtClean="0">
                        <a:latin typeface="Cambria Math" panose="02040503050406030204" pitchFamily="18" charset="0"/>
                      </a:rPr>
                      <m:t> </m:t>
                    </m:r>
                    <m:r>
                      <a:rPr lang="fr-FR" sz="1200" b="0" i="1" smtClean="0">
                        <a:latin typeface="Cambria Math" panose="02040503050406030204" pitchFamily="18" charset="0"/>
                      </a:rPr>
                      <m:t>𝑊</m:t>
                    </m:r>
                    <m:r>
                      <a:rPr lang="fr-FR" sz="1200" b="0" i="1" smtClean="0">
                        <a:latin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𝑈</m:t>
                    </m:r>
                    <m:d>
                      <m:dPr>
                        <m:begChr m:val="["/>
                        <m:endChr m:val="]"/>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m:t>
                        </m:r>
                        <m:rad>
                          <m:radPr>
                            <m:degHide m:val="on"/>
                            <m:ctrlPr>
                              <a:rPr lang="fr-FR" sz="1200" b="0" i="1" smtClean="0">
                                <a:latin typeface="Cambria Math" panose="02040503050406030204" pitchFamily="18" charset="0"/>
                                <a:ea typeface="Cambria Math" panose="02040503050406030204" pitchFamily="18" charset="0"/>
                              </a:rPr>
                            </m:ctrlPr>
                          </m:radPr>
                          <m:deg/>
                          <m:e>
                            <m:f>
                              <m:fPr>
                                <m:ctrlPr>
                                  <a:rPr lang="fr-FR" sz="1200" b="0" i="1" smtClean="0">
                                    <a:latin typeface="Cambria Math" panose="02040503050406030204" pitchFamily="18" charset="0"/>
                                    <a:ea typeface="Cambria Math" panose="02040503050406030204" pitchFamily="18" charset="0"/>
                                  </a:rPr>
                                </m:ctrlPr>
                              </m:fPr>
                              <m:num>
                                <m:r>
                                  <a:rPr lang="fr-FR" sz="1200" b="0" i="1" smtClean="0">
                                    <a:latin typeface="Cambria Math" panose="02040503050406030204" pitchFamily="18" charset="0"/>
                                    <a:ea typeface="Cambria Math" panose="02040503050406030204" pitchFamily="18" charset="0"/>
                                  </a:rPr>
                                  <m:t>6</m:t>
                                </m:r>
                              </m:num>
                              <m:den>
                                <m:r>
                                  <a:rPr lang="fr-FR" sz="1200" b="0" i="1" smtClean="0">
                                    <a:latin typeface="Cambria Math" panose="02040503050406030204" pitchFamily="18" charset="0"/>
                                    <a:ea typeface="Cambria Math" panose="02040503050406030204" pitchFamily="18" charset="0"/>
                                  </a:rPr>
                                  <m:t>𝑓𝑎</m:t>
                                </m:r>
                                <m:sSub>
                                  <m:sSubPr>
                                    <m:ctrlPr>
                                      <a:rPr lang="fr-FR" sz="1200" b="0" i="1" smtClean="0">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𝑛</m:t>
                                    </m:r>
                                  </m:e>
                                  <m:sub>
                                    <m:r>
                                      <a:rPr lang="fr-FR" sz="1200" b="0" i="1" smtClean="0">
                                        <a:latin typeface="Cambria Math" panose="02040503050406030204" pitchFamily="18" charset="0"/>
                                        <a:ea typeface="Cambria Math" panose="02040503050406030204" pitchFamily="18" charset="0"/>
                                      </a:rPr>
                                      <m:t>𝑖𝑛</m:t>
                                    </m:r>
                                  </m:sub>
                                </m:sSub>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𝑓𝑎</m:t>
                                </m:r>
                                <m:sSub>
                                  <m:sSubPr>
                                    <m:ctrlPr>
                                      <a:rPr lang="fr-FR" sz="1200" b="0" i="1" smtClean="0">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𝑛</m:t>
                                    </m:r>
                                  </m:e>
                                  <m:sub>
                                    <m:r>
                                      <a:rPr lang="fr-FR" sz="1200" b="0" i="1" smtClean="0">
                                        <a:latin typeface="Cambria Math" panose="02040503050406030204" pitchFamily="18" charset="0"/>
                                        <a:ea typeface="Cambria Math" panose="02040503050406030204" pitchFamily="18" charset="0"/>
                                      </a:rPr>
                                      <m:t>𝑜𝑢𝑡</m:t>
                                    </m:r>
                                  </m:sub>
                                </m:sSub>
                              </m:den>
                            </m:f>
                            <m:r>
                              <a:rPr lang="fr-FR" sz="1200" b="0" i="1" smtClean="0">
                                <a:latin typeface="Cambria Math" panose="02040503050406030204" pitchFamily="18" charset="0"/>
                                <a:ea typeface="Cambria Math" panose="02040503050406030204" pitchFamily="18" charset="0"/>
                              </a:rPr>
                              <m:t> </m:t>
                            </m:r>
                          </m:e>
                        </m:rad>
                        <m:r>
                          <a:rPr lang="fr-FR" sz="1200" b="0" i="1" smtClean="0">
                            <a:latin typeface="Cambria Math" panose="02040503050406030204" pitchFamily="18" charset="0"/>
                            <a:ea typeface="Cambria Math" panose="02040503050406030204" pitchFamily="18" charset="0"/>
                          </a:rPr>
                          <m:t>,</m:t>
                        </m:r>
                        <m:rad>
                          <m:radPr>
                            <m:degHide m:val="on"/>
                            <m:ctrlPr>
                              <a:rPr lang="fr-FR" sz="1200" i="1">
                                <a:latin typeface="Cambria Math" panose="02040503050406030204" pitchFamily="18" charset="0"/>
                                <a:ea typeface="Cambria Math" panose="02040503050406030204" pitchFamily="18" charset="0"/>
                              </a:rPr>
                            </m:ctrlPr>
                          </m:radPr>
                          <m:deg/>
                          <m:e>
                            <m:f>
                              <m:fPr>
                                <m:ctrlPr>
                                  <a:rPr lang="fr-FR" sz="1200" i="1">
                                    <a:latin typeface="Cambria Math" panose="02040503050406030204" pitchFamily="18" charset="0"/>
                                    <a:ea typeface="Cambria Math" panose="02040503050406030204" pitchFamily="18" charset="0"/>
                                  </a:rPr>
                                </m:ctrlPr>
                              </m:fPr>
                              <m:num>
                                <m:r>
                                  <a:rPr lang="fr-FR" sz="1200" i="1">
                                    <a:latin typeface="Cambria Math" panose="02040503050406030204" pitchFamily="18" charset="0"/>
                                    <a:ea typeface="Cambria Math" panose="02040503050406030204" pitchFamily="18" charset="0"/>
                                  </a:rPr>
                                  <m:t>6</m:t>
                                </m:r>
                              </m:num>
                              <m:den>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𝑖𝑛</m:t>
                                    </m:r>
                                  </m:sub>
                                </m:sSub>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𝑜𝑢𝑡</m:t>
                                    </m:r>
                                  </m:sub>
                                </m:sSub>
                              </m:den>
                            </m:f>
                            <m:r>
                              <a:rPr lang="fr-FR" sz="1200" i="1">
                                <a:latin typeface="Cambria Math" panose="02040503050406030204" pitchFamily="18" charset="0"/>
                                <a:ea typeface="Cambria Math" panose="02040503050406030204" pitchFamily="18" charset="0"/>
                              </a:rPr>
                              <m:t> </m:t>
                            </m:r>
                          </m:e>
                        </m:rad>
                      </m:e>
                    </m:d>
                  </m:oMath>
                </a14:m>
                <a:endParaRPr lang="en-GB" sz="1200" dirty="0"/>
              </a:p>
              <a:p>
                <a:pPr>
                  <a:lnSpc>
                    <a:spcPct val="150000"/>
                  </a:lnSpc>
                </a:pPr>
                <a:r>
                  <a:rPr lang="en-GB" sz="1200" dirty="0"/>
                  <a:t>Normal: </a:t>
                </a:r>
                <a14:m>
                  <m:oMath xmlns:m="http://schemas.openxmlformats.org/officeDocument/2006/math">
                    <m:r>
                      <a:rPr lang="fr-FR" sz="1200" b="0" i="0" smtClean="0">
                        <a:latin typeface="Cambria Math" panose="02040503050406030204" pitchFamily="18" charset="0"/>
                      </a:rPr>
                      <m:t> </m:t>
                    </m:r>
                    <m:r>
                      <a:rPr lang="fr-FR" sz="1200" b="0" i="1" smtClean="0">
                        <a:latin typeface="Cambria Math" panose="02040503050406030204" pitchFamily="18" charset="0"/>
                      </a:rPr>
                      <m:t>𝑊</m:t>
                    </m:r>
                    <m:r>
                      <a:rPr lang="fr-FR" sz="1200" b="0" i="1" smtClean="0">
                        <a:latin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𝑁</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0, </m:t>
                        </m:r>
                        <m:r>
                          <a:rPr lang="fr-FR" sz="1200" b="0" i="1" smtClean="0">
                            <a:latin typeface="Cambria Math" panose="02040503050406030204" pitchFamily="18" charset="0"/>
                            <a:ea typeface="Cambria Math" panose="02040503050406030204" pitchFamily="18" charset="0"/>
                          </a:rPr>
                          <m:t>𝜎</m:t>
                        </m:r>
                      </m:e>
                    </m:d>
                    <m:r>
                      <a:rPr lang="fr-FR" sz="1200" b="0" i="1" smtClean="0">
                        <a:latin typeface="Cambria Math" panose="02040503050406030204" pitchFamily="18" charset="0"/>
                        <a:ea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𝑤𝑖𝑡h</m:t>
                    </m:r>
                    <m:r>
                      <a:rPr lang="fr-FR" sz="1200" b="0" i="1" smtClean="0">
                        <a:latin typeface="Cambria Math" panose="02040503050406030204" pitchFamily="18" charset="0"/>
                        <a:ea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𝜎</m:t>
                    </m:r>
                    <m:r>
                      <a:rPr lang="fr-FR" sz="1200" b="0" i="1" smtClean="0">
                        <a:latin typeface="Cambria Math" panose="02040503050406030204" pitchFamily="18" charset="0"/>
                        <a:ea typeface="Cambria Math" panose="02040503050406030204" pitchFamily="18" charset="0"/>
                      </a:rPr>
                      <m:t>=</m:t>
                    </m:r>
                    <m:rad>
                      <m:radPr>
                        <m:degHide m:val="on"/>
                        <m:ctrlPr>
                          <a:rPr lang="fr-FR" sz="1200" i="1">
                            <a:latin typeface="Cambria Math" panose="02040503050406030204" pitchFamily="18" charset="0"/>
                            <a:ea typeface="Cambria Math" panose="02040503050406030204" pitchFamily="18" charset="0"/>
                          </a:rPr>
                        </m:ctrlPr>
                      </m:radPr>
                      <m:deg/>
                      <m:e>
                        <m:f>
                          <m:fPr>
                            <m:ctrlPr>
                              <a:rPr lang="fr-FR" sz="1200" i="1">
                                <a:latin typeface="Cambria Math" panose="02040503050406030204" pitchFamily="18" charset="0"/>
                                <a:ea typeface="Cambria Math" panose="02040503050406030204" pitchFamily="18" charset="0"/>
                              </a:rPr>
                            </m:ctrlPr>
                          </m:fPr>
                          <m:num>
                            <m:r>
                              <a:rPr lang="fr-FR" sz="1200" b="0" i="1" smtClean="0">
                                <a:latin typeface="Cambria Math" panose="02040503050406030204" pitchFamily="18" charset="0"/>
                                <a:ea typeface="Cambria Math" panose="02040503050406030204" pitchFamily="18" charset="0"/>
                              </a:rPr>
                              <m:t>2</m:t>
                            </m:r>
                          </m:num>
                          <m:den>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𝑖𝑛</m:t>
                                </m:r>
                              </m:sub>
                            </m:sSub>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𝑜𝑢𝑡</m:t>
                                </m:r>
                              </m:sub>
                            </m:sSub>
                          </m:den>
                        </m:f>
                        <m:r>
                          <a:rPr lang="fr-FR" sz="1200" i="1">
                            <a:latin typeface="Cambria Math" panose="02040503050406030204" pitchFamily="18" charset="0"/>
                            <a:ea typeface="Cambria Math" panose="02040503050406030204" pitchFamily="18" charset="0"/>
                          </a:rPr>
                          <m:t> </m:t>
                        </m:r>
                      </m:e>
                    </m:rad>
                  </m:oMath>
                </a14:m>
                <a:endParaRPr lang="en-GB" sz="1200" dirty="0"/>
              </a:p>
              <a:p>
                <a:pPr marL="0" indent="0">
                  <a:lnSpc>
                    <a:spcPct val="150000"/>
                  </a:lnSpc>
                  <a:buNone/>
                </a:pPr>
                <a:r>
                  <a:rPr lang="en-GB" sz="1200" dirty="0"/>
                  <a:t>Xavier initialization is usually reserved for sigmoid or tanh activation function.</a:t>
                </a:r>
              </a:p>
            </p:txBody>
          </p:sp>
        </mc:Choice>
        <mc:Fallback xmlns="">
          <p:sp>
            <p:nvSpPr>
              <p:cNvPr id="3" name="Espace réservé du contenu 2">
                <a:extLst>
                  <a:ext uri="{FF2B5EF4-FFF2-40B4-BE49-F238E27FC236}">
                    <a16:creationId xmlns:a16="http://schemas.microsoft.com/office/drawing/2014/main" id="{79581E7F-F7FB-BBB4-36A7-E9B600A8B877}"/>
                  </a:ext>
                </a:extLst>
              </p:cNvPr>
              <p:cNvSpPr>
                <a:spLocks noGrp="1" noRot="1" noChangeAspect="1" noMove="1" noResize="1" noEditPoints="1" noAdjustHandles="1" noChangeArrowheads="1" noChangeShapeType="1" noTextEdit="1"/>
              </p:cNvSpPr>
              <p:nvPr>
                <p:ph idx="1"/>
              </p:nvPr>
            </p:nvSpPr>
            <p:spPr>
              <a:xfrm>
                <a:off x="838199" y="1433740"/>
                <a:ext cx="10686143" cy="4922610"/>
              </a:xfrm>
              <a:blipFill>
                <a:blip r:embed="rId2"/>
                <a:stretch>
                  <a:fillRect l="-593"/>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408ABFA4-3361-0E66-D07C-5827A539F097}"/>
              </a:ext>
            </a:extLst>
          </p:cNvPr>
          <p:cNvSpPr>
            <a:spLocks noGrp="1"/>
          </p:cNvSpPr>
          <p:nvPr>
            <p:ph type="ftr" sz="quarter" idx="11"/>
          </p:nvPr>
        </p:nvSpPr>
        <p:spPr/>
        <p:txBody>
          <a:bodyPr/>
          <a:lstStyle/>
          <a:p>
            <a:pPr algn="l"/>
            <a:r>
              <a:rPr lang="fr-FR" dirty="0"/>
              <a:t>Introduction to Neural Networks. </a:t>
            </a:r>
            <a:r>
              <a:rPr lang="fr-FR" dirty="0" err="1"/>
              <a:t>Author</a:t>
            </a:r>
            <a:r>
              <a:rPr lang="fr-FR" dirty="0"/>
              <a:t>: David Thébault</a:t>
            </a:r>
          </a:p>
        </p:txBody>
      </p:sp>
    </p:spTree>
    <p:extLst>
      <p:ext uri="{BB962C8B-B14F-4D97-AF65-F5344CB8AC3E}">
        <p14:creationId xmlns:p14="http://schemas.microsoft.com/office/powerpoint/2010/main" val="386131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C37F-4139-A47E-7CF7-6C07079AD4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63F7145-2856-52AC-0D5E-C77B09F3603D}"/>
              </a:ext>
            </a:extLst>
          </p:cNvPr>
          <p:cNvSpPr>
            <a:spLocks noGrp="1"/>
          </p:cNvSpPr>
          <p:nvPr>
            <p:ph type="title"/>
          </p:nvPr>
        </p:nvSpPr>
        <p:spPr/>
        <p:txBody>
          <a:bodyPr/>
          <a:lstStyle/>
          <a:p>
            <a:r>
              <a:rPr lang="en-GB" dirty="0"/>
              <a:t>Weights initialization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2A7B46C-AB78-AB15-AA2F-7FF40BAE2E4E}"/>
                  </a:ext>
                </a:extLst>
              </p:cNvPr>
              <p:cNvSpPr>
                <a:spLocks noGrp="1"/>
              </p:cNvSpPr>
              <p:nvPr>
                <p:ph idx="1"/>
              </p:nvPr>
            </p:nvSpPr>
            <p:spPr>
              <a:xfrm>
                <a:off x="838199" y="1433740"/>
                <a:ext cx="10686143" cy="4922610"/>
              </a:xfrm>
            </p:spPr>
            <p:txBody>
              <a:bodyPr lIns="90000">
                <a:noAutofit/>
              </a:bodyPr>
              <a:lstStyle/>
              <a:p>
                <a:pPr marL="0" indent="0">
                  <a:lnSpc>
                    <a:spcPct val="150000"/>
                  </a:lnSpc>
                  <a:buNone/>
                </a:pPr>
                <a:r>
                  <a:rPr lang="en-GB" sz="2000" b="1" dirty="0"/>
                  <a:t>He Initialization</a:t>
                </a:r>
              </a:p>
              <a:p>
                <a:pPr marL="0" indent="0">
                  <a:lnSpc>
                    <a:spcPct val="150000"/>
                  </a:lnSpc>
                  <a:buNone/>
                </a:pPr>
                <a:r>
                  <a:rPr lang="en-GB" sz="1200" dirty="0"/>
                  <a:t>Same principle as  Xavier (Glorot) initialization based on </a:t>
                </a:r>
                <a14:m>
                  <m:oMath xmlns:m="http://schemas.openxmlformats.org/officeDocument/2006/math">
                    <m:r>
                      <a:rPr lang="fr-FR" sz="1200" b="0" i="1" smtClean="0">
                        <a:latin typeface="Cambria Math" panose="02040503050406030204" pitchFamily="18" charset="0"/>
                        <a:ea typeface="Cambria Math" panose="02040503050406030204" pitchFamily="18" charset="0"/>
                      </a:rPr>
                      <m:t>𝑓𝑎</m:t>
                    </m:r>
                    <m:sSub>
                      <m:sSubPr>
                        <m:ctrlPr>
                          <a:rPr lang="fr-FR" sz="1200" b="0" i="1" smtClean="0">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𝑛</m:t>
                        </m:r>
                      </m:e>
                      <m:sub>
                        <m:r>
                          <a:rPr lang="fr-FR" sz="1200" b="0" i="1" smtClean="0">
                            <a:latin typeface="Cambria Math" panose="02040503050406030204" pitchFamily="18" charset="0"/>
                            <a:ea typeface="Cambria Math" panose="02040503050406030204" pitchFamily="18" charset="0"/>
                          </a:rPr>
                          <m:t>𝑖𝑛</m:t>
                        </m:r>
                      </m:sub>
                    </m:sSub>
                    <m:r>
                      <a:rPr lang="fr-FR" sz="1200" b="0" i="1" smtClean="0">
                        <a:latin typeface="Cambria Math" panose="02040503050406030204" pitchFamily="18" charset="0"/>
                        <a:ea typeface="Cambria Math" panose="02040503050406030204" pitchFamily="18" charset="0"/>
                      </a:rPr>
                      <m:t> </m:t>
                    </m:r>
                  </m:oMath>
                </a14:m>
                <a:r>
                  <a:rPr lang="en-GB" sz="1200" dirty="0"/>
                  <a:t>only. Usually reserved for Relu activation function:</a:t>
                </a:r>
              </a:p>
              <a:p>
                <a:pPr>
                  <a:lnSpc>
                    <a:spcPct val="150000"/>
                  </a:lnSpc>
                </a:pPr>
                <a:r>
                  <a:rPr lang="en-GB" sz="1200" dirty="0"/>
                  <a:t>Uniform: </a:t>
                </a:r>
                <a14:m>
                  <m:oMath xmlns:m="http://schemas.openxmlformats.org/officeDocument/2006/math">
                    <m:r>
                      <a:rPr lang="fr-FR" sz="1200" b="0" i="0" smtClean="0">
                        <a:latin typeface="Cambria Math" panose="02040503050406030204" pitchFamily="18" charset="0"/>
                      </a:rPr>
                      <m:t> </m:t>
                    </m:r>
                    <m:r>
                      <a:rPr lang="fr-FR" sz="1200" b="0" i="1" smtClean="0">
                        <a:latin typeface="Cambria Math" panose="02040503050406030204" pitchFamily="18" charset="0"/>
                      </a:rPr>
                      <m:t>𝑊</m:t>
                    </m:r>
                    <m:r>
                      <a:rPr lang="fr-FR" sz="1200" b="0" i="1" smtClean="0">
                        <a:latin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𝑈</m:t>
                    </m:r>
                    <m:d>
                      <m:dPr>
                        <m:begChr m:val="["/>
                        <m:endChr m:val="]"/>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m:t>
                        </m:r>
                        <m:rad>
                          <m:radPr>
                            <m:degHide m:val="on"/>
                            <m:ctrlPr>
                              <a:rPr lang="fr-FR" sz="1200" b="0" i="1" smtClean="0">
                                <a:latin typeface="Cambria Math" panose="02040503050406030204" pitchFamily="18" charset="0"/>
                                <a:ea typeface="Cambria Math" panose="02040503050406030204" pitchFamily="18" charset="0"/>
                              </a:rPr>
                            </m:ctrlPr>
                          </m:radPr>
                          <m:deg/>
                          <m:e>
                            <m:f>
                              <m:fPr>
                                <m:ctrlPr>
                                  <a:rPr lang="fr-FR" sz="1200" b="0" i="1" smtClean="0">
                                    <a:latin typeface="Cambria Math" panose="02040503050406030204" pitchFamily="18" charset="0"/>
                                    <a:ea typeface="Cambria Math" panose="02040503050406030204" pitchFamily="18" charset="0"/>
                                  </a:rPr>
                                </m:ctrlPr>
                              </m:fPr>
                              <m:num>
                                <m:r>
                                  <a:rPr lang="fr-FR" sz="1200" b="0" i="1" smtClean="0">
                                    <a:latin typeface="Cambria Math" panose="02040503050406030204" pitchFamily="18" charset="0"/>
                                    <a:ea typeface="Cambria Math" panose="02040503050406030204" pitchFamily="18" charset="0"/>
                                  </a:rPr>
                                  <m:t>6</m:t>
                                </m:r>
                              </m:num>
                              <m:den>
                                <m:r>
                                  <a:rPr lang="fr-FR" sz="1200" b="0" i="1" smtClean="0">
                                    <a:latin typeface="Cambria Math" panose="02040503050406030204" pitchFamily="18" charset="0"/>
                                    <a:ea typeface="Cambria Math" panose="02040503050406030204" pitchFamily="18" charset="0"/>
                                  </a:rPr>
                                  <m:t>𝑓𝑎</m:t>
                                </m:r>
                                <m:sSub>
                                  <m:sSubPr>
                                    <m:ctrlPr>
                                      <a:rPr lang="fr-FR" sz="1200" b="0" i="1" smtClean="0">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𝑛</m:t>
                                    </m:r>
                                  </m:e>
                                  <m:sub>
                                    <m:r>
                                      <a:rPr lang="fr-FR" sz="1200" b="0" i="1" smtClean="0">
                                        <a:latin typeface="Cambria Math" panose="02040503050406030204" pitchFamily="18" charset="0"/>
                                        <a:ea typeface="Cambria Math" panose="02040503050406030204" pitchFamily="18" charset="0"/>
                                      </a:rPr>
                                      <m:t>𝑖𝑛</m:t>
                                    </m:r>
                                  </m:sub>
                                </m:sSub>
                              </m:den>
                            </m:f>
                            <m:r>
                              <a:rPr lang="fr-FR" sz="1200" b="0" i="1" smtClean="0">
                                <a:latin typeface="Cambria Math" panose="02040503050406030204" pitchFamily="18" charset="0"/>
                                <a:ea typeface="Cambria Math" panose="02040503050406030204" pitchFamily="18" charset="0"/>
                              </a:rPr>
                              <m:t> </m:t>
                            </m:r>
                          </m:e>
                        </m:rad>
                        <m:r>
                          <a:rPr lang="fr-FR" sz="1200" b="0" i="1" smtClean="0">
                            <a:latin typeface="Cambria Math" panose="02040503050406030204" pitchFamily="18" charset="0"/>
                            <a:ea typeface="Cambria Math" panose="02040503050406030204" pitchFamily="18" charset="0"/>
                          </a:rPr>
                          <m:t>,</m:t>
                        </m:r>
                        <m:rad>
                          <m:radPr>
                            <m:degHide m:val="on"/>
                            <m:ctrlPr>
                              <a:rPr lang="fr-FR" sz="1200" i="1">
                                <a:latin typeface="Cambria Math" panose="02040503050406030204" pitchFamily="18" charset="0"/>
                                <a:ea typeface="Cambria Math" panose="02040503050406030204" pitchFamily="18" charset="0"/>
                              </a:rPr>
                            </m:ctrlPr>
                          </m:radPr>
                          <m:deg/>
                          <m:e>
                            <m:f>
                              <m:fPr>
                                <m:ctrlPr>
                                  <a:rPr lang="fr-FR" sz="1200" i="1">
                                    <a:latin typeface="Cambria Math" panose="02040503050406030204" pitchFamily="18" charset="0"/>
                                    <a:ea typeface="Cambria Math" panose="02040503050406030204" pitchFamily="18" charset="0"/>
                                  </a:rPr>
                                </m:ctrlPr>
                              </m:fPr>
                              <m:num>
                                <m:r>
                                  <a:rPr lang="fr-FR" sz="1200" i="1">
                                    <a:latin typeface="Cambria Math" panose="02040503050406030204" pitchFamily="18" charset="0"/>
                                    <a:ea typeface="Cambria Math" panose="02040503050406030204" pitchFamily="18" charset="0"/>
                                  </a:rPr>
                                  <m:t>6</m:t>
                                </m:r>
                              </m:num>
                              <m:den>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𝑖𝑛</m:t>
                                    </m:r>
                                  </m:sub>
                                </m:sSub>
                              </m:den>
                            </m:f>
                            <m:r>
                              <a:rPr lang="fr-FR" sz="1200" i="1">
                                <a:latin typeface="Cambria Math" panose="02040503050406030204" pitchFamily="18" charset="0"/>
                                <a:ea typeface="Cambria Math" panose="02040503050406030204" pitchFamily="18" charset="0"/>
                              </a:rPr>
                              <m:t> </m:t>
                            </m:r>
                          </m:e>
                        </m:rad>
                      </m:e>
                    </m:d>
                  </m:oMath>
                </a14:m>
                <a:endParaRPr lang="en-GB" sz="1200" dirty="0"/>
              </a:p>
              <a:p>
                <a:pPr>
                  <a:lnSpc>
                    <a:spcPct val="150000"/>
                  </a:lnSpc>
                </a:pPr>
                <a:r>
                  <a:rPr lang="en-GB" sz="1200" dirty="0"/>
                  <a:t>Normal: </a:t>
                </a:r>
                <a14:m>
                  <m:oMath xmlns:m="http://schemas.openxmlformats.org/officeDocument/2006/math">
                    <m:r>
                      <a:rPr lang="fr-FR" sz="1200" b="0" i="0" smtClean="0">
                        <a:latin typeface="Cambria Math" panose="02040503050406030204" pitchFamily="18" charset="0"/>
                      </a:rPr>
                      <m:t> </m:t>
                    </m:r>
                    <m:r>
                      <a:rPr lang="fr-FR" sz="1200" b="0" i="1" smtClean="0">
                        <a:latin typeface="Cambria Math" panose="02040503050406030204" pitchFamily="18" charset="0"/>
                      </a:rPr>
                      <m:t>𝑊</m:t>
                    </m:r>
                    <m:r>
                      <a:rPr lang="fr-FR" sz="1200" b="0" i="1" smtClean="0">
                        <a:latin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𝑁</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0, </m:t>
                        </m:r>
                        <m:r>
                          <a:rPr lang="fr-FR" sz="1200" b="0" i="1" smtClean="0">
                            <a:latin typeface="Cambria Math" panose="02040503050406030204" pitchFamily="18" charset="0"/>
                            <a:ea typeface="Cambria Math" panose="02040503050406030204" pitchFamily="18" charset="0"/>
                          </a:rPr>
                          <m:t>𝜎</m:t>
                        </m:r>
                      </m:e>
                    </m:d>
                    <m:r>
                      <a:rPr lang="fr-FR" sz="1200" b="0" i="1" smtClean="0">
                        <a:latin typeface="Cambria Math" panose="02040503050406030204" pitchFamily="18" charset="0"/>
                        <a:ea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𝑤𝑖𝑡h</m:t>
                    </m:r>
                    <m:r>
                      <a:rPr lang="fr-FR" sz="1200" b="0" i="1" smtClean="0">
                        <a:latin typeface="Cambria Math" panose="02040503050406030204" pitchFamily="18" charset="0"/>
                        <a:ea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𝜎</m:t>
                    </m:r>
                    <m:r>
                      <a:rPr lang="fr-FR" sz="1200" b="0" i="1" smtClean="0">
                        <a:latin typeface="Cambria Math" panose="02040503050406030204" pitchFamily="18" charset="0"/>
                        <a:ea typeface="Cambria Math" panose="02040503050406030204" pitchFamily="18" charset="0"/>
                      </a:rPr>
                      <m:t>=</m:t>
                    </m:r>
                    <m:rad>
                      <m:radPr>
                        <m:degHide m:val="on"/>
                        <m:ctrlPr>
                          <a:rPr lang="fr-FR" sz="1200" i="1">
                            <a:latin typeface="Cambria Math" panose="02040503050406030204" pitchFamily="18" charset="0"/>
                            <a:ea typeface="Cambria Math" panose="02040503050406030204" pitchFamily="18" charset="0"/>
                          </a:rPr>
                        </m:ctrlPr>
                      </m:radPr>
                      <m:deg/>
                      <m:e>
                        <m:f>
                          <m:fPr>
                            <m:ctrlPr>
                              <a:rPr lang="fr-FR" sz="1200" i="1">
                                <a:latin typeface="Cambria Math" panose="02040503050406030204" pitchFamily="18" charset="0"/>
                                <a:ea typeface="Cambria Math" panose="02040503050406030204" pitchFamily="18" charset="0"/>
                              </a:rPr>
                            </m:ctrlPr>
                          </m:fPr>
                          <m:num>
                            <m:r>
                              <a:rPr lang="fr-FR" sz="1200" b="0" i="1" smtClean="0">
                                <a:latin typeface="Cambria Math" panose="02040503050406030204" pitchFamily="18" charset="0"/>
                                <a:ea typeface="Cambria Math" panose="02040503050406030204" pitchFamily="18" charset="0"/>
                              </a:rPr>
                              <m:t>2</m:t>
                            </m:r>
                          </m:num>
                          <m:den>
                            <m:r>
                              <a:rPr lang="fr-FR" sz="1200" i="1">
                                <a:latin typeface="Cambria Math" panose="02040503050406030204" pitchFamily="18" charset="0"/>
                                <a:ea typeface="Cambria Math" panose="02040503050406030204" pitchFamily="18" charset="0"/>
                              </a:rPr>
                              <m:t>𝑓𝑎</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𝑛</m:t>
                                </m:r>
                              </m:e>
                              <m:sub>
                                <m:r>
                                  <a:rPr lang="fr-FR" sz="1200" i="1">
                                    <a:latin typeface="Cambria Math" panose="02040503050406030204" pitchFamily="18" charset="0"/>
                                    <a:ea typeface="Cambria Math" panose="02040503050406030204" pitchFamily="18" charset="0"/>
                                  </a:rPr>
                                  <m:t>𝑖𝑛</m:t>
                                </m:r>
                              </m:sub>
                            </m:sSub>
                          </m:den>
                        </m:f>
                        <m:r>
                          <a:rPr lang="fr-FR" sz="1200" i="1">
                            <a:latin typeface="Cambria Math" panose="02040503050406030204" pitchFamily="18" charset="0"/>
                            <a:ea typeface="Cambria Math" panose="02040503050406030204" pitchFamily="18" charset="0"/>
                          </a:rPr>
                          <m:t> </m:t>
                        </m:r>
                      </m:e>
                    </m:rad>
                  </m:oMath>
                </a14:m>
                <a:endParaRPr lang="en-GB" sz="1200" dirty="0"/>
              </a:p>
            </p:txBody>
          </p:sp>
        </mc:Choice>
        <mc:Fallback xmlns="">
          <p:sp>
            <p:nvSpPr>
              <p:cNvPr id="3" name="Espace réservé du contenu 2">
                <a:extLst>
                  <a:ext uri="{FF2B5EF4-FFF2-40B4-BE49-F238E27FC236}">
                    <a16:creationId xmlns:a16="http://schemas.microsoft.com/office/drawing/2014/main" id="{E2A7B46C-AB78-AB15-AA2F-7FF40BAE2E4E}"/>
                  </a:ext>
                </a:extLst>
              </p:cNvPr>
              <p:cNvSpPr>
                <a:spLocks noGrp="1" noRot="1" noChangeAspect="1" noMove="1" noResize="1" noEditPoints="1" noAdjustHandles="1" noChangeArrowheads="1" noChangeShapeType="1" noTextEdit="1"/>
              </p:cNvSpPr>
              <p:nvPr>
                <p:ph idx="1"/>
              </p:nvPr>
            </p:nvSpPr>
            <p:spPr>
              <a:xfrm>
                <a:off x="838199" y="1433740"/>
                <a:ext cx="10686143" cy="4922610"/>
              </a:xfrm>
              <a:blipFill>
                <a:blip r:embed="rId2"/>
                <a:stretch>
                  <a:fillRect l="-593"/>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84023E74-8C57-7D22-342B-EC1890880A95}"/>
              </a:ext>
            </a:extLst>
          </p:cNvPr>
          <p:cNvSpPr>
            <a:spLocks noGrp="1"/>
          </p:cNvSpPr>
          <p:nvPr>
            <p:ph type="ftr" sz="quarter" idx="11"/>
          </p:nvPr>
        </p:nvSpPr>
        <p:spPr/>
        <p:txBody>
          <a:bodyPr/>
          <a:lstStyle/>
          <a:p>
            <a:pPr algn="l"/>
            <a:r>
              <a:rPr lang="en-GB" noProof="0" dirty="0"/>
              <a:t>Introduction to Neural Networks. Author: David Thébault</a:t>
            </a:r>
          </a:p>
        </p:txBody>
      </p:sp>
    </p:spTree>
    <p:extLst>
      <p:ext uri="{BB962C8B-B14F-4D97-AF65-F5344CB8AC3E}">
        <p14:creationId xmlns:p14="http://schemas.microsoft.com/office/powerpoint/2010/main" val="883829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7646E-8AF7-F35C-4360-0CC24C2CD7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83514D9-0CEF-7EF9-BBE4-ABC5BE7F71A6}"/>
              </a:ext>
            </a:extLst>
          </p:cNvPr>
          <p:cNvSpPr>
            <a:spLocks noGrp="1"/>
          </p:cNvSpPr>
          <p:nvPr>
            <p:ph type="title"/>
          </p:nvPr>
        </p:nvSpPr>
        <p:spPr/>
        <p:txBody>
          <a:bodyPr/>
          <a:lstStyle/>
          <a:p>
            <a:r>
              <a:rPr lang="en-GB" dirty="0"/>
              <a:t>Features scaling</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A4A325D-0396-8BA5-7A58-2D5A95E8D7FE}"/>
                  </a:ext>
                </a:extLst>
              </p:cNvPr>
              <p:cNvSpPr>
                <a:spLocks noGrp="1"/>
              </p:cNvSpPr>
              <p:nvPr>
                <p:ph idx="1"/>
              </p:nvPr>
            </p:nvSpPr>
            <p:spPr>
              <a:xfrm>
                <a:off x="838200" y="1324012"/>
                <a:ext cx="10686143" cy="4930484"/>
              </a:xfrm>
              <a:noFill/>
              <a:ln>
                <a:noFill/>
              </a:ln>
            </p:spPr>
            <p:txBody>
              <a:bodyPr lIns="90000">
                <a:noAutofit/>
              </a:bodyPr>
              <a:lstStyle/>
              <a:p>
                <a:pPr marL="0" indent="0">
                  <a:lnSpc>
                    <a:spcPct val="150000"/>
                  </a:lnSpc>
                  <a:buNone/>
                </a:pPr>
                <a:r>
                  <a:rPr lang="en-GB" sz="1200" noProof="0" dirty="0">
                    <a:effectLst/>
                  </a:rPr>
                  <a:t>In NN large differences in features scale may lead to slower convergence as the gradient descent algorithm may struggle to find the global minimum of the loss function, which can slow down convergence or even prevent the model from converging properly.  </a:t>
                </a:r>
              </a:p>
              <a:p>
                <a:pPr marL="0" indent="0">
                  <a:lnSpc>
                    <a:spcPct val="150000"/>
                  </a:lnSpc>
                  <a:buNone/>
                </a:pPr>
                <a:r>
                  <a:rPr lang="en-GB" sz="1200" noProof="0" dirty="0">
                    <a:effectLst/>
                  </a:rPr>
                  <a:t>Features on different scales can result in gradients of different magnitudes. This can make the optimization unstable, as weight updates may be too large or too small, leading to oscillations or very slow </a:t>
                </a:r>
                <a:r>
                  <a:rPr lang="en-GB" sz="1200" dirty="0"/>
                  <a:t>convergence, which can lead to poor performance</a:t>
                </a:r>
                <a:endParaRPr lang="en-GB" sz="1200" noProof="0" dirty="0">
                  <a:effectLst/>
                </a:endParaRPr>
              </a:p>
              <a:p>
                <a:pPr>
                  <a:lnSpc>
                    <a:spcPct val="150000"/>
                  </a:lnSpc>
                </a:pPr>
                <a:r>
                  <a:rPr lang="en-GB" sz="1200" b="1" noProof="0" dirty="0"/>
                  <a:t>N</a:t>
                </a:r>
                <a:r>
                  <a:rPr lang="en-GB" sz="1200" b="1" noProof="0" dirty="0">
                    <a:effectLst/>
                  </a:rPr>
                  <a:t>ormalization </a:t>
                </a:r>
                <a:r>
                  <a:rPr lang="en-GB" sz="1200" noProof="0" dirty="0">
                    <a:effectLst/>
                  </a:rPr>
                  <a:t>aka min-max scaling:</a:t>
                </a:r>
                <a:endParaRPr lang="en-GB" sz="1200" b="0" i="1" noProof="0" dirty="0"/>
              </a:p>
              <a:p>
                <a:pPr marL="0" indent="0">
                  <a:lnSpc>
                    <a:spcPct val="150000"/>
                  </a:lnSpc>
                  <a:buNone/>
                </a:pPr>
                <a14:m>
                  <m:oMathPara xmlns:m="http://schemas.openxmlformats.org/officeDocument/2006/math">
                    <m:oMathParaPr>
                      <m:jc m:val="left"/>
                    </m:oMathParaPr>
                    <m:oMath xmlns:m="http://schemas.openxmlformats.org/officeDocument/2006/math">
                      <m:acc>
                        <m:accPr>
                          <m:chr m:val="̃"/>
                          <m:ctrlPr>
                            <a:rPr lang="en-GB" sz="1200" b="0" i="1" noProof="0" smtClean="0">
                              <a:latin typeface="Cambria Math" panose="02040503050406030204" pitchFamily="18" charset="0"/>
                            </a:rPr>
                          </m:ctrlPr>
                        </m:accPr>
                        <m:e>
                          <m:r>
                            <a:rPr lang="en-GB" sz="1200" b="0" i="1" noProof="0" smtClean="0">
                              <a:latin typeface="Cambria Math" panose="02040503050406030204" pitchFamily="18" charset="0"/>
                            </a:rPr>
                            <m:t>𝑥</m:t>
                          </m:r>
                        </m:e>
                      </m:acc>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r>
                            <a:rPr lang="en-GB" sz="1200" b="0" i="1" noProof="0" smtClean="0">
                              <a:latin typeface="Cambria Math" panose="02040503050406030204" pitchFamily="18" charset="0"/>
                            </a:rPr>
                            <m:t>𝜇</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num>
                        <m:den>
                          <m:r>
                            <a:rPr lang="en-GB" sz="1200" b="0" i="1" noProof="0" smtClean="0">
                              <a:latin typeface="Cambria Math" panose="02040503050406030204" pitchFamily="18" charset="0"/>
                            </a:rPr>
                            <m:t>𝜎</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den>
                      </m:f>
                    </m:oMath>
                  </m:oMathPara>
                </a14:m>
                <a:endParaRPr lang="en-GB" sz="1200" noProof="0" dirty="0"/>
              </a:p>
              <a:p>
                <a:pPr marL="0" indent="0">
                  <a:lnSpc>
                    <a:spcPct val="150000"/>
                  </a:lnSpc>
                  <a:buNone/>
                </a:pPr>
                <a:r>
                  <a:rPr lang="en-GB" sz="1200" b="0" noProof="0" dirty="0"/>
                  <a:t>With</a:t>
                </a:r>
                <a:r>
                  <a:rPr lang="en-GB" sz="1200" noProof="0" dirty="0"/>
                  <a:t>:</a:t>
                </a:r>
                <a:endParaRPr lang="en-GB" sz="1200" b="0" noProof="0" dirty="0"/>
              </a:p>
              <a:p>
                <a:pPr marL="0" indent="0">
                  <a:lnSpc>
                    <a:spcPct val="150000"/>
                  </a:lnSpc>
                  <a:buNone/>
                </a:pPr>
                <a14:m>
                  <m:oMathPara xmlns:m="http://schemas.openxmlformats.org/officeDocument/2006/math">
                    <m:oMathParaPr>
                      <m:jc m:val="left"/>
                    </m:oMathParaPr>
                    <m:oMath xmlns:m="http://schemas.openxmlformats.org/officeDocument/2006/math">
                      <m:r>
                        <a:rPr lang="en-GB" sz="1200" b="0" i="1" noProof="0" smtClean="0">
                          <a:latin typeface="Cambria Math" panose="02040503050406030204" pitchFamily="18" charset="0"/>
                        </a:rPr>
                        <m:t>𝜎</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ad>
                        <m:radPr>
                          <m:degHide m:val="on"/>
                          <m:ctrlPr>
                            <a:rPr lang="en-GB" sz="1200" b="0" i="1" noProof="0" smtClean="0">
                              <a:latin typeface="Cambria Math" panose="02040503050406030204" pitchFamily="18" charset="0"/>
                            </a:rPr>
                          </m:ctrlPr>
                        </m:radPr>
                        <m:deg/>
                        <m:e>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d>
                                    <m:dPr>
                                      <m:ctrlPr>
                                        <a:rPr lang="en-GB" sz="1200" b="0" i="1" noProof="0" smtClean="0">
                                          <a:latin typeface="Cambria Math" panose="02040503050406030204" pitchFamily="18" charset="0"/>
                                        </a:rPr>
                                      </m:ctrlPr>
                                    </m:dPr>
                                    <m:e>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𝑖</m:t>
                                          </m:r>
                                        </m:sub>
                                      </m:sSub>
                                      <m:r>
                                        <a:rPr lang="en-GB" sz="1200" b="0" i="1" noProof="0" smtClean="0">
                                          <a:latin typeface="Cambria Math" panose="02040503050406030204" pitchFamily="18" charset="0"/>
                                        </a:rPr>
                                        <m:t>−</m:t>
                                      </m:r>
                                      <m:r>
                                        <a:rPr lang="en-GB" sz="1200" b="0" i="1" noProof="0" smtClean="0">
                                          <a:latin typeface="Cambria Math" panose="02040503050406030204" pitchFamily="18" charset="0"/>
                                        </a:rPr>
                                        <m:t>𝜇</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e>
                                  </m:d>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𝑛</m:t>
                              </m:r>
                            </m:den>
                          </m:f>
                        </m:e>
                      </m:rad>
                    </m:oMath>
                  </m:oMathPara>
                </a14:m>
                <a:endParaRPr lang="en-GB" sz="1200" noProof="0" dirty="0"/>
              </a:p>
              <a:p>
                <a:pPr>
                  <a:lnSpc>
                    <a:spcPct val="150000"/>
                  </a:lnSpc>
                </a:pPr>
                <a:r>
                  <a:rPr lang="en-GB" sz="1200" b="1" noProof="0" dirty="0"/>
                  <a:t>Standardization </a:t>
                </a:r>
                <a:r>
                  <a:rPr lang="en-GB" sz="1200" noProof="0" dirty="0"/>
                  <a:t>aka variance scaling:</a:t>
                </a:r>
              </a:p>
              <a:p>
                <a:pPr marL="0" indent="0">
                  <a:lnSpc>
                    <a:spcPct val="150000"/>
                  </a:lnSpc>
                  <a:buNone/>
                </a:pPr>
                <a14:m>
                  <m:oMathPara xmlns:m="http://schemas.openxmlformats.org/officeDocument/2006/math">
                    <m:oMathParaPr>
                      <m:jc m:val="left"/>
                    </m:oMathParaPr>
                    <m:oMath xmlns:m="http://schemas.openxmlformats.org/officeDocument/2006/math">
                      <m:acc>
                        <m:accPr>
                          <m:chr m:val="̃"/>
                          <m:ctrlPr>
                            <a:rPr lang="en-GB" sz="1200" b="0" i="1" noProof="0" smtClean="0">
                              <a:latin typeface="Cambria Math" panose="02040503050406030204" pitchFamily="18" charset="0"/>
                            </a:rPr>
                          </m:ctrlPr>
                        </m:accPr>
                        <m:e>
                          <m:r>
                            <a:rPr lang="en-GB" sz="1200" b="0" i="1" noProof="0" smtClean="0">
                              <a:latin typeface="Cambria Math" panose="02040503050406030204" pitchFamily="18" charset="0"/>
                            </a:rPr>
                            <m:t>𝑥</m:t>
                          </m:r>
                        </m:e>
                      </m:acc>
                      <m:r>
                        <a:rPr lang="en-GB" sz="1200" b="0" i="1" noProof="0" smtClean="0">
                          <a:latin typeface="Cambria Math" panose="02040503050406030204" pitchFamily="18" charset="0"/>
                        </a:rPr>
                        <m:t>= </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r>
                            <m:rPr>
                              <m:sty m:val="p"/>
                            </m:rPr>
                            <a:rPr lang="en-GB" sz="1200" b="0" i="0" noProof="0" smtClean="0">
                              <a:latin typeface="Cambria Math" panose="02040503050406030204" pitchFamily="18" charset="0"/>
                            </a:rPr>
                            <m:t>min</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num>
                        <m:den>
                          <m:func>
                            <m:funcPr>
                              <m:ctrlPr>
                                <a:rPr lang="en-GB" sz="1200" b="0" i="1" noProof="0" smtClean="0">
                                  <a:latin typeface="Cambria Math" panose="02040503050406030204" pitchFamily="18" charset="0"/>
                                </a:rPr>
                              </m:ctrlPr>
                            </m:funcPr>
                            <m:fName>
                              <m:r>
                                <m:rPr>
                                  <m:sty m:val="p"/>
                                </m:rPr>
                                <a:rPr lang="en-GB" sz="1200" b="0" i="0" noProof="0" smtClean="0">
                                  <a:latin typeface="Cambria Math" panose="02040503050406030204" pitchFamily="18" charset="0"/>
                                </a:rPr>
                                <m:t>max</m:t>
                              </m:r>
                            </m:fName>
                            <m:e>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e>
                          </m:func>
                          <m:r>
                            <a:rPr lang="en-GB" sz="1200" b="0" i="1" noProof="0" smtClean="0">
                              <a:latin typeface="Cambria Math" panose="02040503050406030204" pitchFamily="18" charset="0"/>
                            </a:rPr>
                            <m:t>−</m:t>
                          </m:r>
                          <m:func>
                            <m:funcPr>
                              <m:ctrlPr>
                                <a:rPr lang="en-GB" sz="1200" b="0" i="1" noProof="0" smtClean="0">
                                  <a:latin typeface="Cambria Math" panose="02040503050406030204" pitchFamily="18" charset="0"/>
                                </a:rPr>
                              </m:ctrlPr>
                            </m:funcPr>
                            <m:fName>
                              <m:r>
                                <m:rPr>
                                  <m:sty m:val="p"/>
                                </m:rPr>
                                <a:rPr lang="en-GB" sz="1200" b="0" i="0" noProof="0" smtClean="0">
                                  <a:latin typeface="Cambria Math" panose="02040503050406030204" pitchFamily="18" charset="0"/>
                                </a:rPr>
                                <m:t>min</m:t>
                              </m:r>
                            </m:fName>
                            <m:e>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e>
                          </m:func>
                        </m:den>
                      </m:f>
                    </m:oMath>
                  </m:oMathPara>
                </a14:m>
                <a:endParaRPr lang="en-GB" sz="1200" noProof="0" dirty="0"/>
              </a:p>
              <a:p>
                <a:pPr marL="0" indent="0">
                  <a:lnSpc>
                    <a:spcPct val="150000"/>
                  </a:lnSpc>
                  <a:buNone/>
                </a:pPr>
                <a:r>
                  <a:rPr lang="en-GB" sz="1200" noProof="0" dirty="0"/>
                  <a:t>Both help in training stability. </a:t>
                </a:r>
                <a:r>
                  <a:rPr lang="en-GB" sz="1200" noProof="0" dirty="0">
                    <a:solidFill>
                      <a:srgbClr val="C00000"/>
                    </a:solidFill>
                  </a:rPr>
                  <a:t>Reminder the same transformation is made on test data and train data (to avoid bias).</a:t>
                </a:r>
              </a:p>
            </p:txBody>
          </p:sp>
        </mc:Choice>
        <mc:Fallback xmlns="">
          <p:sp>
            <p:nvSpPr>
              <p:cNvPr id="3" name="Espace réservé du contenu 2">
                <a:extLst>
                  <a:ext uri="{FF2B5EF4-FFF2-40B4-BE49-F238E27FC236}">
                    <a16:creationId xmlns:a16="http://schemas.microsoft.com/office/drawing/2014/main" id="{DA4A325D-0396-8BA5-7A58-2D5A95E8D7FE}"/>
                  </a:ext>
                </a:extLst>
              </p:cNvPr>
              <p:cNvSpPr>
                <a:spLocks noGrp="1" noRot="1" noChangeAspect="1" noMove="1" noResize="1" noEditPoints="1" noAdjustHandles="1" noChangeArrowheads="1" noChangeShapeType="1" noTextEdit="1"/>
              </p:cNvSpPr>
              <p:nvPr>
                <p:ph idx="1"/>
              </p:nvPr>
            </p:nvSpPr>
            <p:spPr>
              <a:xfrm>
                <a:off x="838200" y="1324012"/>
                <a:ext cx="10686143" cy="4930484"/>
              </a:xfrm>
              <a:blipFill>
                <a:blip r:embed="rId2"/>
                <a:stretch>
                  <a:fillRect l="-119"/>
                </a:stretch>
              </a:blipFill>
              <a:ln>
                <a:noFill/>
              </a:ln>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7587BE70-1481-111E-9BBE-956C9EBC3697}"/>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45085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D1BB-8222-D7C6-57CC-EB3A5B48FF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F39915F-D288-86F1-8DFE-8FEF2CF77509}"/>
              </a:ext>
            </a:extLst>
          </p:cNvPr>
          <p:cNvSpPr>
            <a:spLocks noGrp="1"/>
          </p:cNvSpPr>
          <p:nvPr>
            <p:ph type="title"/>
          </p:nvPr>
        </p:nvSpPr>
        <p:spPr/>
        <p:txBody>
          <a:bodyPr/>
          <a:lstStyle/>
          <a:p>
            <a:r>
              <a:rPr lang="en-GB" dirty="0"/>
              <a:t>Batch normalization</a:t>
            </a:r>
          </a:p>
        </p:txBody>
      </p:sp>
      <p:sp>
        <p:nvSpPr>
          <p:cNvPr id="3" name="Espace réservé du contenu 2">
            <a:extLst>
              <a:ext uri="{FF2B5EF4-FFF2-40B4-BE49-F238E27FC236}">
                <a16:creationId xmlns:a16="http://schemas.microsoft.com/office/drawing/2014/main" id="{4777CEC9-8631-6440-8904-07EBD2A044A7}"/>
              </a:ext>
            </a:extLst>
          </p:cNvPr>
          <p:cNvSpPr>
            <a:spLocks noGrp="1"/>
          </p:cNvSpPr>
          <p:nvPr>
            <p:ph idx="1"/>
          </p:nvPr>
        </p:nvSpPr>
        <p:spPr>
          <a:xfrm>
            <a:off x="838200" y="1324012"/>
            <a:ext cx="10686143" cy="4930484"/>
          </a:xfrm>
          <a:noFill/>
          <a:ln>
            <a:noFill/>
          </a:ln>
        </p:spPr>
        <p:txBody>
          <a:bodyPr lIns="90000">
            <a:noAutofit/>
          </a:bodyPr>
          <a:lstStyle/>
          <a:p>
            <a:pPr marL="0" indent="0">
              <a:lnSpc>
                <a:spcPct val="150000"/>
              </a:lnSpc>
              <a:buNone/>
            </a:pPr>
            <a:r>
              <a:rPr lang="en-GB" sz="1200" dirty="0"/>
              <a:t>Despite of features scaling, when we pass the first layer, the distributions can still change within the network and still potentially leads to instability. This is where technique called Batch Normalization can help.</a:t>
            </a:r>
          </a:p>
          <a:p>
            <a:pPr marL="0" indent="0">
              <a:lnSpc>
                <a:spcPct val="150000"/>
              </a:lnSpc>
              <a:buNone/>
            </a:pPr>
            <a:r>
              <a:rPr lang="en-GB" sz="1200" noProof="0" dirty="0">
                <a:effectLst/>
              </a:rPr>
              <a:t>Batch normalization standardizes the output of each layer either be</a:t>
            </a:r>
            <a:r>
              <a:rPr lang="en-GB" sz="1200" dirty="0"/>
              <a:t>fore or after the activation function. In the fact it should be called batch standardization.</a:t>
            </a:r>
          </a:p>
          <a:p>
            <a:pPr marL="0" indent="0">
              <a:lnSpc>
                <a:spcPct val="150000"/>
              </a:lnSpc>
              <a:buNone/>
            </a:pPr>
            <a:r>
              <a:rPr lang="en-GB" sz="1200" noProof="0" dirty="0">
                <a:effectLst/>
              </a:rPr>
              <a:t>The aim</a:t>
            </a:r>
            <a:r>
              <a:rPr lang="en-GB" sz="1200" dirty="0"/>
              <a:t>s are to stabilize the training, to increase the accuracy and allowing for higher learning rates.</a:t>
            </a:r>
          </a:p>
          <a:p>
            <a:pPr marL="0" indent="0">
              <a:lnSpc>
                <a:spcPct val="150000"/>
              </a:lnSpc>
              <a:buNone/>
            </a:pPr>
            <a:r>
              <a:rPr lang="en-GB" sz="1200" noProof="0" dirty="0">
                <a:effectLst/>
              </a:rPr>
              <a:t>It is </a:t>
            </a:r>
            <a:r>
              <a:rPr lang="en-GB" sz="1200" dirty="0"/>
              <a:t>called batch normalization because the layer’s output is standardized using the whole batch’s mean and variance.</a:t>
            </a:r>
          </a:p>
        </p:txBody>
      </p:sp>
      <p:sp>
        <p:nvSpPr>
          <p:cNvPr id="4" name="Espace réservé du pied de page 3">
            <a:extLst>
              <a:ext uri="{FF2B5EF4-FFF2-40B4-BE49-F238E27FC236}">
                <a16:creationId xmlns:a16="http://schemas.microsoft.com/office/drawing/2014/main" id="{E572EB1A-D143-17F4-2FA3-E113BE26E420}"/>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04340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DD8D9-9CA3-1C10-C9F0-72C9D075BC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8BCB6D-886F-8C92-549B-3D565A7EC8CD}"/>
              </a:ext>
            </a:extLst>
          </p:cNvPr>
          <p:cNvSpPr>
            <a:spLocks noGrp="1"/>
          </p:cNvSpPr>
          <p:nvPr>
            <p:ph type="title"/>
          </p:nvPr>
        </p:nvSpPr>
        <p:spPr/>
        <p:txBody>
          <a:bodyPr/>
          <a:lstStyle/>
          <a:p>
            <a:r>
              <a:rPr lang="en-GB" dirty="0"/>
              <a:t>Batch normalization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5EC21747-B283-B578-9715-61C81DEEEC26}"/>
                  </a:ext>
                </a:extLst>
              </p:cNvPr>
              <p:cNvSpPr>
                <a:spLocks noGrp="1"/>
              </p:cNvSpPr>
              <p:nvPr>
                <p:ph idx="1"/>
              </p:nvPr>
            </p:nvSpPr>
            <p:spPr>
              <a:xfrm>
                <a:off x="838200" y="1324012"/>
                <a:ext cx="10686143" cy="4930484"/>
              </a:xfrm>
              <a:noFill/>
              <a:ln>
                <a:noFill/>
              </a:ln>
            </p:spPr>
            <p:txBody>
              <a:bodyPr lIns="90000">
                <a:noAutofit/>
              </a:bodyPr>
              <a:lstStyle/>
              <a:p>
                <a:pPr marL="0" indent="0">
                  <a:lnSpc>
                    <a:spcPct val="150000"/>
                  </a:lnSpc>
                  <a:buNone/>
                </a:pPr>
                <a:r>
                  <a:rPr lang="en-GB" sz="1200" noProof="0" dirty="0"/>
                  <a:t>How do we proceed:</a:t>
                </a:r>
              </a:p>
              <a:p>
                <a:pPr>
                  <a:lnSpc>
                    <a:spcPct val="150000"/>
                  </a:lnSpc>
                  <a:buAutoNum type="arabicPeriod"/>
                </a:pPr>
                <a:r>
                  <a:rPr lang="en-GB" sz="1200" noProof="0" dirty="0"/>
                  <a:t>Calculate the mean layer outputs of a batch. </a:t>
                </a:r>
              </a:p>
              <a:p>
                <a:pPr marL="457200" lvl="1" indent="0">
                  <a:lnSpc>
                    <a:spcPct val="150000"/>
                  </a:lnSpc>
                  <a:buNone/>
                </a:pPr>
                <a:r>
                  <a:rPr lang="en-GB" sz="1200" noProof="0" dirty="0"/>
                  <a:t>Vector of mini-batch output means: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𝜇</m:t>
                        </m:r>
                      </m:e>
                      <m:sub>
                        <m:r>
                          <a:rPr lang="en-GB" sz="1200" b="0" i="1" noProof="0" smtClean="0">
                            <a:latin typeface="Cambria Math" panose="02040503050406030204" pitchFamily="18" charset="0"/>
                          </a:rPr>
                          <m:t>𝑏</m:t>
                        </m:r>
                      </m:sub>
                    </m:sSub>
                    <m:r>
                      <a:rPr lang="en-GB" sz="1200" b="0" i="1" noProof="0" smtClean="0">
                        <a:latin typeface="Cambria Math" panose="02040503050406030204" pitchFamily="18" charset="0"/>
                      </a:rPr>
                      <m:t>= </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𝑚</m:t>
                            </m:r>
                          </m:e>
                          <m:sub>
                            <m:r>
                              <a:rPr lang="en-GB" sz="1200" b="0" i="1" noProof="0" smtClean="0">
                                <a:latin typeface="Cambria Math" panose="02040503050406030204" pitchFamily="18" charset="0"/>
                              </a:rPr>
                              <m:t>𝑏</m:t>
                            </m:r>
                          </m:sub>
                        </m:sSub>
                      </m:den>
                    </m:f>
                    <m:nary>
                      <m:naryPr>
                        <m:chr m:val="∑"/>
                        <m:ctrlPr>
                          <a:rPr lang="en-GB" sz="1200" b="0" i="1" noProof="0" smtClean="0">
                            <a:latin typeface="Cambria Math" panose="02040503050406030204" pitchFamily="18" charset="0"/>
                          </a:rPr>
                        </m:ctrlPr>
                      </m:naryPr>
                      <m:sub>
                        <m:r>
                          <m:rPr>
                            <m:brk m:alnAt="23"/>
                          </m:rPr>
                          <a:rPr lang="en-GB" sz="1200" b="0" i="1" noProof="0" smtClean="0">
                            <a:latin typeface="Cambria Math" panose="02040503050406030204" pitchFamily="18" charset="0"/>
                          </a:rPr>
                          <m:t>𝑖</m:t>
                        </m:r>
                        <m:r>
                          <a:rPr lang="en-GB" sz="1200" b="0" i="1" noProof="0" smtClean="0">
                            <a:latin typeface="Cambria Math" panose="02040503050406030204" pitchFamily="18" charset="0"/>
                          </a:rPr>
                          <m:t>=1</m:t>
                        </m:r>
                      </m:sub>
                      <m:sup>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𝑚</m:t>
                            </m:r>
                          </m:e>
                          <m:sub>
                            <m:r>
                              <a:rPr lang="en-GB" sz="1200" b="0" i="1" noProof="0" smtClean="0">
                                <a:latin typeface="Cambria Math" panose="02040503050406030204" pitchFamily="18" charset="0"/>
                              </a:rPr>
                              <m:t>𝑏</m:t>
                            </m:r>
                          </m:sub>
                        </m:sSub>
                      </m:sup>
                      <m:e>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h</m:t>
                            </m:r>
                          </m:e>
                          <m:sub>
                            <m:r>
                              <a:rPr lang="en-GB" sz="1200" b="0" i="1" noProof="0" smtClean="0">
                                <a:latin typeface="Cambria Math" panose="02040503050406030204" pitchFamily="18" charset="0"/>
                              </a:rPr>
                              <m:t>𝑖</m:t>
                            </m:r>
                          </m:sub>
                        </m:sSub>
                      </m:e>
                    </m:nary>
                    <m:r>
                      <a:rPr lang="en-GB" sz="1200" b="0" i="1" noProof="0" smtClean="0">
                        <a:latin typeface="Cambria Math" panose="02040503050406030204" pitchFamily="18" charset="0"/>
                      </a:rPr>
                      <m:t> </m:t>
                    </m:r>
                  </m:oMath>
                </a14:m>
                <a:r>
                  <a:rPr lang="en-GB" sz="1200" noProof="0" dirty="0"/>
                  <a:t>,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𝑚</m:t>
                        </m:r>
                      </m:e>
                      <m:sub>
                        <m:r>
                          <a:rPr lang="en-GB" sz="1200" i="1" noProof="0" smtClean="0">
                            <a:latin typeface="Cambria Math" panose="02040503050406030204" pitchFamily="18" charset="0"/>
                          </a:rPr>
                          <m:t>𝑏</m:t>
                        </m:r>
                      </m:sub>
                    </m:sSub>
                  </m:oMath>
                </a14:m>
                <a:r>
                  <a:rPr lang="en-GB" sz="1200" noProof="0" dirty="0"/>
                  <a:t>mini-batch size,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h</m:t>
                        </m:r>
                      </m:e>
                      <m:sub>
                        <m:r>
                          <a:rPr lang="en-GB" sz="1200" i="1" noProof="0" smtClean="0">
                            <a:latin typeface="Cambria Math" panose="02040503050406030204" pitchFamily="18" charset="0"/>
                          </a:rPr>
                          <m:t>𝑖</m:t>
                        </m:r>
                      </m:sub>
                    </m:sSub>
                  </m:oMath>
                </a14:m>
                <a:r>
                  <a:rPr lang="en-GB" sz="1200" noProof="0" dirty="0"/>
                  <a:t> vector of layer inputs</a:t>
                </a:r>
              </a:p>
              <a:p>
                <a:pPr>
                  <a:lnSpc>
                    <a:spcPct val="150000"/>
                  </a:lnSpc>
                  <a:buAutoNum type="arabicPeriod"/>
                </a:pPr>
                <a:r>
                  <a:rPr lang="en-GB" sz="1200" noProof="0" dirty="0"/>
                  <a:t>Calculate the standard deviation of the layer outputs of a batch. </a:t>
                </a:r>
              </a:p>
              <a:p>
                <a:pPr marL="457200" lvl="1" indent="0">
                  <a:lnSpc>
                    <a:spcPct val="150000"/>
                  </a:lnSpc>
                  <a:buNone/>
                </a:pPr>
                <a:r>
                  <a:rPr lang="en-GB" sz="1200" noProof="0" dirty="0"/>
                  <a:t>Vector of mini-batch output standard deviation :</a:t>
                </a:r>
                <a14:m>
                  <m:oMath xmlns:m="http://schemas.openxmlformats.org/officeDocument/2006/math">
                    <m:sSubSup>
                      <m:sSubSupPr>
                        <m:ctrlPr>
                          <a:rPr lang="en-GB" sz="1200" i="1" noProof="0" smtClean="0">
                            <a:latin typeface="Cambria Math" panose="02040503050406030204" pitchFamily="18" charset="0"/>
                          </a:rPr>
                        </m:ctrlPr>
                      </m:sSubSupPr>
                      <m:e>
                        <m:r>
                          <a:rPr lang="en-GB" sz="1200" i="1" noProof="0" smtClean="0">
                            <a:latin typeface="Cambria Math" panose="02040503050406030204" pitchFamily="18" charset="0"/>
                          </a:rPr>
                          <m:t>𝜎</m:t>
                        </m:r>
                      </m:e>
                      <m:sub>
                        <m:r>
                          <a:rPr lang="en-GB" sz="1200" i="1" noProof="0" smtClean="0">
                            <a:latin typeface="Cambria Math" panose="02040503050406030204" pitchFamily="18" charset="0"/>
                          </a:rPr>
                          <m:t>𝑏</m:t>
                        </m:r>
                      </m:sub>
                      <m:sup>
                        <m:r>
                          <a:rPr lang="en-GB" sz="1200" i="1" noProof="0" smtClean="0">
                            <a:latin typeface="Cambria Math" panose="02040503050406030204" pitchFamily="18" charset="0"/>
                          </a:rPr>
                          <m:t>2</m:t>
                        </m:r>
                      </m:sup>
                    </m:sSubSup>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𝑚</m:t>
                        </m:r>
                      </m:den>
                    </m:f>
                    <m:nary>
                      <m:naryPr>
                        <m:chr m:val="∑"/>
                        <m:ctrlPr>
                          <a:rPr lang="en-GB" sz="1200" i="1" noProof="0" smtClean="0">
                            <a:latin typeface="Cambria Math" panose="02040503050406030204" pitchFamily="18" charset="0"/>
                          </a:rPr>
                        </m:ctrlPr>
                      </m:naryPr>
                      <m:sub>
                        <m:r>
                          <m:rPr>
                            <m:brk m:alnAt="23"/>
                          </m:rPr>
                          <a:rPr lang="en-GB" sz="1200" i="1" noProof="0" smtClean="0">
                            <a:latin typeface="Cambria Math" panose="02040503050406030204" pitchFamily="18" charset="0"/>
                          </a:rPr>
                          <m:t>𝑖</m:t>
                        </m:r>
                        <m:r>
                          <a:rPr lang="en-GB" sz="1200" i="1" noProof="0" smtClean="0">
                            <a:latin typeface="Cambria Math" panose="02040503050406030204" pitchFamily="18" charset="0"/>
                          </a:rPr>
                          <m:t>=1</m:t>
                        </m:r>
                      </m:sub>
                      <m:sup>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𝑚</m:t>
                            </m:r>
                          </m:e>
                          <m:sub>
                            <m:r>
                              <a:rPr lang="en-GB" sz="1200" i="1" noProof="0" smtClean="0">
                                <a:latin typeface="Cambria Math" panose="02040503050406030204" pitchFamily="18" charset="0"/>
                              </a:rPr>
                              <m:t>𝑏</m:t>
                            </m:r>
                          </m:sub>
                        </m:sSub>
                      </m:sup>
                      <m:e>
                        <m:sSup>
                          <m:sSupPr>
                            <m:ctrlPr>
                              <a:rPr lang="en-GB" sz="1200" i="1" noProof="0" smtClean="0">
                                <a:latin typeface="Cambria Math" panose="02040503050406030204" pitchFamily="18" charset="0"/>
                              </a:rPr>
                            </m:ctrlPr>
                          </m:sSupPr>
                          <m:e>
                            <m:d>
                              <m:dPr>
                                <m:ctrlPr>
                                  <a:rPr lang="en-GB" sz="1200" i="1" noProof="0" smtClean="0">
                                    <a:latin typeface="Cambria Math" panose="02040503050406030204" pitchFamily="18" charset="0"/>
                                  </a:rPr>
                                </m:ctrlPr>
                              </m:dPr>
                              <m:e>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h</m:t>
                                    </m:r>
                                  </m:e>
                                  <m:sub>
                                    <m:r>
                                      <a:rPr lang="en-GB" sz="1200" i="1" noProof="0" smtClean="0">
                                        <a:latin typeface="Cambria Math" panose="02040503050406030204" pitchFamily="18" charset="0"/>
                                      </a:rPr>
                                      <m:t>𝑖</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𝜇</m:t>
                                    </m:r>
                                  </m:e>
                                  <m:sub>
                                    <m:r>
                                      <a:rPr lang="en-GB" sz="1200" i="1" noProof="0" smtClean="0">
                                        <a:latin typeface="Cambria Math" panose="02040503050406030204" pitchFamily="18" charset="0"/>
                                      </a:rPr>
                                      <m:t>𝑏</m:t>
                                    </m:r>
                                  </m:sub>
                                </m:sSub>
                              </m:e>
                            </m:d>
                          </m:e>
                          <m:sup>
                            <m:r>
                              <a:rPr lang="en-GB" sz="1200" i="1" noProof="0" smtClean="0">
                                <a:latin typeface="Cambria Math" panose="02040503050406030204" pitchFamily="18" charset="0"/>
                              </a:rPr>
                              <m:t>2</m:t>
                            </m:r>
                          </m:sup>
                        </m:sSup>
                      </m:e>
                    </m:nary>
                  </m:oMath>
                </a14:m>
                <a:endParaRPr lang="en-GB" sz="1200" noProof="0" dirty="0"/>
              </a:p>
              <a:p>
                <a:pPr>
                  <a:lnSpc>
                    <a:spcPct val="150000"/>
                  </a:lnSpc>
                  <a:buFont typeface="Arial" panose="020B0604020202020204" pitchFamily="34" charset="0"/>
                  <a:buAutoNum type="arabicPeriod"/>
                </a:pPr>
                <a:r>
                  <a:rPr lang="en-GB" sz="1200" noProof="0" dirty="0"/>
                  <a:t>Calculate the standardize out of the layer outputs of a batch. </a:t>
                </a:r>
              </a:p>
              <a:p>
                <a:pPr marL="457200" lvl="1" indent="0">
                  <a:lnSpc>
                    <a:spcPct val="150000"/>
                  </a:lnSpc>
                  <a:buNone/>
                </a:pPr>
                <a:r>
                  <a:rPr lang="en-GB" sz="1200" noProof="0" dirty="0"/>
                  <a:t>Vector of standardized outputs:</a:t>
                </a:r>
                <a14:m>
                  <m:oMath xmlns:m="http://schemas.openxmlformats.org/officeDocument/2006/math">
                    <m:sSub>
                      <m:sSubPr>
                        <m:ctrlPr>
                          <a:rPr lang="en-GB" sz="1200" i="1" noProof="0" smtClean="0">
                            <a:latin typeface="Cambria Math" panose="02040503050406030204" pitchFamily="18" charset="0"/>
                          </a:rPr>
                        </m:ctrlPr>
                      </m:sSubPr>
                      <m:e>
                        <m:acc>
                          <m:accPr>
                            <m:chr m:val="̂"/>
                            <m:ctrlPr>
                              <a:rPr lang="en-GB" sz="1200" i="1" noProof="0" smtClean="0">
                                <a:latin typeface="Cambria Math" panose="02040503050406030204" pitchFamily="18" charset="0"/>
                              </a:rPr>
                            </m:ctrlPr>
                          </m:accPr>
                          <m:e>
                            <m:r>
                              <a:rPr lang="en-GB" sz="1200" i="1" noProof="0" smtClean="0">
                                <a:latin typeface="Cambria Math" panose="02040503050406030204" pitchFamily="18" charset="0"/>
                              </a:rPr>
                              <m:t>h</m:t>
                            </m:r>
                          </m:e>
                        </m:acc>
                      </m:e>
                      <m:sub>
                        <m:r>
                          <a:rPr lang="en-GB" sz="1200" i="1" noProof="0" smtClean="0">
                            <a:latin typeface="Cambria Math" panose="02040503050406030204" pitchFamily="18" charset="0"/>
                          </a:rPr>
                          <m:t>𝑖</m:t>
                        </m:r>
                      </m:sub>
                    </m:sSub>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h</m:t>
                            </m:r>
                          </m:e>
                          <m:sub>
                            <m:r>
                              <a:rPr lang="en-GB" sz="1200" i="1" noProof="0" smtClean="0">
                                <a:latin typeface="Cambria Math" panose="02040503050406030204" pitchFamily="18" charset="0"/>
                              </a:rPr>
                              <m:t>𝑖</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𝜇</m:t>
                            </m:r>
                          </m:e>
                          <m:sub>
                            <m:r>
                              <a:rPr lang="en-GB" sz="1200" i="1" noProof="0" smtClean="0">
                                <a:latin typeface="Cambria Math" panose="02040503050406030204" pitchFamily="18" charset="0"/>
                              </a:rPr>
                              <m:t>𝑏</m:t>
                            </m:r>
                          </m:sub>
                        </m:sSub>
                      </m:num>
                      <m:den>
                        <m:rad>
                          <m:radPr>
                            <m:degHide m:val="on"/>
                            <m:ctrlPr>
                              <a:rPr lang="en-GB" sz="1200" i="1" noProof="0" smtClean="0">
                                <a:latin typeface="Cambria Math" panose="02040503050406030204" pitchFamily="18" charset="0"/>
                              </a:rPr>
                            </m:ctrlPr>
                          </m:radPr>
                          <m:deg/>
                          <m:e>
                            <m:sSubSup>
                              <m:sSubSupPr>
                                <m:ctrlPr>
                                  <a:rPr lang="en-GB" sz="1200" i="1" noProof="0" smtClean="0">
                                    <a:latin typeface="Cambria Math" panose="02040503050406030204" pitchFamily="18" charset="0"/>
                                  </a:rPr>
                                </m:ctrlPr>
                              </m:sSubSupPr>
                              <m:e>
                                <m:r>
                                  <a:rPr lang="en-GB" sz="1200" i="1" noProof="0" smtClean="0">
                                    <a:latin typeface="Cambria Math" panose="02040503050406030204" pitchFamily="18" charset="0"/>
                                  </a:rPr>
                                  <m:t>𝜎</m:t>
                                </m:r>
                              </m:e>
                              <m:sub>
                                <m:r>
                                  <a:rPr lang="en-GB" sz="1200" i="1" noProof="0" smtClean="0">
                                    <a:latin typeface="Cambria Math" panose="02040503050406030204" pitchFamily="18" charset="0"/>
                                  </a:rPr>
                                  <m:t>𝑏</m:t>
                                </m:r>
                              </m:sub>
                              <m:sup>
                                <m:r>
                                  <a:rPr lang="en-GB" sz="1200" i="1" noProof="0" smtClean="0">
                                    <a:latin typeface="Cambria Math" panose="02040503050406030204" pitchFamily="18" charset="0"/>
                                  </a:rPr>
                                  <m:t>2</m:t>
                                </m:r>
                              </m:sup>
                            </m:sSubSup>
                            <m:r>
                              <a:rPr lang="en-GB" sz="1200" i="1" noProof="0" smtClean="0">
                                <a:latin typeface="Cambria Math" panose="02040503050406030204" pitchFamily="18" charset="0"/>
                              </a:rPr>
                              <m:t>+</m:t>
                            </m:r>
                            <m:r>
                              <a:rPr lang="en-GB" sz="1200" i="1" noProof="0" smtClean="0">
                                <a:latin typeface="Cambria Math" panose="02040503050406030204" pitchFamily="18" charset="0"/>
                              </a:rPr>
                              <m:t>𝜖</m:t>
                            </m:r>
                          </m:e>
                        </m:rad>
                      </m:den>
                    </m:f>
                  </m:oMath>
                </a14:m>
                <a:endParaRPr lang="en-GB" sz="1200" noProof="0" dirty="0"/>
              </a:p>
              <a:p>
                <a:pPr>
                  <a:lnSpc>
                    <a:spcPct val="150000"/>
                  </a:lnSpc>
                  <a:buAutoNum type="arabicPeriod"/>
                </a:pPr>
                <a:r>
                  <a:rPr lang="en-GB" sz="1200" noProof="0" dirty="0"/>
                  <a:t>Calculate the standardize out of the layer outputs of a batch. </a:t>
                </a:r>
              </a:p>
              <a:p>
                <a:pPr marL="457200" lvl="1" indent="0">
                  <a:lnSpc>
                    <a:spcPct val="150000"/>
                  </a:lnSpc>
                  <a:buNone/>
                </a:pPr>
                <a:r>
                  <a:rPr lang="en-GB" sz="1200" noProof="0" dirty="0"/>
                  <a:t>Vector of scaled and shifted outputs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𝑧</m:t>
                        </m:r>
                      </m:e>
                      <m:sub>
                        <m:r>
                          <a:rPr lang="en-GB" sz="1200" i="1" noProof="0" smtClean="0">
                            <a:latin typeface="Cambria Math" panose="02040503050406030204" pitchFamily="18" charset="0"/>
                          </a:rPr>
                          <m:t>𝑖</m:t>
                        </m:r>
                      </m:sub>
                    </m:sSub>
                    <m:r>
                      <a:rPr lang="en-GB" sz="1200" i="1" noProof="0" smtClean="0">
                        <a:latin typeface="Cambria Math" panose="02040503050406030204" pitchFamily="18" charset="0"/>
                      </a:rPr>
                      <m:t>=</m:t>
                    </m:r>
                    <m:r>
                      <a:rPr lang="en-GB" sz="1200" i="1" noProof="0" smtClean="0">
                        <a:latin typeface="Cambria Math" panose="02040503050406030204" pitchFamily="18" charset="0"/>
                      </a:rPr>
                      <m:t>𝛾</m:t>
                    </m:r>
                    <m:r>
                      <a:rPr lang="en-GB" sz="1200" i="1" noProof="0" smtClean="0">
                        <a:latin typeface="Cambria Math" panose="02040503050406030204" pitchFamily="18" charset="0"/>
                      </a:rPr>
                      <m:t> ⨀</m:t>
                    </m:r>
                    <m:sSub>
                      <m:sSubPr>
                        <m:ctrlPr>
                          <a:rPr lang="en-GB" sz="1200" i="1" noProof="0" smtClean="0">
                            <a:latin typeface="Cambria Math" panose="02040503050406030204" pitchFamily="18" charset="0"/>
                            <a:ea typeface="Cambria Math" panose="02040503050406030204" pitchFamily="18" charset="0"/>
                          </a:rPr>
                        </m:ctrlPr>
                      </m:sSubPr>
                      <m:e>
                        <m:r>
                          <a:rPr lang="en-GB" sz="1200" i="1" noProof="0" smtClean="0">
                            <a:latin typeface="Cambria Math" panose="02040503050406030204" pitchFamily="18" charset="0"/>
                            <a:ea typeface="Cambria Math" panose="02040503050406030204" pitchFamily="18" charset="0"/>
                          </a:rPr>
                          <m:t> </m:t>
                        </m:r>
                        <m:acc>
                          <m:accPr>
                            <m:chr m:val="̂"/>
                            <m:ctrlPr>
                              <a:rPr lang="en-GB" sz="1200" i="1" noProof="0" smtClean="0">
                                <a:latin typeface="Cambria Math" panose="02040503050406030204" pitchFamily="18" charset="0"/>
                                <a:ea typeface="Cambria Math" panose="02040503050406030204" pitchFamily="18" charset="0"/>
                              </a:rPr>
                            </m:ctrlPr>
                          </m:accPr>
                          <m:e>
                            <m:r>
                              <a:rPr lang="en-GB" sz="1200" i="1" noProof="0" smtClean="0">
                                <a:latin typeface="Cambria Math" panose="02040503050406030204" pitchFamily="18" charset="0"/>
                                <a:ea typeface="Cambria Math" panose="02040503050406030204" pitchFamily="18" charset="0"/>
                              </a:rPr>
                              <m:t>h</m:t>
                            </m:r>
                          </m:e>
                        </m:acc>
                      </m:e>
                      <m:sub>
                        <m:r>
                          <a:rPr lang="en-GB" sz="1200" i="1" noProof="0" smtClean="0">
                            <a:latin typeface="Cambria Math" panose="02040503050406030204" pitchFamily="18" charset="0"/>
                            <a:ea typeface="Cambria Math" panose="02040503050406030204" pitchFamily="18" charset="0"/>
                          </a:rPr>
                          <m:t>𝑖</m:t>
                        </m:r>
                      </m:sub>
                    </m:sSub>
                    <m:r>
                      <a:rPr lang="en-GB" sz="1200" i="1" noProof="0" smtClean="0">
                        <a:latin typeface="Cambria Math" panose="02040503050406030204" pitchFamily="18" charset="0"/>
                        <a:ea typeface="Cambria Math" panose="02040503050406030204" pitchFamily="18" charset="0"/>
                      </a:rPr>
                      <m:t>+</m:t>
                    </m:r>
                    <m:r>
                      <a:rPr lang="en-GB" sz="1200" i="1" noProof="0" smtClean="0">
                        <a:latin typeface="Cambria Math" panose="02040503050406030204" pitchFamily="18" charset="0"/>
                        <a:ea typeface="Cambria Math" panose="02040503050406030204" pitchFamily="18" charset="0"/>
                      </a:rPr>
                      <m:t>𝛽</m:t>
                    </m:r>
                  </m:oMath>
                </a14:m>
                <a:r>
                  <a:rPr lang="en-GB" sz="1200" noProof="0" dirty="0"/>
                  <a:t>        (</a:t>
                </a:r>
                <a14:m>
                  <m:oMath xmlns:m="http://schemas.openxmlformats.org/officeDocument/2006/math">
                    <m:r>
                      <a:rPr lang="en-GB" sz="1200" i="1" noProof="0" smtClean="0">
                        <a:latin typeface="Cambria Math" panose="02040503050406030204" pitchFamily="18" charset="0"/>
                      </a:rPr>
                      <m:t>𝛾</m:t>
                    </m:r>
                  </m:oMath>
                </a14:m>
                <a:r>
                  <a:rPr lang="en-GB" sz="1200" noProof="0" dirty="0"/>
                  <a:t> scales the variance and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𝛽</m:t>
                    </m:r>
                    <m:r>
                      <a:rPr lang="en-GB" sz="1200" i="1" noProof="0" smtClean="0">
                        <a:latin typeface="Cambria Math" panose="02040503050406030204" pitchFamily="18" charset="0"/>
                        <a:ea typeface="Cambria Math" panose="02040503050406030204" pitchFamily="18" charset="0"/>
                      </a:rPr>
                      <m:t> </m:t>
                    </m:r>
                  </m:oMath>
                </a14:m>
                <a:r>
                  <a:rPr lang="en-GB" sz="1200" noProof="0" dirty="0"/>
                  <a:t>shifts the mean).</a:t>
                </a:r>
              </a:p>
              <a:p>
                <a:pPr marL="457200" lvl="1" indent="0">
                  <a:lnSpc>
                    <a:spcPct val="150000"/>
                  </a:lnSpc>
                  <a:buNone/>
                </a:pPr>
                <a14:m>
                  <m:oMath xmlns:m="http://schemas.openxmlformats.org/officeDocument/2006/math">
                    <m:r>
                      <a:rPr lang="fr-FR" sz="1200" b="0" i="1" noProof="0" smtClean="0">
                        <a:solidFill>
                          <a:srgbClr val="000000"/>
                        </a:solidFill>
                        <a:effectLst/>
                        <a:latin typeface="Cambria Math" panose="02040503050406030204" pitchFamily="18" charset="0"/>
                      </a:rPr>
                      <m:t>𝛾</m:t>
                    </m:r>
                  </m:oMath>
                </a14:m>
                <a:r>
                  <a:rPr lang="en-GB" sz="1200" noProof="0" dirty="0">
                    <a:solidFill>
                      <a:srgbClr val="000000"/>
                    </a:solidFill>
                    <a:effectLst/>
                  </a:rPr>
                  <a:t> and </a:t>
                </a:r>
                <a14:m>
                  <m:oMath xmlns:m="http://schemas.openxmlformats.org/officeDocument/2006/math">
                    <m:r>
                      <a:rPr lang="fr-FR" sz="1200" b="0" i="1" noProof="0" smtClean="0">
                        <a:solidFill>
                          <a:srgbClr val="000000"/>
                        </a:solidFill>
                        <a:effectLst/>
                        <a:latin typeface="Cambria Math" panose="02040503050406030204" pitchFamily="18" charset="0"/>
                      </a:rPr>
                      <m:t>𝛽</m:t>
                    </m:r>
                  </m:oMath>
                </a14:m>
                <a:r>
                  <a:rPr lang="en-GB" sz="1200" noProof="0" dirty="0">
                    <a:solidFill>
                      <a:srgbClr val="000000"/>
                    </a:solidFill>
                    <a:effectLst/>
                  </a:rPr>
                  <a:t> are there to let the network learns the best scale and shift the distribution as it sees fit to minimize the loss and is even free to scale and shift in such a way to undo batch normalization if that’s leads to better results.</a:t>
                </a:r>
              </a:p>
            </p:txBody>
          </p:sp>
        </mc:Choice>
        <mc:Fallback xmlns="">
          <p:sp>
            <p:nvSpPr>
              <p:cNvPr id="3" name="Espace réservé du contenu 2">
                <a:extLst>
                  <a:ext uri="{FF2B5EF4-FFF2-40B4-BE49-F238E27FC236}">
                    <a16:creationId xmlns:a16="http://schemas.microsoft.com/office/drawing/2014/main" id="{5EC21747-B283-B578-9715-61C81DEEEC26}"/>
                  </a:ext>
                </a:extLst>
              </p:cNvPr>
              <p:cNvSpPr>
                <a:spLocks noGrp="1" noRot="1" noChangeAspect="1" noMove="1" noResize="1" noEditPoints="1" noAdjustHandles="1" noChangeArrowheads="1" noChangeShapeType="1" noTextEdit="1"/>
              </p:cNvSpPr>
              <p:nvPr>
                <p:ph idx="1"/>
              </p:nvPr>
            </p:nvSpPr>
            <p:spPr>
              <a:xfrm>
                <a:off x="838200" y="1324012"/>
                <a:ext cx="10686143" cy="4930484"/>
              </a:xfrm>
              <a:blipFill>
                <a:blip r:embed="rId2"/>
                <a:stretch>
                  <a:fillRect l="-119"/>
                </a:stretch>
              </a:blipFill>
              <a:ln>
                <a:noFill/>
              </a:ln>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35E1F69B-E857-9A84-E88C-29078908290D}"/>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104725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58F7-5EE8-F6B6-067A-DEA1F822AE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951A6D-1112-DC6B-882E-406C3B90CF48}"/>
              </a:ext>
            </a:extLst>
          </p:cNvPr>
          <p:cNvSpPr>
            <a:spLocks noGrp="1"/>
          </p:cNvSpPr>
          <p:nvPr>
            <p:ph type="title"/>
          </p:nvPr>
        </p:nvSpPr>
        <p:spPr/>
        <p:txBody>
          <a:bodyPr/>
          <a:lstStyle/>
          <a:p>
            <a:r>
              <a:rPr lang="en-GB" dirty="0"/>
              <a:t>Batch normalization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00C5640-DB4E-7D9B-E5CB-3D9A033441DD}"/>
                  </a:ext>
                </a:extLst>
              </p:cNvPr>
              <p:cNvSpPr>
                <a:spLocks noGrp="1"/>
              </p:cNvSpPr>
              <p:nvPr>
                <p:ph idx="1"/>
              </p:nvPr>
            </p:nvSpPr>
            <p:spPr>
              <a:xfrm>
                <a:off x="838200" y="1324012"/>
                <a:ext cx="10686143" cy="4930484"/>
              </a:xfrm>
              <a:noFill/>
              <a:ln>
                <a:noFill/>
              </a:ln>
            </p:spPr>
            <p:txBody>
              <a:bodyPr lIns="90000">
                <a:noAutofit/>
              </a:bodyPr>
              <a:lstStyle/>
              <a:p>
                <a:pPr marL="0" indent="0">
                  <a:lnSpc>
                    <a:spcPct val="150000"/>
                  </a:lnSpc>
                  <a:buNone/>
                </a:pPr>
                <a:r>
                  <a:rPr lang="en-GB" sz="1200" noProof="0" dirty="0">
                    <a:solidFill>
                      <a:srgbClr val="000000"/>
                    </a:solidFill>
                    <a:effectLst/>
                  </a:rPr>
                  <a:t>There is not a clear explanation of why batch normalization works which is one of its downsize.</a:t>
                </a:r>
              </a:p>
              <a:p>
                <a:pPr marL="0" indent="0">
                  <a:lnSpc>
                    <a:spcPct val="150000"/>
                  </a:lnSpc>
                  <a:buNone/>
                </a:pPr>
                <a:r>
                  <a:rPr lang="en-GB" sz="1200" noProof="0" dirty="0">
                    <a:solidFill>
                      <a:srgbClr val="000000"/>
                    </a:solidFill>
                    <a:effectLst/>
                  </a:rPr>
                  <a:t>Others downsizes would be expensive and sensitive to batch sizes. Research labs (deep mind) have developed normalized-free image models recognition that are accurate without batch normalization (so faster in train). </a:t>
                </a:r>
              </a:p>
              <a:p>
                <a:pPr marL="0" indent="0">
                  <a:lnSpc>
                    <a:spcPct val="150000"/>
                  </a:lnSpc>
                  <a:buNone/>
                </a:pPr>
                <a:r>
                  <a:rPr lang="en-GB" sz="1200" noProof="0" dirty="0">
                    <a:solidFill>
                      <a:srgbClr val="000000"/>
                    </a:solidFill>
                    <a:effectLst/>
                  </a:rPr>
                  <a:t>Adding a batch norm step to the input layer can be an alternative to normalization/ standardization.</a:t>
                </a:r>
              </a:p>
              <a:p>
                <a:pPr marL="0" indent="0">
                  <a:lnSpc>
                    <a:spcPct val="150000"/>
                  </a:lnSpc>
                  <a:buNone/>
                </a:pPr>
                <a:r>
                  <a:rPr lang="en-GB" sz="1200" noProof="0" dirty="0">
                    <a:solidFill>
                      <a:srgbClr val="000000"/>
                    </a:solidFill>
                    <a:effectLst/>
                  </a:rPr>
                  <a:t>If we use batch normalization do we still need to normalize or standardize the inputs ? </a:t>
                </a:r>
              </a:p>
              <a:p>
                <a:pPr marL="0" indent="0">
                  <a:lnSpc>
                    <a:spcPct val="150000"/>
                  </a:lnSpc>
                  <a:buNone/>
                </a:pPr>
                <a:r>
                  <a:rPr lang="en-GB" sz="1200" noProof="0" dirty="0">
                    <a:solidFill>
                      <a:srgbClr val="000000"/>
                    </a:solidFill>
                    <a:effectLst/>
                  </a:rPr>
                  <a:t>It probably does not hurt as an alternative we can add a batch normalization step in our input layer but it’s an experiment to be done</a:t>
                </a:r>
              </a:p>
              <a:p>
                <a:pPr marL="0" indent="0">
                  <a:lnSpc>
                    <a:spcPct val="150000"/>
                  </a:lnSpc>
                  <a:buNone/>
                </a:pPr>
                <a:r>
                  <a:rPr lang="en-GB" sz="1200" noProof="0" dirty="0">
                    <a:solidFill>
                      <a:srgbClr val="000000"/>
                    </a:solidFill>
                    <a:effectLst/>
                  </a:rPr>
                  <a:t>Mean and StdDev estimated from exponential moving averages during training are used during inference. These estimates are then used during inference.</a:t>
                </a:r>
              </a:p>
              <a:p>
                <a:pPr marL="0" indent="0">
                  <a:lnSpc>
                    <a:spcPct val="150000"/>
                  </a:lnSpc>
                  <a:buNone/>
                </a:pPr>
                <a:r>
                  <a:rPr lang="en-GB" sz="1200" noProof="0" dirty="0">
                    <a:solidFill>
                      <a:srgbClr val="000000"/>
                    </a:solidFill>
                    <a:effectLst/>
                  </a:rPr>
                  <a:t>When we talked about feature scaling, we mentioned that we need to use the same scales from test time at inference time. It is the same here, </a:t>
                </a:r>
                <a14:m>
                  <m:oMath xmlns:m="http://schemas.openxmlformats.org/officeDocument/2006/math">
                    <m:r>
                      <a:rPr lang="en-GB" sz="1200" i="1" noProof="0" smtClean="0">
                        <a:latin typeface="Cambria Math" panose="02040503050406030204" pitchFamily="18" charset="0"/>
                      </a:rPr>
                      <m:t>𝛾</m:t>
                    </m:r>
                  </m:oMath>
                </a14:m>
                <a:r>
                  <a:rPr lang="en-GB" sz="1200" noProof="0" dirty="0"/>
                  <a:t> and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𝛽</m:t>
                    </m:r>
                    <m:r>
                      <a:rPr lang="en-GB" sz="1200" i="1" noProof="0" smtClean="0">
                        <a:latin typeface="Cambria Math" panose="02040503050406030204" pitchFamily="18" charset="0"/>
                        <a:ea typeface="Cambria Math" panose="02040503050406030204" pitchFamily="18" charset="0"/>
                      </a:rPr>
                      <m:t> </m:t>
                    </m:r>
                  </m:oMath>
                </a14:m>
                <a:r>
                  <a:rPr lang="en-GB" sz="1200" noProof="0" dirty="0">
                    <a:solidFill>
                      <a:srgbClr val="000000"/>
                    </a:solidFill>
                    <a:effectLst/>
                  </a:rPr>
                  <a:t>are learned with back-propagation during training and those values will then be saved and used during inference the same.</a:t>
                </a:r>
              </a:p>
              <a:p>
                <a:pPr marL="0" indent="0">
                  <a:lnSpc>
                    <a:spcPct val="150000"/>
                  </a:lnSpc>
                  <a:buNone/>
                </a:pPr>
                <a:endParaRPr lang="en-GB" sz="1200" dirty="0">
                  <a:solidFill>
                    <a:srgbClr val="000000"/>
                  </a:solidFill>
                </a:endParaRPr>
              </a:p>
              <a:p>
                <a:pPr marL="0" indent="0">
                  <a:lnSpc>
                    <a:spcPct val="150000"/>
                  </a:lnSpc>
                  <a:buNone/>
                </a:pPr>
                <a:r>
                  <a:rPr lang="en-GB" sz="1200" noProof="0" dirty="0">
                    <a:solidFill>
                      <a:srgbClr val="000000"/>
                    </a:solidFill>
                    <a:effectLst/>
                  </a:rPr>
                  <a:t>Note: With Transformers a variant called layer normalization which is more common in NLP.</a:t>
                </a:r>
              </a:p>
            </p:txBody>
          </p:sp>
        </mc:Choice>
        <mc:Fallback xmlns="">
          <p:sp>
            <p:nvSpPr>
              <p:cNvPr id="3" name="Espace réservé du contenu 2">
                <a:extLst>
                  <a:ext uri="{FF2B5EF4-FFF2-40B4-BE49-F238E27FC236}">
                    <a16:creationId xmlns:a16="http://schemas.microsoft.com/office/drawing/2014/main" id="{000C5640-DB4E-7D9B-E5CB-3D9A033441DD}"/>
                  </a:ext>
                </a:extLst>
              </p:cNvPr>
              <p:cNvSpPr>
                <a:spLocks noGrp="1" noRot="1" noChangeAspect="1" noMove="1" noResize="1" noEditPoints="1" noAdjustHandles="1" noChangeArrowheads="1" noChangeShapeType="1" noTextEdit="1"/>
              </p:cNvSpPr>
              <p:nvPr>
                <p:ph idx="1"/>
              </p:nvPr>
            </p:nvSpPr>
            <p:spPr>
              <a:xfrm>
                <a:off x="838200" y="1324012"/>
                <a:ext cx="10686143" cy="4930484"/>
              </a:xfrm>
              <a:blipFill>
                <a:blip r:embed="rId2"/>
                <a:stretch>
                  <a:fillRect l="-119"/>
                </a:stretch>
              </a:blipFill>
              <a:ln>
                <a:noFill/>
              </a:ln>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BBF97978-A5C9-5943-4884-93BC1FB2B0F9}"/>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801568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4B057-F5F3-2C9A-C566-4C94812F62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87AD2A-4B12-DBB2-B6ED-D375BF0088A5}"/>
              </a:ext>
            </a:extLst>
          </p:cNvPr>
          <p:cNvSpPr>
            <a:spLocks noGrp="1"/>
          </p:cNvSpPr>
          <p:nvPr>
            <p:ph type="title"/>
          </p:nvPr>
        </p:nvSpPr>
        <p:spPr/>
        <p:txBody>
          <a:bodyPr/>
          <a:lstStyle/>
          <a:p>
            <a:r>
              <a:rPr lang="en-GB" dirty="0"/>
              <a:t>Regularization</a:t>
            </a:r>
          </a:p>
        </p:txBody>
      </p:sp>
      <p:sp>
        <p:nvSpPr>
          <p:cNvPr id="3" name="Espace réservé du contenu 2">
            <a:extLst>
              <a:ext uri="{FF2B5EF4-FFF2-40B4-BE49-F238E27FC236}">
                <a16:creationId xmlns:a16="http://schemas.microsoft.com/office/drawing/2014/main" id="{17B3B496-5E33-F9FC-BA66-7EDA14E40EE8}"/>
              </a:ext>
            </a:extLst>
          </p:cNvPr>
          <p:cNvSpPr>
            <a:spLocks noGrp="1"/>
          </p:cNvSpPr>
          <p:nvPr>
            <p:ph idx="1"/>
          </p:nvPr>
        </p:nvSpPr>
        <p:spPr>
          <a:xfrm>
            <a:off x="838199" y="1433740"/>
            <a:ext cx="10686143" cy="4705803"/>
          </a:xfrm>
        </p:spPr>
        <p:txBody>
          <a:bodyPr lIns="90000">
            <a:noAutofit/>
          </a:bodyPr>
          <a:lstStyle/>
          <a:p>
            <a:pPr marL="0" indent="0">
              <a:lnSpc>
                <a:spcPct val="150000"/>
              </a:lnSpc>
              <a:buNone/>
            </a:pPr>
            <a:r>
              <a:rPr lang="en-GB" sz="1200" dirty="0">
                <a:effectLst/>
              </a:rPr>
              <a:t>Umbrell</a:t>
            </a:r>
            <a:r>
              <a:rPr lang="en-GB" sz="1200" dirty="0"/>
              <a:t>a term for technics to force the learning algorithm to build a less complex model, and hopefully </a:t>
            </a:r>
            <a:r>
              <a:rPr lang="en-GB" sz="1200" b="1" u="sng" dirty="0"/>
              <a:t>preventing</a:t>
            </a:r>
            <a:r>
              <a:rPr lang="en-GB" sz="1200" u="sng" dirty="0"/>
              <a:t> </a:t>
            </a:r>
            <a:r>
              <a:rPr lang="en-GB" sz="1200" b="1" u="sng" dirty="0"/>
              <a:t>overfitting</a:t>
            </a:r>
            <a:r>
              <a:rPr lang="en-GB" sz="1200" b="1" dirty="0"/>
              <a:t>: </a:t>
            </a:r>
          </a:p>
          <a:p>
            <a:pPr>
              <a:lnSpc>
                <a:spcPct val="150000"/>
              </a:lnSpc>
            </a:pPr>
            <a:r>
              <a:rPr lang="en-GB" sz="1200" b="1" dirty="0">
                <a:effectLst/>
              </a:rPr>
              <a:t>Early stopping</a:t>
            </a:r>
          </a:p>
          <a:p>
            <a:pPr>
              <a:lnSpc>
                <a:spcPct val="150000"/>
              </a:lnSpc>
            </a:pPr>
            <a:r>
              <a:rPr lang="en-GB" sz="1200" b="1" dirty="0">
                <a:effectLst/>
              </a:rPr>
              <a:t>L1, </a:t>
            </a:r>
            <a:r>
              <a:rPr lang="en-GB" sz="1200" b="1" dirty="0"/>
              <a:t>L2, </a:t>
            </a:r>
          </a:p>
          <a:p>
            <a:pPr>
              <a:lnSpc>
                <a:spcPct val="150000"/>
              </a:lnSpc>
            </a:pPr>
            <a:r>
              <a:rPr lang="en-GB" sz="1200" b="1" dirty="0">
                <a:effectLst/>
              </a:rPr>
              <a:t>Dropout</a:t>
            </a:r>
            <a:r>
              <a:rPr lang="en-GB" sz="1200" dirty="0">
                <a:effectLst/>
              </a:rPr>
              <a:t>, </a:t>
            </a:r>
          </a:p>
          <a:p>
            <a:pPr>
              <a:lnSpc>
                <a:spcPct val="150000"/>
              </a:lnSpc>
            </a:pPr>
            <a:r>
              <a:rPr lang="en-GB" sz="1200" dirty="0"/>
              <a:t>…</a:t>
            </a:r>
            <a:endParaRPr lang="en-GB" sz="1200" dirty="0">
              <a:effectLst/>
            </a:endParaRPr>
          </a:p>
          <a:p>
            <a:pPr marL="0" indent="0">
              <a:lnSpc>
                <a:spcPct val="150000"/>
              </a:lnSpc>
              <a:buNone/>
            </a:pPr>
            <a:r>
              <a:rPr lang="en-GB" sz="1200" dirty="0"/>
              <a:t>In a perfect situation, the training loss and the validation loss should decrease the same way i.e. with the same distance between the two. </a:t>
            </a:r>
          </a:p>
          <a:p>
            <a:pPr marL="0" indent="0">
              <a:lnSpc>
                <a:spcPct val="150000"/>
              </a:lnSpc>
              <a:buNone/>
            </a:pPr>
            <a:r>
              <a:rPr lang="en-GB" sz="1200" dirty="0"/>
              <a:t>At a certain point if the training loss and the validation loss start to diverge this indicates that the model starts overfitting.</a:t>
            </a:r>
            <a:endParaRPr lang="en-GB" sz="1200" b="1" dirty="0">
              <a:effectLst/>
            </a:endParaRPr>
          </a:p>
        </p:txBody>
      </p:sp>
      <p:sp>
        <p:nvSpPr>
          <p:cNvPr id="4" name="Espace réservé du pied de page 3">
            <a:extLst>
              <a:ext uri="{FF2B5EF4-FFF2-40B4-BE49-F238E27FC236}">
                <a16:creationId xmlns:a16="http://schemas.microsoft.com/office/drawing/2014/main" id="{1684A73B-9E84-AA03-ED66-6E50A8805029}"/>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367732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D57A2-7C69-2C27-1636-F47E312AF7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9DE36B-881C-A9B7-C034-5747B5B2026C}"/>
              </a:ext>
            </a:extLst>
          </p:cNvPr>
          <p:cNvSpPr>
            <a:spLocks noGrp="1"/>
          </p:cNvSpPr>
          <p:nvPr>
            <p:ph type="title"/>
          </p:nvPr>
        </p:nvSpPr>
        <p:spPr/>
        <p:txBody>
          <a:bodyPr/>
          <a:lstStyle/>
          <a:p>
            <a:r>
              <a:rPr lang="en-GB" dirty="0"/>
              <a:t>Regularization</a:t>
            </a:r>
            <a:r>
              <a:rPr lang="en-GB" sz="4400" dirty="0"/>
              <a:t> </a:t>
            </a:r>
            <a:r>
              <a:rPr lang="en-GB" sz="2800" dirty="0"/>
              <a:t>Early stopping</a:t>
            </a:r>
            <a:endParaRPr lang="en-GB" dirty="0"/>
          </a:p>
        </p:txBody>
      </p:sp>
      <p:sp>
        <p:nvSpPr>
          <p:cNvPr id="3" name="Espace réservé du contenu 2">
            <a:extLst>
              <a:ext uri="{FF2B5EF4-FFF2-40B4-BE49-F238E27FC236}">
                <a16:creationId xmlns:a16="http://schemas.microsoft.com/office/drawing/2014/main" id="{23BC7B9C-FCE3-44D5-B56D-A0C681D97B70}"/>
              </a:ext>
            </a:extLst>
          </p:cNvPr>
          <p:cNvSpPr>
            <a:spLocks noGrp="1"/>
          </p:cNvSpPr>
          <p:nvPr>
            <p:ph idx="1"/>
          </p:nvPr>
        </p:nvSpPr>
        <p:spPr>
          <a:xfrm>
            <a:off x="838199" y="1433741"/>
            <a:ext cx="10686143" cy="2101940"/>
          </a:xfrm>
        </p:spPr>
        <p:txBody>
          <a:bodyPr lIns="90000">
            <a:noAutofit/>
          </a:bodyPr>
          <a:lstStyle/>
          <a:p>
            <a:pPr>
              <a:lnSpc>
                <a:spcPct val="150000"/>
              </a:lnSpc>
            </a:pPr>
            <a:r>
              <a:rPr lang="en-GB" sz="1200" b="1" dirty="0">
                <a:effectLst/>
              </a:rPr>
              <a:t>Early stopping</a:t>
            </a:r>
            <a:r>
              <a:rPr lang="en-GB" sz="1200" dirty="0">
                <a:effectLst/>
              </a:rPr>
              <a:t> stop training as soon as validation reaches a minimum</a:t>
            </a:r>
          </a:p>
          <a:p>
            <a:pPr marL="0" indent="0">
              <a:lnSpc>
                <a:spcPct val="150000"/>
              </a:lnSpc>
              <a:buNone/>
            </a:pPr>
            <a:r>
              <a:rPr lang="en-GB" sz="1200" dirty="0"/>
              <a:t>Early stopping is simply taking the version of the model at the point </a:t>
            </a:r>
            <a:r>
              <a:rPr lang="en-GB" sz="1200" u="sng" dirty="0"/>
              <a:t>just before the validation loss and the training loss diverge</a:t>
            </a:r>
            <a:r>
              <a:rPr lang="en-GB" sz="1200" dirty="0"/>
              <a:t>. Modern frameworks make it simple by saving a snapshot of the model at each epochs.</a:t>
            </a:r>
          </a:p>
          <a:p>
            <a:pPr marL="0" indent="0">
              <a:lnSpc>
                <a:spcPct val="150000"/>
              </a:lnSpc>
              <a:buNone/>
            </a:pPr>
            <a:r>
              <a:rPr lang="en-GB" sz="1200" dirty="0"/>
              <a:t>In NN a little bit of overfitting has shown to be OK.</a:t>
            </a:r>
          </a:p>
        </p:txBody>
      </p:sp>
      <p:sp>
        <p:nvSpPr>
          <p:cNvPr id="4" name="Espace réservé du pied de page 3">
            <a:extLst>
              <a:ext uri="{FF2B5EF4-FFF2-40B4-BE49-F238E27FC236}">
                <a16:creationId xmlns:a16="http://schemas.microsoft.com/office/drawing/2014/main" id="{EECAE28B-3CE9-C029-57E9-B755C37E3942}"/>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185416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953B-5217-6161-3957-B74BD49181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5A8D96-30F1-AEE2-3954-00CB6C6DBDD0}"/>
              </a:ext>
            </a:extLst>
          </p:cNvPr>
          <p:cNvSpPr>
            <a:spLocks noGrp="1"/>
          </p:cNvSpPr>
          <p:nvPr>
            <p:ph type="title"/>
          </p:nvPr>
        </p:nvSpPr>
        <p:spPr/>
        <p:txBody>
          <a:bodyPr/>
          <a:lstStyle/>
          <a:p>
            <a:r>
              <a:rPr lang="en-GB" dirty="0"/>
              <a:t>Regularization</a:t>
            </a:r>
            <a:r>
              <a:rPr lang="en-GB" sz="4400" dirty="0"/>
              <a:t> </a:t>
            </a:r>
            <a:r>
              <a:rPr lang="en-GB" sz="2800" dirty="0"/>
              <a:t>Early stopping</a:t>
            </a:r>
            <a:endParaRPr lang="en-GB" dirty="0"/>
          </a:p>
        </p:txBody>
      </p:sp>
      <p:sp>
        <p:nvSpPr>
          <p:cNvPr id="3" name="Espace réservé du contenu 2">
            <a:extLst>
              <a:ext uri="{FF2B5EF4-FFF2-40B4-BE49-F238E27FC236}">
                <a16:creationId xmlns:a16="http://schemas.microsoft.com/office/drawing/2014/main" id="{5E502EE5-17DC-FD6C-8B06-E7C0EB781921}"/>
              </a:ext>
            </a:extLst>
          </p:cNvPr>
          <p:cNvSpPr>
            <a:spLocks noGrp="1"/>
          </p:cNvSpPr>
          <p:nvPr>
            <p:ph idx="1"/>
          </p:nvPr>
        </p:nvSpPr>
        <p:spPr>
          <a:xfrm>
            <a:off x="838199" y="1433740"/>
            <a:ext cx="10686143" cy="4320883"/>
          </a:xfrm>
        </p:spPr>
        <p:txBody>
          <a:bodyPr lIns="90000">
            <a:noAutofit/>
          </a:bodyPr>
          <a:lstStyle/>
          <a:p>
            <a:pPr marL="0" indent="0">
              <a:lnSpc>
                <a:spcPct val="150000"/>
              </a:lnSpc>
              <a:buNone/>
            </a:pPr>
            <a:r>
              <a:rPr lang="fr-FR" sz="800" b="0" i="0" u="none" strike="noStrike" dirty="0">
                <a:solidFill>
                  <a:srgbClr val="569CD6"/>
                </a:solidFill>
                <a:effectLst/>
                <a:latin typeface="Menlo" panose="020B0609030804020204" pitchFamily="49" charset="0"/>
                <a:ea typeface="Menlo" panose="020B0609030804020204" pitchFamily="49" charset="0"/>
                <a:cs typeface="Menlo" panose="020B0609030804020204" pitchFamily="49" charset="0"/>
              </a:rPr>
              <a:t>import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tensorflow</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a:solidFill>
                  <a:srgbClr val="569CD6"/>
                </a:solidFill>
                <a:effectLst/>
                <a:latin typeface="Menlo" panose="020B0609030804020204" pitchFamily="49" charset="0"/>
                <a:ea typeface="Menlo" panose="020B0609030804020204" pitchFamily="49" charset="0"/>
                <a:cs typeface="Menlo" panose="020B0609030804020204" pitchFamily="49" charset="0"/>
              </a:rPr>
              <a:t>as</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tf</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569CD6"/>
                </a:solidFill>
                <a:effectLst/>
                <a:latin typeface="Menlo" panose="020B0609030804020204" pitchFamily="49" charset="0"/>
                <a:ea typeface="Menlo" panose="020B0609030804020204" pitchFamily="49" charset="0"/>
                <a:cs typeface="Menlo" panose="020B0609030804020204" pitchFamily="49" charset="0"/>
              </a:rPr>
              <a:t>from</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tensorflow.keras.models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solidFill>
                  <a:srgbClr val="569CD6"/>
                </a:solidFill>
                <a:effectLst/>
                <a:latin typeface="Menlo" panose="020B0609030804020204" pitchFamily="49" charset="0"/>
                <a:ea typeface="Menlo" panose="020B0609030804020204" pitchFamily="49" charset="0"/>
                <a:cs typeface="Menlo" panose="020B0609030804020204" pitchFamily="49" charset="0"/>
              </a:rPr>
              <a:t>import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Sequential</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569CD6"/>
                </a:solidFill>
                <a:effectLst/>
                <a:latin typeface="Menlo" panose="020B0609030804020204" pitchFamily="49" charset="0"/>
                <a:ea typeface="Menlo" panose="020B0609030804020204" pitchFamily="49" charset="0"/>
                <a:cs typeface="Menlo" panose="020B0609030804020204" pitchFamily="49" charset="0"/>
              </a:rPr>
              <a:t>from</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tensorflow.keras.layers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solidFill>
                  <a:srgbClr val="569CD6"/>
                </a:solidFill>
                <a:effectLst/>
                <a:latin typeface="Menlo" panose="020B0609030804020204" pitchFamily="49" charset="0"/>
                <a:ea typeface="Menlo" panose="020B0609030804020204" pitchFamily="49" charset="0"/>
                <a:cs typeface="Menlo" panose="020B0609030804020204" pitchFamily="49" charset="0"/>
              </a:rPr>
              <a:t>import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Dense</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569CD6"/>
                </a:solidFill>
                <a:effectLst/>
                <a:latin typeface="Menlo" panose="020B0609030804020204" pitchFamily="49" charset="0"/>
                <a:ea typeface="Menlo" panose="020B0609030804020204" pitchFamily="49" charset="0"/>
                <a:cs typeface="Menlo" panose="020B0609030804020204" pitchFamily="49" charset="0"/>
              </a:rPr>
              <a:t>from</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tensorflow.keras.callbacks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solidFill>
                  <a:srgbClr val="569CD6"/>
                </a:solidFill>
                <a:effectLst/>
                <a:latin typeface="Menlo" panose="020B0609030804020204" pitchFamily="49" charset="0"/>
                <a:ea typeface="Menlo" panose="020B0609030804020204" pitchFamily="49" charset="0"/>
                <a:cs typeface="Menlo" panose="020B0609030804020204" pitchFamily="49" charset="0"/>
              </a:rPr>
              <a:t>import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EarlyStopping</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model =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Sequential</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model.add</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(Dense(</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64</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input_dim</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20</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activation=</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'relu’</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model.add</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(Dense(</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64</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activation=</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'relu’</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model.add</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(Dense(</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10</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activation</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'softmax’</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model.</a:t>
            </a:r>
            <a:r>
              <a:rPr lang="fr-FR" sz="800" b="0" i="0" u="none" strike="noStrike" dirty="0" err="1">
                <a:solidFill>
                  <a:srgbClr val="CE9178"/>
                </a:solidFill>
                <a:effectLst/>
                <a:latin typeface="Menlo" panose="020B0609030804020204" pitchFamily="49" charset="0"/>
                <a:ea typeface="Menlo" panose="020B0609030804020204" pitchFamily="49" charset="0"/>
                <a:cs typeface="Menlo" panose="020B0609030804020204" pitchFamily="49" charset="0"/>
              </a:rPr>
              <a:t>compile</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loss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solidFill>
                  <a:srgbClr val="CE9178"/>
                </a:solidFill>
                <a:effectLst/>
                <a:latin typeface="Menlo" panose="020B0609030804020204" pitchFamily="49" charset="0"/>
                <a:ea typeface="Menlo" panose="020B0609030804020204" pitchFamily="49" charset="0"/>
                <a:cs typeface="Menlo" panose="020B0609030804020204" pitchFamily="49" charset="0"/>
              </a:rPr>
              <a:t>categorical_crossentropy</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optimizer</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solidFill>
                  <a:srgbClr val="CE9178"/>
                </a:solidFill>
                <a:effectLst/>
                <a:latin typeface="Menlo" panose="020B0609030804020204" pitchFamily="49" charset="0"/>
                <a:ea typeface="Menlo" panose="020B0609030804020204" pitchFamily="49" charset="0"/>
                <a:cs typeface="Menlo" panose="020B0609030804020204" pitchFamily="49" charset="0"/>
              </a:rPr>
              <a:t>adam</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metrics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solidFill>
                  <a:srgbClr val="CE9178"/>
                </a:solidFill>
                <a:effectLst/>
                <a:latin typeface="Menlo" panose="020B0609030804020204" pitchFamily="49" charset="0"/>
                <a:ea typeface="Menlo" panose="020B0609030804020204" pitchFamily="49" charset="0"/>
                <a:cs typeface="Menlo" panose="020B0609030804020204" pitchFamily="49" charset="0"/>
              </a:rPr>
              <a:t>accuracy</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Define</a:t>
            </a: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the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early</a:t>
            </a: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stopping</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early_stopping</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EarlyStopping</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(monitor=</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solidFill>
                  <a:srgbClr val="CE9178"/>
                </a:solidFill>
                <a:effectLst/>
                <a:latin typeface="Menlo" panose="020B0609030804020204" pitchFamily="49" charset="0"/>
                <a:ea typeface="Menlo" panose="020B0609030804020204" pitchFamily="49" charset="0"/>
                <a:cs typeface="Menlo" panose="020B0609030804020204" pitchFamily="49" charset="0"/>
              </a:rPr>
              <a:t>val_loss</a:t>
            </a:r>
            <a:r>
              <a:rPr lang="fr-FR" sz="800" b="0" i="0" u="none" strike="noStrike"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patience=</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5</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restore_best_weights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solidFill>
                  <a:schemeClr val="accent6"/>
                </a:solidFill>
                <a:effectLst/>
                <a:latin typeface="Menlo" panose="020B0609030804020204" pitchFamily="49" charset="0"/>
                <a:ea typeface="Menlo" panose="020B0609030804020204" pitchFamily="49" charset="0"/>
                <a:cs typeface="Menlo" panose="020B0609030804020204" pitchFamily="49" charset="0"/>
              </a:rPr>
              <a:t>True</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Train the model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with</a:t>
            </a: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early</a:t>
            </a:r>
            <a:r>
              <a:rPr lang="fr-FR" sz="800" b="0" i="0" u="none" strike="noStrike" dirty="0">
                <a:solidFill>
                  <a:srgbClr val="6A9955"/>
                </a:solidFill>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solidFill>
                  <a:srgbClr val="6A9955"/>
                </a:solidFill>
                <a:effectLst/>
                <a:latin typeface="Menlo" panose="020B0609030804020204" pitchFamily="49" charset="0"/>
                <a:ea typeface="Menlo" panose="020B0609030804020204" pitchFamily="49" charset="0"/>
                <a:cs typeface="Menlo" panose="020B0609030804020204" pitchFamily="49" charset="0"/>
              </a:rPr>
              <a:t>stopping</a:t>
            </a:r>
            <a:r>
              <a:rPr lang="fr-FR" sz="800" b="0" i="0" u="none" strike="noStrike" dirty="0">
                <a:solidFill>
                  <a:srgbClr val="D4D4D4"/>
                </a:solidFill>
                <a:effectLst/>
                <a:latin typeface="Menlo" panose="020B0609030804020204" pitchFamily="49" charset="0"/>
                <a:ea typeface="Menlo" panose="020B0609030804020204" pitchFamily="49" charset="0"/>
                <a:cs typeface="Menlo" panose="020B0609030804020204" pitchFamily="49" charset="0"/>
              </a:rPr>
              <a:t> </a:t>
            </a:r>
          </a:p>
          <a:p>
            <a:pPr marL="0" indent="0">
              <a:lnSpc>
                <a:spcPct val="150000"/>
              </a:lnSpc>
              <a:buNone/>
            </a:pP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model.fit</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X_train</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y_train</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epochs</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100</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batch_size</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a:solidFill>
                  <a:schemeClr val="accent6"/>
                </a:solidFill>
                <a:effectLst/>
                <a:latin typeface="Menlo" panose="020B0609030804020204" pitchFamily="49" charset="0"/>
                <a:ea typeface="Menlo" panose="020B0609030804020204" pitchFamily="49" charset="0"/>
                <a:cs typeface="Menlo" panose="020B0609030804020204" pitchFamily="49" charset="0"/>
              </a:rPr>
              <a:t>32</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validation_data</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X_val</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y_val</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 callbacks=[</a:t>
            </a:r>
            <a:r>
              <a:rPr lang="fr-FR" sz="800" b="0" i="0" u="none" strike="noStrike" dirty="0" err="1">
                <a:effectLst/>
                <a:latin typeface="Menlo" panose="020B0609030804020204" pitchFamily="49" charset="0"/>
                <a:ea typeface="Menlo" panose="020B0609030804020204" pitchFamily="49" charset="0"/>
                <a:cs typeface="Menlo" panose="020B0609030804020204" pitchFamily="49" charset="0"/>
              </a:rPr>
              <a:t>early_stopping</a:t>
            </a:r>
            <a:r>
              <a:rPr lang="fr-FR" sz="800" b="0" i="0" u="none" strike="noStrike" dirty="0">
                <a:effectLst/>
                <a:latin typeface="Menlo" panose="020B0609030804020204" pitchFamily="49" charset="0"/>
                <a:ea typeface="Menlo" panose="020B0609030804020204" pitchFamily="49" charset="0"/>
                <a:cs typeface="Menlo" panose="020B0609030804020204" pitchFamily="49" charset="0"/>
              </a:rPr>
              <a:t>])</a:t>
            </a:r>
            <a:endParaRPr lang="en-GB" sz="800" dirty="0">
              <a:latin typeface="Menlo" panose="020B0609030804020204" pitchFamily="49" charset="0"/>
              <a:ea typeface="Menlo" panose="020B0609030804020204" pitchFamily="49" charset="0"/>
              <a:cs typeface="Menlo" panose="020B0609030804020204" pitchFamily="49" charset="0"/>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95A1EEDE-9927-EA95-96D5-41E7C2F5E717}"/>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47375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15EAF-A000-B35D-DB8F-E15EDF1A57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DD10C0-95DB-D073-5593-FE4CBC048513}"/>
              </a:ext>
            </a:extLst>
          </p:cNvPr>
          <p:cNvSpPr>
            <a:spLocks noGrp="1"/>
          </p:cNvSpPr>
          <p:nvPr>
            <p:ph type="title"/>
          </p:nvPr>
        </p:nvSpPr>
        <p:spPr>
          <a:xfrm>
            <a:off x="838200" y="365125"/>
            <a:ext cx="10515600" cy="1200329"/>
          </a:xfrm>
        </p:spPr>
        <p:txBody>
          <a:bodyPr>
            <a:normAutofit/>
          </a:bodyPr>
          <a:lstStyle/>
          <a:p>
            <a:r>
              <a:rPr lang="en-GB" dirty="0"/>
              <a:t>Regularization </a:t>
            </a:r>
            <a:r>
              <a:rPr lang="en-GB" sz="2800" dirty="0"/>
              <a:t>Loss function + additional cost </a:t>
            </a:r>
            <a:endParaRPr lang="en-GB"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ACEDE0F-BD77-4C52-B5C6-C9639BA4ACE3}"/>
                  </a:ext>
                </a:extLst>
              </p:cNvPr>
              <p:cNvSpPr>
                <a:spLocks noGrp="1"/>
              </p:cNvSpPr>
              <p:nvPr>
                <p:ph idx="1"/>
              </p:nvPr>
            </p:nvSpPr>
            <p:spPr>
              <a:xfrm>
                <a:off x="838200" y="1506310"/>
                <a:ext cx="5343144" cy="3704527"/>
              </a:xfrm>
              <a:ln>
                <a:solidFill>
                  <a:schemeClr val="accent1"/>
                </a:solidFill>
              </a:ln>
            </p:spPr>
            <p:txBody>
              <a:bodyPr lIns="90000">
                <a:noAutofit/>
              </a:bodyPr>
              <a:lstStyle/>
              <a:p>
                <a:pPr marL="0" indent="0" algn="ctr">
                  <a:buNone/>
                </a:pPr>
                <a:endParaRPr lang="en-GB" sz="1200" b="1" dirty="0">
                  <a:effectLst/>
                </a:endParaRPr>
              </a:p>
              <a:p>
                <a:pPr marL="0" indent="0" algn="ctr">
                  <a:buNone/>
                </a:pPr>
                <a:r>
                  <a:rPr lang="en-GB" sz="1200" b="1" dirty="0">
                    <a:effectLst/>
                  </a:rPr>
                  <a:t>L2 Regularization</a:t>
                </a:r>
                <a:r>
                  <a:rPr lang="en-GB" sz="1200" dirty="0">
                    <a:effectLst/>
                  </a:rPr>
                  <a:t> (Ridge)</a:t>
                </a:r>
                <a:r>
                  <a:rPr lang="fr-FR" sz="1200" b="0" dirty="0"/>
                  <a:t> </a:t>
                </a:r>
                <a:endParaRPr lang="fr-FR" sz="1200" b="0" i="1" dirty="0">
                  <a:latin typeface="Cambria Math" panose="02040503050406030204" pitchFamily="18" charset="0"/>
                </a:endParaRPr>
              </a:p>
              <a:p>
                <a:pPr marL="0" indent="0">
                  <a:buNone/>
                </a:pPr>
                <a:endParaRPr lang="fr-FR" sz="1200" b="0" i="1"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a:rPr lang="fr-FR" sz="1200" b="0" i="1" smtClean="0">
                          <a:latin typeface="Cambria Math" panose="02040503050406030204" pitchFamily="18" charset="0"/>
                        </a:rPr>
                        <m:t>𝐽</m:t>
                      </m:r>
                      <m:d>
                        <m:dPr>
                          <m:ctrlPr>
                            <a:rPr lang="fr-FR" sz="1200" b="0" i="1" smtClean="0">
                              <a:latin typeface="Cambria Math" panose="02040503050406030204" pitchFamily="18" charset="0"/>
                            </a:rPr>
                          </m:ctrlPr>
                        </m:dPr>
                        <m:e>
                          <m:r>
                            <a:rPr lang="fr-FR" sz="1200" b="0" i="1" smtClean="0">
                              <a:latin typeface="Cambria Math" panose="02040503050406030204" pitchFamily="18" charset="0"/>
                            </a:rPr>
                            <m:t>𝜔</m:t>
                          </m:r>
                        </m:e>
                      </m:d>
                      <m:r>
                        <a:rPr lang="fr-FR" sz="1200" b="0" i="1" smtClean="0">
                          <a:latin typeface="Cambria Math" panose="02040503050406030204" pitchFamily="18" charset="0"/>
                        </a:rPr>
                        <m:t>= </m:t>
                      </m:r>
                      <m:f>
                        <m:fPr>
                          <m:ctrlPr>
                            <a:rPr lang="fr-FR" sz="1200" b="0" i="1" smtClean="0">
                              <a:latin typeface="Cambria Math" panose="02040503050406030204" pitchFamily="18" charset="0"/>
                            </a:rPr>
                          </m:ctrlPr>
                        </m:fPr>
                        <m:num>
                          <m:r>
                            <a:rPr lang="fr-FR" sz="1200" b="0" i="1" smtClean="0">
                              <a:latin typeface="Cambria Math" panose="02040503050406030204" pitchFamily="18" charset="0"/>
                            </a:rPr>
                            <m:t>1</m:t>
                          </m:r>
                        </m:num>
                        <m:den>
                          <m:r>
                            <a:rPr lang="fr-FR" sz="1200" b="0" i="1" smtClean="0">
                              <a:latin typeface="Cambria Math" panose="02040503050406030204" pitchFamily="18" charset="0"/>
                            </a:rPr>
                            <m:t>𝑛</m:t>
                          </m:r>
                        </m:den>
                      </m:f>
                      <m:nary>
                        <m:naryPr>
                          <m:chr m:val="∑"/>
                          <m:ctrlPr>
                            <a:rPr lang="fr-FR" sz="1200" b="0" i="1" smtClean="0">
                              <a:latin typeface="Cambria Math" panose="02040503050406030204" pitchFamily="18" charset="0"/>
                            </a:rPr>
                          </m:ctrlPr>
                        </m:naryPr>
                        <m:sub>
                          <m:r>
                            <m:rPr>
                              <m:brk m:alnAt="23"/>
                            </m:rPr>
                            <a:rPr lang="fr-FR" sz="1200" b="0" i="1" smtClean="0">
                              <a:latin typeface="Cambria Math" panose="02040503050406030204" pitchFamily="18" charset="0"/>
                            </a:rPr>
                            <m:t>𝑖</m:t>
                          </m:r>
                          <m:r>
                            <a:rPr lang="fr-FR" sz="1200" b="0" i="1" smtClean="0">
                              <a:latin typeface="Cambria Math" panose="02040503050406030204" pitchFamily="18" charset="0"/>
                            </a:rPr>
                            <m:t>=1</m:t>
                          </m:r>
                        </m:sub>
                        <m:sup>
                          <m:r>
                            <a:rPr lang="fr-FR" sz="1200" b="0" i="1" smtClean="0">
                              <a:latin typeface="Cambria Math" panose="02040503050406030204" pitchFamily="18" charset="0"/>
                            </a:rPr>
                            <m:t>𝑛</m:t>
                          </m:r>
                        </m:sup>
                        <m:e>
                          <m:r>
                            <a:rPr lang="fr-FR" sz="1200" b="0" i="1" smtClean="0">
                              <a:latin typeface="Cambria Math" panose="02040503050406030204" pitchFamily="18" charset="0"/>
                            </a:rPr>
                            <m:t>𝐿</m:t>
                          </m:r>
                          <m:d>
                            <m:dPr>
                              <m:ctrlPr>
                                <a:rPr lang="fr-FR" sz="1200" b="0" i="1" smtClean="0">
                                  <a:latin typeface="Cambria Math" panose="02040503050406030204" pitchFamily="18" charset="0"/>
                                </a:rPr>
                              </m:ctrlPr>
                            </m:dPr>
                            <m:e>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𝑖</m:t>
                                  </m:r>
                                </m:sub>
                              </m:sSub>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𝑦</m:t>
                                  </m:r>
                                </m:e>
                                <m:sub>
                                  <m:r>
                                    <a:rPr lang="fr-FR" sz="1200" b="0" i="1" smtClean="0">
                                      <a:latin typeface="Cambria Math" panose="02040503050406030204" pitchFamily="18" charset="0"/>
                                    </a:rPr>
                                    <m:t>𝑖</m:t>
                                  </m:r>
                                </m:sub>
                              </m:sSub>
                            </m:e>
                          </m:d>
                          <m:r>
                            <a:rPr lang="fr-FR" sz="1200" b="0" i="1" smtClean="0">
                              <a:latin typeface="Cambria Math" panose="02040503050406030204" pitchFamily="18" charset="0"/>
                            </a:rPr>
                            <m:t>+ </m:t>
                          </m:r>
                          <m:f>
                            <m:fPr>
                              <m:ctrlPr>
                                <a:rPr lang="fr-FR" sz="1200" b="0" i="1" smtClean="0">
                                  <a:latin typeface="Cambria Math" panose="02040503050406030204" pitchFamily="18" charset="0"/>
                                </a:rPr>
                              </m:ctrlPr>
                            </m:fPr>
                            <m:num>
                              <m:r>
                                <a:rPr lang="fr-FR" sz="1200" b="0" i="1" smtClean="0">
                                  <a:latin typeface="Cambria Math" panose="02040503050406030204" pitchFamily="18" charset="0"/>
                                </a:rPr>
                                <m:t>𝜆</m:t>
                              </m:r>
                            </m:num>
                            <m:den>
                              <m:r>
                                <a:rPr lang="fr-FR" sz="1200" b="0" i="1" smtClean="0">
                                  <a:latin typeface="Cambria Math" panose="02040503050406030204" pitchFamily="18" charset="0"/>
                                </a:rPr>
                                <m:t>2</m:t>
                              </m:r>
                            </m:den>
                          </m:f>
                          <m:nary>
                            <m:naryPr>
                              <m:chr m:val="∑"/>
                              <m:ctrlPr>
                                <a:rPr lang="fr-FR" sz="1200" b="0" i="1" smtClean="0">
                                  <a:latin typeface="Cambria Math" panose="02040503050406030204" pitchFamily="18" charset="0"/>
                                </a:rPr>
                              </m:ctrlPr>
                            </m:naryPr>
                            <m:sub>
                              <m:r>
                                <m:rPr>
                                  <m:brk m:alnAt="23"/>
                                </m:rPr>
                                <a:rPr lang="fr-FR" sz="1200" b="0" i="1" smtClean="0">
                                  <a:latin typeface="Cambria Math" panose="02040503050406030204" pitchFamily="18" charset="0"/>
                                </a:rPr>
                                <m:t>𝑙</m:t>
                              </m:r>
                              <m:r>
                                <a:rPr lang="fr-FR" sz="1200" b="0" i="1" smtClean="0">
                                  <a:latin typeface="Cambria Math" panose="02040503050406030204" pitchFamily="18" charset="0"/>
                                </a:rPr>
                                <m:t>=1</m:t>
                              </m:r>
                            </m:sub>
                            <m:sup>
                              <m:r>
                                <a:rPr lang="fr-FR" sz="1200" b="0" i="1" smtClean="0">
                                  <a:latin typeface="Cambria Math" panose="02040503050406030204" pitchFamily="18" charset="0"/>
                                </a:rPr>
                                <m:t>𝐿</m:t>
                              </m:r>
                            </m:sup>
                            <m:e>
                              <m:sSup>
                                <m:sSupPr>
                                  <m:ctrlPr>
                                    <a:rPr lang="fr-FR" sz="1200" b="0" i="1" smtClean="0">
                                      <a:latin typeface="Cambria Math" panose="02040503050406030204" pitchFamily="18" charset="0"/>
                                    </a:rPr>
                                  </m:ctrlPr>
                                </m:sSupPr>
                                <m:e>
                                  <m:d>
                                    <m:dPr>
                                      <m:begChr m:val="|"/>
                                      <m:endChr m:val="|"/>
                                      <m:ctrlPr>
                                        <a:rPr lang="fr-FR" sz="1200" b="0" i="1" smtClean="0">
                                          <a:latin typeface="Cambria Math" panose="02040503050406030204" pitchFamily="18" charset="0"/>
                                        </a:rPr>
                                      </m:ctrlPr>
                                    </m:dPr>
                                    <m:e>
                                      <m:d>
                                        <m:dPr>
                                          <m:begChr m:val="|"/>
                                          <m:endChr m:val="|"/>
                                          <m:ctrlPr>
                                            <a:rPr lang="fr-FR" sz="1200" b="0" i="1" smtClean="0">
                                              <a:latin typeface="Cambria Math" panose="02040503050406030204" pitchFamily="18" charset="0"/>
                                            </a:rPr>
                                          </m:ctrlPr>
                                        </m:dPr>
                                        <m:e>
                                          <m:r>
                                            <a:rPr lang="fr-FR" sz="1200" b="0" i="1" smtClean="0">
                                              <a:latin typeface="Cambria Math" panose="02040503050406030204" pitchFamily="18" charset="0"/>
                                            </a:rPr>
                                            <m:t>𝜔</m:t>
                                          </m:r>
                                        </m:e>
                                      </m:d>
                                    </m:e>
                                  </m:d>
                                </m:e>
                                <m:sup>
                                  <m:r>
                                    <a:rPr lang="fr-FR" sz="1200" b="0" i="1" smtClean="0">
                                      <a:latin typeface="Cambria Math" panose="02040503050406030204" pitchFamily="18" charset="0"/>
                                    </a:rPr>
                                    <m:t>2</m:t>
                                  </m:r>
                                </m:sup>
                              </m:sSup>
                            </m:e>
                          </m:nary>
                        </m:e>
                      </m:nary>
                    </m:oMath>
                  </m:oMathPara>
                </a14:m>
                <a:endParaRPr lang="en-GB" sz="1200" dirty="0"/>
              </a:p>
              <a:p>
                <a:pPr marL="0" indent="0">
                  <a:buNone/>
                </a:pPr>
                <a:endParaRPr lang="en-GB" sz="1200" dirty="0"/>
              </a:p>
              <a:p>
                <a:pPr>
                  <a:lnSpc>
                    <a:spcPct val="150000"/>
                  </a:lnSpc>
                </a:pPr>
                <a:r>
                  <a:rPr lang="en-GB" sz="1200" dirty="0"/>
                  <a:t>The additional cost is a portion of the sum of the squared weights.</a:t>
                </a:r>
              </a:p>
              <a:p>
                <a:pPr>
                  <a:lnSpc>
                    <a:spcPct val="150000"/>
                  </a:lnSpc>
                </a:pPr>
                <a14:m>
                  <m:oMath xmlns:m="http://schemas.openxmlformats.org/officeDocument/2006/math">
                    <m:r>
                      <a:rPr lang="fr-FR" sz="1200" b="0" i="1" smtClean="0">
                        <a:latin typeface="Cambria Math" panose="02040503050406030204" pitchFamily="18" charset="0"/>
                      </a:rPr>
                      <m:t>𝜆</m:t>
                    </m:r>
                  </m:oMath>
                </a14:m>
                <a:r>
                  <a:rPr lang="en-GB" sz="1200" dirty="0"/>
                  <a:t> is the regularization parameter. The higher the </a:t>
                </a:r>
                <a14:m>
                  <m:oMath xmlns:m="http://schemas.openxmlformats.org/officeDocument/2006/math">
                    <m:r>
                      <a:rPr lang="fr-FR" sz="1200" b="0" i="1" smtClean="0">
                        <a:latin typeface="Cambria Math" panose="02040503050406030204" pitchFamily="18" charset="0"/>
                      </a:rPr>
                      <m:t>𝜆</m:t>
                    </m:r>
                  </m:oMath>
                </a14:m>
                <a:r>
                  <a:rPr lang="en-GB" sz="1200" dirty="0"/>
                  <a:t>, the higher the pressure. So, to speak smaller weights since the loss is going to be higher. Specifically, larger weights are penalized. </a:t>
                </a:r>
              </a:p>
              <a:p>
                <a:pPr>
                  <a:lnSpc>
                    <a:spcPct val="150000"/>
                  </a:lnSpc>
                </a:pPr>
                <a:r>
                  <a:rPr lang="en-GB" sz="1200" dirty="0">
                    <a:solidFill>
                      <a:srgbClr val="C00000"/>
                    </a:solidFill>
                  </a:rPr>
                  <a:t>L2 regularization is used only during training and not during inference time.</a:t>
                </a:r>
                <a:endParaRPr lang="en-GB" sz="1200" dirty="0">
                  <a:solidFill>
                    <a:srgbClr val="C00000"/>
                  </a:solidFill>
                  <a:effectLst/>
                </a:endParaRPr>
              </a:p>
            </p:txBody>
          </p:sp>
        </mc:Choice>
        <mc:Fallback xmlns="">
          <p:sp>
            <p:nvSpPr>
              <p:cNvPr id="3" name="Espace réservé du contenu 2">
                <a:extLst>
                  <a:ext uri="{FF2B5EF4-FFF2-40B4-BE49-F238E27FC236}">
                    <a16:creationId xmlns:a16="http://schemas.microsoft.com/office/drawing/2014/main" id="{AACEDE0F-BD77-4C52-B5C6-C9639BA4ACE3}"/>
                  </a:ext>
                </a:extLst>
              </p:cNvPr>
              <p:cNvSpPr>
                <a:spLocks noGrp="1" noRot="1" noChangeAspect="1" noMove="1" noResize="1" noEditPoints="1" noAdjustHandles="1" noChangeArrowheads="1" noChangeShapeType="1" noTextEdit="1"/>
              </p:cNvSpPr>
              <p:nvPr>
                <p:ph idx="1"/>
              </p:nvPr>
            </p:nvSpPr>
            <p:spPr>
              <a:xfrm>
                <a:off x="838200" y="1506310"/>
                <a:ext cx="5343144" cy="3704527"/>
              </a:xfrm>
              <a:blipFill>
                <a:blip r:embed="rId3"/>
                <a:stretch>
                  <a:fillRect/>
                </a:stretch>
              </a:blipFill>
              <a:ln>
                <a:solidFill>
                  <a:schemeClr val="accent1"/>
                </a:solidFill>
              </a:ln>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A6DFD5BB-4589-F8EF-0CA7-B452C85249A7}"/>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8" name="Espace réservé du contenu 2">
                <a:extLst>
                  <a:ext uri="{FF2B5EF4-FFF2-40B4-BE49-F238E27FC236}">
                    <a16:creationId xmlns:a16="http://schemas.microsoft.com/office/drawing/2014/main" id="{C348610C-863A-82D2-4A41-A003D5DECF45}"/>
                  </a:ext>
                </a:extLst>
              </p:cNvPr>
              <p:cNvSpPr txBox="1">
                <a:spLocks/>
              </p:cNvSpPr>
              <p:nvPr/>
            </p:nvSpPr>
            <p:spPr>
              <a:xfrm>
                <a:off x="6331864" y="1513569"/>
                <a:ext cx="5504544" cy="3697267"/>
              </a:xfrm>
              <a:prstGeom prst="rect">
                <a:avLst/>
              </a:prstGeom>
              <a:ln>
                <a:solidFill>
                  <a:schemeClr val="accent1"/>
                </a:solidFill>
              </a:ln>
            </p:spPr>
            <p:txBody>
              <a:bodyPr vert="horz" lIns="9000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GB" sz="1200" b="1" dirty="0"/>
              </a:p>
              <a:p>
                <a:pPr marL="0" indent="0" algn="ctr">
                  <a:buFont typeface="Arial" panose="020B0604020202020204" pitchFamily="34" charset="0"/>
                  <a:buNone/>
                </a:pPr>
                <a:r>
                  <a:rPr lang="en-GB" sz="1200" b="1" dirty="0"/>
                  <a:t>L1 Regularization</a:t>
                </a:r>
                <a:r>
                  <a:rPr lang="en-GB" sz="1200" dirty="0"/>
                  <a:t> (Lasso)</a:t>
                </a:r>
              </a:p>
              <a:p>
                <a:pPr marL="0" indent="0" algn="ctr">
                  <a:buFont typeface="Arial" panose="020B0604020202020204" pitchFamily="34" charset="0"/>
                  <a:buNone/>
                </a:pPr>
                <a:endParaRPr lang="en-GB" sz="1200" dirty="0"/>
              </a:p>
              <a:p>
                <a:pPr marL="0" indent="0">
                  <a:buNone/>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𝐽</m:t>
                      </m:r>
                      <m:d>
                        <m:dPr>
                          <m:ctrlPr>
                            <a:rPr lang="fr-FR" sz="1200" b="0" i="1" smtClean="0">
                              <a:latin typeface="Cambria Math" panose="02040503050406030204" pitchFamily="18" charset="0"/>
                            </a:rPr>
                          </m:ctrlPr>
                        </m:dPr>
                        <m:e>
                          <m:r>
                            <a:rPr lang="fr-FR" sz="1200" b="0" i="1" smtClean="0">
                              <a:latin typeface="Cambria Math" panose="02040503050406030204" pitchFamily="18" charset="0"/>
                            </a:rPr>
                            <m:t>𝜔</m:t>
                          </m:r>
                        </m:e>
                      </m:d>
                      <m:r>
                        <a:rPr lang="fr-FR" sz="1200" b="0" i="1" smtClean="0">
                          <a:latin typeface="Cambria Math" panose="02040503050406030204" pitchFamily="18" charset="0"/>
                        </a:rPr>
                        <m:t>= </m:t>
                      </m:r>
                      <m:f>
                        <m:fPr>
                          <m:ctrlPr>
                            <a:rPr lang="fr-FR" sz="1200" b="0" i="1" smtClean="0">
                              <a:latin typeface="Cambria Math" panose="02040503050406030204" pitchFamily="18" charset="0"/>
                            </a:rPr>
                          </m:ctrlPr>
                        </m:fPr>
                        <m:num>
                          <m:r>
                            <a:rPr lang="fr-FR" sz="1200" b="0" i="1" smtClean="0">
                              <a:latin typeface="Cambria Math" panose="02040503050406030204" pitchFamily="18" charset="0"/>
                            </a:rPr>
                            <m:t>1</m:t>
                          </m:r>
                        </m:num>
                        <m:den>
                          <m:r>
                            <a:rPr lang="fr-FR" sz="1200" b="0" i="1" smtClean="0">
                              <a:latin typeface="Cambria Math" panose="02040503050406030204" pitchFamily="18" charset="0"/>
                            </a:rPr>
                            <m:t>𝑛</m:t>
                          </m:r>
                        </m:den>
                      </m:f>
                      <m:nary>
                        <m:naryPr>
                          <m:chr m:val="∑"/>
                          <m:ctrlPr>
                            <a:rPr lang="fr-FR" sz="1200" b="0" i="1" smtClean="0">
                              <a:latin typeface="Cambria Math" panose="02040503050406030204" pitchFamily="18" charset="0"/>
                            </a:rPr>
                          </m:ctrlPr>
                        </m:naryPr>
                        <m:sub>
                          <m:r>
                            <m:rPr>
                              <m:brk m:alnAt="23"/>
                            </m:rPr>
                            <a:rPr lang="fr-FR" sz="1200" b="0" i="1" smtClean="0">
                              <a:latin typeface="Cambria Math" panose="02040503050406030204" pitchFamily="18" charset="0"/>
                            </a:rPr>
                            <m:t>𝑖</m:t>
                          </m:r>
                          <m:r>
                            <a:rPr lang="fr-FR" sz="1200" b="0" i="1" smtClean="0">
                              <a:latin typeface="Cambria Math" panose="02040503050406030204" pitchFamily="18" charset="0"/>
                            </a:rPr>
                            <m:t>=1</m:t>
                          </m:r>
                        </m:sub>
                        <m:sup>
                          <m:r>
                            <a:rPr lang="fr-FR" sz="1200" b="0" i="1" smtClean="0">
                              <a:latin typeface="Cambria Math" panose="02040503050406030204" pitchFamily="18" charset="0"/>
                            </a:rPr>
                            <m:t>𝑛</m:t>
                          </m:r>
                        </m:sup>
                        <m:e>
                          <m:r>
                            <a:rPr lang="fr-FR" sz="1200" b="0" i="1" smtClean="0">
                              <a:latin typeface="Cambria Math" panose="02040503050406030204" pitchFamily="18" charset="0"/>
                            </a:rPr>
                            <m:t>𝐿</m:t>
                          </m:r>
                          <m:d>
                            <m:dPr>
                              <m:ctrlPr>
                                <a:rPr lang="fr-FR" sz="1200" b="0" i="1" smtClean="0">
                                  <a:latin typeface="Cambria Math" panose="02040503050406030204" pitchFamily="18" charset="0"/>
                                </a:rPr>
                              </m:ctrlPr>
                            </m:dPr>
                            <m:e>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𝑖</m:t>
                                  </m:r>
                                </m:sub>
                              </m:sSub>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𝑦</m:t>
                                  </m:r>
                                </m:e>
                                <m:sub>
                                  <m:r>
                                    <a:rPr lang="fr-FR" sz="1200" b="0" i="1" smtClean="0">
                                      <a:latin typeface="Cambria Math" panose="02040503050406030204" pitchFamily="18" charset="0"/>
                                    </a:rPr>
                                    <m:t>𝑖</m:t>
                                  </m:r>
                                </m:sub>
                              </m:sSub>
                            </m:e>
                          </m:d>
                          <m:r>
                            <a:rPr lang="fr-FR" sz="1200" b="0" i="1" smtClean="0">
                              <a:latin typeface="Cambria Math" panose="02040503050406030204" pitchFamily="18" charset="0"/>
                            </a:rPr>
                            <m:t>+</m:t>
                          </m:r>
                          <m:r>
                            <m:rPr>
                              <m:brk m:alnAt="23"/>
                            </m:rPr>
                            <a:rPr lang="fr-FR" sz="1200" b="0" i="1" smtClean="0">
                              <a:latin typeface="Cambria Math" panose="02040503050406030204" pitchFamily="18" charset="0"/>
                            </a:rPr>
                            <m:t>𝜆</m:t>
                          </m:r>
                          <m:nary>
                            <m:naryPr>
                              <m:chr m:val="∑"/>
                              <m:ctrlPr>
                                <a:rPr lang="fr-FR" sz="1200" b="0" i="1" smtClean="0">
                                  <a:latin typeface="Cambria Math" panose="02040503050406030204" pitchFamily="18" charset="0"/>
                                </a:rPr>
                              </m:ctrlPr>
                            </m:naryPr>
                            <m:sub>
                              <m:r>
                                <m:rPr>
                                  <m:brk m:alnAt="23"/>
                                </m:rPr>
                                <a:rPr lang="fr-FR" sz="1200" b="0" i="1" smtClean="0">
                                  <a:latin typeface="Cambria Math" panose="02040503050406030204" pitchFamily="18" charset="0"/>
                                </a:rPr>
                                <m:t>𝑙</m:t>
                              </m:r>
                              <m:r>
                                <a:rPr lang="fr-FR" sz="1200" b="0" i="1" smtClean="0">
                                  <a:latin typeface="Cambria Math" panose="02040503050406030204" pitchFamily="18" charset="0"/>
                                </a:rPr>
                                <m:t>=1</m:t>
                              </m:r>
                            </m:sub>
                            <m:sup>
                              <m:r>
                                <a:rPr lang="fr-FR" sz="1200" b="0" i="1" smtClean="0">
                                  <a:latin typeface="Cambria Math" panose="02040503050406030204" pitchFamily="18" charset="0"/>
                                </a:rPr>
                                <m:t>𝐿</m:t>
                              </m:r>
                            </m:sup>
                            <m:e>
                              <m:r>
                                <a:rPr lang="fr-FR" sz="1200" b="0" i="1" smtClean="0">
                                  <a:latin typeface="Cambria Math" panose="02040503050406030204" pitchFamily="18" charset="0"/>
                                </a:rPr>
                                <m:t>||</m:t>
                              </m:r>
                              <m:r>
                                <a:rPr lang="fr-FR" sz="1200" b="0" i="1" smtClean="0">
                                  <a:latin typeface="Cambria Math" panose="02040503050406030204" pitchFamily="18" charset="0"/>
                                </a:rPr>
                                <m:t>𝜔</m:t>
                              </m:r>
                              <m:r>
                                <a:rPr lang="fr-FR" sz="1200" b="0" i="1" smtClean="0">
                                  <a:latin typeface="Cambria Math" panose="02040503050406030204" pitchFamily="18" charset="0"/>
                                </a:rPr>
                                <m:t>||</m:t>
                              </m:r>
                            </m:e>
                          </m:nary>
                        </m:e>
                      </m:nary>
                    </m:oMath>
                  </m:oMathPara>
                </a14:m>
                <a:endParaRPr lang="en-GB" sz="1200" dirty="0"/>
              </a:p>
              <a:p>
                <a:endParaRPr lang="en-GB" sz="1200" dirty="0"/>
              </a:p>
              <a:p>
                <a:pPr>
                  <a:lnSpc>
                    <a:spcPct val="150000"/>
                  </a:lnSpc>
                </a:pPr>
                <a:r>
                  <a:rPr lang="en-GB" sz="1200" dirty="0"/>
                  <a:t>Encourages a sparse model</a:t>
                </a:r>
              </a:p>
              <a:p>
                <a:pPr>
                  <a:lnSpc>
                    <a:spcPct val="150000"/>
                  </a:lnSpc>
                </a:pPr>
                <a:r>
                  <a:rPr lang="en-GB" sz="1200" dirty="0"/>
                  <a:t>This induces a constant shrinkage across the weights. So even weights already close to zero will get pushed down. L1 then is said to encourage a sparse model with few non-zero weights. Practically, it leads to the less important features getting a weight of zero and so can also be viewed as a feature selection technique.</a:t>
                </a:r>
              </a:p>
              <a:p>
                <a:pPr marL="0" indent="0">
                  <a:buNone/>
                </a:pPr>
                <a:endParaRPr lang="en-GB" sz="1200" dirty="0"/>
              </a:p>
              <a:p>
                <a:pPr marL="0" indent="0">
                  <a:buNone/>
                </a:pPr>
                <a:endParaRPr lang="en-GB" sz="1200" dirty="0"/>
              </a:p>
              <a:p>
                <a:pPr marL="0" indent="0">
                  <a:buFont typeface="Arial" panose="020B0604020202020204" pitchFamily="34" charset="0"/>
                  <a:buNone/>
                </a:pPr>
                <a:endParaRPr lang="en-GB" sz="1200" dirty="0"/>
              </a:p>
            </p:txBody>
          </p:sp>
        </mc:Choice>
        <mc:Fallback xmlns="">
          <p:sp>
            <p:nvSpPr>
              <p:cNvPr id="8" name="Espace réservé du contenu 2">
                <a:extLst>
                  <a:ext uri="{FF2B5EF4-FFF2-40B4-BE49-F238E27FC236}">
                    <a16:creationId xmlns:a16="http://schemas.microsoft.com/office/drawing/2014/main" id="{C348610C-863A-82D2-4A41-A003D5DECF45}"/>
                  </a:ext>
                </a:extLst>
              </p:cNvPr>
              <p:cNvSpPr txBox="1">
                <a:spLocks noRot="1" noChangeAspect="1" noMove="1" noResize="1" noEditPoints="1" noAdjustHandles="1" noChangeArrowheads="1" noChangeShapeType="1" noTextEdit="1"/>
              </p:cNvSpPr>
              <p:nvPr/>
            </p:nvSpPr>
            <p:spPr>
              <a:xfrm>
                <a:off x="6331864" y="1513569"/>
                <a:ext cx="5504544" cy="3697267"/>
              </a:xfrm>
              <a:prstGeom prst="rect">
                <a:avLst/>
              </a:prstGeom>
              <a:blipFill>
                <a:blip r:embed="rId4"/>
                <a:stretch>
                  <a:fillRect/>
                </a:stretch>
              </a:blipFill>
              <a:ln>
                <a:solidFill>
                  <a:schemeClr val="accent1"/>
                </a:solidFill>
              </a:ln>
            </p:spPr>
            <p:txBody>
              <a:bodyPr/>
              <a:lstStyle/>
              <a:p>
                <a:r>
                  <a:rPr lang="en-GB">
                    <a:noFill/>
                  </a:rPr>
                  <a:t> </a:t>
                </a:r>
              </a:p>
            </p:txBody>
          </p:sp>
        </mc:Fallback>
      </mc:AlternateContent>
      <p:sp>
        <p:nvSpPr>
          <p:cNvPr id="16" name="ZoneTexte 15">
            <a:extLst>
              <a:ext uri="{FF2B5EF4-FFF2-40B4-BE49-F238E27FC236}">
                <a16:creationId xmlns:a16="http://schemas.microsoft.com/office/drawing/2014/main" id="{5263B644-6092-C3E7-CC68-30235EA91BAD}"/>
              </a:ext>
            </a:extLst>
          </p:cNvPr>
          <p:cNvSpPr txBox="1"/>
          <p:nvPr/>
        </p:nvSpPr>
        <p:spPr>
          <a:xfrm>
            <a:off x="576934" y="5261706"/>
            <a:ext cx="11468762" cy="1200329"/>
          </a:xfrm>
          <a:prstGeom prst="rect">
            <a:avLst/>
          </a:prstGeom>
          <a:noFill/>
        </p:spPr>
        <p:txBody>
          <a:bodyPr wrap="square" lIns="90000" rtlCol="0">
            <a:noAutofit/>
          </a:bodyPr>
          <a:lstStyle/>
          <a:p>
            <a:pPr>
              <a:lnSpc>
                <a:spcPct val="150000"/>
              </a:lnSpc>
            </a:pPr>
            <a:r>
              <a:rPr lang="en-GB" sz="1200" dirty="0"/>
              <a:t>The objective is to minimize the total cost (loss function + additional cost) which leads to a minimization of the weights. L2 penalize the large weights more severely than the small ones, while L1 penalize all the weights the same linear way. Thus, L1 can force  some weights to be exactly equal to zero, which is not the case with L2.</a:t>
            </a:r>
          </a:p>
          <a:p>
            <a:pPr>
              <a:lnSpc>
                <a:spcPct val="150000"/>
              </a:lnSpc>
            </a:pPr>
            <a:r>
              <a:rPr lang="en-GB" sz="1200" dirty="0"/>
              <a:t>NB: When features are correlated, in a classical regression, their coefficients will be large. L2 regularization reduces those weights and thus, reduce the impact of collinearity but does not make it disappear.</a:t>
            </a:r>
          </a:p>
        </p:txBody>
      </p:sp>
    </p:spTree>
    <p:extLst>
      <p:ext uri="{BB962C8B-B14F-4D97-AF65-F5344CB8AC3E}">
        <p14:creationId xmlns:p14="http://schemas.microsoft.com/office/powerpoint/2010/main" val="1418597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CF4B-7671-A850-D1DB-E16EB0A56F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FB90EA-E3F1-0803-2B10-E0C831A74DE2}"/>
              </a:ext>
            </a:extLst>
          </p:cNvPr>
          <p:cNvSpPr>
            <a:spLocks noGrp="1"/>
          </p:cNvSpPr>
          <p:nvPr>
            <p:ph type="title"/>
          </p:nvPr>
        </p:nvSpPr>
        <p:spPr>
          <a:xfrm>
            <a:off x="838200" y="365125"/>
            <a:ext cx="10515600" cy="1200329"/>
          </a:xfrm>
        </p:spPr>
        <p:txBody>
          <a:bodyPr>
            <a:normAutofit/>
          </a:bodyPr>
          <a:lstStyle/>
          <a:p>
            <a:r>
              <a:rPr lang="en-GB" dirty="0"/>
              <a:t>Regularization </a:t>
            </a:r>
            <a:r>
              <a:rPr lang="en-GB" sz="2800" dirty="0"/>
              <a:t>Loss function + additional cost </a:t>
            </a:r>
            <a:endParaRPr lang="en-GB" dirty="0"/>
          </a:p>
        </p:txBody>
      </p:sp>
      <p:sp>
        <p:nvSpPr>
          <p:cNvPr id="4" name="Espace réservé du pied de page 3">
            <a:extLst>
              <a:ext uri="{FF2B5EF4-FFF2-40B4-BE49-F238E27FC236}">
                <a16:creationId xmlns:a16="http://schemas.microsoft.com/office/drawing/2014/main" id="{358E0E22-C7F8-6260-5C2D-31534330D56A}"/>
              </a:ext>
            </a:extLst>
          </p:cNvPr>
          <p:cNvSpPr>
            <a:spLocks noGrp="1"/>
          </p:cNvSpPr>
          <p:nvPr>
            <p:ph type="ftr" sz="quarter" idx="11"/>
          </p:nvPr>
        </p:nvSpPr>
        <p:spPr/>
        <p:txBody>
          <a:bodyPr/>
          <a:lstStyle/>
          <a:p>
            <a:r>
              <a:rPr lang="fr-FR"/>
              <a:t>Introduction to Neural Networks. Author: David Thébault</a:t>
            </a:r>
          </a:p>
        </p:txBody>
      </p:sp>
      <p:sp>
        <p:nvSpPr>
          <p:cNvPr id="15" name="ZoneTexte 14">
            <a:extLst>
              <a:ext uri="{FF2B5EF4-FFF2-40B4-BE49-F238E27FC236}">
                <a16:creationId xmlns:a16="http://schemas.microsoft.com/office/drawing/2014/main" id="{A9827D38-1EAC-364F-52C7-6B95F0C24496}"/>
              </a:ext>
            </a:extLst>
          </p:cNvPr>
          <p:cNvSpPr txBox="1"/>
          <p:nvPr/>
        </p:nvSpPr>
        <p:spPr>
          <a:xfrm>
            <a:off x="838200" y="1459768"/>
            <a:ext cx="9768840" cy="4502119"/>
          </a:xfrm>
          <a:prstGeom prst="rect">
            <a:avLst/>
          </a:prstGeom>
          <a:noFill/>
        </p:spPr>
        <p:txBody>
          <a:bodyPr wrap="square" lIns="90000">
            <a:noAutofit/>
          </a:bodyPr>
          <a:lstStyle/>
          <a:p>
            <a:pPr>
              <a:lnSpc>
                <a:spcPct val="200000"/>
              </a:lnSpc>
            </a:pPr>
            <a:r>
              <a:rPr lang="en-GB" sz="800" b="0" i="0" u="none" strike="noStrike" dirty="0">
                <a:solidFill>
                  <a:srgbClr val="569CD6"/>
                </a:solidFill>
                <a:effectLst/>
                <a:latin typeface="Menlo" panose="020B0609030804020204" pitchFamily="49" charset="0"/>
              </a:rPr>
              <a:t>import</a:t>
            </a:r>
            <a:r>
              <a:rPr lang="en-GB" sz="800" b="0" i="0" u="none" strike="noStrike" dirty="0">
                <a:solidFill>
                  <a:srgbClr val="D4D4D4"/>
                </a:solidFill>
                <a:effectLst/>
                <a:latin typeface="Menlo" panose="020B0609030804020204" pitchFamily="49" charset="0"/>
              </a:rPr>
              <a:t> </a:t>
            </a:r>
            <a:r>
              <a:rPr lang="en-GB" sz="800" b="0" i="0" u="none" strike="noStrike" dirty="0" err="1">
                <a:effectLst/>
                <a:latin typeface="Menlo" panose="020B0609030804020204" pitchFamily="49" charset="0"/>
              </a:rPr>
              <a:t>tensorflow</a:t>
            </a:r>
            <a:r>
              <a:rPr lang="en-GB" sz="800" b="0" i="0" u="none" strike="noStrike" dirty="0">
                <a:solidFill>
                  <a:srgbClr val="D4D4D4"/>
                </a:solidFill>
                <a:effectLst/>
                <a:latin typeface="Menlo" panose="020B0609030804020204" pitchFamily="49" charset="0"/>
              </a:rPr>
              <a:t> </a:t>
            </a:r>
            <a:r>
              <a:rPr lang="en-GB" sz="800" b="0" i="0" u="none" strike="noStrike" dirty="0">
                <a:solidFill>
                  <a:srgbClr val="569CD6"/>
                </a:solidFill>
                <a:effectLst/>
                <a:latin typeface="Menlo" panose="020B0609030804020204" pitchFamily="49" charset="0"/>
              </a:rPr>
              <a:t>as</a:t>
            </a:r>
            <a:r>
              <a:rPr lang="en-GB" sz="800" b="0" i="0" u="none" strike="noStrike" dirty="0">
                <a:solidFill>
                  <a:srgbClr val="D4D4D4"/>
                </a:solidFill>
                <a:effectLst/>
                <a:latin typeface="Menlo" panose="020B0609030804020204" pitchFamily="49" charset="0"/>
              </a:rPr>
              <a:t> </a:t>
            </a:r>
            <a:r>
              <a:rPr lang="en-GB" sz="800" b="0" i="0" u="none" strike="noStrike" dirty="0" err="1">
                <a:effectLst/>
                <a:latin typeface="Menlo" panose="020B0609030804020204" pitchFamily="49" charset="0"/>
              </a:rPr>
              <a:t>tf</a:t>
            </a:r>
            <a:r>
              <a:rPr lang="en-GB" sz="800" b="0" i="0" u="none" strike="noStrike" dirty="0">
                <a:solidFill>
                  <a:srgbClr val="D4D4D4"/>
                </a:solidFill>
                <a:effectLst/>
                <a:latin typeface="Menlo" panose="020B0609030804020204" pitchFamily="49" charset="0"/>
              </a:rPr>
              <a:t> </a:t>
            </a:r>
            <a:r>
              <a:rPr lang="en-GB" sz="800" b="0" i="0" u="none" strike="noStrike" dirty="0">
                <a:solidFill>
                  <a:srgbClr val="569CD6"/>
                </a:solidFill>
                <a:effectLst/>
                <a:latin typeface="Menlo" panose="020B0609030804020204" pitchFamily="49" charset="0"/>
              </a:rPr>
              <a:t>from</a:t>
            </a:r>
            <a:r>
              <a:rPr lang="en-GB" sz="800" b="0" i="0" u="none" strike="noStrike" dirty="0">
                <a:solidFill>
                  <a:srgbClr val="D4D4D4"/>
                </a:solidFill>
                <a:effectLst/>
                <a:latin typeface="Menlo" panose="020B0609030804020204" pitchFamily="49" charset="0"/>
              </a:rPr>
              <a:t> </a:t>
            </a:r>
            <a:r>
              <a:rPr lang="en-GB" sz="800" b="0" i="0" u="none" strike="noStrike" dirty="0" err="1">
                <a:effectLst/>
                <a:latin typeface="Menlo" panose="020B0609030804020204" pitchFamily="49" charset="0"/>
              </a:rPr>
              <a:t>tensorflow.keras.models</a:t>
            </a:r>
            <a:r>
              <a:rPr lang="en-GB" sz="800" b="0" i="0" u="none" strike="noStrike" dirty="0">
                <a:effectLst/>
                <a:latin typeface="Menlo" panose="020B0609030804020204" pitchFamily="49" charset="0"/>
              </a:rPr>
              <a:t> </a:t>
            </a:r>
          </a:p>
          <a:p>
            <a:pPr>
              <a:lnSpc>
                <a:spcPct val="200000"/>
              </a:lnSpc>
            </a:pPr>
            <a:r>
              <a:rPr lang="en-GB" sz="800" b="0" i="0" u="none" strike="noStrike" dirty="0">
                <a:solidFill>
                  <a:srgbClr val="569CD6"/>
                </a:solidFill>
                <a:effectLst/>
                <a:latin typeface="Menlo" panose="020B0609030804020204" pitchFamily="49" charset="0"/>
              </a:rPr>
              <a:t>import</a:t>
            </a:r>
            <a:r>
              <a:rPr lang="en-GB" sz="800" b="0" i="0" u="none" strike="noStrike" dirty="0">
                <a:solidFill>
                  <a:srgbClr val="D4D4D4"/>
                </a:solidFill>
                <a:effectLst/>
                <a:latin typeface="Menlo" panose="020B0609030804020204" pitchFamily="49" charset="0"/>
              </a:rPr>
              <a:t> </a:t>
            </a:r>
            <a:r>
              <a:rPr lang="en-GB" sz="800" b="0" i="0" u="none" strike="noStrike" dirty="0">
                <a:effectLst/>
                <a:latin typeface="Menlo" panose="020B0609030804020204" pitchFamily="49" charset="0"/>
              </a:rPr>
              <a:t>Sequential</a:t>
            </a:r>
            <a:r>
              <a:rPr lang="en-GB" sz="800" b="0" i="0" u="none" strike="noStrike" dirty="0">
                <a:solidFill>
                  <a:srgbClr val="D4D4D4"/>
                </a:solidFill>
                <a:effectLst/>
                <a:latin typeface="Menlo" panose="020B0609030804020204" pitchFamily="49" charset="0"/>
              </a:rPr>
              <a:t> </a:t>
            </a:r>
            <a:r>
              <a:rPr lang="en-GB" sz="800" b="0" i="0" u="none" strike="noStrike" dirty="0">
                <a:solidFill>
                  <a:srgbClr val="569CD6"/>
                </a:solidFill>
                <a:effectLst/>
                <a:latin typeface="Menlo" panose="020B0609030804020204" pitchFamily="49" charset="0"/>
              </a:rPr>
              <a:t>from</a:t>
            </a:r>
            <a:r>
              <a:rPr lang="en-GB" sz="800" b="0" i="0" u="none" strike="noStrike" dirty="0">
                <a:solidFill>
                  <a:srgbClr val="D4D4D4"/>
                </a:solidFill>
                <a:effectLst/>
                <a:latin typeface="Menlo" panose="020B0609030804020204" pitchFamily="49" charset="0"/>
              </a:rPr>
              <a:t> </a:t>
            </a:r>
            <a:r>
              <a:rPr lang="en-GB" sz="800" b="0" i="0" u="none" strike="noStrike" dirty="0" err="1">
                <a:effectLst/>
                <a:latin typeface="Menlo" panose="020B0609030804020204" pitchFamily="49" charset="0"/>
              </a:rPr>
              <a:t>tensorflow.keras.layers</a:t>
            </a:r>
            <a:r>
              <a:rPr lang="en-GB" sz="800" b="0" i="0" u="none" strike="noStrike" dirty="0">
                <a:effectLst/>
                <a:latin typeface="Menlo" panose="020B0609030804020204" pitchFamily="49" charset="0"/>
              </a:rPr>
              <a:t> </a:t>
            </a:r>
          </a:p>
          <a:p>
            <a:pPr>
              <a:lnSpc>
                <a:spcPct val="200000"/>
              </a:lnSpc>
            </a:pPr>
            <a:r>
              <a:rPr lang="en-GB" sz="800" b="0" i="0" u="none" strike="noStrike" dirty="0">
                <a:solidFill>
                  <a:srgbClr val="569CD6"/>
                </a:solidFill>
                <a:effectLst/>
                <a:latin typeface="Menlo" panose="020B0609030804020204" pitchFamily="49" charset="0"/>
              </a:rPr>
              <a:t>import</a:t>
            </a:r>
            <a:r>
              <a:rPr lang="en-GB" sz="800" b="0" i="0" u="none" strike="noStrike" dirty="0">
                <a:solidFill>
                  <a:srgbClr val="D4D4D4"/>
                </a:solidFill>
                <a:effectLst/>
                <a:latin typeface="Menlo" panose="020B0609030804020204" pitchFamily="49" charset="0"/>
              </a:rPr>
              <a:t> </a:t>
            </a:r>
            <a:r>
              <a:rPr lang="en-GB" sz="800" b="0" i="0" u="none" strike="noStrike" dirty="0">
                <a:effectLst/>
                <a:latin typeface="Menlo" panose="020B0609030804020204" pitchFamily="49" charset="0"/>
              </a:rPr>
              <a:t>Dense</a:t>
            </a:r>
            <a:r>
              <a:rPr lang="en-GB" sz="800" b="0" i="0" u="none" strike="noStrike" dirty="0">
                <a:solidFill>
                  <a:srgbClr val="D4D4D4"/>
                </a:solidFill>
                <a:effectLst/>
                <a:latin typeface="Menlo" panose="020B0609030804020204" pitchFamily="49" charset="0"/>
              </a:rPr>
              <a:t> </a:t>
            </a:r>
            <a:r>
              <a:rPr lang="en-GB" sz="800" b="0" i="0" u="none" strike="noStrike" dirty="0">
                <a:solidFill>
                  <a:srgbClr val="569CD6"/>
                </a:solidFill>
                <a:effectLst/>
                <a:latin typeface="Menlo" panose="020B0609030804020204" pitchFamily="49" charset="0"/>
              </a:rPr>
              <a:t>from</a:t>
            </a:r>
            <a:r>
              <a:rPr lang="en-GB" sz="800" b="0" i="0" u="none" strike="noStrike" dirty="0">
                <a:solidFill>
                  <a:srgbClr val="D4D4D4"/>
                </a:solidFill>
                <a:effectLst/>
                <a:latin typeface="Menlo" panose="020B0609030804020204" pitchFamily="49" charset="0"/>
              </a:rPr>
              <a:t> </a:t>
            </a:r>
            <a:r>
              <a:rPr lang="en-GB" sz="800" b="0" i="0" u="none" strike="noStrike" dirty="0" err="1">
                <a:effectLst/>
                <a:latin typeface="Menlo" panose="020B0609030804020204" pitchFamily="49" charset="0"/>
              </a:rPr>
              <a:t>tensorflow.keras.regularizers</a:t>
            </a:r>
            <a:r>
              <a:rPr lang="en-GB" sz="800" b="0" i="0" u="none" strike="noStrike" dirty="0">
                <a:effectLst/>
                <a:latin typeface="Menlo" panose="020B0609030804020204" pitchFamily="49" charset="0"/>
              </a:rPr>
              <a:t> </a:t>
            </a:r>
            <a:r>
              <a:rPr lang="en-GB" sz="800" b="0" i="0" u="none" strike="noStrike" dirty="0">
                <a:solidFill>
                  <a:srgbClr val="569CD6"/>
                </a:solidFill>
                <a:effectLst/>
                <a:latin typeface="Menlo" panose="020B0609030804020204" pitchFamily="49" charset="0"/>
              </a:rPr>
              <a:t>import</a:t>
            </a:r>
            <a:r>
              <a:rPr lang="en-GB" sz="800" b="0" i="0" u="none" strike="noStrike" dirty="0">
                <a:solidFill>
                  <a:srgbClr val="D4D4D4"/>
                </a:solidFill>
                <a:effectLst/>
                <a:latin typeface="Menlo" panose="020B0609030804020204" pitchFamily="49" charset="0"/>
              </a:rPr>
              <a:t> </a:t>
            </a:r>
            <a:r>
              <a:rPr lang="en-GB" sz="800" b="0" i="0" u="none" strike="noStrike" dirty="0">
                <a:effectLst/>
                <a:latin typeface="Menlo" panose="020B0609030804020204" pitchFamily="49" charset="0"/>
              </a:rPr>
              <a:t>l1 </a:t>
            </a:r>
          </a:p>
          <a:p>
            <a:pPr>
              <a:lnSpc>
                <a:spcPct val="200000"/>
              </a:lnSpc>
            </a:pPr>
            <a:r>
              <a:rPr lang="en-GB" sz="800" b="0" i="0" u="none" strike="noStrike" dirty="0">
                <a:effectLst/>
                <a:latin typeface="Menlo" panose="020B0609030804020204" pitchFamily="49" charset="0"/>
              </a:rPr>
              <a:t>model = Sequential() </a:t>
            </a:r>
          </a:p>
          <a:p>
            <a:pPr>
              <a:lnSpc>
                <a:spcPct val="200000"/>
              </a:lnSpc>
            </a:pPr>
            <a:r>
              <a:rPr lang="en-GB" sz="800" b="0" i="0" u="none" strike="noStrike" dirty="0" err="1">
                <a:effectLst/>
                <a:latin typeface="Menlo" panose="020B0609030804020204" pitchFamily="49" charset="0"/>
              </a:rPr>
              <a:t>model.add</a:t>
            </a:r>
            <a:r>
              <a:rPr lang="en-GB" sz="800" b="0" i="0" u="none" strike="noStrike" dirty="0">
                <a:effectLst/>
                <a:latin typeface="Menlo" panose="020B0609030804020204" pitchFamily="49" charset="0"/>
              </a:rPr>
              <a:t>(Dense(</a:t>
            </a:r>
            <a:r>
              <a:rPr lang="en-GB" sz="800" b="0" i="0" u="none" strike="noStrike" dirty="0">
                <a:solidFill>
                  <a:schemeClr val="accent6"/>
                </a:solidFill>
                <a:effectLst/>
                <a:latin typeface="Menlo" panose="020B0609030804020204" pitchFamily="49" charset="0"/>
              </a:rPr>
              <a:t>64</a:t>
            </a:r>
            <a:r>
              <a:rPr lang="en-GB" sz="800" b="0" i="0" u="none" strike="noStrike" dirty="0">
                <a:effectLst/>
                <a:latin typeface="Menlo" panose="020B0609030804020204" pitchFamily="49" charset="0"/>
              </a:rPr>
              <a:t>, </a:t>
            </a:r>
            <a:r>
              <a:rPr lang="en-GB" sz="800" b="0" i="0" u="none" strike="noStrike" dirty="0" err="1">
                <a:effectLst/>
                <a:latin typeface="Menlo" panose="020B0609030804020204" pitchFamily="49" charset="0"/>
              </a:rPr>
              <a:t>input_dim</a:t>
            </a:r>
            <a:r>
              <a:rPr lang="en-GB" sz="800" b="0" i="0" u="none" strike="noStrike" dirty="0">
                <a:effectLst/>
                <a:latin typeface="Menlo" panose="020B0609030804020204" pitchFamily="49" charset="0"/>
              </a:rPr>
              <a:t>=</a:t>
            </a:r>
            <a:r>
              <a:rPr lang="en-GB" sz="800" b="0" i="0" u="none" strike="noStrike" dirty="0">
                <a:solidFill>
                  <a:schemeClr val="accent6"/>
                </a:solidFill>
                <a:effectLst/>
                <a:latin typeface="Menlo" panose="020B0609030804020204" pitchFamily="49" charset="0"/>
              </a:rPr>
              <a:t>20</a:t>
            </a:r>
            <a:r>
              <a:rPr lang="en-GB" sz="800" b="0" i="0" u="none" strike="noStrike" dirty="0">
                <a:effectLst/>
                <a:latin typeface="Menlo" panose="020B0609030804020204" pitchFamily="49" charset="0"/>
              </a:rPr>
              <a:t>, activation=</a:t>
            </a:r>
            <a:r>
              <a:rPr lang="en-GB" sz="800" b="0" i="0" u="none" strike="noStrike" dirty="0">
                <a:solidFill>
                  <a:srgbClr val="CE9178"/>
                </a:solidFill>
                <a:effectLst/>
                <a:latin typeface="Menlo" panose="020B0609030804020204" pitchFamily="49" charset="0"/>
              </a:rPr>
              <a:t>'</a:t>
            </a:r>
            <a:r>
              <a:rPr lang="en-GB" sz="800" b="0" i="0" u="none" strike="noStrike" dirty="0" err="1">
                <a:solidFill>
                  <a:srgbClr val="CE9178"/>
                </a:solidFill>
                <a:effectLst/>
                <a:latin typeface="Menlo" panose="020B0609030804020204" pitchFamily="49" charset="0"/>
              </a:rPr>
              <a:t>relu</a:t>
            </a:r>
            <a:r>
              <a:rPr lang="en-GB" sz="800" dirty="0">
                <a:solidFill>
                  <a:srgbClr val="CE9178"/>
                </a:solidFill>
                <a:latin typeface="Menlo" panose="020B0609030804020204" pitchFamily="49" charset="0"/>
              </a:rPr>
              <a:t>'</a:t>
            </a:r>
            <a:r>
              <a:rPr lang="en-GB" sz="800" b="0" i="0" u="none" strike="noStrike" dirty="0">
                <a:effectLst/>
                <a:latin typeface="Menlo" panose="020B0609030804020204" pitchFamily="49" charset="0"/>
              </a:rPr>
              <a:t>, </a:t>
            </a:r>
            <a:r>
              <a:rPr lang="en-GB" sz="800" b="0" i="0" u="none" strike="noStrike" dirty="0" err="1">
                <a:effectLst/>
                <a:latin typeface="Menlo" panose="020B0609030804020204" pitchFamily="49" charset="0"/>
              </a:rPr>
              <a:t>kernel_regularizer</a:t>
            </a:r>
            <a:r>
              <a:rPr lang="en-GB" sz="800" b="0" i="0" u="none" strike="noStrike" dirty="0">
                <a:effectLst/>
                <a:latin typeface="Menlo" panose="020B0609030804020204" pitchFamily="49" charset="0"/>
              </a:rPr>
              <a:t>=l1(</a:t>
            </a:r>
            <a:r>
              <a:rPr lang="en-GB" sz="800" b="0" i="0" u="none" strike="noStrike" dirty="0">
                <a:solidFill>
                  <a:schemeClr val="accent6"/>
                </a:solidFill>
                <a:effectLst/>
                <a:latin typeface="Menlo" panose="020B0609030804020204" pitchFamily="49" charset="0"/>
              </a:rPr>
              <a:t>0.01</a:t>
            </a:r>
            <a:r>
              <a:rPr lang="en-GB" sz="800" b="0" i="0" u="none" strike="noStrike" dirty="0">
                <a:effectLst/>
                <a:latin typeface="Menlo" panose="020B0609030804020204" pitchFamily="49" charset="0"/>
              </a:rPr>
              <a:t>))) </a:t>
            </a:r>
          </a:p>
          <a:p>
            <a:pPr>
              <a:lnSpc>
                <a:spcPct val="200000"/>
              </a:lnSpc>
            </a:pPr>
            <a:r>
              <a:rPr lang="en-GB" sz="800" b="0" i="0" u="none" strike="noStrike" dirty="0" err="1">
                <a:effectLst/>
                <a:latin typeface="Menlo" panose="020B0609030804020204" pitchFamily="49" charset="0"/>
              </a:rPr>
              <a:t>model.add</a:t>
            </a:r>
            <a:r>
              <a:rPr lang="en-GB" sz="800" b="0" i="0" u="none" strike="noStrike" dirty="0">
                <a:effectLst/>
                <a:latin typeface="Menlo" panose="020B0609030804020204" pitchFamily="49" charset="0"/>
              </a:rPr>
              <a:t>(Dense(</a:t>
            </a:r>
            <a:r>
              <a:rPr lang="en-GB" sz="800" b="0" i="0" u="none" strike="noStrike" dirty="0">
                <a:solidFill>
                  <a:schemeClr val="accent6"/>
                </a:solidFill>
                <a:effectLst/>
                <a:latin typeface="Menlo" panose="020B0609030804020204" pitchFamily="49" charset="0"/>
              </a:rPr>
              <a:t>64</a:t>
            </a:r>
            <a:r>
              <a:rPr lang="en-GB" sz="800" b="0" i="0" u="none" strike="noStrike" dirty="0">
                <a:effectLst/>
                <a:latin typeface="Menlo" panose="020B0609030804020204" pitchFamily="49" charset="0"/>
              </a:rPr>
              <a:t>, activation=</a:t>
            </a:r>
            <a:r>
              <a:rPr lang="en-GB" sz="800" b="0" i="0" u="none" strike="noStrike" dirty="0">
                <a:solidFill>
                  <a:srgbClr val="CE9178"/>
                </a:solidFill>
                <a:effectLst/>
                <a:latin typeface="Menlo" panose="020B0609030804020204" pitchFamily="49" charset="0"/>
              </a:rPr>
              <a:t>'</a:t>
            </a:r>
            <a:r>
              <a:rPr lang="en-GB" sz="800" b="0" i="0" u="none" strike="noStrike" dirty="0" err="1">
                <a:solidFill>
                  <a:srgbClr val="CE9178"/>
                </a:solidFill>
                <a:effectLst/>
                <a:latin typeface="Menlo" panose="020B0609030804020204" pitchFamily="49" charset="0"/>
              </a:rPr>
              <a:t>relu</a:t>
            </a:r>
            <a:r>
              <a:rPr lang="en-GB" sz="800" b="0" i="0" u="none" strike="noStrike" dirty="0">
                <a:solidFill>
                  <a:srgbClr val="CE9178"/>
                </a:solidFill>
                <a:effectLst/>
                <a:latin typeface="Menlo" panose="020B0609030804020204" pitchFamily="49" charset="0"/>
              </a:rPr>
              <a:t>'</a:t>
            </a:r>
            <a:r>
              <a:rPr lang="en-GB" sz="800" b="0" i="0" u="none" strike="noStrike" dirty="0">
                <a:effectLst/>
                <a:latin typeface="Menlo" panose="020B0609030804020204" pitchFamily="49" charset="0"/>
              </a:rPr>
              <a:t>, </a:t>
            </a:r>
            <a:r>
              <a:rPr lang="en-GB" sz="800" b="0" i="0" u="none" strike="noStrike" dirty="0" err="1">
                <a:effectLst/>
                <a:latin typeface="Menlo" panose="020B0609030804020204" pitchFamily="49" charset="0"/>
              </a:rPr>
              <a:t>kernel_regularizer</a:t>
            </a:r>
            <a:r>
              <a:rPr lang="en-GB" sz="800" b="0" i="0" u="none" strike="noStrike" dirty="0">
                <a:effectLst/>
                <a:latin typeface="Menlo" panose="020B0609030804020204" pitchFamily="49" charset="0"/>
              </a:rPr>
              <a:t>=l1(</a:t>
            </a:r>
            <a:r>
              <a:rPr lang="en-GB" sz="800" b="0" i="0" u="none" strike="noStrike" dirty="0">
                <a:solidFill>
                  <a:schemeClr val="accent6"/>
                </a:solidFill>
                <a:effectLst/>
                <a:latin typeface="Menlo" panose="020B0609030804020204" pitchFamily="49" charset="0"/>
              </a:rPr>
              <a:t>0.01</a:t>
            </a:r>
            <a:r>
              <a:rPr lang="en-GB" sz="800" b="0" i="0" u="none" strike="noStrike" dirty="0">
                <a:effectLst/>
                <a:latin typeface="Menlo" panose="020B0609030804020204" pitchFamily="49" charset="0"/>
              </a:rPr>
              <a:t>))) </a:t>
            </a:r>
          </a:p>
          <a:p>
            <a:pPr>
              <a:lnSpc>
                <a:spcPct val="200000"/>
              </a:lnSpc>
            </a:pPr>
            <a:r>
              <a:rPr lang="en-GB" sz="800" b="0" i="0" u="none" strike="noStrike" dirty="0" err="1">
                <a:effectLst/>
                <a:latin typeface="Menlo" panose="020B0609030804020204" pitchFamily="49" charset="0"/>
              </a:rPr>
              <a:t>model.add</a:t>
            </a:r>
            <a:r>
              <a:rPr lang="en-GB" sz="800" b="0" i="0" u="none" strike="noStrike" dirty="0">
                <a:effectLst/>
                <a:latin typeface="Menlo" panose="020B0609030804020204" pitchFamily="49" charset="0"/>
              </a:rPr>
              <a:t>(Dense(</a:t>
            </a:r>
            <a:r>
              <a:rPr lang="en-GB" sz="800" b="0" i="0" u="none" strike="noStrike" dirty="0">
                <a:solidFill>
                  <a:schemeClr val="accent6"/>
                </a:solidFill>
                <a:effectLst/>
                <a:latin typeface="Menlo" panose="020B0609030804020204" pitchFamily="49" charset="0"/>
              </a:rPr>
              <a:t>10</a:t>
            </a:r>
            <a:r>
              <a:rPr lang="en-GB" sz="800" b="0" i="0" u="none" strike="noStrike" dirty="0">
                <a:effectLst/>
                <a:latin typeface="Menlo" panose="020B0609030804020204" pitchFamily="49" charset="0"/>
              </a:rPr>
              <a:t>, activation=</a:t>
            </a:r>
            <a:r>
              <a:rPr lang="en-GB" sz="800" b="0" i="0" u="none" strike="noStrike" dirty="0">
                <a:solidFill>
                  <a:srgbClr val="CE9178"/>
                </a:solidFill>
                <a:effectLst/>
                <a:latin typeface="Menlo" panose="020B0609030804020204" pitchFamily="49" charset="0"/>
              </a:rPr>
              <a:t>'softmax’</a:t>
            </a:r>
            <a:r>
              <a:rPr lang="en-GB" sz="800" b="0" i="0" u="none" strike="noStrike" dirty="0">
                <a:effectLst/>
                <a:latin typeface="Menlo" panose="020B0609030804020204" pitchFamily="49" charset="0"/>
              </a:rPr>
              <a:t>)) </a:t>
            </a:r>
          </a:p>
          <a:p>
            <a:pPr>
              <a:lnSpc>
                <a:spcPct val="200000"/>
              </a:lnSpc>
            </a:pPr>
            <a:r>
              <a:rPr lang="en-GB" sz="800" b="0" i="0" u="none" strike="noStrike" dirty="0" err="1">
                <a:effectLst/>
                <a:latin typeface="Menlo" panose="020B0609030804020204" pitchFamily="49" charset="0"/>
              </a:rPr>
              <a:t>model.</a:t>
            </a:r>
            <a:r>
              <a:rPr lang="en-GB" sz="800" b="0" i="0" u="none" strike="noStrike" dirty="0" err="1">
                <a:solidFill>
                  <a:srgbClr val="CE9178"/>
                </a:solidFill>
                <a:effectLst/>
                <a:latin typeface="Menlo" panose="020B0609030804020204" pitchFamily="49" charset="0"/>
              </a:rPr>
              <a:t>compile</a:t>
            </a:r>
            <a:r>
              <a:rPr lang="en-GB" sz="800" b="0" i="0" u="none" strike="noStrike" dirty="0">
                <a:effectLst/>
                <a:latin typeface="Menlo" panose="020B0609030804020204" pitchFamily="49" charset="0"/>
              </a:rPr>
              <a:t>(loss=</a:t>
            </a:r>
            <a:r>
              <a:rPr lang="en-GB" sz="800" b="0" i="0" u="none" strike="noStrike" dirty="0">
                <a:solidFill>
                  <a:srgbClr val="CE9178"/>
                </a:solidFill>
                <a:effectLst/>
                <a:latin typeface="Menlo" panose="020B0609030804020204" pitchFamily="49" charset="0"/>
              </a:rPr>
              <a:t>'</a:t>
            </a:r>
            <a:r>
              <a:rPr lang="en-GB" sz="800" b="0" i="0" u="none" strike="noStrike" dirty="0" err="1">
                <a:solidFill>
                  <a:srgbClr val="CE9178"/>
                </a:solidFill>
                <a:effectLst/>
                <a:latin typeface="Menlo" panose="020B0609030804020204" pitchFamily="49" charset="0"/>
              </a:rPr>
              <a:t>categorical_crossentropy</a:t>
            </a:r>
            <a:r>
              <a:rPr lang="en-GB" sz="800" b="0" i="0" u="none" strike="noStrike" dirty="0">
                <a:solidFill>
                  <a:srgbClr val="CE9178"/>
                </a:solidFill>
                <a:effectLst/>
                <a:latin typeface="Menlo" panose="020B0609030804020204" pitchFamily="49" charset="0"/>
              </a:rPr>
              <a:t>'</a:t>
            </a:r>
            <a:r>
              <a:rPr lang="en-GB" sz="800" b="0" i="0" u="none" strike="noStrike" dirty="0">
                <a:effectLst/>
                <a:latin typeface="Menlo" panose="020B0609030804020204" pitchFamily="49" charset="0"/>
              </a:rPr>
              <a:t>, optimizer=</a:t>
            </a:r>
            <a:r>
              <a:rPr lang="en-GB" sz="800" b="0" i="0" u="none" strike="noStrike" dirty="0">
                <a:solidFill>
                  <a:srgbClr val="CE9178"/>
                </a:solidFill>
                <a:effectLst/>
                <a:latin typeface="Menlo" panose="020B0609030804020204" pitchFamily="49" charset="0"/>
              </a:rPr>
              <a:t>'</a:t>
            </a:r>
            <a:r>
              <a:rPr lang="en-GB" sz="800" b="0" i="0" u="none" strike="noStrike" dirty="0" err="1">
                <a:solidFill>
                  <a:srgbClr val="CE9178"/>
                </a:solidFill>
                <a:effectLst/>
                <a:latin typeface="Menlo" panose="020B0609030804020204" pitchFamily="49" charset="0"/>
              </a:rPr>
              <a:t>adam</a:t>
            </a:r>
            <a:r>
              <a:rPr lang="en-GB" sz="800" b="0" i="0" u="none" strike="noStrike" dirty="0">
                <a:solidFill>
                  <a:srgbClr val="CE9178"/>
                </a:solidFill>
                <a:effectLst/>
                <a:latin typeface="Menlo" panose="020B0609030804020204" pitchFamily="49" charset="0"/>
              </a:rPr>
              <a:t>'</a:t>
            </a:r>
            <a:r>
              <a:rPr lang="en-GB" sz="800" b="0" i="0" u="none" strike="noStrike" dirty="0">
                <a:effectLst/>
                <a:latin typeface="Menlo" panose="020B0609030804020204" pitchFamily="49" charset="0"/>
              </a:rPr>
              <a:t>, metrics=[</a:t>
            </a:r>
            <a:r>
              <a:rPr lang="en-GB" sz="800" b="0" i="0" u="none" strike="noStrike" dirty="0">
                <a:solidFill>
                  <a:srgbClr val="CE9178"/>
                </a:solidFill>
                <a:effectLst/>
                <a:latin typeface="Menlo" panose="020B0609030804020204" pitchFamily="49" charset="0"/>
              </a:rPr>
              <a:t>'accuracy'</a:t>
            </a:r>
            <a:r>
              <a:rPr lang="en-GB" sz="800" b="0" i="0" u="none" strike="noStrike" dirty="0">
                <a:effectLst/>
                <a:latin typeface="Menlo" panose="020B0609030804020204" pitchFamily="49" charset="0"/>
              </a:rPr>
              <a:t>])</a:t>
            </a:r>
            <a:endParaRPr lang="en-GB" sz="800" dirty="0"/>
          </a:p>
        </p:txBody>
      </p:sp>
    </p:spTree>
    <p:extLst>
      <p:ext uri="{BB962C8B-B14F-4D97-AF65-F5344CB8AC3E}">
        <p14:creationId xmlns:p14="http://schemas.microsoft.com/office/powerpoint/2010/main" val="4157654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163A-5824-8AE4-4A20-2F83F36069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53481C-5B8C-B665-7EC5-7730F5577179}"/>
              </a:ext>
            </a:extLst>
          </p:cNvPr>
          <p:cNvSpPr>
            <a:spLocks noGrp="1"/>
          </p:cNvSpPr>
          <p:nvPr>
            <p:ph type="title"/>
          </p:nvPr>
        </p:nvSpPr>
        <p:spPr/>
        <p:txBody>
          <a:bodyPr/>
          <a:lstStyle/>
          <a:p>
            <a:r>
              <a:rPr lang="en-GB" dirty="0"/>
              <a:t>Regularization </a:t>
            </a:r>
            <a:r>
              <a:rPr lang="en-GB" sz="2800" dirty="0"/>
              <a:t>Dropout</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3714D9F8-036C-17D8-5CAD-C2C8309930D2}"/>
                  </a:ext>
                </a:extLst>
              </p:cNvPr>
              <p:cNvSpPr>
                <a:spLocks noGrp="1"/>
              </p:cNvSpPr>
              <p:nvPr>
                <p:ph idx="1"/>
              </p:nvPr>
            </p:nvSpPr>
            <p:spPr>
              <a:xfrm>
                <a:off x="838199" y="1433740"/>
                <a:ext cx="11073385" cy="4705803"/>
              </a:xfrm>
            </p:spPr>
            <p:txBody>
              <a:bodyPr lIns="90000">
                <a:noAutofit/>
              </a:bodyPr>
              <a:lstStyle/>
              <a:p>
                <a:pPr marL="0" indent="0">
                  <a:lnSpc>
                    <a:spcPct val="150000"/>
                  </a:lnSpc>
                  <a:buNone/>
                </a:pPr>
                <a:r>
                  <a:rPr lang="en-GB" sz="1200" dirty="0"/>
                  <a:t>On large models such as transformers that have millions, trillions of parameters (weights &amp; biases), that weight regularization will not have much effect. For this large models, a popular regularization technique that scales well is dropout and it is conceptually straightforward. Each unit in a layer has some probability </a:t>
                </a:r>
                <a14:m>
                  <m:oMath xmlns:m="http://schemas.openxmlformats.org/officeDocument/2006/math">
                    <m:r>
                      <a:rPr lang="fr-FR" sz="1200" i="1">
                        <a:latin typeface="Cambria Math" panose="02040503050406030204" pitchFamily="18" charset="0"/>
                      </a:rPr>
                      <m:t>𝑝</m:t>
                    </m:r>
                  </m:oMath>
                </a14:m>
                <a:r>
                  <a:rPr lang="en-GB" sz="1200" dirty="0"/>
                  <a:t> of being dropped at every  batch. Effectively they get disconnected from the network. So </a:t>
                </a:r>
                <a14:m>
                  <m:oMath xmlns:m="http://schemas.openxmlformats.org/officeDocument/2006/math">
                    <m:r>
                      <a:rPr lang="fr-FR" sz="1200" b="0" i="1" smtClean="0">
                        <a:latin typeface="Cambria Math" panose="02040503050406030204" pitchFamily="18" charset="0"/>
                      </a:rPr>
                      <m:t>𝑝</m:t>
                    </m:r>
                    <m:r>
                      <a:rPr lang="fr-FR" sz="1200" b="0" i="1" smtClean="0">
                        <a:latin typeface="Cambria Math" panose="02040503050406030204" pitchFamily="18" charset="0"/>
                      </a:rPr>
                      <m:t>=0.5</m:t>
                    </m:r>
                  </m:oMath>
                </a14:m>
                <a:r>
                  <a:rPr lang="en-GB" sz="1200" dirty="0"/>
                  <a:t>, half of the units in each layer on average should drop out and one batch </a:t>
                </a:r>
              </a:p>
              <a:p>
                <a:pPr>
                  <a:lnSpc>
                    <a:spcPct val="150000"/>
                  </a:lnSpc>
                </a:pPr>
                <a:r>
                  <a:rPr lang="en-GB" sz="1600" b="1" dirty="0">
                    <a:effectLst/>
                  </a:rPr>
                  <a:t>Dropout</a:t>
                </a:r>
              </a:p>
              <a:p>
                <a:pPr marL="0" indent="0" algn="l">
                  <a:lnSpc>
                    <a:spcPct val="150000"/>
                  </a:lnSpc>
                  <a:spcAft>
                    <a:spcPts val="750"/>
                  </a:spcAft>
                  <a:buNone/>
                </a:pPr>
                <a:r>
                  <a:rPr lang="en-GB" sz="1200" dirty="0"/>
                  <a:t>During the training, dropout randomly training, dropout randomly sets a fraction of the input units to zero at each update during training time, which helps prevent overfitting. Here's how it works:</a:t>
                </a:r>
              </a:p>
              <a:p>
                <a:pPr algn="l">
                  <a:lnSpc>
                    <a:spcPct val="150000"/>
                  </a:lnSpc>
                  <a:buFont typeface="+mj-lt"/>
                  <a:buAutoNum type="arabicPeriod"/>
                </a:pPr>
                <a:r>
                  <a:rPr lang="en-GB" sz="1200" dirty="0"/>
                  <a:t>Random Deactivation: During each training iteration, a random subset of neurons is "dropped out" (set to zero) along with their incoming and outgoing connections.</a:t>
                </a:r>
              </a:p>
              <a:p>
                <a:pPr algn="l">
                  <a:lnSpc>
                    <a:spcPct val="150000"/>
                  </a:lnSpc>
                  <a:buFont typeface="+mj-lt"/>
                  <a:buAutoNum type="arabicPeriod"/>
                </a:pPr>
                <a:r>
                  <a:rPr lang="en-GB" sz="1200" dirty="0"/>
                  <a:t>Forward Pass: The forward pass is computed with the reduced network.</a:t>
                </a:r>
              </a:p>
              <a:p>
                <a:pPr algn="l">
                  <a:lnSpc>
                    <a:spcPct val="150000"/>
                  </a:lnSpc>
                  <a:buFont typeface="+mj-lt"/>
                  <a:buAutoNum type="arabicPeriod"/>
                </a:pPr>
                <a:r>
                  <a:rPr lang="en-GB" sz="1200" dirty="0"/>
                  <a:t>Backward Pass: During backpropagation, only the active neurons contribute to the weight updates.</a:t>
                </a:r>
              </a:p>
              <a:p>
                <a:pPr algn="l">
                  <a:lnSpc>
                    <a:spcPct val="150000"/>
                  </a:lnSpc>
                  <a:buFont typeface="+mj-lt"/>
                  <a:buAutoNum type="arabicPeriod"/>
                </a:pPr>
                <a:r>
                  <a:rPr lang="en-GB" sz="1200" dirty="0"/>
                  <a:t>Scaling: During testing, all neurons are used, but their outputs are scaled by the dropout rate (</a:t>
                </a:r>
                <a14:m>
                  <m:oMath xmlns:m="http://schemas.openxmlformats.org/officeDocument/2006/math">
                    <m:r>
                      <a:rPr lang="fr-FR" sz="1200" b="0" i="1" smtClean="0">
                        <a:latin typeface="Cambria Math" panose="02040503050406030204" pitchFamily="18" charset="0"/>
                      </a:rPr>
                      <m:t>×(1−</m:t>
                    </m:r>
                    <m:r>
                      <a:rPr lang="fr-FR" sz="1200" b="0" i="1" smtClean="0">
                        <a:latin typeface="Cambria Math" panose="02040503050406030204" pitchFamily="18" charset="0"/>
                      </a:rPr>
                      <m:t>𝑝</m:t>
                    </m:r>
                    <m:r>
                      <a:rPr lang="fr-FR" sz="1200" b="0" i="1" smtClean="0">
                        <a:latin typeface="Cambria Math" panose="02040503050406030204" pitchFamily="18" charset="0"/>
                      </a:rPr>
                      <m:t>)) </m:t>
                    </m:r>
                  </m:oMath>
                </a14:m>
                <a:r>
                  <a:rPr lang="en-GB" sz="1200" dirty="0"/>
                  <a:t>to compensate for the larger number of active neurons.</a:t>
                </a:r>
              </a:p>
              <a:p>
                <a:pPr marL="0" indent="0" algn="l">
                  <a:lnSpc>
                    <a:spcPct val="150000"/>
                  </a:lnSpc>
                  <a:spcAft>
                    <a:spcPts val="750"/>
                  </a:spcAft>
                  <a:buNone/>
                </a:pPr>
                <a:r>
                  <a:rPr lang="en-GB" sz="1200" dirty="0"/>
                  <a:t>The main idea behind dropout is to prevent the network from becoming too reliant on any set of neurons, thereby encouraging the network to learn more robust and generalizable features.</a:t>
                </a:r>
              </a:p>
            </p:txBody>
          </p:sp>
        </mc:Choice>
        <mc:Fallback xmlns="">
          <p:sp>
            <p:nvSpPr>
              <p:cNvPr id="3" name="Espace réservé du contenu 2">
                <a:extLst>
                  <a:ext uri="{FF2B5EF4-FFF2-40B4-BE49-F238E27FC236}">
                    <a16:creationId xmlns:a16="http://schemas.microsoft.com/office/drawing/2014/main" id="{3714D9F8-036C-17D8-5CAD-C2C8309930D2}"/>
                  </a:ext>
                </a:extLst>
              </p:cNvPr>
              <p:cNvSpPr>
                <a:spLocks noGrp="1" noRot="1" noChangeAspect="1" noMove="1" noResize="1" noEditPoints="1" noAdjustHandles="1" noChangeArrowheads="1" noChangeShapeType="1" noTextEdit="1"/>
              </p:cNvSpPr>
              <p:nvPr>
                <p:ph idx="1"/>
              </p:nvPr>
            </p:nvSpPr>
            <p:spPr>
              <a:xfrm>
                <a:off x="838199" y="1433740"/>
                <a:ext cx="11073385" cy="4705803"/>
              </a:xfrm>
              <a:blipFill>
                <a:blip r:embed="rId3"/>
                <a:stretch>
                  <a:fillRect l="-229"/>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C59BAAF0-D16D-56B4-890E-5429317C3415}"/>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915023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FA0BA-58E3-027E-46F5-0773E9D1803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9B025D-01AA-DBA4-99AE-DCA7C2A6105F}"/>
              </a:ext>
            </a:extLst>
          </p:cNvPr>
          <p:cNvSpPr>
            <a:spLocks noGrp="1"/>
          </p:cNvSpPr>
          <p:nvPr>
            <p:ph type="title"/>
          </p:nvPr>
        </p:nvSpPr>
        <p:spPr/>
        <p:txBody>
          <a:bodyPr/>
          <a:lstStyle/>
          <a:p>
            <a:r>
              <a:rPr lang="en-GB" dirty="0"/>
              <a:t>Regularization </a:t>
            </a:r>
            <a:r>
              <a:rPr lang="en-GB" sz="2800" dirty="0"/>
              <a:t>Dropout</a:t>
            </a:r>
            <a:endParaRPr lang="en-GB"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E69C052-A07A-63E5-D282-6CF921363E82}"/>
                  </a:ext>
                </a:extLst>
              </p:cNvPr>
              <p:cNvSpPr>
                <a:spLocks noGrp="1"/>
              </p:cNvSpPr>
              <p:nvPr>
                <p:ph idx="1"/>
              </p:nvPr>
            </p:nvSpPr>
            <p:spPr>
              <a:xfrm>
                <a:off x="838199" y="1433741"/>
                <a:ext cx="11219689" cy="4570030"/>
              </a:xfrm>
            </p:spPr>
            <p:txBody>
              <a:bodyPr lIns="90000">
                <a:noAutofit/>
              </a:bodyPr>
              <a:lstStyle/>
              <a:p>
                <a:pPr>
                  <a:lnSpc>
                    <a:spcPct val="150000"/>
                  </a:lnSpc>
                </a:pPr>
                <a:r>
                  <a:rPr lang="en-GB" sz="1600" b="1" dirty="0">
                    <a:effectLst/>
                  </a:rPr>
                  <a:t>Dropout</a:t>
                </a:r>
              </a:p>
              <a:p>
                <a:pPr marL="0" indent="0" algn="l">
                  <a:lnSpc>
                    <a:spcPct val="150000"/>
                  </a:lnSpc>
                  <a:spcAft>
                    <a:spcPts val="750"/>
                  </a:spcAft>
                  <a:buNone/>
                </a:pPr>
                <a:r>
                  <a:rPr lang="en-GB" sz="1200" dirty="0"/>
                  <a:t>Why does it work? </a:t>
                </a:r>
              </a:p>
              <a:p>
                <a:pPr marL="0" indent="0" algn="l">
                  <a:lnSpc>
                    <a:spcPct val="150000"/>
                  </a:lnSpc>
                  <a:spcAft>
                    <a:spcPts val="750"/>
                  </a:spcAft>
                  <a:buNone/>
                </a:pPr>
                <a:r>
                  <a:rPr lang="en-GB" sz="1200" dirty="0"/>
                  <a:t>It reduces the chance of a model learning patterns which are coincidence and useless and developing units with highly correlated behaviour,</a:t>
                </a:r>
              </a:p>
              <a:p>
                <a:pPr marL="0" indent="0" algn="l">
                  <a:lnSpc>
                    <a:spcPct val="150000"/>
                  </a:lnSpc>
                  <a:spcAft>
                    <a:spcPts val="750"/>
                  </a:spcAft>
                  <a:buNone/>
                </a:pPr>
                <a:r>
                  <a:rPr lang="en-GB" sz="1200" dirty="0"/>
                  <a:t>It forces the model to do with fewer and smaller values which forces it to generalize better.</a:t>
                </a:r>
              </a:p>
              <a:p>
                <a:pPr marL="0" indent="0" algn="l">
                  <a:lnSpc>
                    <a:spcPct val="150000"/>
                  </a:lnSpc>
                  <a:spcAft>
                    <a:spcPts val="750"/>
                  </a:spcAft>
                  <a:buNone/>
                </a:pPr>
                <a:r>
                  <a:rPr lang="en-GB" sz="1200" dirty="0"/>
                  <a:t>Because of each batches were essentially training a different NN the final model can be seen as averaging over many NN architectures. It mimics ensembling techniques which entails training multiple diverse models to make a prediction. Dropout is computationally much cheaper.</a:t>
                </a:r>
              </a:p>
              <a:p>
                <a:pPr>
                  <a:lnSpc>
                    <a:spcPct val="150000"/>
                  </a:lnSpc>
                  <a:spcAft>
                    <a:spcPts val="750"/>
                  </a:spcAft>
                </a:pPr>
                <a:r>
                  <a:rPr lang="en-GB" sz="1200" dirty="0"/>
                  <a:t>The dropout probability p is usually set between </a:t>
                </a:r>
                <a14:m>
                  <m:oMath xmlns:m="http://schemas.openxmlformats.org/officeDocument/2006/math">
                    <m:r>
                      <a:rPr lang="fr-FR" sz="1200" b="0" i="1" smtClean="0">
                        <a:latin typeface="Cambria Math" panose="02040503050406030204" pitchFamily="18" charset="0"/>
                      </a:rPr>
                      <m:t>0.2</m:t>
                    </m:r>
                  </m:oMath>
                </a14:m>
                <a:r>
                  <a:rPr lang="en-GB" sz="1200" dirty="0"/>
                  <a:t> to </a:t>
                </a:r>
                <a14:m>
                  <m:oMath xmlns:m="http://schemas.openxmlformats.org/officeDocument/2006/math">
                    <m:r>
                      <a:rPr lang="fr-FR" sz="1200" i="1">
                        <a:latin typeface="Cambria Math" panose="02040503050406030204" pitchFamily="18" charset="0"/>
                      </a:rPr>
                      <m:t>0.</m:t>
                    </m:r>
                    <m:r>
                      <a:rPr lang="fr-FR" sz="1200" b="0" i="1" smtClean="0">
                        <a:latin typeface="Cambria Math" panose="02040503050406030204" pitchFamily="18" charset="0"/>
                      </a:rPr>
                      <m:t>5</m:t>
                    </m:r>
                  </m:oMath>
                </a14:m>
                <a:r>
                  <a:rPr lang="en-GB" sz="1200" dirty="0"/>
                  <a:t> depending on the model.</a:t>
                </a:r>
              </a:p>
              <a:p>
                <a:pPr>
                  <a:lnSpc>
                    <a:spcPct val="150000"/>
                  </a:lnSpc>
                  <a:spcAft>
                    <a:spcPts val="750"/>
                  </a:spcAft>
                </a:pPr>
                <a:r>
                  <a:rPr lang="en-GB" sz="1200" dirty="0"/>
                  <a:t>No dropout applied at test/inference time. Each layer’s output is multiplied by (1-p) to account for the larger signal.</a:t>
                </a:r>
              </a:p>
              <a:p>
                <a:pPr lvl="1">
                  <a:lnSpc>
                    <a:spcPct val="100000"/>
                  </a:lnSpc>
                  <a:spcAft>
                    <a:spcPts val="750"/>
                  </a:spcAft>
                </a:pPr>
                <a:r>
                  <a:rPr lang="en-GB" sz="1200" dirty="0"/>
                  <a:t>During training: with </a:t>
                </a:r>
                <a14:m>
                  <m:oMath xmlns:m="http://schemas.openxmlformats.org/officeDocument/2006/math">
                    <m:r>
                      <m:rPr>
                        <m:sty m:val="p"/>
                      </m:rPr>
                      <a:rPr lang="fr-FR" sz="1200" b="0" i="0" smtClean="0">
                        <a:latin typeface="Cambria Math" panose="02040503050406030204" pitchFamily="18" charset="0"/>
                      </a:rPr>
                      <m:t>p</m:t>
                    </m:r>
                    <m:r>
                      <a:rPr lang="fr-FR" sz="1200" b="0" i="0" smtClean="0">
                        <a:latin typeface="Cambria Math" panose="02040503050406030204" pitchFamily="18" charset="0"/>
                      </a:rPr>
                      <m:t>=</m:t>
                    </m:r>
                    <m:r>
                      <a:rPr lang="fr-FR" sz="1200" b="0" i="1" smtClean="0">
                        <a:latin typeface="Cambria Math" panose="02040503050406030204" pitchFamily="18" charset="0"/>
                      </a:rPr>
                      <m:t>0.2</m:t>
                    </m:r>
                  </m:oMath>
                </a14:m>
                <a:r>
                  <a:rPr lang="en-GB" sz="1200" dirty="0"/>
                  <a:t>, each neuron has an </a:t>
                </a:r>
                <a14:m>
                  <m:oMath xmlns:m="http://schemas.openxmlformats.org/officeDocument/2006/math">
                    <m:r>
                      <a:rPr lang="fr-FR" sz="1200" i="1" dirty="0" smtClean="0">
                        <a:latin typeface="Cambria Math" panose="02040503050406030204" pitchFamily="18" charset="0"/>
                      </a:rPr>
                      <m:t>8</m:t>
                    </m:r>
                    <m:r>
                      <a:rPr lang="fr-FR" sz="1200" b="0" i="1" dirty="0" smtClean="0">
                        <a:latin typeface="Cambria Math" panose="02040503050406030204" pitchFamily="18" charset="0"/>
                      </a:rPr>
                      <m:t>0%</m:t>
                    </m:r>
                    <m:r>
                      <a:rPr lang="fr-FR" sz="1200" i="1">
                        <a:latin typeface="Cambria Math" panose="02040503050406030204" pitchFamily="18" charset="0"/>
                      </a:rPr>
                      <m:t> </m:t>
                    </m:r>
                  </m:oMath>
                </a14:m>
                <a:r>
                  <a:rPr lang="en-GB" sz="1200" dirty="0"/>
                  <a:t>chance of being active. Therefore, the output of each layer is effectively scaled down by </a:t>
                </a:r>
                <a14:m>
                  <m:oMath xmlns:m="http://schemas.openxmlformats.org/officeDocument/2006/math">
                    <m:r>
                      <a:rPr lang="fr-FR" sz="1200" i="1">
                        <a:latin typeface="Cambria Math" panose="02040503050406030204" pitchFamily="18" charset="0"/>
                      </a:rPr>
                      <m:t>0.</m:t>
                    </m:r>
                    <m:r>
                      <a:rPr lang="fr-FR" sz="1200" b="0" i="1" smtClean="0">
                        <a:latin typeface="Cambria Math" panose="02040503050406030204" pitchFamily="18" charset="0"/>
                      </a:rPr>
                      <m:t>8</m:t>
                    </m:r>
                    <m:r>
                      <a:rPr lang="fr-FR" sz="1200" i="1">
                        <a:latin typeface="Cambria Math" panose="02040503050406030204" pitchFamily="18" charset="0"/>
                      </a:rPr>
                      <m:t> </m:t>
                    </m:r>
                  </m:oMath>
                </a14:m>
                <a:r>
                  <a:rPr lang="en-GB" sz="1200" dirty="0"/>
                  <a:t> (or </a:t>
                </a:r>
                <a14:m>
                  <m:oMath xmlns:m="http://schemas.openxmlformats.org/officeDocument/2006/math">
                    <m:r>
                      <a:rPr lang="fr-FR" sz="1200" b="0" i="0" smtClean="0">
                        <a:latin typeface="Cambria Math" panose="02040503050406030204" pitchFamily="18" charset="0"/>
                      </a:rPr>
                      <m:t>1−</m:t>
                    </m:r>
                    <m:r>
                      <a:rPr lang="fr-FR" sz="1200" i="1">
                        <a:latin typeface="Cambria Math" panose="02040503050406030204" pitchFamily="18" charset="0"/>
                      </a:rPr>
                      <m:t>0.2 </m:t>
                    </m:r>
                  </m:oMath>
                </a14:m>
                <a:r>
                  <a:rPr lang="en-GB" sz="1200" dirty="0"/>
                  <a:t>). </a:t>
                </a:r>
              </a:p>
              <a:p>
                <a:pPr lvl="1">
                  <a:lnSpc>
                    <a:spcPct val="100000"/>
                  </a:lnSpc>
                  <a:spcAft>
                    <a:spcPts val="750"/>
                  </a:spcAft>
                </a:pPr>
                <a:r>
                  <a:rPr lang="en-GB" sz="1200" dirty="0"/>
                  <a:t>During test/inference: To ensure that the output during testing matches the output during training, we multiply the output of each layer by </a:t>
                </a:r>
                <a14:m>
                  <m:oMath xmlns:m="http://schemas.openxmlformats.org/officeDocument/2006/math">
                    <m:r>
                      <a:rPr lang="fr-FR" sz="1200" i="1">
                        <a:latin typeface="Cambria Math" panose="02040503050406030204" pitchFamily="18" charset="0"/>
                      </a:rPr>
                      <m:t>0.8</m:t>
                    </m:r>
                  </m:oMath>
                </a14:m>
                <a:r>
                  <a:rPr lang="en-GB" sz="1200" dirty="0"/>
                  <a:t> (or </a:t>
                </a:r>
                <a14:m>
                  <m:oMath xmlns:m="http://schemas.openxmlformats.org/officeDocument/2006/math">
                    <m:r>
                      <a:rPr lang="fr-FR" sz="1200" b="0" i="0" smtClean="0">
                        <a:latin typeface="Cambria Math" panose="02040503050406030204" pitchFamily="18" charset="0"/>
                      </a:rPr>
                      <m:t>1−</m:t>
                    </m:r>
                    <m:r>
                      <a:rPr lang="fr-FR" sz="1200" i="1">
                        <a:latin typeface="Cambria Math" panose="02040503050406030204" pitchFamily="18" charset="0"/>
                      </a:rPr>
                      <m:t>0.2 </m:t>
                    </m:r>
                  </m:oMath>
                </a14:m>
                <a:r>
                  <a:rPr lang="en-GB" sz="1200" dirty="0"/>
                  <a:t>).</a:t>
                </a:r>
              </a:p>
              <a:p>
                <a:pPr marL="0" indent="0">
                  <a:lnSpc>
                    <a:spcPct val="150000"/>
                  </a:lnSpc>
                  <a:spcAft>
                    <a:spcPts val="750"/>
                  </a:spcAft>
                  <a:buNone/>
                </a:pPr>
                <a:r>
                  <a:rPr lang="en-GB" sz="1200" dirty="0">
                    <a:solidFill>
                      <a:schemeClr val="tx1">
                        <a:lumMod val="50000"/>
                        <a:lumOff val="50000"/>
                      </a:schemeClr>
                    </a:solidFill>
                  </a:rPr>
                  <a:t>Note: in the test phase the compensation for scaling is automatic in Pytorch, Keras...</a:t>
                </a:r>
              </a:p>
              <a:p>
                <a:pPr marL="0" indent="0" algn="l">
                  <a:spcAft>
                    <a:spcPts val="750"/>
                  </a:spcAft>
                  <a:buNone/>
                </a:pPr>
                <a:endParaRPr lang="en-GB" sz="1200" dirty="0"/>
              </a:p>
              <a:p>
                <a:pPr marL="0" indent="0" algn="l">
                  <a:spcAft>
                    <a:spcPts val="750"/>
                  </a:spcAft>
                  <a:buNone/>
                </a:pPr>
                <a:endParaRPr lang="en-GB" sz="1200" dirty="0"/>
              </a:p>
              <a:p>
                <a:pPr marL="0" indent="0">
                  <a:buNone/>
                </a:pPr>
                <a:endParaRPr lang="en-GB" sz="1600" dirty="0"/>
              </a:p>
            </p:txBody>
          </p:sp>
        </mc:Choice>
        <mc:Fallback xmlns="">
          <p:sp>
            <p:nvSpPr>
              <p:cNvPr id="3" name="Espace réservé du contenu 2">
                <a:extLst>
                  <a:ext uri="{FF2B5EF4-FFF2-40B4-BE49-F238E27FC236}">
                    <a16:creationId xmlns:a16="http://schemas.microsoft.com/office/drawing/2014/main" id="{2E69C052-A07A-63E5-D282-6CF921363E82}"/>
                  </a:ext>
                </a:extLst>
              </p:cNvPr>
              <p:cNvSpPr>
                <a:spLocks noGrp="1" noRot="1" noChangeAspect="1" noMove="1" noResize="1" noEditPoints="1" noAdjustHandles="1" noChangeArrowheads="1" noChangeShapeType="1" noTextEdit="1"/>
              </p:cNvSpPr>
              <p:nvPr>
                <p:ph idx="1"/>
              </p:nvPr>
            </p:nvSpPr>
            <p:spPr>
              <a:xfrm>
                <a:off x="838199" y="1433741"/>
                <a:ext cx="11219689" cy="4570030"/>
              </a:xfrm>
              <a:blipFill>
                <a:blip r:embed="rId3"/>
                <a:stretch>
                  <a:fillRect l="-226" r="-226" b="-6371"/>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6A8D6692-5A91-83CD-FDFB-0038BE36F15E}"/>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1DA94F56-2056-11EC-3D1B-474AEE095108}"/>
              </a:ext>
            </a:extLst>
          </p:cNvPr>
          <p:cNvSpPr txBox="1"/>
          <p:nvPr/>
        </p:nvSpPr>
        <p:spPr>
          <a:xfrm>
            <a:off x="5638800" y="2974848"/>
            <a:ext cx="65" cy="276999"/>
          </a:xfrm>
          <a:prstGeom prst="rect">
            <a:avLst/>
          </a:prstGeom>
          <a:noFill/>
        </p:spPr>
        <p:txBody>
          <a:bodyPr wrap="none" lIns="0" tIns="0" rIns="0" bIns="0" rtlCol="0">
            <a:spAutoFit/>
          </a:bodyPr>
          <a:lstStyle/>
          <a:p>
            <a:endParaRPr lang="en-GB" dirty="0"/>
          </a:p>
        </p:txBody>
      </p:sp>
    </p:spTree>
    <p:extLst>
      <p:ext uri="{BB962C8B-B14F-4D97-AF65-F5344CB8AC3E}">
        <p14:creationId xmlns:p14="http://schemas.microsoft.com/office/powerpoint/2010/main" val="3629285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3D930-760D-243F-A471-A01FBF016F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C3B6A7-B7E2-8FFB-92DF-623D45181C53}"/>
              </a:ext>
            </a:extLst>
          </p:cNvPr>
          <p:cNvSpPr>
            <a:spLocks noGrp="1"/>
          </p:cNvSpPr>
          <p:nvPr>
            <p:ph type="title"/>
          </p:nvPr>
        </p:nvSpPr>
        <p:spPr/>
        <p:txBody>
          <a:bodyPr/>
          <a:lstStyle/>
          <a:p>
            <a:r>
              <a:rPr lang="en-GB" dirty="0"/>
              <a:t>Sensible defaults for deep learning</a:t>
            </a:r>
          </a:p>
        </p:txBody>
      </p:sp>
      <p:graphicFrame>
        <p:nvGraphicFramePr>
          <p:cNvPr id="5" name="Espace réservé du contenu 4">
            <a:extLst>
              <a:ext uri="{FF2B5EF4-FFF2-40B4-BE49-F238E27FC236}">
                <a16:creationId xmlns:a16="http://schemas.microsoft.com/office/drawing/2014/main" id="{ED54431E-3EC3-6412-81CF-23BA86A38955}"/>
              </a:ext>
            </a:extLst>
          </p:cNvPr>
          <p:cNvGraphicFramePr>
            <a:graphicFrameLocks noGrp="1"/>
          </p:cNvGraphicFramePr>
          <p:nvPr>
            <p:ph idx="1"/>
            <p:extLst>
              <p:ext uri="{D42A27DB-BD31-4B8C-83A1-F6EECF244321}">
                <p14:modId xmlns:p14="http://schemas.microsoft.com/office/powerpoint/2010/main" val="329657806"/>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699886366"/>
                    </a:ext>
                  </a:extLst>
                </a:gridCol>
                <a:gridCol w="5257800">
                  <a:extLst>
                    <a:ext uri="{9D8B030D-6E8A-4147-A177-3AD203B41FA5}">
                      <a16:colId xmlns:a16="http://schemas.microsoft.com/office/drawing/2014/main" val="4274745002"/>
                    </a:ext>
                  </a:extLst>
                </a:gridCol>
              </a:tblGrid>
              <a:tr h="370840">
                <a:tc>
                  <a:txBody>
                    <a:bodyPr/>
                    <a:lstStyle/>
                    <a:p>
                      <a:endParaRPr lang="en-GB" dirty="0"/>
                    </a:p>
                  </a:txBody>
                  <a:tcPr/>
                </a:tc>
                <a:tc>
                  <a:txBody>
                    <a:bodyPr/>
                    <a:lstStyle/>
                    <a:p>
                      <a:endParaRPr lang="en-GB"/>
                    </a:p>
                  </a:txBody>
                  <a:tcPr/>
                </a:tc>
                <a:extLst>
                  <a:ext uri="{0D108BD9-81ED-4DB2-BD59-A6C34878D82A}">
                    <a16:rowId xmlns:a16="http://schemas.microsoft.com/office/drawing/2014/main" val="2386151107"/>
                  </a:ext>
                </a:extLst>
              </a:tr>
              <a:tr h="370840">
                <a:tc>
                  <a:txBody>
                    <a:bodyPr/>
                    <a:lstStyle/>
                    <a:p>
                      <a:r>
                        <a:rPr lang="en-GB" dirty="0"/>
                        <a:t>Activation function for hidden layers</a:t>
                      </a:r>
                    </a:p>
                  </a:txBody>
                  <a:tcPr/>
                </a:tc>
                <a:tc>
                  <a:txBody>
                    <a:bodyPr/>
                    <a:lstStyle/>
                    <a:p>
                      <a:r>
                        <a:rPr lang="en-GB" dirty="0"/>
                        <a:t>Relu</a:t>
                      </a:r>
                    </a:p>
                  </a:txBody>
                  <a:tcPr/>
                </a:tc>
                <a:extLst>
                  <a:ext uri="{0D108BD9-81ED-4DB2-BD59-A6C34878D82A}">
                    <a16:rowId xmlns:a16="http://schemas.microsoft.com/office/drawing/2014/main" val="2679294262"/>
                  </a:ext>
                </a:extLst>
              </a:tr>
              <a:tr h="370840">
                <a:tc>
                  <a:txBody>
                    <a:bodyPr/>
                    <a:lstStyle/>
                    <a:p>
                      <a:r>
                        <a:rPr lang="en-GB" dirty="0"/>
                        <a:t>Weight initialization</a:t>
                      </a:r>
                    </a:p>
                  </a:txBody>
                  <a:tcPr/>
                </a:tc>
                <a:tc>
                  <a:txBody>
                    <a:bodyPr/>
                    <a:lstStyle/>
                    <a:p>
                      <a:r>
                        <a:rPr lang="en-GB" dirty="0"/>
                        <a:t>He</a:t>
                      </a:r>
                    </a:p>
                  </a:txBody>
                  <a:tcPr/>
                </a:tc>
                <a:extLst>
                  <a:ext uri="{0D108BD9-81ED-4DB2-BD59-A6C34878D82A}">
                    <a16:rowId xmlns:a16="http://schemas.microsoft.com/office/drawing/2014/main" val="2149709670"/>
                  </a:ext>
                </a:extLst>
              </a:tr>
              <a:tr h="370840">
                <a:tc>
                  <a:txBody>
                    <a:bodyPr/>
                    <a:lstStyle/>
                    <a:p>
                      <a:r>
                        <a:rPr lang="en-GB" dirty="0"/>
                        <a:t>Normalization</a:t>
                      </a:r>
                    </a:p>
                  </a:txBody>
                  <a:tcPr/>
                </a:tc>
                <a:tc>
                  <a:txBody>
                    <a:bodyPr/>
                    <a:lstStyle/>
                    <a:p>
                      <a:r>
                        <a:rPr lang="en-GB" dirty="0"/>
                        <a:t>Batch norm</a:t>
                      </a:r>
                    </a:p>
                  </a:txBody>
                  <a:tcPr/>
                </a:tc>
                <a:extLst>
                  <a:ext uri="{0D108BD9-81ED-4DB2-BD59-A6C34878D82A}">
                    <a16:rowId xmlns:a16="http://schemas.microsoft.com/office/drawing/2014/main" val="1047302343"/>
                  </a:ext>
                </a:extLst>
              </a:tr>
              <a:tr h="370840">
                <a:tc>
                  <a:txBody>
                    <a:bodyPr/>
                    <a:lstStyle/>
                    <a:p>
                      <a:r>
                        <a:rPr lang="en-GB" dirty="0"/>
                        <a:t>Regularization</a:t>
                      </a:r>
                    </a:p>
                  </a:txBody>
                  <a:tcPr/>
                </a:tc>
                <a:tc>
                  <a:txBody>
                    <a:bodyPr/>
                    <a:lstStyle/>
                    <a:p>
                      <a:r>
                        <a:rPr lang="en-GB" dirty="0"/>
                        <a:t>Dropout + Early stopping</a:t>
                      </a:r>
                    </a:p>
                  </a:txBody>
                  <a:tcPr/>
                </a:tc>
                <a:extLst>
                  <a:ext uri="{0D108BD9-81ED-4DB2-BD59-A6C34878D82A}">
                    <a16:rowId xmlns:a16="http://schemas.microsoft.com/office/drawing/2014/main" val="1033067604"/>
                  </a:ext>
                </a:extLst>
              </a:tr>
              <a:tr h="370840">
                <a:tc>
                  <a:txBody>
                    <a:bodyPr/>
                    <a:lstStyle/>
                    <a:p>
                      <a:r>
                        <a:rPr lang="en-GB" dirty="0"/>
                        <a:t>Optimizer</a:t>
                      </a:r>
                    </a:p>
                  </a:txBody>
                  <a:tcPr/>
                </a:tc>
                <a:tc>
                  <a:txBody>
                    <a:bodyPr/>
                    <a:lstStyle/>
                    <a:p>
                      <a:r>
                        <a:rPr lang="en-GB" dirty="0"/>
                        <a:t>Adam / RMSProp</a:t>
                      </a:r>
                    </a:p>
                  </a:txBody>
                  <a:tcPr/>
                </a:tc>
                <a:extLst>
                  <a:ext uri="{0D108BD9-81ED-4DB2-BD59-A6C34878D82A}">
                    <a16:rowId xmlns:a16="http://schemas.microsoft.com/office/drawing/2014/main" val="1302850573"/>
                  </a:ext>
                </a:extLst>
              </a:tr>
              <a:tr h="370840">
                <a:tc>
                  <a:txBody>
                    <a:bodyPr/>
                    <a:lstStyle/>
                    <a:p>
                      <a:r>
                        <a:rPr lang="en-GB" dirty="0"/>
                        <a:t>Learning schedule</a:t>
                      </a:r>
                    </a:p>
                  </a:txBody>
                  <a:tcPr/>
                </a:tc>
                <a:tc>
                  <a:txBody>
                    <a:bodyPr/>
                    <a:lstStyle/>
                    <a:p>
                      <a:r>
                        <a:rPr lang="en-GB" dirty="0"/>
                        <a:t>1 cycle</a:t>
                      </a:r>
                    </a:p>
                  </a:txBody>
                  <a:tcPr/>
                </a:tc>
                <a:extLst>
                  <a:ext uri="{0D108BD9-81ED-4DB2-BD59-A6C34878D82A}">
                    <a16:rowId xmlns:a16="http://schemas.microsoft.com/office/drawing/2014/main" val="593266518"/>
                  </a:ext>
                </a:extLst>
              </a:tr>
            </a:tbl>
          </a:graphicData>
        </a:graphic>
      </p:graphicFrame>
      <p:sp>
        <p:nvSpPr>
          <p:cNvPr id="4" name="Espace réservé du pied de page 3">
            <a:extLst>
              <a:ext uri="{FF2B5EF4-FFF2-40B4-BE49-F238E27FC236}">
                <a16:creationId xmlns:a16="http://schemas.microsoft.com/office/drawing/2014/main" id="{F5C0E318-7E74-744B-802A-1F1AA3C070F8}"/>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28292698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27456</TotalTime>
  <Words>2284</Words>
  <Application>Microsoft Macintosh PowerPoint</Application>
  <PresentationFormat>Grand écran</PresentationFormat>
  <Paragraphs>170</Paragraphs>
  <Slides>16</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Aptos</vt:lpstr>
      <vt:lpstr>Aptos Display</vt:lpstr>
      <vt:lpstr>Arial</vt:lpstr>
      <vt:lpstr>Cambria Math</vt:lpstr>
      <vt:lpstr>Menlo</vt:lpstr>
      <vt:lpstr>Thème Office</vt:lpstr>
      <vt:lpstr>Introduction to  Neural Network </vt:lpstr>
      <vt:lpstr>Weights initialization</vt:lpstr>
      <vt:lpstr>Weights initialization</vt:lpstr>
      <vt:lpstr>Weights initialization</vt:lpstr>
      <vt:lpstr>Features scaling</vt:lpstr>
      <vt:lpstr>Batch normalization</vt:lpstr>
      <vt:lpstr>Batch normalization</vt:lpstr>
      <vt:lpstr>Batch normalization</vt:lpstr>
      <vt:lpstr>Regularization</vt:lpstr>
      <vt:lpstr>Regularization Early stopping</vt:lpstr>
      <vt:lpstr>Regularization Early stopping</vt:lpstr>
      <vt:lpstr>Regularization Loss function + additional cost </vt:lpstr>
      <vt:lpstr>Regularization Loss function + additional cost </vt:lpstr>
      <vt:lpstr>Regularization Dropout</vt:lpstr>
      <vt:lpstr>Regularization Dropout</vt:lpstr>
      <vt:lpstr>Sensible defaults for deep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356</cp:revision>
  <dcterms:created xsi:type="dcterms:W3CDTF">2024-11-11T16:09:09Z</dcterms:created>
  <dcterms:modified xsi:type="dcterms:W3CDTF">2025-01-18T22:50:53Z</dcterms:modified>
</cp:coreProperties>
</file>